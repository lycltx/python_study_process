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45"/>
  </p:notesMasterIdLst>
  <p:handoutMasterIdLst>
    <p:handoutMasterId r:id="rId46"/>
  </p:handoutMasterIdLst>
  <p:sldIdLst>
    <p:sldId id="754" r:id="rId5"/>
    <p:sldId id="774" r:id="rId6"/>
    <p:sldId id="923" r:id="rId7"/>
    <p:sldId id="924" r:id="rId8"/>
    <p:sldId id="963" r:id="rId9"/>
    <p:sldId id="926" r:id="rId10"/>
    <p:sldId id="925" r:id="rId11"/>
    <p:sldId id="927" r:id="rId12"/>
    <p:sldId id="948" r:id="rId13"/>
    <p:sldId id="928" r:id="rId14"/>
    <p:sldId id="949" r:id="rId15"/>
    <p:sldId id="929" r:id="rId16"/>
    <p:sldId id="950" r:id="rId17"/>
    <p:sldId id="964" r:id="rId18"/>
    <p:sldId id="930" r:id="rId19"/>
    <p:sldId id="952" r:id="rId20"/>
    <p:sldId id="955" r:id="rId21"/>
    <p:sldId id="931" r:id="rId22"/>
    <p:sldId id="932" r:id="rId23"/>
    <p:sldId id="956" r:id="rId24"/>
    <p:sldId id="958" r:id="rId25"/>
    <p:sldId id="933" r:id="rId26"/>
    <p:sldId id="957" r:id="rId27"/>
    <p:sldId id="959" r:id="rId28"/>
    <p:sldId id="934" r:id="rId29"/>
    <p:sldId id="935" r:id="rId30"/>
    <p:sldId id="960" r:id="rId31"/>
    <p:sldId id="936" r:id="rId32"/>
    <p:sldId id="965" r:id="rId33"/>
    <p:sldId id="961" r:id="rId34"/>
    <p:sldId id="938" r:id="rId35"/>
    <p:sldId id="962" r:id="rId36"/>
    <p:sldId id="968" r:id="rId37"/>
    <p:sldId id="967" r:id="rId38"/>
    <p:sldId id="940" r:id="rId39"/>
    <p:sldId id="941" r:id="rId40"/>
    <p:sldId id="942" r:id="rId41"/>
    <p:sldId id="943" r:id="rId42"/>
    <p:sldId id="944" r:id="rId43"/>
    <p:sldId id="288" r:id="rId44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54"/>
            <p14:sldId id="774"/>
            <p14:sldId id="923"/>
            <p14:sldId id="924"/>
            <p14:sldId id="963"/>
            <p14:sldId id="926"/>
            <p14:sldId id="925"/>
            <p14:sldId id="927"/>
            <p14:sldId id="948"/>
            <p14:sldId id="928"/>
            <p14:sldId id="949"/>
            <p14:sldId id="929"/>
            <p14:sldId id="950"/>
            <p14:sldId id="964"/>
            <p14:sldId id="930"/>
            <p14:sldId id="952"/>
            <p14:sldId id="955"/>
            <p14:sldId id="931"/>
            <p14:sldId id="932"/>
            <p14:sldId id="956"/>
            <p14:sldId id="958"/>
            <p14:sldId id="933"/>
            <p14:sldId id="957"/>
            <p14:sldId id="959"/>
            <p14:sldId id="934"/>
            <p14:sldId id="935"/>
            <p14:sldId id="960"/>
            <p14:sldId id="936"/>
            <p14:sldId id="965"/>
            <p14:sldId id="961"/>
            <p14:sldId id="938"/>
            <p14:sldId id="962"/>
            <p14:sldId id="968"/>
            <p14:sldId id="967"/>
            <p14:sldId id="940"/>
            <p14:sldId id="941"/>
            <p14:sldId id="942"/>
            <p14:sldId id="943"/>
            <p14:sldId id="944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8C8C"/>
    <a:srgbClr val="00B0F0"/>
    <a:srgbClr val="067D17"/>
    <a:srgbClr val="0033B3"/>
    <a:srgbClr val="F5F5F5"/>
    <a:srgbClr val="F2F2F2"/>
    <a:srgbClr val="E8E8E8"/>
    <a:srgbClr val="1B1E1D"/>
    <a:srgbClr val="0000FF"/>
    <a:srgbClr val="0EE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0" autoAdjust="0"/>
    <p:restoredTop sz="93308" autoAdjust="0"/>
  </p:normalViewPr>
  <p:slideViewPr>
    <p:cSldViewPr snapToGrid="0" showGuides="1">
      <p:cViewPr varScale="1">
        <p:scale>
          <a:sx n="93" d="100"/>
          <a:sy n="93" d="100"/>
        </p:scale>
        <p:origin x="1644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爬虫入门</a:t>
            </a:r>
            <a:endParaRPr lang="en-US" altLang="zh-CN"/>
          </a:p>
          <a:p>
            <a:r>
              <a:rPr lang="zh-CN" altLang="en-US"/>
              <a:t>  爬虫的工作流程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爬虫的合法与合规性</a:t>
            </a:r>
            <a:r>
              <a:rPr lang="en-US" altLang="zh-CN"/>
              <a:t>(robots</a:t>
            </a:r>
            <a:r>
              <a:rPr lang="zh-CN" altLang="en-US"/>
              <a:t>协议</a:t>
            </a:r>
            <a:r>
              <a:rPr lang="en-US" altLang="zh-CN"/>
              <a:t>)</a:t>
            </a:r>
          </a:p>
          <a:p>
            <a:r>
              <a:rPr lang="en-US" altLang="zh-CN"/>
              <a:t>  </a:t>
            </a:r>
            <a:r>
              <a:rPr lang="zh-CN" altLang="en-US"/>
              <a:t>爬虫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526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F3D36-782D-1F95-CE34-7715F9E0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9746E5-9212-431F-9109-EA1D57387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FED2A6-DBD9-0BC7-FC97-50008E87F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爬虫入门</a:t>
            </a:r>
            <a:endParaRPr lang="en-US" altLang="zh-CN"/>
          </a:p>
          <a:p>
            <a:r>
              <a:rPr lang="zh-CN" altLang="en-US"/>
              <a:t>  爬虫的工作流程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爬虫的合法与合规性</a:t>
            </a:r>
            <a:r>
              <a:rPr lang="en-US" altLang="zh-CN"/>
              <a:t>(robots</a:t>
            </a:r>
            <a:r>
              <a:rPr lang="zh-CN" altLang="en-US"/>
              <a:t>协议</a:t>
            </a:r>
            <a:r>
              <a:rPr lang="en-US" altLang="zh-CN"/>
              <a:t>)</a:t>
            </a:r>
          </a:p>
          <a:p>
            <a:r>
              <a:rPr lang="en-US" altLang="zh-CN"/>
              <a:t>  </a:t>
            </a:r>
            <a:r>
              <a:rPr lang="zh-CN" altLang="en-US"/>
              <a:t>爬虫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D3FCB7-FA09-AD4B-97C8-2AFD511C6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886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A0F11-9662-60C9-EAB8-D1693B15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438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7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moviedb.org/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项目实战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32D516-7A3A-62AC-F9BB-F33E741A55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2294835" cy="563562"/>
          </a:xfrm>
        </p:spPr>
        <p:txBody>
          <a:bodyPr/>
          <a:lstStyle/>
          <a:p>
            <a:r>
              <a:rPr lang="en-US" altLang="zh-CN"/>
              <a:t>—— </a:t>
            </a:r>
            <a:r>
              <a:rPr lang="zh-CN" altLang="en-US"/>
              <a:t>爬虫 </a:t>
            </a:r>
            <a:r>
              <a:rPr lang="en-US" altLang="zh-CN"/>
              <a:t>——</a:t>
            </a:r>
            <a:endParaRPr lang="zh-CN" altLang="en-US"/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DB61C96A-9902-4898-DD95-4776D58AA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42015" y="6082485"/>
            <a:ext cx="9983508" cy="5232563"/>
          </a:xfrm>
          <a:prstGeom prst="roundRect">
            <a:avLst>
              <a:gd name="adj" fmla="val 964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3641B9-6A59-6174-CDCB-6B2A16EC7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C00000"/>
                </a:solidFill>
              </a:rPr>
              <a:t>爬虫：</a:t>
            </a:r>
            <a:r>
              <a:rPr lang="zh-CN" altLang="en-US"/>
              <a:t>也称为</a:t>
            </a:r>
            <a:r>
              <a:rPr lang="zh-CN" altLang="en-US">
                <a:solidFill>
                  <a:srgbClr val="C00000"/>
                </a:solidFill>
              </a:rPr>
              <a:t>网络爬虫</a:t>
            </a:r>
            <a:r>
              <a:rPr lang="en-US" altLang="zh-CN">
                <a:solidFill>
                  <a:srgbClr val="C00000"/>
                </a:solidFill>
              </a:rPr>
              <a:t>(</a:t>
            </a:r>
            <a:r>
              <a:rPr lang="zh-CN" altLang="en-US">
                <a:solidFill>
                  <a:srgbClr val="C00000"/>
                </a:solidFill>
              </a:rPr>
              <a:t>网络机器人</a:t>
            </a:r>
            <a:r>
              <a:rPr lang="en-US" altLang="zh-CN">
                <a:solidFill>
                  <a:srgbClr val="C00000"/>
                </a:solidFill>
              </a:rPr>
              <a:t>)</a:t>
            </a:r>
            <a:r>
              <a:rPr lang="zh-CN" altLang="en-US"/>
              <a:t>，是一种按照一定的预设规则，自动浏览并抓取网络数据的程序或脚本。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5643DE0-09F3-FF95-9B92-CDAF865E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爬虫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0FDBF18-28BD-DD9A-58EE-664814417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58" y="1674315"/>
            <a:ext cx="7515454" cy="4227443"/>
          </a:xfrm>
          <a:prstGeom prst="roundRect">
            <a:avLst>
              <a:gd name="adj" fmla="val 2717"/>
            </a:avLst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6CB6A78-D2B6-CBCC-C0FD-0F1C3B562B30}"/>
              </a:ext>
            </a:extLst>
          </p:cNvPr>
          <p:cNvSpPr txBox="1"/>
          <p:nvPr/>
        </p:nvSpPr>
        <p:spPr>
          <a:xfrm>
            <a:off x="8633791" y="2736574"/>
            <a:ext cx="3335868" cy="2437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搜索引擎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(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百度、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Google)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舆情监控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商业分析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(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电商比价系统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大模型训练语料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……</a:t>
            </a:r>
            <a:endParaRPr lang="zh-CN" altLang="en-US">
              <a:solidFill>
                <a:schemeClr val="tx1">
                  <a:lumMod val="75000"/>
                </a:schemeClr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69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47C9C1-FB73-8DF6-8000-EFBCB1F8F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网络机器人</a:t>
            </a:r>
            <a:r>
              <a:rPr lang="en-US" altLang="zh-CN">
                <a:solidFill>
                  <a:srgbClr val="C00000"/>
                </a:solidFill>
              </a:rPr>
              <a:t>-</a:t>
            </a:r>
            <a:r>
              <a:rPr lang="zh-CN" altLang="en-US">
                <a:solidFill>
                  <a:srgbClr val="C00000"/>
                </a:solidFill>
              </a:rPr>
              <a:t>入门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案例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673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3BD3B5C-3A84-BFD1-B5AA-2CDEB7A102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en-US" altLang="zh-CN"/>
          </a:p>
          <a:p>
            <a:r>
              <a:rPr lang="zh-CN" altLang="en-US"/>
              <a:t>入门程序</a:t>
            </a:r>
            <a:endParaRPr lang="en-US" altLang="zh-CN"/>
          </a:p>
          <a:p>
            <a:r>
              <a:rPr lang="zh-CN" altLang="en-US"/>
              <a:t>网页结构</a:t>
            </a:r>
            <a:endParaRPr lang="en-US" altLang="zh-CN"/>
          </a:p>
          <a:p>
            <a:r>
              <a:rPr lang="zh-CN" altLang="en-US"/>
              <a:t>网页解析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2CDF3F-FA8E-5DBA-D5ED-7E7EF1FD19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49" y="2203927"/>
            <a:ext cx="4049167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F91D17-DD22-4F0F-4CBF-ACB68AC2B1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70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72E6-58E0-FA3A-F864-EF9B201A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4B8FD4B-0C0E-1E0E-50A1-D4255A18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C00000"/>
                </a:solidFill>
              </a:rPr>
              <a:t>网络机器人：</a:t>
            </a:r>
            <a:r>
              <a:rPr lang="zh-CN" altLang="en-US"/>
              <a:t>也称为</a:t>
            </a:r>
            <a:r>
              <a:rPr lang="zh-CN" altLang="en-US">
                <a:solidFill>
                  <a:srgbClr val="C00000"/>
                </a:solidFill>
              </a:rPr>
              <a:t>网络爬虫</a:t>
            </a:r>
            <a:r>
              <a:rPr lang="zh-CN" altLang="en-US"/>
              <a:t>，是一种按照一定的预设规则，自动浏览并抓取网络数据的程序或脚本。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64A91A4-485E-14D8-AB64-AE291CB4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概述</a:t>
            </a:r>
          </a:p>
        </p:txBody>
      </p:sp>
      <p:pic>
        <p:nvPicPr>
          <p:cNvPr id="11" name="图片 10" descr="图形用户界面, 网站&#10;&#10;AI 生成的内容可能不正确。">
            <a:extLst>
              <a:ext uri="{FF2B5EF4-FFF2-40B4-BE49-F238E27FC236}">
                <a16:creationId xmlns:a16="http://schemas.microsoft.com/office/drawing/2014/main" id="{D1BB76CC-8489-2E8E-F177-A7A091BCE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991" y="1612406"/>
            <a:ext cx="6711305" cy="4909195"/>
          </a:xfrm>
          <a:prstGeom prst="roundRect">
            <a:avLst>
              <a:gd name="adj" fmla="val 912"/>
            </a:avLst>
          </a:prstGeom>
          <a:ln w="3175"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1BCEE1F-4111-576D-5FE7-268B04E0F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6" t="8828" r="9323" b="4444"/>
          <a:stretch>
            <a:fillRect/>
          </a:stretch>
        </p:blipFill>
        <p:spPr>
          <a:xfrm>
            <a:off x="1179444" y="2980494"/>
            <a:ext cx="2133600" cy="2304680"/>
          </a:xfrm>
          <a:prstGeom prst="rect">
            <a:avLst/>
          </a:prstGeom>
        </p:spPr>
      </p:pic>
      <p:pic>
        <p:nvPicPr>
          <p:cNvPr id="20" name="图片 19" descr="背景图案&#10;&#10;AI 生成的内容可能不正确。">
            <a:extLst>
              <a:ext uri="{FF2B5EF4-FFF2-40B4-BE49-F238E27FC236}">
                <a16:creationId xmlns:a16="http://schemas.microsoft.com/office/drawing/2014/main" id="{8FA31AD1-DB07-0959-CFAE-1EA519FD3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90" y="2068005"/>
            <a:ext cx="6711305" cy="444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3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7263-9A59-20E6-07D7-119BB4C7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DFA6B78-EA8E-A356-9E72-A3E57BBC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C00000"/>
                </a:solidFill>
              </a:rPr>
              <a:t>网络机器人：</a:t>
            </a:r>
            <a:r>
              <a:rPr lang="zh-CN" altLang="en-US"/>
              <a:t>也称为</a:t>
            </a:r>
            <a:r>
              <a:rPr lang="zh-CN" altLang="en-US">
                <a:solidFill>
                  <a:srgbClr val="C00000"/>
                </a:solidFill>
              </a:rPr>
              <a:t>网络爬虫</a:t>
            </a:r>
            <a:r>
              <a:rPr lang="zh-CN" altLang="en-US"/>
              <a:t>，是一种按照一定的预设规则，自动浏览并抓取网络数据的程序或脚本。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00B4719-2F08-C144-7698-8426E2DB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概述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CF48176-9724-E255-58A9-64A8F81C7CB0}"/>
              </a:ext>
            </a:extLst>
          </p:cNvPr>
          <p:cNvSpPr/>
          <p:nvPr/>
        </p:nvSpPr>
        <p:spPr>
          <a:xfrm>
            <a:off x="762000" y="2941976"/>
            <a:ext cx="874643" cy="543338"/>
          </a:xfrm>
          <a:prstGeom prst="roundRect">
            <a:avLst>
              <a:gd name="adj" fmla="val 34146"/>
            </a:avLst>
          </a:prstGeom>
          <a:solidFill>
            <a:srgbClr val="00B0F0">
              <a:alpha val="20000"/>
            </a:srgb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开始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33A8A0E-C85A-9E52-87B7-5F12A0A65956}"/>
              </a:ext>
            </a:extLst>
          </p:cNvPr>
          <p:cNvSpPr/>
          <p:nvPr/>
        </p:nvSpPr>
        <p:spPr>
          <a:xfrm>
            <a:off x="2336755" y="2941976"/>
            <a:ext cx="1354538" cy="543338"/>
          </a:xfrm>
          <a:prstGeom prst="roundRect">
            <a:avLst>
              <a:gd name="adj" fmla="val 11741"/>
            </a:avLst>
          </a:prstGeom>
          <a:solidFill>
            <a:srgbClr val="00B0F0">
              <a:alpha val="20000"/>
            </a:srgb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发送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HTTP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请求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AF78CE1-641C-D9EB-A215-DF91ECCC340F}"/>
              </a:ext>
            </a:extLst>
          </p:cNvPr>
          <p:cNvSpPr/>
          <p:nvPr/>
        </p:nvSpPr>
        <p:spPr>
          <a:xfrm>
            <a:off x="4391405" y="2941976"/>
            <a:ext cx="1354538" cy="543338"/>
          </a:xfrm>
          <a:prstGeom prst="roundRect">
            <a:avLst>
              <a:gd name="adj" fmla="val 11741"/>
            </a:avLst>
          </a:prstGeom>
          <a:solidFill>
            <a:srgbClr val="00B0F0">
              <a:alpha val="20000"/>
            </a:srgb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解析结果提取数据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1F2747C-C1E7-5BA6-4C65-D33329FFEE46}"/>
              </a:ext>
            </a:extLst>
          </p:cNvPr>
          <p:cNvSpPr/>
          <p:nvPr/>
        </p:nvSpPr>
        <p:spPr>
          <a:xfrm>
            <a:off x="6446055" y="2941976"/>
            <a:ext cx="1354538" cy="543338"/>
          </a:xfrm>
          <a:prstGeom prst="roundRect">
            <a:avLst>
              <a:gd name="adj" fmla="val 11741"/>
            </a:avLst>
          </a:prstGeom>
          <a:solidFill>
            <a:srgbClr val="00B0F0">
              <a:alpha val="20000"/>
            </a:srgb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数据处理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清洗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D5178CD-4E58-B5D3-A05A-C52BA989DB99}"/>
              </a:ext>
            </a:extLst>
          </p:cNvPr>
          <p:cNvSpPr/>
          <p:nvPr/>
        </p:nvSpPr>
        <p:spPr>
          <a:xfrm>
            <a:off x="8500705" y="2941976"/>
            <a:ext cx="1354538" cy="543338"/>
          </a:xfrm>
          <a:prstGeom prst="roundRect">
            <a:avLst>
              <a:gd name="adj" fmla="val 11741"/>
            </a:avLst>
          </a:prstGeom>
          <a:solidFill>
            <a:srgbClr val="00B0F0">
              <a:alpha val="20000"/>
            </a:srgb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数据存储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24BA371-9643-7234-89E8-B1EE0A5F6B8A}"/>
              </a:ext>
            </a:extLst>
          </p:cNvPr>
          <p:cNvSpPr/>
          <p:nvPr/>
        </p:nvSpPr>
        <p:spPr>
          <a:xfrm>
            <a:off x="10555357" y="2941976"/>
            <a:ext cx="874643" cy="543338"/>
          </a:xfrm>
          <a:prstGeom prst="roundRect">
            <a:avLst>
              <a:gd name="adj" fmla="val 26829"/>
            </a:avLst>
          </a:prstGeom>
          <a:solidFill>
            <a:srgbClr val="00B0F0">
              <a:alpha val="20000"/>
            </a:srgb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结束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8045A93-9CAD-EA93-E3FF-7CB74786DEF3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636643" y="3213645"/>
            <a:ext cx="700112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62CB0C5-D513-D0F2-5994-1385450CBB6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691293" y="3213645"/>
            <a:ext cx="700112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159F84A-218D-55BE-2084-29842D66D65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745943" y="3213645"/>
            <a:ext cx="700112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6B6258D-F172-2BD0-48D7-2E57DDAC1F6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800593" y="3213645"/>
            <a:ext cx="700112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C7B1CA0-3485-755A-5645-D48738058F9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9855243" y="3213645"/>
            <a:ext cx="700114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AE40928-BC89-535A-493A-446D3F7BF846}"/>
              </a:ext>
            </a:extLst>
          </p:cNvPr>
          <p:cNvGrpSpPr/>
          <p:nvPr/>
        </p:nvGrpSpPr>
        <p:grpSpPr>
          <a:xfrm>
            <a:off x="762000" y="6256033"/>
            <a:ext cx="10668000" cy="348335"/>
            <a:chOff x="4685665" y="1834757"/>
            <a:chExt cx="10741286" cy="348335"/>
          </a:xfrm>
        </p:grpSpPr>
        <p:sp>
          <p:nvSpPr>
            <p:cNvPr id="31" name="ComponentBackground2">
              <a:extLst>
                <a:ext uri="{FF2B5EF4-FFF2-40B4-BE49-F238E27FC236}">
                  <a16:creationId xmlns:a16="http://schemas.microsoft.com/office/drawing/2014/main" id="{A04FACF3-1E77-6DB8-FA9D-96FC74AD650E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718426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数据清洗：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是指对采集到的原始数据进行处理、 修正、转换和标准化的过程，目的是让数据变得规范、准确 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2" name="Shape2">
              <a:extLst>
                <a:ext uri="{FF2B5EF4-FFF2-40B4-BE49-F238E27FC236}">
                  <a16:creationId xmlns:a16="http://schemas.microsoft.com/office/drawing/2014/main" id="{246D7EBE-0AC3-1097-0399-F33D14436C0B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AE367EE-286D-E3A0-27CD-FBDBFBB1C0F3}"/>
              </a:ext>
            </a:extLst>
          </p:cNvPr>
          <p:cNvCxnSpPr>
            <a:stCxn id="9" idx="0"/>
            <a:endCxn id="6" idx="0"/>
          </p:cNvCxnSpPr>
          <p:nvPr/>
        </p:nvCxnSpPr>
        <p:spPr>
          <a:xfrm rot="16200000" flipV="1">
            <a:off x="6095999" y="-139999"/>
            <a:ext cx="12700" cy="6163950"/>
          </a:xfrm>
          <a:prstGeom prst="curvedConnector3">
            <a:avLst>
              <a:gd name="adj1" fmla="val 6913047"/>
            </a:avLst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3374478-B5E7-FADB-D625-14B849BB4EB5}"/>
              </a:ext>
            </a:extLst>
          </p:cNvPr>
          <p:cNvSpPr txBox="1"/>
          <p:nvPr/>
        </p:nvSpPr>
        <p:spPr>
          <a:xfrm>
            <a:off x="4968064" y="4347453"/>
            <a:ext cx="2268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robots</a:t>
            </a:r>
            <a:r>
              <a:rPr lang="zh-CN" altLang="en-US" sz="28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55201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C88DF-8DE2-56EB-2476-44B89625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1729DFC-BE26-4F71-A025-878559261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257994" cy="84605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robots</a:t>
            </a:r>
            <a:r>
              <a:rPr lang="zh-CN" altLang="en-US"/>
              <a:t>协议也称为爬虫协议、爬虫规则，是指网站根目录下存放的一份文本文件</a:t>
            </a:r>
            <a:r>
              <a:rPr lang="en-US" altLang="zh-CN"/>
              <a:t>robots.txt</a:t>
            </a:r>
            <a:r>
              <a:rPr lang="zh-CN" altLang="en-US"/>
              <a:t>，用于告诉爬虫哪些页面可以抓取，哪些页面不能抓取。（君子协议）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AEE374B-B594-F96E-4A87-0366E128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合规性</a:t>
            </a:r>
            <a:r>
              <a:rPr lang="en-US" altLang="zh-CN"/>
              <a:t>(robots</a:t>
            </a:r>
            <a:r>
              <a:rPr lang="zh-CN" altLang="en-US"/>
              <a:t>协议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261900A-7D85-124D-8230-5B708369D577}"/>
              </a:ext>
            </a:extLst>
          </p:cNvPr>
          <p:cNvSpPr/>
          <p:nvPr/>
        </p:nvSpPr>
        <p:spPr>
          <a:xfrm>
            <a:off x="1014066" y="1947722"/>
            <a:ext cx="3511379" cy="4296879"/>
          </a:xfrm>
          <a:custGeom>
            <a:avLst/>
            <a:gdLst>
              <a:gd name="connsiteX0" fmla="*/ 0 w 3069020"/>
              <a:gd name="connsiteY0" fmla="*/ 0 h 3510455"/>
              <a:gd name="connsiteX1" fmla="*/ 2286511 w 3069020"/>
              <a:gd name="connsiteY1" fmla="*/ 0 h 3510455"/>
              <a:gd name="connsiteX2" fmla="*/ 2315877 w 3069020"/>
              <a:gd name="connsiteY2" fmla="*/ 15324 h 3510455"/>
              <a:gd name="connsiteX3" fmla="*/ 3069020 w 3069020"/>
              <a:gd name="connsiteY3" fmla="*/ 731145 h 3510455"/>
              <a:gd name="connsiteX4" fmla="*/ 3069020 w 3069020"/>
              <a:gd name="connsiteY4" fmla="*/ 3510455 h 3510455"/>
              <a:gd name="connsiteX5" fmla="*/ 0 w 3069020"/>
              <a:gd name="connsiteY5" fmla="*/ 3510455 h 3510455"/>
              <a:gd name="connsiteX0" fmla="*/ 0 w 3069020"/>
              <a:gd name="connsiteY0" fmla="*/ 0 h 3510455"/>
              <a:gd name="connsiteX1" fmla="*/ 2286511 w 3069020"/>
              <a:gd name="connsiteY1" fmla="*/ 0 h 3510455"/>
              <a:gd name="connsiteX2" fmla="*/ 2315877 w 3069020"/>
              <a:gd name="connsiteY2" fmla="*/ 15324 h 3510455"/>
              <a:gd name="connsiteX3" fmla="*/ 3069020 w 3069020"/>
              <a:gd name="connsiteY3" fmla="*/ 731145 h 3510455"/>
              <a:gd name="connsiteX4" fmla="*/ 3069020 w 3069020"/>
              <a:gd name="connsiteY4" fmla="*/ 3510455 h 3510455"/>
              <a:gd name="connsiteX5" fmla="*/ 0 w 3069020"/>
              <a:gd name="connsiteY5" fmla="*/ 3510455 h 3510455"/>
              <a:gd name="connsiteX6" fmla="*/ 0 w 3069020"/>
              <a:gd name="connsiteY6" fmla="*/ 0 h 3510455"/>
              <a:gd name="connsiteX0" fmla="*/ 25708 w 3094728"/>
              <a:gd name="connsiteY0" fmla="*/ 0 h 3510455"/>
              <a:gd name="connsiteX1" fmla="*/ 2312219 w 3094728"/>
              <a:gd name="connsiteY1" fmla="*/ 0 h 3510455"/>
              <a:gd name="connsiteX2" fmla="*/ 2341585 w 3094728"/>
              <a:gd name="connsiteY2" fmla="*/ 15324 h 3510455"/>
              <a:gd name="connsiteX3" fmla="*/ 3094728 w 3094728"/>
              <a:gd name="connsiteY3" fmla="*/ 731145 h 3510455"/>
              <a:gd name="connsiteX4" fmla="*/ 3094728 w 3094728"/>
              <a:gd name="connsiteY4" fmla="*/ 3510455 h 3510455"/>
              <a:gd name="connsiteX5" fmla="*/ 25708 w 3094728"/>
              <a:gd name="connsiteY5" fmla="*/ 3510455 h 3510455"/>
              <a:gd name="connsiteX6" fmla="*/ 25708 w 3094728"/>
              <a:gd name="connsiteY6" fmla="*/ 0 h 3510455"/>
              <a:gd name="connsiteX0" fmla="*/ 36153 w 3105173"/>
              <a:gd name="connsiteY0" fmla="*/ 0 h 3510455"/>
              <a:gd name="connsiteX1" fmla="*/ 2322664 w 3105173"/>
              <a:gd name="connsiteY1" fmla="*/ 0 h 3510455"/>
              <a:gd name="connsiteX2" fmla="*/ 2352030 w 3105173"/>
              <a:gd name="connsiteY2" fmla="*/ 15324 h 3510455"/>
              <a:gd name="connsiteX3" fmla="*/ 3105173 w 3105173"/>
              <a:gd name="connsiteY3" fmla="*/ 731145 h 3510455"/>
              <a:gd name="connsiteX4" fmla="*/ 3105173 w 3105173"/>
              <a:gd name="connsiteY4" fmla="*/ 3510455 h 3510455"/>
              <a:gd name="connsiteX5" fmla="*/ 7230 w 3105173"/>
              <a:gd name="connsiteY5" fmla="*/ 3510455 h 3510455"/>
              <a:gd name="connsiteX6" fmla="*/ 36153 w 3105173"/>
              <a:gd name="connsiteY6" fmla="*/ 0 h 3510455"/>
              <a:gd name="connsiteX0" fmla="*/ 36153 w 3105173"/>
              <a:gd name="connsiteY0" fmla="*/ 0 h 3510455"/>
              <a:gd name="connsiteX1" fmla="*/ 2322664 w 3105173"/>
              <a:gd name="connsiteY1" fmla="*/ 0 h 3510455"/>
              <a:gd name="connsiteX2" fmla="*/ 2352030 w 3105173"/>
              <a:gd name="connsiteY2" fmla="*/ 15324 h 3510455"/>
              <a:gd name="connsiteX3" fmla="*/ 3105173 w 3105173"/>
              <a:gd name="connsiteY3" fmla="*/ 731145 h 3510455"/>
              <a:gd name="connsiteX4" fmla="*/ 3105173 w 3105173"/>
              <a:gd name="connsiteY4" fmla="*/ 3510455 h 3510455"/>
              <a:gd name="connsiteX5" fmla="*/ 7230 w 3105173"/>
              <a:gd name="connsiteY5" fmla="*/ 3510455 h 3510455"/>
              <a:gd name="connsiteX6" fmla="*/ 36153 w 3105173"/>
              <a:gd name="connsiteY6" fmla="*/ 0 h 3510455"/>
              <a:gd name="connsiteX0" fmla="*/ 36153 w 3105173"/>
              <a:gd name="connsiteY0" fmla="*/ 0 h 3510455"/>
              <a:gd name="connsiteX1" fmla="*/ 2322664 w 3105173"/>
              <a:gd name="connsiteY1" fmla="*/ 0 h 3510455"/>
              <a:gd name="connsiteX2" fmla="*/ 2352030 w 3105173"/>
              <a:gd name="connsiteY2" fmla="*/ 15324 h 3510455"/>
              <a:gd name="connsiteX3" fmla="*/ 3105173 w 3105173"/>
              <a:gd name="connsiteY3" fmla="*/ 731145 h 3510455"/>
              <a:gd name="connsiteX4" fmla="*/ 3105173 w 3105173"/>
              <a:gd name="connsiteY4" fmla="*/ 3510455 h 3510455"/>
              <a:gd name="connsiteX5" fmla="*/ 7230 w 3105173"/>
              <a:gd name="connsiteY5" fmla="*/ 3510455 h 3510455"/>
              <a:gd name="connsiteX6" fmla="*/ 36153 w 3105173"/>
              <a:gd name="connsiteY6" fmla="*/ 0 h 3510455"/>
              <a:gd name="connsiteX0" fmla="*/ 36153 w 3105173"/>
              <a:gd name="connsiteY0" fmla="*/ 0 h 3510455"/>
              <a:gd name="connsiteX1" fmla="*/ 2322664 w 3105173"/>
              <a:gd name="connsiteY1" fmla="*/ 0 h 3510455"/>
              <a:gd name="connsiteX2" fmla="*/ 2352030 w 3105173"/>
              <a:gd name="connsiteY2" fmla="*/ 15324 h 3510455"/>
              <a:gd name="connsiteX3" fmla="*/ 3105173 w 3105173"/>
              <a:gd name="connsiteY3" fmla="*/ 731145 h 3510455"/>
              <a:gd name="connsiteX4" fmla="*/ 3105173 w 3105173"/>
              <a:gd name="connsiteY4" fmla="*/ 3510455 h 3510455"/>
              <a:gd name="connsiteX5" fmla="*/ 7230 w 3105173"/>
              <a:gd name="connsiteY5" fmla="*/ 3510455 h 3510455"/>
              <a:gd name="connsiteX6" fmla="*/ 36153 w 3105173"/>
              <a:gd name="connsiteY6" fmla="*/ 0 h 3510455"/>
              <a:gd name="connsiteX0" fmla="*/ 36153 w 3105173"/>
              <a:gd name="connsiteY0" fmla="*/ 0 h 3510455"/>
              <a:gd name="connsiteX1" fmla="*/ 2322664 w 3105173"/>
              <a:gd name="connsiteY1" fmla="*/ 0 h 3510455"/>
              <a:gd name="connsiteX2" fmla="*/ 2352030 w 3105173"/>
              <a:gd name="connsiteY2" fmla="*/ 15324 h 3510455"/>
              <a:gd name="connsiteX3" fmla="*/ 3105173 w 3105173"/>
              <a:gd name="connsiteY3" fmla="*/ 731145 h 3510455"/>
              <a:gd name="connsiteX4" fmla="*/ 3105173 w 3105173"/>
              <a:gd name="connsiteY4" fmla="*/ 3510455 h 3510455"/>
              <a:gd name="connsiteX5" fmla="*/ 7230 w 3105173"/>
              <a:gd name="connsiteY5" fmla="*/ 3510455 h 3510455"/>
              <a:gd name="connsiteX6" fmla="*/ 36153 w 3105173"/>
              <a:gd name="connsiteY6" fmla="*/ 0 h 3510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173" h="3510455">
                <a:moveTo>
                  <a:pt x="36153" y="0"/>
                </a:moveTo>
                <a:cubicBezTo>
                  <a:pt x="904373" y="50847"/>
                  <a:pt x="1560494" y="0"/>
                  <a:pt x="2322664" y="0"/>
                </a:cubicBezTo>
                <a:lnTo>
                  <a:pt x="2352030" y="15324"/>
                </a:lnTo>
                <a:lnTo>
                  <a:pt x="3105173" y="731145"/>
                </a:lnTo>
                <a:cubicBezTo>
                  <a:pt x="3105173" y="1657582"/>
                  <a:pt x="3018404" y="2541645"/>
                  <a:pt x="3105173" y="3510455"/>
                </a:cubicBezTo>
                <a:cubicBezTo>
                  <a:pt x="2053244" y="3459608"/>
                  <a:pt x="1117006" y="3459608"/>
                  <a:pt x="7230" y="3510455"/>
                </a:cubicBezTo>
                <a:cubicBezTo>
                  <a:pt x="7230" y="2340303"/>
                  <a:pt x="-21693" y="1170152"/>
                  <a:pt x="361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0" rtlCol="0" anchor="ctr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User-agent: *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Disallow: /wp-admin/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Allow: /wp-admin/admin-ajax.php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Sitemap: https://www.tiobe.com/sitemap_index.xml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Crawl-delay: 5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900">
              <a:solidFill>
                <a:srgbClr val="080808"/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User-agent: Wandoujia Spider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Disallow: /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900">
              <a:solidFill>
                <a:srgbClr val="080808"/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User-agent: Mediapartners-Google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Disallow: /subject_search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Disallow: /amazon_search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Disallow: /search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Disallow: /group/search</a:t>
            </a:r>
            <a:endParaRPr lang="en-US" altLang="zh-CN" sz="900">
              <a:solidFill>
                <a:srgbClr val="080808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82F15B-EA0D-A133-00BA-47AC522E8886}"/>
              </a:ext>
            </a:extLst>
          </p:cNvPr>
          <p:cNvSpPr txBox="1"/>
          <p:nvPr/>
        </p:nvSpPr>
        <p:spPr>
          <a:xfrm>
            <a:off x="2132108" y="6340766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/>
              <a:t>robots.txt</a:t>
            </a:r>
            <a:endParaRPr lang="zh-CN" altLang="en-US" sz="1200" b="1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9648ECE-730F-5012-6089-CDBDEC171CCE}"/>
              </a:ext>
            </a:extLst>
          </p:cNvPr>
          <p:cNvSpPr/>
          <p:nvPr/>
        </p:nvSpPr>
        <p:spPr>
          <a:xfrm>
            <a:off x="1038413" y="2048425"/>
            <a:ext cx="3462684" cy="1483926"/>
          </a:xfrm>
          <a:prstGeom prst="roundRect">
            <a:avLst>
              <a:gd name="adj" fmla="val 3704"/>
            </a:avLst>
          </a:prstGeom>
          <a:solidFill>
            <a:srgbClr val="00B0F0">
              <a:alpha val="10196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9F47F2C-E2FD-1348-D733-8BC18A6D1350}"/>
              </a:ext>
            </a:extLst>
          </p:cNvPr>
          <p:cNvGrpSpPr/>
          <p:nvPr/>
        </p:nvGrpSpPr>
        <p:grpSpPr>
          <a:xfrm>
            <a:off x="3582393" y="1972810"/>
            <a:ext cx="1097557" cy="1244608"/>
            <a:chOff x="3582393" y="1972810"/>
            <a:chExt cx="1097557" cy="1244608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305051D-6066-CB41-4E66-8F0C6A0846D2}"/>
                </a:ext>
              </a:extLst>
            </p:cNvPr>
            <p:cNvSpPr/>
            <p:nvPr/>
          </p:nvSpPr>
          <p:spPr>
            <a:xfrm rot="13510048">
              <a:off x="3296416" y="2313865"/>
              <a:ext cx="1189530" cy="617576"/>
            </a:xfrm>
            <a:custGeom>
              <a:avLst/>
              <a:gdLst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  <a:gd name="connsiteX0" fmla="*/ 1062195 w 1062195"/>
                <a:gd name="connsiteY0" fmla="*/ 534418 h 541091"/>
                <a:gd name="connsiteX1" fmla="*/ 1030365 w 1062195"/>
                <a:gd name="connsiteY1" fmla="*/ 541091 h 541091"/>
                <a:gd name="connsiteX2" fmla="*/ 0 w 1062195"/>
                <a:gd name="connsiteY2" fmla="*/ 541091 h 541091"/>
                <a:gd name="connsiteX3" fmla="*/ 534393 w 1062195"/>
                <a:gd name="connsiteY3" fmla="*/ 0 h 541091"/>
                <a:gd name="connsiteX4" fmla="*/ 1062195 w 1062195"/>
                <a:gd name="connsiteY4" fmla="*/ 534418 h 54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195" h="541091">
                  <a:moveTo>
                    <a:pt x="1062195" y="534418"/>
                  </a:moveTo>
                  <a:lnTo>
                    <a:pt x="1030365" y="541091"/>
                  </a:lnTo>
                  <a:lnTo>
                    <a:pt x="0" y="541091"/>
                  </a:lnTo>
                  <a:cubicBezTo>
                    <a:pt x="178131" y="360727"/>
                    <a:pt x="136110" y="357977"/>
                    <a:pt x="534393" y="0"/>
                  </a:cubicBezTo>
                  <a:cubicBezTo>
                    <a:pt x="896687" y="407497"/>
                    <a:pt x="902466" y="354898"/>
                    <a:pt x="1062195" y="534418"/>
                  </a:cubicBezTo>
                  <a:close/>
                </a:path>
              </a:pathLst>
            </a:custGeom>
            <a:gradFill>
              <a:gsLst>
                <a:gs pos="88000">
                  <a:srgbClr val="D1D1D1"/>
                </a:gs>
                <a:gs pos="48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  <a:alpha val="84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38100" dist="25400" dir="72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/>
            </a:p>
          </p:txBody>
        </p:sp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CB93613D-D5B0-8F52-AFE6-2BB2ACAAEB49}"/>
                </a:ext>
              </a:extLst>
            </p:cNvPr>
            <p:cNvSpPr/>
            <p:nvPr/>
          </p:nvSpPr>
          <p:spPr>
            <a:xfrm rot="10800000">
              <a:off x="3676650" y="1972810"/>
              <a:ext cx="1003300" cy="984250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6281623-BFD3-46E4-FDE0-D66F96BC0783}"/>
              </a:ext>
            </a:extLst>
          </p:cNvPr>
          <p:cNvSpPr/>
          <p:nvPr/>
        </p:nvSpPr>
        <p:spPr>
          <a:xfrm>
            <a:off x="1010015" y="3646372"/>
            <a:ext cx="3462684" cy="846055"/>
          </a:xfrm>
          <a:prstGeom prst="roundRect">
            <a:avLst>
              <a:gd name="adj" fmla="val 4631"/>
            </a:avLst>
          </a:prstGeom>
          <a:solidFill>
            <a:srgbClr val="3FEFE2">
              <a:alpha val="10196"/>
            </a:srgbClr>
          </a:solidFill>
          <a:ln w="3175">
            <a:solidFill>
              <a:srgbClr val="0EE0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7591057-D600-EDFD-D138-B7196DB2FCBE}"/>
              </a:ext>
            </a:extLst>
          </p:cNvPr>
          <p:cNvSpPr/>
          <p:nvPr/>
        </p:nvSpPr>
        <p:spPr>
          <a:xfrm>
            <a:off x="1010015" y="4606448"/>
            <a:ext cx="3462684" cy="1527652"/>
          </a:xfrm>
          <a:prstGeom prst="roundRect">
            <a:avLst>
              <a:gd name="adj" fmla="val 2807"/>
            </a:avLst>
          </a:prstGeom>
          <a:solidFill>
            <a:srgbClr val="3FEFE2">
              <a:alpha val="10196"/>
            </a:srgbClr>
          </a:solidFill>
          <a:ln w="3175">
            <a:solidFill>
              <a:srgbClr val="0EE0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D2B9707-27A2-0853-6C4C-713F5D04B1E7}"/>
              </a:ext>
            </a:extLst>
          </p:cNvPr>
          <p:cNvGrpSpPr/>
          <p:nvPr/>
        </p:nvGrpSpPr>
        <p:grpSpPr>
          <a:xfrm>
            <a:off x="7201781" y="2957061"/>
            <a:ext cx="4188905" cy="363577"/>
            <a:chOff x="4689554" y="1834758"/>
            <a:chExt cx="4188905" cy="363577"/>
          </a:xfrm>
        </p:grpSpPr>
        <p:sp>
          <p:nvSpPr>
            <p:cNvPr id="27" name="ComponentBackground2">
              <a:extLst>
                <a:ext uri="{FF2B5EF4-FFF2-40B4-BE49-F238E27FC236}">
                  <a16:creationId xmlns:a16="http://schemas.microsoft.com/office/drawing/2014/main" id="{3269912E-6EF0-8588-D7E1-18A33AD60F03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8"/>
              <a:ext cx="4169934" cy="363577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User-Agent</a:t>
              </a:r>
              <a:r>
                <a:rPr kumimoji="1" lang="zh-CN" altLang="en-US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：</a:t>
              </a:r>
              <a:r>
                <a:rPr kumimoji="1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用户代理，通过该请求头确认</a:t>
              </a:r>
              <a:r>
                <a:rPr kumimoji="1" lang="zh-CN" altLang="en-US" sz="1050" kern="0">
                  <a:solidFill>
                    <a:srgbClr val="000000"/>
                  </a:solidFill>
                </a:rPr>
                <a:t>爬虫的类型</a:t>
              </a: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0" name="Shape2">
              <a:extLst>
                <a:ext uri="{FF2B5EF4-FFF2-40B4-BE49-F238E27FC236}">
                  <a16:creationId xmlns:a16="http://schemas.microsoft.com/office/drawing/2014/main" id="{7EA4C306-D0F0-1BB1-681A-9B328190D20E}"/>
                </a:ext>
              </a:extLst>
            </p:cNvPr>
            <p:cNvSpPr/>
            <p:nvPr/>
          </p:nvSpPr>
          <p:spPr>
            <a:xfrm>
              <a:off x="4689554" y="1857721"/>
              <a:ext cx="45719" cy="316801"/>
            </a:xfrm>
            <a:prstGeom prst="roundRect">
              <a:avLst>
                <a:gd name="adj" fmla="val 50000"/>
              </a:avLst>
            </a:prstGeom>
            <a:solidFill>
              <a:srgbClr val="06BB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D240E15-62F5-FC0B-3B82-62A8552E74E2}"/>
              </a:ext>
            </a:extLst>
          </p:cNvPr>
          <p:cNvGrpSpPr/>
          <p:nvPr/>
        </p:nvGrpSpPr>
        <p:grpSpPr>
          <a:xfrm>
            <a:off x="7201781" y="3406178"/>
            <a:ext cx="4188905" cy="363577"/>
            <a:chOff x="4689554" y="1834758"/>
            <a:chExt cx="4423297" cy="363577"/>
          </a:xfrm>
        </p:grpSpPr>
        <p:sp>
          <p:nvSpPr>
            <p:cNvPr id="32" name="ComponentBackground2">
              <a:extLst>
                <a:ext uri="{FF2B5EF4-FFF2-40B4-BE49-F238E27FC236}">
                  <a16:creationId xmlns:a16="http://schemas.microsoft.com/office/drawing/2014/main" id="{2F2FA9BA-04DF-05A2-8650-4CA4CB072E3C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8"/>
              <a:ext cx="4404327" cy="363577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50" b="1" kern="0">
                  <a:solidFill>
                    <a:srgbClr val="000000"/>
                  </a:solidFill>
                </a:rPr>
                <a:t>Disallow</a:t>
              </a:r>
              <a:r>
                <a:rPr kumimoji="1" lang="zh-CN" altLang="en-US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：</a:t>
              </a:r>
              <a:r>
                <a:rPr kumimoji="1" lang="zh-CN" altLang="en-US" sz="1050" kern="0">
                  <a:solidFill>
                    <a:srgbClr val="000000"/>
                  </a:solidFill>
                </a:rPr>
                <a:t>禁止访问的资源</a:t>
              </a: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3" name="Shape2">
              <a:extLst>
                <a:ext uri="{FF2B5EF4-FFF2-40B4-BE49-F238E27FC236}">
                  <a16:creationId xmlns:a16="http://schemas.microsoft.com/office/drawing/2014/main" id="{48833972-AE9C-DD86-2C4E-7A69F5D67635}"/>
                </a:ext>
              </a:extLst>
            </p:cNvPr>
            <p:cNvSpPr/>
            <p:nvPr/>
          </p:nvSpPr>
          <p:spPr>
            <a:xfrm>
              <a:off x="4689554" y="1857721"/>
              <a:ext cx="45719" cy="316801"/>
            </a:xfrm>
            <a:prstGeom prst="roundRect">
              <a:avLst>
                <a:gd name="adj" fmla="val 50000"/>
              </a:avLst>
            </a:prstGeom>
            <a:solidFill>
              <a:srgbClr val="06BB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CADB4A7-7E9C-D5F4-D35D-DB4710F2FD4A}"/>
              </a:ext>
            </a:extLst>
          </p:cNvPr>
          <p:cNvGrpSpPr/>
          <p:nvPr/>
        </p:nvGrpSpPr>
        <p:grpSpPr>
          <a:xfrm>
            <a:off x="7201781" y="3878258"/>
            <a:ext cx="4189910" cy="363577"/>
            <a:chOff x="4689554" y="1834758"/>
            <a:chExt cx="4189910" cy="363577"/>
          </a:xfrm>
        </p:grpSpPr>
        <p:sp>
          <p:nvSpPr>
            <p:cNvPr id="35" name="ComponentBackground2">
              <a:extLst>
                <a:ext uri="{FF2B5EF4-FFF2-40B4-BE49-F238E27FC236}">
                  <a16:creationId xmlns:a16="http://schemas.microsoft.com/office/drawing/2014/main" id="{5F644E6E-BB59-58CA-E859-439EFFA4AC64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8"/>
              <a:ext cx="4170940" cy="363577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50" b="1" kern="0">
                  <a:solidFill>
                    <a:srgbClr val="000000"/>
                  </a:solidFill>
                </a:rPr>
                <a:t>Allow</a:t>
              </a:r>
              <a:r>
                <a:rPr kumimoji="1" lang="zh-CN" altLang="en-US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：</a:t>
              </a:r>
              <a:r>
                <a:rPr kumimoji="1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允许</a:t>
              </a:r>
              <a:r>
                <a:rPr kumimoji="1" lang="zh-CN" altLang="en-US" sz="1050" kern="0">
                  <a:solidFill>
                    <a:srgbClr val="000000"/>
                  </a:solidFill>
                </a:rPr>
                <a:t>访问的资源</a:t>
              </a: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6" name="Shape2">
              <a:extLst>
                <a:ext uri="{FF2B5EF4-FFF2-40B4-BE49-F238E27FC236}">
                  <a16:creationId xmlns:a16="http://schemas.microsoft.com/office/drawing/2014/main" id="{ABE0AB33-5D3C-3A27-2845-C8089B66C80D}"/>
                </a:ext>
              </a:extLst>
            </p:cNvPr>
            <p:cNvSpPr/>
            <p:nvPr/>
          </p:nvSpPr>
          <p:spPr>
            <a:xfrm>
              <a:off x="4689554" y="1857721"/>
              <a:ext cx="45719" cy="316801"/>
            </a:xfrm>
            <a:prstGeom prst="roundRect">
              <a:avLst>
                <a:gd name="adj" fmla="val 50000"/>
              </a:avLst>
            </a:prstGeom>
            <a:solidFill>
              <a:srgbClr val="06BB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386E5F3-C292-1B3B-53A3-6D69F273FB07}"/>
              </a:ext>
            </a:extLst>
          </p:cNvPr>
          <p:cNvGrpSpPr/>
          <p:nvPr/>
        </p:nvGrpSpPr>
        <p:grpSpPr>
          <a:xfrm>
            <a:off x="7201780" y="4349488"/>
            <a:ext cx="4190119" cy="363577"/>
            <a:chOff x="4689554" y="1834758"/>
            <a:chExt cx="4144400" cy="363577"/>
          </a:xfrm>
        </p:grpSpPr>
        <p:sp>
          <p:nvSpPr>
            <p:cNvPr id="38" name="ComponentBackground2">
              <a:extLst>
                <a:ext uri="{FF2B5EF4-FFF2-40B4-BE49-F238E27FC236}">
                  <a16:creationId xmlns:a16="http://schemas.microsoft.com/office/drawing/2014/main" id="{1E263356-9F57-9DB2-3F3A-C7FA48593598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8"/>
              <a:ext cx="4125430" cy="363577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Sitemap</a:t>
              </a:r>
              <a:r>
                <a:rPr kumimoji="1" lang="zh-CN" altLang="en-US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：</a:t>
              </a:r>
              <a:r>
                <a:rPr kumimoji="1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网站地图</a:t>
              </a:r>
              <a:r>
                <a:rPr kumimoji="1" lang="zh-CN" altLang="en-US" sz="1050" kern="0">
                  <a:solidFill>
                    <a:srgbClr val="000000"/>
                  </a:solidFill>
                </a:rPr>
                <a:t>，帮助爬虫更高效地获取网站内容</a:t>
              </a: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9" name="Shape2">
              <a:extLst>
                <a:ext uri="{FF2B5EF4-FFF2-40B4-BE49-F238E27FC236}">
                  <a16:creationId xmlns:a16="http://schemas.microsoft.com/office/drawing/2014/main" id="{6D215AC6-73CB-C836-F970-70060DF5A6E5}"/>
                </a:ext>
              </a:extLst>
            </p:cNvPr>
            <p:cNvSpPr/>
            <p:nvPr/>
          </p:nvSpPr>
          <p:spPr>
            <a:xfrm>
              <a:off x="4689554" y="1857721"/>
              <a:ext cx="45719" cy="316801"/>
            </a:xfrm>
            <a:prstGeom prst="roundRect">
              <a:avLst>
                <a:gd name="adj" fmla="val 50000"/>
              </a:avLst>
            </a:prstGeom>
            <a:solidFill>
              <a:srgbClr val="06BB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F7BDC07-F9CC-666E-2599-1E4D830E70F4}"/>
              </a:ext>
            </a:extLst>
          </p:cNvPr>
          <p:cNvGrpSpPr/>
          <p:nvPr/>
        </p:nvGrpSpPr>
        <p:grpSpPr>
          <a:xfrm>
            <a:off x="7201781" y="4805880"/>
            <a:ext cx="4190119" cy="363577"/>
            <a:chOff x="4689554" y="1834758"/>
            <a:chExt cx="4190119" cy="363577"/>
          </a:xfrm>
        </p:grpSpPr>
        <p:sp>
          <p:nvSpPr>
            <p:cNvPr id="41" name="ComponentBackground2">
              <a:extLst>
                <a:ext uri="{FF2B5EF4-FFF2-40B4-BE49-F238E27FC236}">
                  <a16:creationId xmlns:a16="http://schemas.microsoft.com/office/drawing/2014/main" id="{94A555CD-759A-DD11-E220-8DAEC0B4620B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8"/>
              <a:ext cx="4171149" cy="363577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050" b="1">
                  <a:solidFill>
                    <a:srgbClr val="0F1115"/>
                  </a:solidFill>
                  <a:effectLst/>
                </a:rPr>
                <a:t>Crawl-delay</a:t>
              </a:r>
              <a:r>
                <a:rPr kumimoji="1" lang="zh-CN" altLang="en-US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：</a:t>
              </a:r>
              <a:r>
                <a:rPr kumimoji="1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爬取间隔时间</a:t>
              </a:r>
              <a:r>
                <a:rPr kumimoji="1" lang="zh-CN" altLang="en-US" sz="1050" kern="0">
                  <a:solidFill>
                    <a:srgbClr val="000000"/>
                  </a:solidFill>
                </a:rPr>
                <a:t>，避免频繁访问造成网站压力过大</a:t>
              </a:r>
              <a:endParaRPr kumimoji="1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2" name="Shape2">
              <a:extLst>
                <a:ext uri="{FF2B5EF4-FFF2-40B4-BE49-F238E27FC236}">
                  <a16:creationId xmlns:a16="http://schemas.microsoft.com/office/drawing/2014/main" id="{DB92B783-7023-16C7-146A-DA211BB29E13}"/>
                </a:ext>
              </a:extLst>
            </p:cNvPr>
            <p:cNvSpPr/>
            <p:nvPr/>
          </p:nvSpPr>
          <p:spPr>
            <a:xfrm>
              <a:off x="4689554" y="1857721"/>
              <a:ext cx="45719" cy="316801"/>
            </a:xfrm>
            <a:prstGeom prst="roundRect">
              <a:avLst>
                <a:gd name="adj" fmla="val 50000"/>
              </a:avLst>
            </a:prstGeom>
            <a:solidFill>
              <a:srgbClr val="06BB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796BE275-DA45-D5E6-769D-9D02A9D15636}"/>
              </a:ext>
            </a:extLst>
          </p:cNvPr>
          <p:cNvSpPr txBox="1"/>
          <p:nvPr/>
        </p:nvSpPr>
        <p:spPr>
          <a:xfrm>
            <a:off x="4544416" y="2713259"/>
            <a:ext cx="2053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通用规则</a:t>
            </a:r>
            <a:r>
              <a:rPr lang="en-US" altLang="zh-CN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(</a:t>
            </a:r>
            <a:r>
              <a:rPr lang="zh-CN" altLang="en-US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针对于所有爬虫</a:t>
            </a:r>
            <a:r>
              <a:rPr lang="en-US" altLang="zh-CN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)</a:t>
            </a:r>
            <a:endParaRPr lang="zh-CN" altLang="en-US" sz="1200"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879AE15-8598-8EFB-438B-7B3FC1291451}"/>
              </a:ext>
            </a:extLst>
          </p:cNvPr>
          <p:cNvSpPr txBox="1"/>
          <p:nvPr/>
        </p:nvSpPr>
        <p:spPr>
          <a:xfrm>
            <a:off x="4544416" y="3929847"/>
            <a:ext cx="2207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特定规则</a:t>
            </a:r>
            <a:r>
              <a:rPr lang="en-US" altLang="zh-CN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(</a:t>
            </a:r>
            <a:r>
              <a:rPr lang="zh-CN" altLang="en-US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针对于豌豆荚爬虫</a:t>
            </a:r>
            <a:r>
              <a:rPr lang="en-US" altLang="zh-CN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)</a:t>
            </a:r>
            <a:endParaRPr lang="zh-CN" altLang="en-US" sz="1200"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A03660D-A5DF-5508-805C-C600D502B2A4}"/>
              </a:ext>
            </a:extLst>
          </p:cNvPr>
          <p:cNvSpPr txBox="1"/>
          <p:nvPr/>
        </p:nvSpPr>
        <p:spPr>
          <a:xfrm>
            <a:off x="4525445" y="5231774"/>
            <a:ext cx="236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特定规则</a:t>
            </a:r>
            <a:r>
              <a:rPr lang="en-US" altLang="zh-CN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(</a:t>
            </a:r>
            <a:r>
              <a:rPr lang="zh-CN" altLang="en-US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针对于谷歌广告爬虫</a:t>
            </a:r>
            <a:r>
              <a:rPr lang="en-US" altLang="zh-CN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)</a:t>
            </a:r>
            <a:endParaRPr lang="zh-CN" altLang="en-US" sz="1200"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C89594E-30CF-77F1-BF9E-4125915FD40C}"/>
              </a:ext>
            </a:extLst>
          </p:cNvPr>
          <p:cNvSpPr txBox="1"/>
          <p:nvPr/>
        </p:nvSpPr>
        <p:spPr>
          <a:xfrm>
            <a:off x="7918450" y="6198307"/>
            <a:ext cx="314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请务必遵守</a:t>
            </a:r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robots</a:t>
            </a:r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君子协定</a:t>
            </a:r>
          </a:p>
        </p:txBody>
      </p:sp>
    </p:spTree>
    <p:extLst>
      <p:ext uri="{BB962C8B-B14F-4D97-AF65-F5344CB8AC3E}">
        <p14:creationId xmlns:p14="http://schemas.microsoft.com/office/powerpoint/2010/main" val="21360377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3" grpId="0" animBg="1"/>
      <p:bldP spid="14" grpId="0" animBg="1"/>
      <p:bldP spid="43" grpId="0"/>
      <p:bldP spid="44" grpId="0"/>
      <p:bldP spid="45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A08A-95AD-E6AB-7817-DD272A5B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CB219FE-C8A3-BF6A-0E68-BEA3006062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robots.txt </a:t>
            </a:r>
            <a:r>
              <a:rPr lang="zh-CN" altLang="en-US"/>
              <a:t>君子协定的数据获取规则</a:t>
            </a:r>
            <a:endParaRPr lang="en-US" altLang="zh-CN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User-Agent</a:t>
            </a:r>
            <a:r>
              <a:rPr lang="zh-CN" altLang="en-US" sz="1400"/>
              <a:t>：用户代理，通过该请求头的标识，确认爬虫的身份</a:t>
            </a:r>
            <a:endParaRPr lang="en-US" altLang="zh-CN" sz="1400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Disallow</a:t>
            </a:r>
            <a:r>
              <a:rPr lang="zh-CN" altLang="en-US" sz="1400"/>
              <a:t>：不允许访问的资源</a:t>
            </a:r>
            <a:endParaRPr lang="en-US" altLang="zh-CN" sz="1400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Allow</a:t>
            </a:r>
            <a:r>
              <a:rPr lang="zh-CN" altLang="en-US" sz="1400"/>
              <a:t>：允许访问的资源</a:t>
            </a:r>
            <a:endParaRPr lang="en-US" altLang="zh-CN" sz="1400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Sitemap</a:t>
            </a:r>
            <a:r>
              <a:rPr lang="zh-CN" altLang="en-US" sz="1400"/>
              <a:t>：网站地图</a:t>
            </a:r>
            <a:endParaRPr lang="en-US" altLang="zh-CN" sz="1400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Crawl-delay</a:t>
            </a:r>
            <a:r>
              <a:rPr lang="zh-CN" altLang="en-US" sz="1400"/>
              <a:t>：访问的间隔时间</a:t>
            </a:r>
          </a:p>
        </p:txBody>
      </p:sp>
    </p:spTree>
    <p:extLst>
      <p:ext uri="{BB962C8B-B14F-4D97-AF65-F5344CB8AC3E}">
        <p14:creationId xmlns:p14="http://schemas.microsoft.com/office/powerpoint/2010/main" val="8165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CC98-8B48-9A04-7ECB-580C2E4B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45B0667-7AB4-1CF9-FF4A-7CCACC59EB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入门程序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网页结构</a:t>
            </a:r>
            <a:endParaRPr lang="en-US" altLang="zh-CN"/>
          </a:p>
          <a:p>
            <a:r>
              <a:rPr lang="zh-CN" altLang="en-US"/>
              <a:t>网页解析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54F03E-4A6D-278F-7F4F-216D504508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228072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CD8BAE-A0C8-6FDC-ED7A-74F679E6C5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05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359B-376F-ED23-0AD1-86E543CC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BC7C9F1-BD90-D186-DF08-F16A8881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</a:t>
            </a:r>
            <a:r>
              <a:rPr lang="en-US" altLang="zh-CN"/>
              <a:t>TIOBE</a:t>
            </a:r>
            <a:r>
              <a:rPr lang="zh-CN" altLang="en-US"/>
              <a:t>编程语言排行榜单</a:t>
            </a:r>
          </a:p>
        </p:txBody>
      </p:sp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51A5554-0E22-7B85-DC60-979CCF16F5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" b="299"/>
          <a:stretch>
            <a:fillRect/>
          </a:stretch>
        </p:blipFill>
        <p:spPr>
          <a:xfrm>
            <a:off x="601832" y="970528"/>
            <a:ext cx="9664700" cy="5684315"/>
          </a:xfrm>
          <a:prstGeom prst="roundRect">
            <a:avLst>
              <a:gd name="adj" fmla="val 867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194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29C8C-1768-568D-796C-43F5D9967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00F5818-E594-9834-3E6F-D2141946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</a:t>
            </a:r>
            <a:r>
              <a:rPr lang="en-US" altLang="zh-CN"/>
              <a:t>TIOBE</a:t>
            </a:r>
            <a:r>
              <a:rPr lang="zh-CN" altLang="en-US"/>
              <a:t>编程语言排行榜单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744B41-B79C-9E1E-25EF-B10F1BD59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800" y="1024932"/>
            <a:ext cx="10764839" cy="150871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查看</a:t>
            </a:r>
            <a:r>
              <a:rPr lang="en-US" altLang="zh-CN"/>
              <a:t>TIOBE</a:t>
            </a:r>
            <a:r>
              <a:rPr lang="zh-CN" altLang="en-US"/>
              <a:t>网站的</a:t>
            </a:r>
            <a:r>
              <a:rPr lang="en-US" altLang="zh-CN"/>
              <a:t>robots.txt</a:t>
            </a:r>
            <a:r>
              <a:rPr lang="zh-CN" altLang="en-US"/>
              <a:t>文件，明确资源获取的规则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安装</a:t>
            </a:r>
            <a:r>
              <a:rPr lang="en-US" altLang="zh-CN"/>
              <a:t>requests</a:t>
            </a:r>
            <a:r>
              <a:rPr lang="zh-CN" altLang="en-US"/>
              <a:t>库，用于发送网络请求 （</a:t>
            </a:r>
            <a:r>
              <a:rPr lang="en-US" altLang="zh-CN">
                <a:solidFill>
                  <a:srgbClr val="0000FF"/>
                </a:solidFill>
              </a:rPr>
              <a:t>pip install requests</a:t>
            </a:r>
            <a:r>
              <a:rPr lang="zh-CN" altLang="en-US"/>
              <a:t>）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编写</a:t>
            </a:r>
            <a:r>
              <a:rPr lang="en-US" altLang="zh-CN"/>
              <a:t>python</a:t>
            </a:r>
            <a:r>
              <a:rPr lang="zh-CN" altLang="en-US"/>
              <a:t>代码，访问</a:t>
            </a:r>
            <a:r>
              <a:rPr lang="en-US" altLang="zh-CN"/>
              <a:t>TIOBE</a:t>
            </a:r>
            <a:r>
              <a:rPr lang="zh-CN" altLang="en-US"/>
              <a:t>网站，获取数据</a:t>
            </a:r>
            <a:endParaRPr lang="en-US" altLang="zh-CN"/>
          </a:p>
        </p:txBody>
      </p:sp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2E08D66F-A09E-3148-CF68-28007CCA3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132" y="3060533"/>
            <a:ext cx="4601598" cy="3346617"/>
          </a:xfrm>
          <a:prstGeom prst="roundRect">
            <a:avLst>
              <a:gd name="adj" fmla="val 970"/>
            </a:avLst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739C15D-A12C-890C-0DD5-1153915F2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68" y="4048041"/>
            <a:ext cx="1254209" cy="1254209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97AC88C-AFB1-3458-A510-37C65BAC0A70}"/>
              </a:ext>
            </a:extLst>
          </p:cNvPr>
          <p:cNvCxnSpPr>
            <a:cxnSpLocks/>
          </p:cNvCxnSpPr>
          <p:nvPr/>
        </p:nvCxnSpPr>
        <p:spPr>
          <a:xfrm>
            <a:off x="2578100" y="4540250"/>
            <a:ext cx="398780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A157E0A-170A-EC6F-CA64-D61FD35B9A12}"/>
              </a:ext>
            </a:extLst>
          </p:cNvPr>
          <p:cNvCxnSpPr>
            <a:cxnSpLocks/>
          </p:cNvCxnSpPr>
          <p:nvPr/>
        </p:nvCxnSpPr>
        <p:spPr>
          <a:xfrm flipH="1">
            <a:off x="2559050" y="4749800"/>
            <a:ext cx="398780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74E9DD-72B7-709C-92CE-9525A557E2D0}"/>
              </a:ext>
            </a:extLst>
          </p:cNvPr>
          <p:cNvSpPr txBox="1"/>
          <p:nvPr/>
        </p:nvSpPr>
        <p:spPr>
          <a:xfrm>
            <a:off x="1263369" y="5416550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requests</a:t>
            </a:r>
            <a:endParaRPr lang="zh-CN" altLang="en-US" sz="1400"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9F90CB-A879-638B-1FF8-DEA1F389D3F8}"/>
              </a:ext>
            </a:extLst>
          </p:cNvPr>
          <p:cNvSpPr txBox="1"/>
          <p:nvPr/>
        </p:nvSpPr>
        <p:spPr>
          <a:xfrm>
            <a:off x="3083004" y="4252611"/>
            <a:ext cx="28034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/>
              <a:t>https://www.tiobe.com/tiobe-index</a:t>
            </a:r>
          </a:p>
        </p:txBody>
      </p:sp>
    </p:spTree>
    <p:extLst>
      <p:ext uri="{BB962C8B-B14F-4D97-AF65-F5344CB8AC3E}">
        <p14:creationId xmlns:p14="http://schemas.microsoft.com/office/powerpoint/2010/main" val="233461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9091-5DC8-C906-D9C7-ABCADE6F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F8B3F70-D687-99D5-FD80-6B3F8EC3C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2262629"/>
            <a:ext cx="7702015" cy="15070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Requests</a:t>
            </a:r>
            <a:r>
              <a:rPr lang="zh-CN" altLang="en-US"/>
              <a:t>库的作用是什么</a:t>
            </a:r>
            <a:r>
              <a:rPr lang="en-US" altLang="zh-CN"/>
              <a:t>?</a:t>
            </a:r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Requests</a:t>
            </a:r>
            <a:r>
              <a:rPr lang="zh-CN" altLang="en-US" sz="1400"/>
              <a:t>库是</a:t>
            </a:r>
            <a:r>
              <a:rPr lang="en-US" altLang="zh-CN" sz="1400"/>
              <a:t>Python</a:t>
            </a:r>
            <a:r>
              <a:rPr lang="zh-CN" altLang="en-US" sz="1400"/>
              <a:t>中最流行、最优雅的</a:t>
            </a:r>
            <a:r>
              <a:rPr lang="en-US" altLang="zh-CN" sz="1400"/>
              <a:t>HTTP</a:t>
            </a:r>
            <a:r>
              <a:rPr lang="zh-CN" altLang="en-US" sz="1400"/>
              <a:t>客户端库，让</a:t>
            </a:r>
            <a:r>
              <a:rPr lang="en-US" altLang="zh-CN" sz="1400"/>
              <a:t>Python</a:t>
            </a:r>
            <a:r>
              <a:rPr lang="zh-CN" altLang="en-US" sz="1400"/>
              <a:t>代码发送</a:t>
            </a:r>
            <a:r>
              <a:rPr lang="en-US" altLang="zh-CN" sz="1400"/>
              <a:t>HTTP</a:t>
            </a:r>
            <a:r>
              <a:rPr lang="zh-CN" altLang="en-US" sz="1400"/>
              <a:t>请求变得极其简单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B0FEDF7-E127-13F8-34C9-458DBD2D95E9}"/>
              </a:ext>
            </a:extLst>
          </p:cNvPr>
          <p:cNvGrpSpPr/>
          <p:nvPr/>
        </p:nvGrpSpPr>
        <p:grpSpPr>
          <a:xfrm>
            <a:off x="4454406" y="4501744"/>
            <a:ext cx="7137591" cy="367777"/>
            <a:chOff x="1195137" y="5491772"/>
            <a:chExt cx="10668000" cy="54968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0F0ABE4-2785-9C88-464C-EF6D8FC60476}"/>
                </a:ext>
              </a:extLst>
            </p:cNvPr>
            <p:cNvSpPr/>
            <p:nvPr/>
          </p:nvSpPr>
          <p:spPr>
            <a:xfrm>
              <a:off x="1195137" y="5498122"/>
              <a:ext cx="874643" cy="543338"/>
            </a:xfrm>
            <a:prstGeom prst="roundRect">
              <a:avLst>
                <a:gd name="adj" fmla="val 34146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开始</a:t>
              </a: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F4CDE2F-3F09-9CFE-9FEE-2202166AE57B}"/>
                </a:ext>
              </a:extLst>
            </p:cNvPr>
            <p:cNvSpPr/>
            <p:nvPr/>
          </p:nvSpPr>
          <p:spPr>
            <a:xfrm>
              <a:off x="2769892" y="5498122"/>
              <a:ext cx="1354538" cy="543338"/>
            </a:xfrm>
            <a:prstGeom prst="roundRect">
              <a:avLst>
                <a:gd name="adj" fmla="val 11741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发送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HTTP</a:t>
              </a:r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请求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33687C7-B8E4-BF3C-4533-E0B6BFC62A33}"/>
                </a:ext>
              </a:extLst>
            </p:cNvPr>
            <p:cNvSpPr/>
            <p:nvPr/>
          </p:nvSpPr>
          <p:spPr>
            <a:xfrm>
              <a:off x="4824542" y="5498122"/>
              <a:ext cx="1354538" cy="543338"/>
            </a:xfrm>
            <a:prstGeom prst="roundRect">
              <a:avLst>
                <a:gd name="adj" fmla="val 11741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解析结果提取数据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53B8C54-9E3C-1AE0-88C0-6FB086FE493F}"/>
                </a:ext>
              </a:extLst>
            </p:cNvPr>
            <p:cNvSpPr/>
            <p:nvPr/>
          </p:nvSpPr>
          <p:spPr>
            <a:xfrm>
              <a:off x="6879192" y="5498122"/>
              <a:ext cx="1354538" cy="543338"/>
            </a:xfrm>
            <a:prstGeom prst="roundRect">
              <a:avLst>
                <a:gd name="adj" fmla="val 11741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数据处理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(</a:t>
              </a:r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清洗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)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78D9757-C5D4-1811-85C9-7B1BDF3F3BC4}"/>
                </a:ext>
              </a:extLst>
            </p:cNvPr>
            <p:cNvSpPr/>
            <p:nvPr/>
          </p:nvSpPr>
          <p:spPr>
            <a:xfrm>
              <a:off x="8933842" y="5498122"/>
              <a:ext cx="1354538" cy="543338"/>
            </a:xfrm>
            <a:prstGeom prst="roundRect">
              <a:avLst>
                <a:gd name="adj" fmla="val 11741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数据存储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911DAAB-1E48-1BC3-753F-13AE5632F67C}"/>
                </a:ext>
              </a:extLst>
            </p:cNvPr>
            <p:cNvSpPr/>
            <p:nvPr/>
          </p:nvSpPr>
          <p:spPr>
            <a:xfrm>
              <a:off x="10988494" y="5498122"/>
              <a:ext cx="874643" cy="543338"/>
            </a:xfrm>
            <a:prstGeom prst="roundRect">
              <a:avLst>
                <a:gd name="adj" fmla="val 26829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结束</a:t>
              </a: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289FAE5E-E9A1-03C7-5BAF-B2D3A7C69203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2069780" y="5769791"/>
              <a:ext cx="700112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363DC616-579F-2DB5-400C-7DA7AA75C9F8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4124430" y="5769791"/>
              <a:ext cx="700112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F21418F-F9DD-4B13-7C36-CF57EAD156B2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6179080" y="5769791"/>
              <a:ext cx="700112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6C46C73-ED4B-906D-39A7-57A7459EAEA3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8233730" y="5769791"/>
              <a:ext cx="700112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A6E5128-C7AD-A6B7-9596-92AE5D3EA5A1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10288380" y="5769791"/>
              <a:ext cx="700114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33">
              <a:extLst>
                <a:ext uri="{FF2B5EF4-FFF2-40B4-BE49-F238E27FC236}">
                  <a16:creationId xmlns:a16="http://schemas.microsoft.com/office/drawing/2014/main" id="{4A7DD961-C38A-C93F-6968-E2FAE1DA3BD8}"/>
                </a:ext>
              </a:extLst>
            </p:cNvPr>
            <p:cNvCxnSpPr>
              <a:stCxn id="7" idx="0"/>
              <a:endCxn id="4" idx="0"/>
            </p:cNvCxnSpPr>
            <p:nvPr/>
          </p:nvCxnSpPr>
          <p:spPr>
            <a:xfrm rot="16200000" flipV="1">
              <a:off x="6529136" y="2416147"/>
              <a:ext cx="12700" cy="6163950"/>
            </a:xfrm>
            <a:prstGeom prst="curvedConnector3">
              <a:avLst>
                <a:gd name="adj1" fmla="val 6913047"/>
              </a:avLst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146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C7572-8D1E-A3DE-108B-98B5EFEA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28F9136-B968-2B5F-60E1-1BBEC1946C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en-US" altLang="zh-CN"/>
          </a:p>
          <a:p>
            <a:r>
              <a:rPr lang="zh-CN" altLang="en-US"/>
              <a:t>入门程序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网页结构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网页解析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5FE5D7-70F5-06B7-C316-274A2975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49" y="2203927"/>
            <a:ext cx="4294333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CD1B61-0B4C-9B94-A991-C42A1D0C47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171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A14D1DC-9F5A-80E4-5FF0-61F38A95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初识网页</a:t>
            </a:r>
          </a:p>
        </p:txBody>
      </p:sp>
      <p:pic>
        <p:nvPicPr>
          <p:cNvPr id="7" name="!!图片 10" descr="电脑萤幕的截图&#10;&#10;AI 生成的内容可能不正确。">
            <a:extLst>
              <a:ext uri="{FF2B5EF4-FFF2-40B4-BE49-F238E27FC236}">
                <a16:creationId xmlns:a16="http://schemas.microsoft.com/office/drawing/2014/main" id="{46F7A913-6166-C86F-9608-8F281B2E6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258" y="896041"/>
            <a:ext cx="10326773" cy="5345733"/>
          </a:xfrm>
          <a:prstGeom prst="roundRect">
            <a:avLst>
              <a:gd name="adj" fmla="val 1188"/>
            </a:avLst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C82A64E-3E8B-F3E2-0E1F-4DE919D7FE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58"/>
          <a:stretch>
            <a:fillRect/>
          </a:stretch>
        </p:blipFill>
        <p:spPr>
          <a:xfrm>
            <a:off x="5384263" y="670753"/>
            <a:ext cx="6615580" cy="6067996"/>
          </a:xfrm>
          <a:prstGeom prst="roundRect">
            <a:avLst>
              <a:gd name="adj" fmla="val 1188"/>
            </a:avLst>
          </a:prstGeom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206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D043-A4BA-BEEC-EAE7-24E6507E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D06DBBA-EE97-9631-DB60-8BC02F9C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59" y="956241"/>
            <a:ext cx="11060481" cy="474415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一个网页是由三个部分组成的，分别是：</a:t>
            </a:r>
            <a:r>
              <a:rPr lang="en-US" altLang="zh-CN"/>
              <a:t>HTML</a:t>
            </a:r>
            <a:r>
              <a:rPr lang="zh-CN" altLang="en-US"/>
              <a:t>、</a:t>
            </a:r>
            <a:r>
              <a:rPr lang="en-US" altLang="zh-CN"/>
              <a:t>CSS</a:t>
            </a:r>
            <a:r>
              <a:rPr lang="zh-CN" altLang="en-US"/>
              <a:t>、</a:t>
            </a:r>
            <a:r>
              <a:rPr lang="en-US" altLang="zh-CN"/>
              <a:t>JS</a:t>
            </a:r>
            <a:r>
              <a:rPr lang="zh-CN" altLang="en-US"/>
              <a:t>（</a:t>
            </a:r>
            <a:r>
              <a:rPr lang="en-US" altLang="zh-CN"/>
              <a:t>JavaScript</a:t>
            </a:r>
            <a:r>
              <a:rPr lang="zh-CN" altLang="en-US"/>
              <a:t>）。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71AAD49-05CC-5F2F-670A-B4066638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前端网页结构</a:t>
            </a:r>
          </a:p>
        </p:txBody>
      </p:sp>
      <p:pic>
        <p:nvPicPr>
          <p:cNvPr id="11" name="!!图片 10" descr="电脑萤幕的截图&#10;&#10;AI 生成的内容可能不正确。">
            <a:extLst>
              <a:ext uri="{FF2B5EF4-FFF2-40B4-BE49-F238E27FC236}">
                <a16:creationId xmlns:a16="http://schemas.microsoft.com/office/drawing/2014/main" id="{7E9679A0-E537-B1AB-1E52-8E1540F2B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5" y="1481458"/>
            <a:ext cx="10172700" cy="5265975"/>
          </a:xfrm>
          <a:prstGeom prst="roundRect">
            <a:avLst>
              <a:gd name="adj" fmla="val 1188"/>
            </a:avLst>
          </a:prstGeom>
          <a:ln w="3175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45442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F0AF-9D4F-8FD1-84BD-27AC526A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0669A5EF-36BC-A961-A3A3-BF450F70F54C}"/>
              </a:ext>
            </a:extLst>
          </p:cNvPr>
          <p:cNvSpPr/>
          <p:nvPr/>
        </p:nvSpPr>
        <p:spPr>
          <a:xfrm>
            <a:off x="3479670" y="3533537"/>
            <a:ext cx="4776434" cy="2668479"/>
          </a:xfrm>
          <a:prstGeom prst="roundRect">
            <a:avLst>
              <a:gd name="adj" fmla="val 4111"/>
            </a:avLst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3600" b="1" kern="0">
                <a:solidFill>
                  <a:srgbClr val="3B7BC8"/>
                </a:solidFill>
                <a:latin typeface="Source Code Pro"/>
                <a:ea typeface="阿里巴巴普惠体"/>
              </a:rPr>
              <a:t>HTML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6BB435-2697-86C1-5C63-EB9762206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59" y="956241"/>
            <a:ext cx="11060481" cy="2124889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一个网页是由三个部分组成的，分别是：</a:t>
            </a:r>
            <a:r>
              <a:rPr lang="en-US" altLang="zh-CN"/>
              <a:t>HTML</a:t>
            </a:r>
            <a:r>
              <a:rPr lang="zh-CN" altLang="en-US"/>
              <a:t>、</a:t>
            </a:r>
            <a:r>
              <a:rPr lang="en-US" altLang="zh-CN"/>
              <a:t>CSS</a:t>
            </a:r>
            <a:r>
              <a:rPr lang="zh-CN" altLang="en-US"/>
              <a:t>、</a:t>
            </a:r>
            <a:r>
              <a:rPr lang="en-US" altLang="zh-CN"/>
              <a:t>JS</a:t>
            </a:r>
            <a:r>
              <a:rPr lang="zh-CN" altLang="en-US"/>
              <a:t>（</a:t>
            </a:r>
            <a:r>
              <a:rPr lang="en-US" altLang="zh-CN"/>
              <a:t>JavaScript</a:t>
            </a:r>
            <a:r>
              <a:rPr lang="zh-CN" altLang="en-US"/>
              <a:t>）。</a:t>
            </a:r>
            <a:endParaRPr lang="en-US" altLang="zh-CN"/>
          </a:p>
          <a:p>
            <a:pPr marL="61200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HTML</a:t>
            </a:r>
            <a:r>
              <a:rPr lang="zh-CN" altLang="en-US"/>
              <a:t>：超文本标记语言，由一堆预设的标签</a:t>
            </a:r>
            <a:r>
              <a:rPr lang="en-US" altLang="zh-CN"/>
              <a:t>(&lt;h1&gt;</a:t>
            </a:r>
            <a:r>
              <a:rPr lang="zh-CN" altLang="en-US"/>
              <a:t>一级标题</a:t>
            </a:r>
            <a:r>
              <a:rPr lang="en-US" altLang="zh-CN"/>
              <a:t>&lt;/h1&gt;)</a:t>
            </a:r>
            <a:r>
              <a:rPr lang="zh-CN" altLang="en-US"/>
              <a:t>构成。</a:t>
            </a:r>
            <a:r>
              <a:rPr lang="en-US" altLang="zh-CN"/>
              <a:t>HTML</a:t>
            </a:r>
            <a:r>
              <a:rPr lang="zh-CN" altLang="en-US"/>
              <a:t>负责网页的结构（页面元素和内容）</a:t>
            </a:r>
            <a:endParaRPr lang="en-US" altLang="zh-CN"/>
          </a:p>
          <a:p>
            <a:pPr marL="61200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CSS</a:t>
            </a:r>
            <a:r>
              <a:rPr lang="zh-CN" altLang="en-US"/>
              <a:t>：层叠样式表。</a:t>
            </a:r>
            <a:r>
              <a:rPr lang="en-US" altLang="zh-CN"/>
              <a:t>CSS</a:t>
            </a:r>
            <a:r>
              <a:rPr lang="zh-CN" altLang="en-US"/>
              <a:t>负责网页的表现（页面元素的外观、位置等样式，如颜色、大小等）</a:t>
            </a:r>
            <a:endParaRPr lang="en-US" altLang="zh-CN"/>
          </a:p>
          <a:p>
            <a:pPr marL="61200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JS</a:t>
            </a:r>
            <a:r>
              <a:rPr lang="zh-CN" altLang="en-US"/>
              <a:t>：全称为</a:t>
            </a:r>
            <a:r>
              <a:rPr lang="en-US" altLang="zh-CN"/>
              <a:t>JavaScript</a:t>
            </a:r>
            <a:r>
              <a:rPr lang="zh-CN" altLang="en-US"/>
              <a:t>，简称</a:t>
            </a:r>
            <a:r>
              <a:rPr lang="en-US" altLang="zh-CN"/>
              <a:t>JS</a:t>
            </a:r>
            <a:r>
              <a:rPr lang="zh-CN" altLang="en-US"/>
              <a:t>。负责网页的行为（交互效果）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FD4013-1C48-D11A-4861-D8D7E30B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前端网页结构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F0A9A6D-81DF-FAC9-6C95-FA0CB3BEC94D}"/>
              </a:ext>
            </a:extLst>
          </p:cNvPr>
          <p:cNvSpPr/>
          <p:nvPr/>
        </p:nvSpPr>
        <p:spPr>
          <a:xfrm>
            <a:off x="3479669" y="3533537"/>
            <a:ext cx="4776433" cy="2668478"/>
          </a:xfrm>
          <a:prstGeom prst="roundRect">
            <a:avLst>
              <a:gd name="adj" fmla="val 4111"/>
            </a:avLst>
          </a:prstGeom>
          <a:solidFill>
            <a:schemeClr val="accent5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CSS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7A1D758-4D8C-D7D4-B8B7-2F25E99BD4CD}"/>
              </a:ext>
            </a:extLst>
          </p:cNvPr>
          <p:cNvSpPr/>
          <p:nvPr/>
        </p:nvSpPr>
        <p:spPr>
          <a:xfrm>
            <a:off x="3400156" y="3533536"/>
            <a:ext cx="4855945" cy="2668478"/>
          </a:xfrm>
          <a:prstGeom prst="roundRect">
            <a:avLst>
              <a:gd name="adj" fmla="val 4111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113943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accel="30000" de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1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accel="30000" de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2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accel="30000" de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h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0" calcmode="lin" valueType="num">
                                      <p:cBhvr>
                                        <p:cTn id="3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*2.1"/>
                                          </p:val>
                                        </p:tav>
                                        <p:tav tm="45000">
                                          <p:val>
                                            <p:strVal val="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8CE9-3392-0B68-90C2-6F6A0464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F3BCEF-C0CC-9639-09E6-9D3B04F26526}"/>
              </a:ext>
            </a:extLst>
          </p:cNvPr>
          <p:cNvSpPr txBox="1"/>
          <p:nvPr/>
        </p:nvSpPr>
        <p:spPr>
          <a:xfrm>
            <a:off x="384314" y="93204"/>
            <a:ext cx="7270919" cy="65825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CN" sz="900">
                <a:solidFill>
                  <a:srgbClr val="080808"/>
                </a:solidFill>
              </a:rPr>
              <a:t>&lt;</a:t>
            </a:r>
            <a:r>
              <a:rPr lang="en-US" altLang="zh-CN" sz="900">
                <a:solidFill>
                  <a:srgbClr val="0033B3"/>
                </a:solidFill>
              </a:rPr>
              <a:t>html </a:t>
            </a:r>
            <a:r>
              <a:rPr lang="en-US" altLang="zh-CN" sz="900">
                <a:solidFill>
                  <a:srgbClr val="174AD4"/>
                </a:solidFill>
              </a:rPr>
              <a:t>lang</a:t>
            </a:r>
            <a:r>
              <a:rPr lang="en-US" altLang="zh-CN" sz="900">
                <a:solidFill>
                  <a:srgbClr val="067D17"/>
                </a:solidFill>
              </a:rPr>
              <a:t>="zh-CN"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&lt;</a:t>
            </a:r>
            <a:r>
              <a:rPr lang="en-US" altLang="zh-CN" sz="900">
                <a:solidFill>
                  <a:srgbClr val="0033B3"/>
                </a:solidFill>
              </a:rPr>
              <a:t>head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</a:t>
            </a:r>
            <a:r>
              <a:rPr lang="en-US" altLang="zh-CN" sz="900">
                <a:solidFill>
                  <a:srgbClr val="0033B3"/>
                </a:solidFill>
              </a:rPr>
              <a:t>meta </a:t>
            </a:r>
            <a:r>
              <a:rPr lang="en-US" altLang="zh-CN" sz="900">
                <a:solidFill>
                  <a:srgbClr val="174AD4"/>
                </a:solidFill>
              </a:rPr>
              <a:t>charset</a:t>
            </a:r>
            <a:r>
              <a:rPr lang="en-US" altLang="zh-CN" sz="900">
                <a:solidFill>
                  <a:srgbClr val="067D17"/>
                </a:solidFill>
              </a:rPr>
              <a:t>="UTF-8"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</a:t>
            </a:r>
            <a:r>
              <a:rPr lang="en-US" altLang="zh-CN" sz="900">
                <a:solidFill>
                  <a:srgbClr val="0033B3"/>
                </a:solidFill>
              </a:rPr>
              <a:t>meta </a:t>
            </a:r>
            <a:r>
              <a:rPr lang="en-US" altLang="zh-CN" sz="900">
                <a:solidFill>
                  <a:srgbClr val="174AD4"/>
                </a:solidFill>
              </a:rPr>
              <a:t>name</a:t>
            </a:r>
            <a:r>
              <a:rPr lang="en-US" altLang="zh-CN" sz="900">
                <a:solidFill>
                  <a:srgbClr val="067D17"/>
                </a:solidFill>
              </a:rPr>
              <a:t>="viewport" </a:t>
            </a:r>
            <a:r>
              <a:rPr lang="en-US" altLang="zh-CN" sz="900">
                <a:solidFill>
                  <a:srgbClr val="174AD4"/>
                </a:solidFill>
              </a:rPr>
              <a:t>content</a:t>
            </a:r>
            <a:r>
              <a:rPr lang="en-US" altLang="zh-CN" sz="900">
                <a:solidFill>
                  <a:srgbClr val="067D17"/>
                </a:solidFill>
              </a:rPr>
              <a:t>="width=device-width, initial-scale=1.0"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</a:t>
            </a:r>
            <a:r>
              <a:rPr lang="en-US" altLang="zh-CN" sz="900">
                <a:solidFill>
                  <a:srgbClr val="0033B3"/>
                </a:solidFill>
              </a:rPr>
              <a:t>title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r>
              <a:rPr lang="zh-CN" altLang="en-US" sz="900">
                <a:solidFill>
                  <a:srgbClr val="080808"/>
                </a:solidFill>
              </a:rPr>
              <a:t>仙逆人物志 </a:t>
            </a:r>
            <a:r>
              <a:rPr lang="en-US" altLang="zh-CN" sz="900">
                <a:solidFill>
                  <a:srgbClr val="080808"/>
                </a:solidFill>
              </a:rPr>
              <a:t>- </a:t>
            </a:r>
            <a:r>
              <a:rPr lang="zh-CN" altLang="en-US" sz="900">
                <a:solidFill>
                  <a:srgbClr val="080808"/>
                </a:solidFill>
              </a:rPr>
              <a:t>修真世界</a:t>
            </a:r>
            <a:r>
              <a:rPr lang="en-US" altLang="zh-CN" sz="900">
                <a:solidFill>
                  <a:srgbClr val="080808"/>
                </a:solidFill>
              </a:rPr>
              <a:t>&lt;/</a:t>
            </a:r>
            <a:r>
              <a:rPr lang="en-US" altLang="zh-CN" sz="900">
                <a:solidFill>
                  <a:srgbClr val="0033B3"/>
                </a:solidFill>
              </a:rPr>
              <a:t>title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</a:t>
            </a:r>
            <a:r>
              <a:rPr lang="en-US" altLang="zh-CN" sz="900">
                <a:solidFill>
                  <a:srgbClr val="0033B3"/>
                </a:solidFill>
              </a:rPr>
              <a:t>style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.title {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font-size: 30px;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font-weight: bold;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color: #ffd700;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transition: color 0.3s ease; /* </a:t>
            </a:r>
            <a:r>
              <a:rPr lang="zh-CN" altLang="en-US" sz="900">
                <a:solidFill>
                  <a:srgbClr val="080808"/>
                </a:solidFill>
              </a:rPr>
              <a:t>添加颜色过渡效果 *</a:t>
            </a:r>
            <a:r>
              <a:rPr lang="en-US" altLang="zh-CN" sz="900">
                <a:solidFill>
                  <a:srgbClr val="080808"/>
                </a:solidFill>
              </a:rPr>
              <a:t>/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}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&lt;/</a:t>
            </a:r>
            <a:r>
              <a:rPr lang="en-US" altLang="zh-CN" sz="900">
                <a:solidFill>
                  <a:srgbClr val="0033B3"/>
                </a:solidFill>
              </a:rPr>
              <a:t>style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&lt;/</a:t>
            </a:r>
            <a:r>
              <a:rPr lang="en-US" altLang="zh-CN" sz="900">
                <a:solidFill>
                  <a:srgbClr val="0033B3"/>
                </a:solidFill>
              </a:rPr>
              <a:t>head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&lt;</a:t>
            </a:r>
            <a:r>
              <a:rPr lang="en-US" altLang="zh-CN" sz="900">
                <a:solidFill>
                  <a:srgbClr val="0033B3"/>
                </a:solidFill>
              </a:rPr>
              <a:t>body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</a:t>
            </a:r>
            <a:r>
              <a:rPr lang="en-US" altLang="zh-CN" sz="900">
                <a:solidFill>
                  <a:srgbClr val="0033B3"/>
                </a:solidFill>
              </a:rPr>
              <a:t>div </a:t>
            </a:r>
            <a:r>
              <a:rPr lang="en-US" altLang="zh-CN" sz="900">
                <a:solidFill>
                  <a:srgbClr val="174AD4"/>
                </a:solidFill>
              </a:rPr>
              <a:t>class</a:t>
            </a:r>
            <a:r>
              <a:rPr lang="en-US" altLang="zh-CN" sz="900">
                <a:solidFill>
                  <a:srgbClr val="067D17"/>
                </a:solidFill>
              </a:rPr>
              <a:t>="content"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&lt;</a:t>
            </a:r>
            <a:r>
              <a:rPr lang="en-US" altLang="zh-CN" sz="900">
                <a:solidFill>
                  <a:srgbClr val="0033B3"/>
                </a:solidFill>
              </a:rPr>
              <a:t>nav </a:t>
            </a:r>
            <a:r>
              <a:rPr lang="en-US" altLang="zh-CN" sz="900">
                <a:solidFill>
                  <a:srgbClr val="174AD4"/>
                </a:solidFill>
              </a:rPr>
              <a:t>class</a:t>
            </a:r>
            <a:r>
              <a:rPr lang="en-US" altLang="zh-CN" sz="900">
                <a:solidFill>
                  <a:srgbClr val="067D17"/>
                </a:solidFill>
              </a:rPr>
              <a:t>="top-nav"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&lt;</a:t>
            </a:r>
            <a:r>
              <a:rPr lang="en-US" altLang="zh-CN" sz="900">
                <a:solidFill>
                  <a:srgbClr val="0033B3"/>
                </a:solidFill>
              </a:rPr>
              <a:t>h1 </a:t>
            </a:r>
            <a:r>
              <a:rPr lang="en-US" altLang="zh-CN" sz="900">
                <a:solidFill>
                  <a:srgbClr val="174AD4"/>
                </a:solidFill>
              </a:rPr>
              <a:t>class</a:t>
            </a:r>
            <a:r>
              <a:rPr lang="en-US" altLang="zh-CN" sz="900">
                <a:solidFill>
                  <a:srgbClr val="067D17"/>
                </a:solidFill>
              </a:rPr>
              <a:t>="title"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r>
              <a:rPr lang="zh-CN" altLang="en-US" sz="900">
                <a:solidFill>
                  <a:srgbClr val="080808"/>
                </a:solidFill>
              </a:rPr>
              <a:t>仙逆人物志 </a:t>
            </a:r>
            <a:r>
              <a:rPr lang="en-US" altLang="zh-CN" sz="900">
                <a:solidFill>
                  <a:srgbClr val="080808"/>
                </a:solidFill>
              </a:rPr>
              <a:t>- </a:t>
            </a:r>
            <a:r>
              <a:rPr lang="zh-CN" altLang="en-US" sz="900">
                <a:solidFill>
                  <a:srgbClr val="080808"/>
                </a:solidFill>
              </a:rPr>
              <a:t>修真界档案系统</a:t>
            </a:r>
            <a:r>
              <a:rPr lang="en-US" altLang="zh-CN" sz="900">
                <a:solidFill>
                  <a:srgbClr val="080808"/>
                </a:solidFill>
              </a:rPr>
              <a:t>&lt;/</a:t>
            </a:r>
            <a:r>
              <a:rPr lang="en-US" altLang="zh-CN" sz="900">
                <a:solidFill>
                  <a:srgbClr val="0033B3"/>
                </a:solidFill>
              </a:rPr>
              <a:t>h1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&lt;/</a:t>
            </a:r>
            <a:r>
              <a:rPr lang="en-US" altLang="zh-CN" sz="900">
                <a:solidFill>
                  <a:srgbClr val="0033B3"/>
                </a:solidFill>
              </a:rPr>
              <a:t>nav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&lt;</a:t>
            </a:r>
            <a:r>
              <a:rPr lang="en-US" altLang="zh-CN" sz="900">
                <a:solidFill>
                  <a:srgbClr val="0033B3"/>
                </a:solidFill>
              </a:rPr>
              <a:t>footer </a:t>
            </a:r>
            <a:r>
              <a:rPr lang="en-US" altLang="zh-CN" sz="900">
                <a:solidFill>
                  <a:srgbClr val="174AD4"/>
                </a:solidFill>
              </a:rPr>
              <a:t>class</a:t>
            </a:r>
            <a:r>
              <a:rPr lang="en-US" altLang="zh-CN" sz="900">
                <a:solidFill>
                  <a:srgbClr val="067D17"/>
                </a:solidFill>
              </a:rPr>
              <a:t>="footer"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&lt;</a:t>
            </a:r>
            <a:r>
              <a:rPr lang="en-US" altLang="zh-CN" sz="900">
                <a:solidFill>
                  <a:srgbClr val="0033B3"/>
                </a:solidFill>
              </a:rPr>
              <a:t>div </a:t>
            </a:r>
            <a:r>
              <a:rPr lang="en-US" altLang="zh-CN" sz="900">
                <a:solidFill>
                  <a:srgbClr val="174AD4"/>
                </a:solidFill>
              </a:rPr>
              <a:t>class</a:t>
            </a:r>
            <a:r>
              <a:rPr lang="en-US" altLang="zh-CN" sz="900">
                <a:solidFill>
                  <a:srgbClr val="067D17"/>
                </a:solidFill>
              </a:rPr>
              <a:t>="container"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  &lt;</a:t>
            </a:r>
            <a:r>
              <a:rPr lang="en-US" altLang="zh-CN" sz="900">
                <a:solidFill>
                  <a:srgbClr val="0033B3"/>
                </a:solidFill>
              </a:rPr>
              <a:t>p</a:t>
            </a:r>
            <a:r>
              <a:rPr lang="en-US" altLang="zh-CN" sz="900">
                <a:solidFill>
                  <a:srgbClr val="080808"/>
                </a:solidFill>
              </a:rPr>
              <a:t>&gt;© 2026 </a:t>
            </a:r>
            <a:r>
              <a:rPr lang="zh-CN" altLang="en-US" sz="900">
                <a:solidFill>
                  <a:srgbClr val="080808"/>
                </a:solidFill>
              </a:rPr>
              <a:t>仙逆人物志 </a:t>
            </a:r>
            <a:r>
              <a:rPr lang="en-US" altLang="zh-CN" sz="900">
                <a:solidFill>
                  <a:srgbClr val="080808"/>
                </a:solidFill>
              </a:rPr>
              <a:t>- &lt;</a:t>
            </a:r>
            <a:r>
              <a:rPr lang="en-US" altLang="zh-CN" sz="900">
                <a:solidFill>
                  <a:srgbClr val="0033B3"/>
                </a:solidFill>
              </a:rPr>
              <a:t>span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r>
              <a:rPr lang="zh-CN" altLang="en-US" sz="900">
                <a:solidFill>
                  <a:srgbClr val="080808"/>
                </a:solidFill>
              </a:rPr>
              <a:t>修真界档案系统</a:t>
            </a:r>
            <a:r>
              <a:rPr lang="en-US" altLang="zh-CN" sz="900">
                <a:solidFill>
                  <a:srgbClr val="080808"/>
                </a:solidFill>
              </a:rPr>
              <a:t>&lt;/</a:t>
            </a:r>
            <a:r>
              <a:rPr lang="en-US" altLang="zh-CN" sz="900">
                <a:solidFill>
                  <a:srgbClr val="0033B3"/>
                </a:solidFill>
              </a:rPr>
              <a:t>span</a:t>
            </a:r>
            <a:r>
              <a:rPr lang="en-US" altLang="zh-CN" sz="900">
                <a:solidFill>
                  <a:srgbClr val="080808"/>
                </a:solidFill>
              </a:rPr>
              <a:t>&gt;&lt;/</a:t>
            </a:r>
            <a:r>
              <a:rPr lang="en-US" altLang="zh-CN" sz="900">
                <a:solidFill>
                  <a:srgbClr val="0033B3"/>
                </a:solidFill>
              </a:rPr>
              <a:t>p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  &lt;</a:t>
            </a:r>
            <a:r>
              <a:rPr lang="en-US" altLang="zh-CN" sz="900">
                <a:solidFill>
                  <a:srgbClr val="0033B3"/>
                </a:solidFill>
              </a:rPr>
              <a:t>p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r>
              <a:rPr lang="zh-CN" altLang="en-US" sz="900">
                <a:solidFill>
                  <a:srgbClr val="080808"/>
                </a:solidFill>
              </a:rPr>
              <a:t>探索修真世界的奥秘，记录修仙路上的传奇</a:t>
            </a:r>
            <a:r>
              <a:rPr lang="en-US" altLang="zh-CN" sz="900">
                <a:solidFill>
                  <a:srgbClr val="080808"/>
                </a:solidFill>
              </a:rPr>
              <a:t>&lt;/</a:t>
            </a:r>
            <a:r>
              <a:rPr lang="en-US" altLang="zh-CN" sz="900">
                <a:solidFill>
                  <a:srgbClr val="0033B3"/>
                </a:solidFill>
              </a:rPr>
              <a:t>p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&lt;/</a:t>
            </a:r>
            <a:r>
              <a:rPr lang="en-US" altLang="zh-CN" sz="900">
                <a:solidFill>
                  <a:srgbClr val="0033B3"/>
                </a:solidFill>
              </a:rPr>
              <a:t>div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&lt;/</a:t>
            </a:r>
            <a:r>
              <a:rPr lang="en-US" altLang="zh-CN" sz="900">
                <a:solidFill>
                  <a:srgbClr val="0033B3"/>
                </a:solidFill>
              </a:rPr>
              <a:t>footer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&lt;/</a:t>
            </a:r>
            <a:r>
              <a:rPr lang="en-US" altLang="zh-CN" sz="900">
                <a:solidFill>
                  <a:srgbClr val="0033B3"/>
                </a:solidFill>
              </a:rPr>
              <a:t>div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 i="1">
                <a:solidFill>
                  <a:srgbClr val="8C8C8C"/>
                </a:solidFill>
              </a:rPr>
            </a:br>
            <a:r>
              <a:rPr lang="en-US" altLang="zh-CN" sz="900" i="1">
                <a:solidFill>
                  <a:srgbClr val="8C8C8C"/>
                </a:solidFill>
              </a:rPr>
              <a:t>  </a:t>
            </a:r>
            <a:r>
              <a:rPr lang="en-US" altLang="zh-CN" sz="900">
                <a:solidFill>
                  <a:srgbClr val="080808"/>
                </a:solidFill>
              </a:rPr>
              <a:t>&lt;</a:t>
            </a:r>
            <a:r>
              <a:rPr lang="en-US" altLang="zh-CN" sz="900">
                <a:solidFill>
                  <a:srgbClr val="0033B3"/>
                </a:solidFill>
              </a:rPr>
              <a:t>script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document.title = "</a:t>
            </a:r>
            <a:r>
              <a:rPr lang="zh-CN" altLang="en-US" sz="900">
                <a:solidFill>
                  <a:srgbClr val="080808"/>
                </a:solidFill>
              </a:rPr>
              <a:t>仙逆人物志 </a:t>
            </a:r>
            <a:r>
              <a:rPr lang="en-US" altLang="zh-CN" sz="900">
                <a:solidFill>
                  <a:srgbClr val="080808"/>
                </a:solidFill>
              </a:rPr>
              <a:t>- </a:t>
            </a:r>
            <a:r>
              <a:rPr lang="zh-CN" altLang="en-US" sz="900">
                <a:solidFill>
                  <a:srgbClr val="080808"/>
                </a:solidFill>
              </a:rPr>
              <a:t>修真世界</a:t>
            </a:r>
            <a:r>
              <a:rPr lang="en-US" altLang="zh-CN" sz="900">
                <a:solidFill>
                  <a:srgbClr val="080808"/>
                </a:solidFill>
              </a:rPr>
              <a:t>";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const titleElement = document.querySelector('.title'); </a:t>
            </a:r>
            <a:r>
              <a:rPr lang="en-US" altLang="zh-CN" sz="90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zh-CN" altLang="en-US" sz="900">
                <a:solidFill>
                  <a:schemeClr val="bg1">
                    <a:lumMod val="65000"/>
                  </a:schemeClr>
                </a:solidFill>
              </a:rPr>
              <a:t>获取标题元素</a:t>
            </a:r>
            <a:br>
              <a:rPr lang="zh-CN" altLang="en-US" sz="900">
                <a:solidFill>
                  <a:srgbClr val="080808"/>
                </a:solidFill>
              </a:rPr>
            </a:br>
            <a:r>
              <a:rPr lang="zh-CN" altLang="en-US" sz="900">
                <a:solidFill>
                  <a:srgbClr val="080808"/>
                </a:solidFill>
              </a:rPr>
              <a:t>      </a:t>
            </a:r>
            <a:r>
              <a:rPr lang="en-US" altLang="zh-CN" sz="900">
                <a:solidFill>
                  <a:srgbClr val="080808"/>
                </a:solidFill>
              </a:rPr>
              <a:t>titleElement.addEventListener('mouseenter', function() { </a:t>
            </a:r>
            <a:r>
              <a:rPr lang="en-US" altLang="zh-CN" sz="90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zh-CN" altLang="en-US" sz="900">
                <a:solidFill>
                  <a:schemeClr val="bg1">
                    <a:lumMod val="65000"/>
                  </a:schemeClr>
                </a:solidFill>
              </a:rPr>
              <a:t>鼠标进入标题时改变颜色</a:t>
            </a:r>
            <a:br>
              <a:rPr lang="zh-CN" altLang="en-US" sz="900">
                <a:solidFill>
                  <a:srgbClr val="080808"/>
                </a:solidFill>
              </a:rPr>
            </a:br>
            <a:r>
              <a:rPr lang="zh-CN" altLang="en-US" sz="900">
                <a:solidFill>
                  <a:srgbClr val="080808"/>
                </a:solidFill>
              </a:rPr>
              <a:t>        </a:t>
            </a:r>
            <a:r>
              <a:rPr lang="en-US" altLang="zh-CN" sz="900">
                <a:solidFill>
                  <a:srgbClr val="080808"/>
                </a:solidFill>
              </a:rPr>
              <a:t>this.style.color = '#ff6600'; </a:t>
            </a:r>
            <a:r>
              <a:rPr lang="en-US" altLang="zh-CN" sz="90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zh-CN" altLang="en-US" sz="900">
                <a:solidFill>
                  <a:schemeClr val="bg1">
                    <a:lumMod val="65000"/>
                  </a:schemeClr>
                </a:solidFill>
              </a:rPr>
              <a:t>改为橙红色</a:t>
            </a:r>
            <a:br>
              <a:rPr lang="zh-CN" altLang="en-US" sz="900">
                <a:solidFill>
                  <a:srgbClr val="080808"/>
                </a:solidFill>
              </a:rPr>
            </a:br>
            <a:r>
              <a:rPr lang="zh-CN" altLang="en-US" sz="900">
                <a:solidFill>
                  <a:srgbClr val="080808"/>
                </a:solidFill>
              </a:rPr>
              <a:t>      </a:t>
            </a:r>
            <a:r>
              <a:rPr lang="en-US" altLang="zh-CN" sz="900">
                <a:solidFill>
                  <a:srgbClr val="080808"/>
                </a:solidFill>
              </a:rPr>
              <a:t>});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    titleElement.addEventListener('mouseleave', function() { </a:t>
            </a:r>
            <a:r>
              <a:rPr lang="en-US" altLang="zh-CN" sz="90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zh-CN" altLang="en-US" sz="900">
                <a:solidFill>
                  <a:schemeClr val="bg1">
                    <a:lumMod val="65000"/>
                  </a:schemeClr>
                </a:solidFill>
              </a:rPr>
              <a:t>鼠标离开标题时恢复原色</a:t>
            </a:r>
            <a:br>
              <a:rPr lang="zh-CN" altLang="en-US" sz="900">
                <a:solidFill>
                  <a:srgbClr val="080808"/>
                </a:solidFill>
              </a:rPr>
            </a:br>
            <a:r>
              <a:rPr lang="zh-CN" altLang="en-US" sz="900">
                <a:solidFill>
                  <a:srgbClr val="080808"/>
                </a:solidFill>
              </a:rPr>
              <a:t>        </a:t>
            </a:r>
            <a:r>
              <a:rPr lang="en-US" altLang="zh-CN" sz="900">
                <a:solidFill>
                  <a:srgbClr val="080808"/>
                </a:solidFill>
              </a:rPr>
              <a:t>this.style.color = '#ffd700'; </a:t>
            </a:r>
            <a:r>
              <a:rPr lang="en-US" altLang="zh-CN" sz="90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zh-CN" altLang="en-US" sz="900">
                <a:solidFill>
                  <a:schemeClr val="bg1">
                    <a:lumMod val="65000"/>
                  </a:schemeClr>
                </a:solidFill>
              </a:rPr>
              <a:t>恢复金黄色</a:t>
            </a:r>
            <a:br>
              <a:rPr lang="zh-CN" altLang="en-US" sz="900">
                <a:solidFill>
                  <a:srgbClr val="080808"/>
                </a:solidFill>
              </a:rPr>
            </a:br>
            <a:r>
              <a:rPr lang="zh-CN" altLang="en-US" sz="900">
                <a:solidFill>
                  <a:srgbClr val="080808"/>
                </a:solidFill>
              </a:rPr>
              <a:t>      </a:t>
            </a:r>
            <a:r>
              <a:rPr lang="en-US" altLang="zh-CN" sz="900">
                <a:solidFill>
                  <a:srgbClr val="080808"/>
                </a:solidFill>
              </a:rPr>
              <a:t>});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  &lt;/</a:t>
            </a:r>
            <a:r>
              <a:rPr lang="en-US" altLang="zh-CN" sz="900">
                <a:solidFill>
                  <a:srgbClr val="0033B3"/>
                </a:solidFill>
              </a:rPr>
              <a:t>script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&lt;/</a:t>
            </a:r>
            <a:r>
              <a:rPr lang="en-US" altLang="zh-CN" sz="900">
                <a:solidFill>
                  <a:srgbClr val="0033B3"/>
                </a:solidFill>
              </a:rPr>
              <a:t>body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  <a:br>
              <a:rPr lang="en-US" altLang="zh-CN" sz="900">
                <a:solidFill>
                  <a:srgbClr val="080808"/>
                </a:solidFill>
              </a:rPr>
            </a:br>
            <a:r>
              <a:rPr lang="en-US" altLang="zh-CN" sz="900">
                <a:solidFill>
                  <a:srgbClr val="080808"/>
                </a:solidFill>
              </a:rPr>
              <a:t>&lt;/</a:t>
            </a:r>
            <a:r>
              <a:rPr lang="en-US" altLang="zh-CN" sz="900">
                <a:solidFill>
                  <a:srgbClr val="0033B3"/>
                </a:solidFill>
              </a:rPr>
              <a:t>html</a:t>
            </a:r>
            <a:r>
              <a:rPr lang="en-US" altLang="zh-CN" sz="900">
                <a:solidFill>
                  <a:srgbClr val="080808"/>
                </a:solidFill>
              </a:rPr>
              <a:t>&gt;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A99909F-0E60-3ED8-4D52-B0F6B01C3901}"/>
              </a:ext>
            </a:extLst>
          </p:cNvPr>
          <p:cNvSpPr/>
          <p:nvPr/>
        </p:nvSpPr>
        <p:spPr>
          <a:xfrm>
            <a:off x="384314" y="93204"/>
            <a:ext cx="8605448" cy="6453809"/>
          </a:xfrm>
          <a:prstGeom prst="roundRect">
            <a:avLst>
              <a:gd name="adj" fmla="val 985"/>
            </a:avLst>
          </a:prstGeom>
          <a:solidFill>
            <a:schemeClr val="bg1">
              <a:lumMod val="7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50AB5D9-C929-8214-3873-740C7D165087}"/>
              </a:ext>
            </a:extLst>
          </p:cNvPr>
          <p:cNvSpPr/>
          <p:nvPr/>
        </p:nvSpPr>
        <p:spPr>
          <a:xfrm>
            <a:off x="584959" y="964830"/>
            <a:ext cx="5844208" cy="1318591"/>
          </a:xfrm>
          <a:prstGeom prst="roundRect">
            <a:avLst>
              <a:gd name="adj" fmla="val 3969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3655EE-EE67-17D9-92B1-70B982EAA9A1}"/>
              </a:ext>
            </a:extLst>
          </p:cNvPr>
          <p:cNvSpPr txBox="1"/>
          <p:nvPr/>
        </p:nvSpPr>
        <p:spPr>
          <a:xfrm>
            <a:off x="6429167" y="1454848"/>
            <a:ext cx="1968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chemeClr val="tx2">
                    <a:lumMod val="75000"/>
                  </a:schemeClr>
                </a:solidFill>
              </a:rPr>
              <a:t>CSS</a:t>
            </a:r>
            <a:r>
              <a:rPr lang="zh-CN" altLang="en-US" sz="1600" b="1">
                <a:solidFill>
                  <a:schemeClr val="tx2">
                    <a:lumMod val="75000"/>
                  </a:schemeClr>
                </a:solidFill>
              </a:rPr>
              <a:t>控制页面的样式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945440C-2B76-2BD0-E35D-BBD15EA0B30F}"/>
              </a:ext>
            </a:extLst>
          </p:cNvPr>
          <p:cNvSpPr/>
          <p:nvPr/>
        </p:nvSpPr>
        <p:spPr>
          <a:xfrm>
            <a:off x="584959" y="4437412"/>
            <a:ext cx="5844208" cy="1649895"/>
          </a:xfrm>
          <a:prstGeom prst="roundRect">
            <a:avLst>
              <a:gd name="adj" fmla="val 3969"/>
            </a:avLst>
          </a:prstGeom>
          <a:solidFill>
            <a:schemeClr val="bg2">
              <a:lumMod val="50000"/>
              <a:alpha val="10196"/>
            </a:scheme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E2F3AE-9FD1-0004-B461-BC968626915A}"/>
              </a:ext>
            </a:extLst>
          </p:cNvPr>
          <p:cNvSpPr txBox="1"/>
          <p:nvPr/>
        </p:nvSpPr>
        <p:spPr>
          <a:xfrm>
            <a:off x="6429167" y="5093082"/>
            <a:ext cx="2496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chemeClr val="tx2">
                    <a:lumMod val="75000"/>
                  </a:schemeClr>
                </a:solidFill>
              </a:rPr>
              <a:t>JS</a:t>
            </a:r>
            <a:r>
              <a:rPr lang="zh-CN" altLang="en-US" sz="1600" b="1">
                <a:solidFill>
                  <a:schemeClr val="tx2">
                    <a:lumMod val="75000"/>
                  </a:schemeClr>
                </a:solidFill>
              </a:rPr>
              <a:t>控制页面的动作</a:t>
            </a:r>
            <a:r>
              <a:rPr lang="en-US" altLang="zh-CN" sz="1600" b="1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zh-CN" altLang="en-US" sz="1600" b="1">
                <a:solidFill>
                  <a:schemeClr val="tx2">
                    <a:lumMod val="75000"/>
                  </a:schemeClr>
                </a:solidFill>
              </a:rPr>
              <a:t>行为</a:t>
            </a:r>
            <a:r>
              <a:rPr lang="en-US" altLang="zh-CN" sz="1600" b="1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zh-CN" altLang="en-US" sz="16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F04FAC-ADC6-6CE8-DE93-812AD251D970}"/>
              </a:ext>
            </a:extLst>
          </p:cNvPr>
          <p:cNvSpPr txBox="1"/>
          <p:nvPr/>
        </p:nvSpPr>
        <p:spPr>
          <a:xfrm>
            <a:off x="9045695" y="3259723"/>
            <a:ext cx="2743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chemeClr val="tx2">
                    <a:lumMod val="75000"/>
                  </a:schemeClr>
                </a:solidFill>
              </a:rPr>
              <a:t>HTML</a:t>
            </a:r>
            <a:r>
              <a:rPr lang="zh-CN" altLang="en-US" sz="1600" b="1">
                <a:solidFill>
                  <a:schemeClr val="tx2">
                    <a:lumMod val="75000"/>
                  </a:schemeClr>
                </a:solidFill>
              </a:rPr>
              <a:t>控制页面的结构</a:t>
            </a:r>
            <a:r>
              <a:rPr lang="en-US" altLang="zh-CN" sz="1600" b="1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zh-CN" altLang="en-US" sz="1600" b="1">
                <a:solidFill>
                  <a:schemeClr val="tx2">
                    <a:lumMod val="75000"/>
                  </a:schemeClr>
                </a:solidFill>
              </a:rPr>
              <a:t>内容</a:t>
            </a:r>
            <a:r>
              <a:rPr lang="en-US" altLang="zh-CN" sz="1600" b="1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zh-CN" altLang="en-US" sz="1600" b="1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85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11" grpId="0"/>
      <p:bldP spid="8" grpId="0" animBg="1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A278-0DC1-0CA0-497A-607B7F1E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34DA17A-1579-8576-2A78-745924AFED82}"/>
              </a:ext>
            </a:extLst>
          </p:cNvPr>
          <p:cNvSpPr/>
          <p:nvPr/>
        </p:nvSpPr>
        <p:spPr>
          <a:xfrm>
            <a:off x="1199323" y="3385586"/>
            <a:ext cx="4273825" cy="2516172"/>
          </a:xfrm>
          <a:prstGeom prst="roundRect">
            <a:avLst>
              <a:gd name="adj" fmla="val 2620"/>
            </a:avLst>
          </a:prstGeom>
          <a:solidFill>
            <a:schemeClr val="bg1">
              <a:lumMod val="7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None/>
            </a:pP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html </a:t>
            </a:r>
            <a:r>
              <a:rPr lang="en-US" altLang="zh-CN" sz="900">
                <a:solidFill>
                  <a:srgbClr val="174AD4"/>
                </a:solidFill>
                <a:latin typeface="Fira Code" panose="020B0809050000020004" pitchFamily="49" charset="0"/>
              </a:rPr>
              <a:t>lang</a:t>
            </a:r>
            <a:r>
              <a:rPr lang="en-US" altLang="zh-CN" sz="900">
                <a:solidFill>
                  <a:srgbClr val="067D17"/>
                </a:solidFill>
                <a:latin typeface="Fira Code" panose="020B0809050000020004" pitchFamily="49" charset="0"/>
              </a:rPr>
              <a:t>="zh-CN"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head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meta </a:t>
            </a:r>
            <a:r>
              <a:rPr lang="en-US" altLang="zh-CN" sz="900">
                <a:solidFill>
                  <a:srgbClr val="174AD4"/>
                </a:solidFill>
                <a:latin typeface="Fira Code" panose="020B0809050000020004" pitchFamily="49" charset="0"/>
              </a:rPr>
              <a:t>charset</a:t>
            </a:r>
            <a:r>
              <a:rPr lang="en-US" altLang="zh-CN" sz="900">
                <a:solidFill>
                  <a:srgbClr val="067D17"/>
                </a:solidFill>
                <a:latin typeface="Fira Code" panose="020B0809050000020004" pitchFamily="49" charset="0"/>
              </a:rPr>
              <a:t>="UTF-8"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title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900">
                <a:solidFill>
                  <a:srgbClr val="080808"/>
                </a:solidFill>
                <a:latin typeface="Courier New" panose="02070309020205020404" pitchFamily="49" charset="0"/>
              </a:rPr>
              <a:t>仙逆人物志 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- </a:t>
            </a:r>
            <a:r>
              <a:rPr lang="zh-CN" altLang="en-US" sz="900">
                <a:solidFill>
                  <a:srgbClr val="080808"/>
                </a:solidFill>
                <a:latin typeface="Courier New" panose="02070309020205020404" pitchFamily="49" charset="0"/>
              </a:rPr>
              <a:t>修真世界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title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head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body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h1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&gt;Python&lt;/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h1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900">
                <a:solidFill>
                  <a:srgbClr val="080808"/>
                </a:solidFill>
                <a:latin typeface="Courier New" panose="02070309020205020404" pitchFamily="49" charset="0"/>
              </a:rPr>
              <a:t>一门简介、快速、易用的编程语言。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a </a:t>
            </a:r>
            <a:r>
              <a:rPr lang="en-US" altLang="zh-CN" sz="900">
                <a:solidFill>
                  <a:srgbClr val="174AD4"/>
                </a:solidFill>
                <a:latin typeface="Fira Code" panose="020B0809050000020004" pitchFamily="49" charset="0"/>
              </a:rPr>
              <a:t>href</a:t>
            </a:r>
            <a:r>
              <a:rPr lang="en-US" altLang="zh-CN" sz="900">
                <a:solidFill>
                  <a:srgbClr val="067D17"/>
                </a:solidFill>
                <a:latin typeface="Fira Code" panose="020B0809050000020004" pitchFamily="49" charset="0"/>
              </a:rPr>
              <a:t>="https://www.itcast.cn"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900">
                <a:solidFill>
                  <a:srgbClr val="080808"/>
                </a:solidFill>
                <a:latin typeface="Courier New" panose="02070309020205020404" pitchFamily="49" charset="0"/>
              </a:rPr>
              <a:t>传智教育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-</a:t>
            </a:r>
            <a:r>
              <a:rPr lang="zh-CN" altLang="en-US" sz="900">
                <a:solidFill>
                  <a:srgbClr val="080808"/>
                </a:solidFill>
                <a:latin typeface="Courier New" panose="02070309020205020404" pitchFamily="49" charset="0"/>
              </a:rPr>
              <a:t>黑马程序员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a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body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900">
                <a:solidFill>
                  <a:srgbClr val="0033B3"/>
                </a:solidFill>
                <a:latin typeface="Fira Code" panose="020B0809050000020004" pitchFamily="49" charset="0"/>
              </a:rPr>
              <a:t>html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3E73298-9A30-EB71-EA09-4C9A38D5C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22839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HTML(</a:t>
            </a:r>
            <a:r>
              <a:rPr lang="en-US" altLang="zh-CN" b="1">
                <a:solidFill>
                  <a:srgbClr val="C00000"/>
                </a:solidFill>
              </a:rPr>
              <a:t>H</a:t>
            </a:r>
            <a:r>
              <a:rPr lang="en-US" altLang="zh-CN"/>
              <a:t>yper</a:t>
            </a:r>
            <a:r>
              <a:rPr lang="en-US" altLang="zh-CN" b="1">
                <a:solidFill>
                  <a:srgbClr val="C00000"/>
                </a:solidFill>
              </a:rPr>
              <a:t>T</a:t>
            </a:r>
            <a:r>
              <a:rPr lang="en-US" altLang="zh-CN"/>
              <a:t>ext </a:t>
            </a:r>
            <a:r>
              <a:rPr lang="en-US" altLang="zh-CN" b="1">
                <a:solidFill>
                  <a:srgbClr val="C00000"/>
                </a:solidFill>
              </a:rPr>
              <a:t>M</a:t>
            </a:r>
            <a:r>
              <a:rPr lang="en-US" altLang="zh-CN"/>
              <a:t>arkup </a:t>
            </a:r>
            <a:r>
              <a:rPr lang="en-US" altLang="zh-CN" b="1">
                <a:solidFill>
                  <a:srgbClr val="C00000"/>
                </a:solidFill>
              </a:rPr>
              <a:t>L</a:t>
            </a:r>
            <a:r>
              <a:rPr lang="en-US" altLang="zh-CN"/>
              <a:t>anguage)</a:t>
            </a:r>
            <a:r>
              <a:rPr lang="zh-CN" altLang="en-US"/>
              <a:t>：超文本标记语言。</a:t>
            </a:r>
            <a:endParaRPr lang="en-US" altLang="zh-CN"/>
          </a:p>
          <a:p>
            <a:pPr marL="540000" lvl="1" indent="-285750" defTabSz="360000">
              <a:lnSpc>
                <a:spcPct val="150000"/>
              </a:lnSpc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超文本：超越了文本的限制，比普通文本更强大。除了文字信息，还可以定义图片、音频、视频等内容。</a:t>
            </a:r>
          </a:p>
          <a:p>
            <a:pPr marL="540000" lvl="1" indent="-285750" defTabSz="360000">
              <a:lnSpc>
                <a:spcPct val="150000"/>
              </a:lnSpc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标记语言：由标签</a:t>
            </a:r>
            <a:r>
              <a:rPr lang="en-US" altLang="zh-CN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"&lt;</a:t>
            </a: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标签名</a:t>
            </a:r>
            <a:r>
              <a:rPr lang="en-US" altLang="zh-CN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&gt;"</a:t>
            </a: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构成的语言</a:t>
            </a:r>
          </a:p>
          <a:p>
            <a:pPr marL="900000" lvl="1" indent="-285750" defTabSz="360000">
              <a:lnSpc>
                <a:spcPct val="150000"/>
              </a:lnSpc>
              <a:spcBef>
                <a:spcPts val="800"/>
              </a:spcBef>
            </a:pPr>
            <a:r>
              <a:rPr lang="en-US" altLang="zh-CN" sz="1400"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</a:t>
            </a: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标签都是预定义好的。例如：使用</a:t>
            </a:r>
            <a:r>
              <a:rPr lang="en-US" altLang="zh-CN" sz="1400"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&lt;h1&gt;</a:t>
            </a: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展示标题，使用</a:t>
            </a:r>
            <a:r>
              <a:rPr lang="en-US" altLang="zh-CN" sz="1400"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&lt;img&gt;</a:t>
            </a: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展示图片，使用</a:t>
            </a:r>
            <a:r>
              <a:rPr lang="en-US" altLang="zh-CN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&lt;video&gt;</a:t>
            </a: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展示视频。</a:t>
            </a:r>
          </a:p>
          <a:p>
            <a:pPr marL="900000" lvl="1" indent="-285750" defTabSz="360000">
              <a:lnSpc>
                <a:spcPct val="150000"/>
              </a:lnSpc>
              <a:spcBef>
                <a:spcPts val="800"/>
              </a:spcBef>
            </a:pPr>
            <a:r>
              <a:rPr lang="en-US" altLang="zh-CN" sz="1400"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</a:t>
            </a: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代码直接在浏览器中运行，</a:t>
            </a:r>
            <a:r>
              <a:rPr lang="en-US" altLang="zh-CN" sz="1400"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</a:t>
            </a: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标签由浏览器解析。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59C502-D6E4-7B08-E393-920CE2D8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前端网页结构</a:t>
            </a:r>
            <a:r>
              <a:rPr lang="en-US" altLang="zh-CN"/>
              <a:t>-HTML</a:t>
            </a:r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FBFE517-D822-BE7E-A52C-C756930F429A}"/>
              </a:ext>
            </a:extLst>
          </p:cNvPr>
          <p:cNvSpPr/>
          <p:nvPr/>
        </p:nvSpPr>
        <p:spPr>
          <a:xfrm>
            <a:off x="5711435" y="4574657"/>
            <a:ext cx="1099038" cy="290146"/>
          </a:xfrm>
          <a:prstGeom prst="rightArrow">
            <a:avLst>
              <a:gd name="adj1" fmla="val 50000"/>
              <a:gd name="adj2" fmla="val 134849"/>
            </a:avLst>
          </a:prstGeom>
          <a:gradFill flip="none" rotWithShape="1">
            <a:gsLst>
              <a:gs pos="0">
                <a:schemeClr val="tx1">
                  <a:lumMod val="85000"/>
                  <a:lumOff val="15000"/>
                  <a:tint val="66000"/>
                  <a:satMod val="160000"/>
                </a:schemeClr>
              </a:gs>
              <a:gs pos="50000">
                <a:schemeClr val="tx1">
                  <a:lumMod val="85000"/>
                  <a:lumOff val="15000"/>
                  <a:tint val="44500"/>
                  <a:satMod val="160000"/>
                </a:schemeClr>
              </a:gs>
              <a:gs pos="100000">
                <a:schemeClr val="tx1">
                  <a:lumMod val="85000"/>
                  <a:lumOff val="1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96E3FF0-393F-A6A3-9110-97A6D98D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002" y="4143575"/>
            <a:ext cx="386977" cy="362753"/>
          </a:xfrm>
          <a:prstGeom prst="rect">
            <a:avLst/>
          </a:prstGeom>
        </p:spPr>
      </p:pic>
      <p:sp>
        <p:nvSpPr>
          <p:cNvPr id="13" name="!!矩形 23">
            <a:extLst>
              <a:ext uri="{FF2B5EF4-FFF2-40B4-BE49-F238E27FC236}">
                <a16:creationId xmlns:a16="http://schemas.microsoft.com/office/drawing/2014/main" id="{66120097-3CF1-B837-E754-C66F1A87CAA4}"/>
              </a:ext>
            </a:extLst>
          </p:cNvPr>
          <p:cNvSpPr/>
          <p:nvPr/>
        </p:nvSpPr>
        <p:spPr>
          <a:xfrm>
            <a:off x="1437610" y="5268447"/>
            <a:ext cx="237038" cy="45719"/>
          </a:xfrm>
          <a:prstGeom prst="rect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998E16-0684-8927-A54A-7A950A4201DE}"/>
              </a:ext>
            </a:extLst>
          </p:cNvPr>
          <p:cNvSpPr/>
          <p:nvPr/>
        </p:nvSpPr>
        <p:spPr>
          <a:xfrm>
            <a:off x="3454687" y="5268446"/>
            <a:ext cx="317214" cy="45719"/>
          </a:xfrm>
          <a:prstGeom prst="rect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68610EE-2DBD-E73F-747B-A5F8C436FE37}"/>
              </a:ext>
            </a:extLst>
          </p:cNvPr>
          <p:cNvCxnSpPr>
            <a:cxnSpLocks/>
          </p:cNvCxnSpPr>
          <p:nvPr/>
        </p:nvCxnSpPr>
        <p:spPr>
          <a:xfrm>
            <a:off x="1442690" y="5291307"/>
            <a:ext cx="0" cy="948626"/>
          </a:xfrm>
          <a:prstGeom prst="line">
            <a:avLst/>
          </a:prstGeom>
          <a:ln w="9525">
            <a:solidFill>
              <a:srgbClr val="2FC14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83F11A3-D5FB-6975-E2B8-CC6C55EC77F8}"/>
              </a:ext>
            </a:extLst>
          </p:cNvPr>
          <p:cNvCxnSpPr>
            <a:cxnSpLocks/>
          </p:cNvCxnSpPr>
          <p:nvPr/>
        </p:nvCxnSpPr>
        <p:spPr>
          <a:xfrm>
            <a:off x="3767668" y="5291306"/>
            <a:ext cx="0" cy="948627"/>
          </a:xfrm>
          <a:prstGeom prst="line">
            <a:avLst/>
          </a:prstGeom>
          <a:ln w="9525">
            <a:solidFill>
              <a:srgbClr val="2FC14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E3B7728-819A-1DCD-9E85-934F8A0CA372}"/>
              </a:ext>
            </a:extLst>
          </p:cNvPr>
          <p:cNvSpPr txBox="1"/>
          <p:nvPr/>
        </p:nvSpPr>
        <p:spPr>
          <a:xfrm>
            <a:off x="1043912" y="6274785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2FC14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开始标签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2EAFDC-5C6D-1737-AEF6-6FD61717827E}"/>
              </a:ext>
            </a:extLst>
          </p:cNvPr>
          <p:cNvSpPr txBox="1"/>
          <p:nvPr/>
        </p:nvSpPr>
        <p:spPr>
          <a:xfrm>
            <a:off x="3378203" y="6272819"/>
            <a:ext cx="787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2FC14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结束标签</a:t>
            </a:r>
          </a:p>
        </p:txBody>
      </p:sp>
      <p:pic>
        <p:nvPicPr>
          <p:cNvPr id="24" name="图片 2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03215FC-652A-65DD-671C-BC7D60275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760" y="3546488"/>
            <a:ext cx="4203440" cy="2212561"/>
          </a:xfrm>
          <a:prstGeom prst="roundRect">
            <a:avLst>
              <a:gd name="adj" fmla="val 1817"/>
            </a:avLst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35" name="!!矩形 23">
            <a:extLst>
              <a:ext uri="{FF2B5EF4-FFF2-40B4-BE49-F238E27FC236}">
                <a16:creationId xmlns:a16="http://schemas.microsoft.com/office/drawing/2014/main" id="{04B1A3EE-0218-C741-B7EE-77AC0F2B78CB}"/>
              </a:ext>
            </a:extLst>
          </p:cNvPr>
          <p:cNvSpPr/>
          <p:nvPr/>
        </p:nvSpPr>
        <p:spPr>
          <a:xfrm>
            <a:off x="1668297" y="5458947"/>
            <a:ext cx="1919451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1D1437E-AA3E-A33E-A0B5-AF785C5FE0C2}"/>
              </a:ext>
            </a:extLst>
          </p:cNvPr>
          <p:cNvCxnSpPr>
            <a:cxnSpLocks/>
          </p:cNvCxnSpPr>
          <p:nvPr/>
        </p:nvCxnSpPr>
        <p:spPr>
          <a:xfrm>
            <a:off x="2628023" y="5494507"/>
            <a:ext cx="0" cy="813872"/>
          </a:xfrm>
          <a:prstGeom prst="line">
            <a:avLst/>
          </a:prstGeom>
          <a:ln w="952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0F34F74-36D1-2556-29A8-9E20857ACB09}"/>
              </a:ext>
            </a:extLst>
          </p:cNvPr>
          <p:cNvSpPr txBox="1"/>
          <p:nvPr/>
        </p:nvSpPr>
        <p:spPr>
          <a:xfrm>
            <a:off x="2388824" y="6274517"/>
            <a:ext cx="488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rgbClr val="7030A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</a:t>
            </a:r>
            <a:endParaRPr lang="zh-CN" altLang="en-US" sz="1200" dirty="0">
              <a:solidFill>
                <a:srgbClr val="7030A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684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1" grpId="0" animBg="1"/>
      <p:bldP spid="13" grpId="0" animBg="1"/>
      <p:bldP spid="14" grpId="0" animBg="1"/>
      <p:bldP spid="17" grpId="0"/>
      <p:bldP spid="18" grpId="0"/>
      <p:bldP spid="35" grpId="0" animBg="1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F8EC9-2C11-90E0-E24C-A4D48725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B2E7A1B-8EA5-1DBB-DBF2-57D93F9CE0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网页是由哪几部分组成的？</a:t>
            </a:r>
            <a:endParaRPr lang="en-US" altLang="zh-CN"/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600"/>
              <a:t>HTML</a:t>
            </a:r>
            <a:r>
              <a:rPr lang="zh-CN" altLang="en-US" sz="1600"/>
              <a:t>：负责网页的结构（内容）</a:t>
            </a:r>
            <a:endParaRPr lang="en-US" altLang="zh-CN" sz="1600"/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600"/>
              <a:t>CSS</a:t>
            </a:r>
            <a:r>
              <a:rPr lang="zh-CN" altLang="en-US" sz="1600"/>
              <a:t>：负责网页的样式（美化页面）</a:t>
            </a:r>
            <a:endParaRPr lang="en-US" altLang="zh-CN" sz="1600"/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600"/>
              <a:t>JS</a:t>
            </a:r>
            <a:r>
              <a:rPr lang="zh-CN" altLang="en-US" sz="1600"/>
              <a:t>：负责网页的动作（行为）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99259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0A35-E114-9C55-0C25-A97EDB335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28F7040-1106-73C9-3040-317D7FD612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概述</a:t>
            </a:r>
            <a:endParaRPr lang="en-US" altLang="zh-CN"/>
          </a:p>
          <a:p>
            <a:r>
              <a:rPr lang="zh-CN" altLang="en-US"/>
              <a:t>入门程序</a:t>
            </a:r>
            <a:endParaRPr lang="en-US" altLang="zh-CN"/>
          </a:p>
          <a:p>
            <a:r>
              <a:rPr lang="zh-CN" altLang="en-US"/>
              <a:t>网页结构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网页解析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52981E-9691-9C86-18AA-B7B0F722B3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49" y="2203927"/>
            <a:ext cx="4095551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519E4B-5BCF-0C92-9C85-2C4276D4C1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896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3E40-D715-C2B5-0DB9-CFB5EB7B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5C43F0F-45B9-1632-0302-FF39D4CB9F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051903"/>
          </a:xfrm>
        </p:spPr>
        <p:txBody>
          <a:bodyPr/>
          <a:lstStyle/>
          <a:p>
            <a:r>
              <a:rPr lang="zh-CN" altLang="en-US"/>
              <a:t>概述</a:t>
            </a:r>
            <a:endParaRPr lang="en-US" altLang="zh-CN"/>
          </a:p>
          <a:p>
            <a:r>
              <a:rPr lang="zh-CN" altLang="en-US"/>
              <a:t>入门程序</a:t>
            </a:r>
            <a:endParaRPr lang="en-US" altLang="zh-CN"/>
          </a:p>
          <a:p>
            <a:r>
              <a:rPr lang="zh-CN" altLang="en-US"/>
              <a:t>网页结构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网页解析</a:t>
            </a:r>
            <a:endParaRPr lang="en-US" altLang="zh-CN">
              <a:solidFill>
                <a:srgbClr val="C00000"/>
              </a:solidFill>
            </a:endParaRPr>
          </a:p>
          <a:p>
            <a:pPr marL="612000" lvl="1">
              <a:lnSpc>
                <a:spcPct val="150000"/>
              </a:lnSpc>
            </a:pPr>
            <a:r>
              <a:rPr lang="zh-CN" altLang="en-US" sz="1600">
                <a:solidFill>
                  <a:srgbClr val="C00000"/>
                </a:solidFill>
              </a:rPr>
              <a:t>入门</a:t>
            </a:r>
            <a:endParaRPr lang="en-US" altLang="zh-CN" sz="1600">
              <a:solidFill>
                <a:srgbClr val="C00000"/>
              </a:solidFill>
            </a:endParaRPr>
          </a:p>
          <a:p>
            <a:pPr marL="612000" lvl="1">
              <a:lnSpc>
                <a:spcPct val="150000"/>
              </a:lnSpc>
            </a:pPr>
            <a:r>
              <a:rPr lang="en-US" altLang="zh-CN" sz="1600"/>
              <a:t>Xpath</a:t>
            </a:r>
            <a:r>
              <a:rPr lang="zh-CN" altLang="en-US" sz="1600"/>
              <a:t>语法</a:t>
            </a:r>
            <a:endParaRPr lang="en-US" altLang="zh-CN" sz="160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06FF1-BD9A-DEEE-0FFB-875E52F667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380472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E2CAA4-FFC0-0637-D043-AEC77953F1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656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25DA-1A7A-723C-3D17-C18A542D1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D26BE07-D42F-88D8-38BA-C9DB9CB7B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网页解析指的是从原始</a:t>
            </a:r>
            <a:r>
              <a:rPr lang="en-US" altLang="zh-CN"/>
              <a:t>HTML</a:t>
            </a:r>
            <a:r>
              <a:rPr lang="zh-CN" altLang="en-US"/>
              <a:t>文档中提取数据的过程，也是网络爬虫的关键步骤，从一堆标签文本中提取出需要的数据。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10D432F-777D-21EE-8AC8-E0964164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网页解析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92767B8-7FF4-FA4F-8E86-61A3E308ADFD}"/>
              </a:ext>
            </a:extLst>
          </p:cNvPr>
          <p:cNvSpPr/>
          <p:nvPr/>
        </p:nvSpPr>
        <p:spPr>
          <a:xfrm>
            <a:off x="960783" y="2066994"/>
            <a:ext cx="4863547" cy="4141649"/>
          </a:xfrm>
          <a:prstGeom prst="roundRect">
            <a:avLst>
              <a:gd name="adj" fmla="val 1602"/>
            </a:avLst>
          </a:prstGeom>
          <a:solidFill>
            <a:srgbClr val="F5F5F5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  <a:buNone/>
            </a:pP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html </a:t>
            </a:r>
            <a:r>
              <a:rPr lang="en-US" altLang="zh-CN" sz="1100">
                <a:solidFill>
                  <a:srgbClr val="174AD4"/>
                </a:solidFill>
                <a:latin typeface="Fira Code" panose="020B0809050000020004" pitchFamily="49" charset="0"/>
              </a:rPr>
              <a:t>lang</a:t>
            </a:r>
            <a:r>
              <a:rPr lang="en-US" altLang="zh-CN" sz="1100">
                <a:solidFill>
                  <a:srgbClr val="067D17"/>
                </a:solidFill>
                <a:latin typeface="Fira Code" panose="020B0809050000020004" pitchFamily="49" charset="0"/>
              </a:rPr>
              <a:t>="zh-CN"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head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meta </a:t>
            </a:r>
            <a:r>
              <a:rPr lang="en-US" altLang="zh-CN" sz="1100">
                <a:solidFill>
                  <a:srgbClr val="174AD4"/>
                </a:solidFill>
                <a:latin typeface="Fira Code" panose="020B0809050000020004" pitchFamily="49" charset="0"/>
              </a:rPr>
              <a:t>charset</a:t>
            </a:r>
            <a:r>
              <a:rPr lang="en-US" altLang="zh-CN" sz="1100">
                <a:solidFill>
                  <a:srgbClr val="067D17"/>
                </a:solidFill>
                <a:latin typeface="Fira Code" panose="020B0809050000020004" pitchFamily="49" charset="0"/>
              </a:rPr>
              <a:t>="UTF-8"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title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1100">
                <a:solidFill>
                  <a:srgbClr val="080808"/>
                </a:solidFill>
                <a:latin typeface="Courier New" panose="02070309020205020404" pitchFamily="49" charset="0"/>
              </a:rPr>
              <a:t>仙逆人物志 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- </a:t>
            </a:r>
            <a:r>
              <a:rPr lang="zh-CN" altLang="en-US" sz="1100">
                <a:solidFill>
                  <a:srgbClr val="080808"/>
                </a:solidFill>
                <a:latin typeface="Courier New" panose="02070309020205020404" pitchFamily="49" charset="0"/>
              </a:rPr>
              <a:t>修真世界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title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head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body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h1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&gt;Python&lt;/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h1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1100">
                <a:solidFill>
                  <a:srgbClr val="080808"/>
                </a:solidFill>
                <a:latin typeface="Courier New" panose="02070309020205020404" pitchFamily="49" charset="0"/>
              </a:rPr>
              <a:t>一门简介、快速、易用的编程语言。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a </a:t>
            </a:r>
            <a:r>
              <a:rPr lang="en-US" altLang="zh-CN" sz="1100">
                <a:solidFill>
                  <a:srgbClr val="174AD4"/>
                </a:solidFill>
                <a:latin typeface="Fira Code" panose="020B0809050000020004" pitchFamily="49" charset="0"/>
              </a:rPr>
              <a:t>href</a:t>
            </a:r>
            <a:r>
              <a:rPr lang="en-US" altLang="zh-CN" sz="1100">
                <a:solidFill>
                  <a:srgbClr val="067D17"/>
                </a:solidFill>
                <a:latin typeface="Fira Code" panose="020B0809050000020004" pitchFamily="49" charset="0"/>
              </a:rPr>
              <a:t>="https://www.itcast.cn"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1100">
                <a:solidFill>
                  <a:srgbClr val="080808"/>
                </a:solidFill>
                <a:latin typeface="Courier New" panose="02070309020205020404" pitchFamily="49" charset="0"/>
              </a:rPr>
              <a:t>传智教育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-</a:t>
            </a:r>
            <a:r>
              <a:rPr lang="zh-CN" altLang="en-US" sz="1100">
                <a:solidFill>
                  <a:srgbClr val="080808"/>
                </a:solidFill>
                <a:latin typeface="Courier New" panose="02070309020205020404" pitchFamily="49" charset="0"/>
              </a:rPr>
              <a:t>黑马程序员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a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body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html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EEF657-9AEC-486F-3B37-2E1D84C5F106}"/>
              </a:ext>
            </a:extLst>
          </p:cNvPr>
          <p:cNvSpPr txBox="1"/>
          <p:nvPr/>
        </p:nvSpPr>
        <p:spPr>
          <a:xfrm>
            <a:off x="1752461" y="3233342"/>
            <a:ext cx="17227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阿里巴巴普惠体"/>
                <a:cs typeface="+mn-cs"/>
              </a:rPr>
              <a:t>仙逆人物志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/>
                <a:cs typeface="+mn-cs"/>
              </a:rPr>
              <a:t>- 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阿里巴巴普惠体"/>
                <a:cs typeface="+mn-cs"/>
              </a:rPr>
              <a:t>修真世界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456AB0-75A2-72BD-7677-51ED87793307}"/>
              </a:ext>
            </a:extLst>
          </p:cNvPr>
          <p:cNvSpPr txBox="1"/>
          <p:nvPr/>
        </p:nvSpPr>
        <p:spPr>
          <a:xfrm>
            <a:off x="1494361" y="4572789"/>
            <a:ext cx="7885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/>
                <a:cs typeface="+mn-cs"/>
              </a:rPr>
              <a:t>Python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0F0573-04E7-E96A-BFA1-34E59B18B9C3}"/>
              </a:ext>
            </a:extLst>
          </p:cNvPr>
          <p:cNvSpPr txBox="1"/>
          <p:nvPr/>
        </p:nvSpPr>
        <p:spPr>
          <a:xfrm>
            <a:off x="1409451" y="4905166"/>
            <a:ext cx="23456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阿里巴巴普惠体"/>
                <a:cs typeface="+mn-cs"/>
              </a:rPr>
              <a:t>一门简介、快速、易用的编程语言。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64568E-E0DA-24DA-D39A-A6FA85B299E5}"/>
              </a:ext>
            </a:extLst>
          </p:cNvPr>
          <p:cNvSpPr txBox="1"/>
          <p:nvPr/>
        </p:nvSpPr>
        <p:spPr>
          <a:xfrm>
            <a:off x="3894234" y="5241566"/>
            <a:ext cx="15571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阿里巴巴普惠体"/>
                <a:cs typeface="+mn-cs"/>
              </a:rPr>
              <a:t>传智教育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阿里巴巴普惠体"/>
                <a:cs typeface="+mn-cs"/>
              </a:rPr>
              <a:t>黑马程序员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84B31D7-83F1-FED1-32EA-95815AA3572C}"/>
              </a:ext>
            </a:extLst>
          </p:cNvPr>
          <p:cNvSpPr txBox="1"/>
          <p:nvPr/>
        </p:nvSpPr>
        <p:spPr>
          <a:xfrm>
            <a:off x="1923289" y="5241566"/>
            <a:ext cx="20143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/>
                <a:cs typeface="+mn-cs"/>
              </a:rPr>
              <a:t>https://www.itcast.cn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1C9B6E8-4468-60DD-B5E3-02C9BA940CA8}"/>
              </a:ext>
            </a:extLst>
          </p:cNvPr>
          <p:cNvSpPr txBox="1"/>
          <p:nvPr/>
        </p:nvSpPr>
        <p:spPr>
          <a:xfrm>
            <a:off x="4892349" y="3616054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lxml</a:t>
            </a:r>
            <a:r>
              <a:rPr lang="zh-CN" altLang="en-US" b="1">
                <a:solidFill>
                  <a:srgbClr val="C00000"/>
                </a:solidFill>
              </a:rPr>
              <a:t>库</a:t>
            </a:r>
          </a:p>
        </p:txBody>
      </p:sp>
    </p:spTree>
    <p:extLst>
      <p:ext uri="{BB962C8B-B14F-4D97-AF65-F5344CB8AC3E}">
        <p14:creationId xmlns:p14="http://schemas.microsoft.com/office/powerpoint/2010/main" val="268035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7.40741E-7 L 0.42396 -0.00208 " pathEditMode="relative" rAng="0" ptsTypes="AA">
                                      <p:cBhvr>
                                        <p:cTn id="2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98" y="-11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85185E-6 L 0.44609 0.00139 " pathEditMode="relative" rAng="0" ptsTypes="AA">
                                      <p:cBhvr>
                                        <p:cTn id="2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05" y="6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7.40741E-7 L 0.45273 0.00231 " pathEditMode="relative" rAng="0" ptsTypes="AA">
                                      <p:cBhvr>
                                        <p:cTn id="3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30" y="11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33333E-6 L 0.24909 -3.33333E-6 " pathEditMode="relative" rAng="0" ptsTypes="AA">
                                      <p:cBhvr>
                                        <p:cTn id="3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48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33333E-6 L 0.40951 0.05949 " pathEditMode="relative" rAng="0" ptsTypes="AA">
                                      <p:cBhvr>
                                        <p:cTn id="3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69" y="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8" grpId="1"/>
      <p:bldP spid="12" grpId="0"/>
      <p:bldP spid="12" grpId="1"/>
      <p:bldP spid="16" grpId="0"/>
      <p:bldP spid="16" grpId="1"/>
      <p:bldP spid="20" grpId="0"/>
      <p:bldP spid="20" grpId="1"/>
      <p:bldP spid="24" grpId="0"/>
      <p:bldP spid="24" grpId="1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2922-1ECB-29D5-4768-7D8207A1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28EE1A7-242B-DE36-A024-F56E297B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2130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lxml</a:t>
            </a:r>
            <a:r>
              <a:rPr lang="zh-CN" altLang="en-US"/>
              <a:t>：是一个高性能的</a:t>
            </a:r>
            <a:r>
              <a:rPr lang="en-US" altLang="zh-CN"/>
              <a:t>HTML/XML</a:t>
            </a:r>
            <a:r>
              <a:rPr lang="zh-CN" altLang="en-US"/>
              <a:t>文档的解析库，支持基于</a:t>
            </a:r>
            <a:r>
              <a:rPr lang="en-US" altLang="zh-CN"/>
              <a:t>Xpath</a:t>
            </a:r>
            <a:r>
              <a:rPr lang="zh-CN" altLang="en-US"/>
              <a:t>语法来解析和获取网页数据。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安装：</a:t>
            </a:r>
            <a:r>
              <a:rPr lang="en-US" altLang="zh-CN"/>
              <a:t>pip install lxml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30D78E-ECDE-407D-C04B-FAFFE752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网页解析</a:t>
            </a:r>
            <a:r>
              <a:rPr lang="en-US" altLang="zh-CN"/>
              <a:t>-</a:t>
            </a:r>
            <a:r>
              <a:rPr lang="zh-CN" altLang="en-US"/>
              <a:t>入门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C9685C7-2C9A-6755-3EE2-A3495AE797AE}"/>
              </a:ext>
            </a:extLst>
          </p:cNvPr>
          <p:cNvSpPr/>
          <p:nvPr/>
        </p:nvSpPr>
        <p:spPr>
          <a:xfrm>
            <a:off x="929033" y="2122971"/>
            <a:ext cx="9745317" cy="3717856"/>
          </a:xfrm>
          <a:prstGeom prst="roundRect">
            <a:avLst>
              <a:gd name="adj" fmla="val 1602"/>
            </a:avLst>
          </a:prstGeom>
          <a:solidFill>
            <a:srgbClr val="F5F5F5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from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lxml </a:t>
            </a: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import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html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加载</a:t>
            </a: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html</a:t>
            </a: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文件</a:t>
            </a:r>
            <a:b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with </a:t>
            </a:r>
            <a: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open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"resources/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仙逆人物志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.html"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"r"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1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encoding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"utf-8"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 </a:t>
            </a: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as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f: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html_content = f.read()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解析网页内容</a:t>
            </a:r>
            <a:b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doc = html.fromstring(html_content)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th_list = doc.xpath(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"//table/thead/tr[1]/th/text()"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(th_list)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td_list = doc.xpath(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"//table/tbody/tr[1]/td/text()"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(td_list)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21C5251-B85C-6CF1-FF54-CC0EB9760F1D}"/>
              </a:ext>
            </a:extLst>
          </p:cNvPr>
          <p:cNvGrpSpPr/>
          <p:nvPr/>
        </p:nvGrpSpPr>
        <p:grpSpPr>
          <a:xfrm>
            <a:off x="929033" y="6347433"/>
            <a:ext cx="9745317" cy="348335"/>
            <a:chOff x="4685665" y="1834757"/>
            <a:chExt cx="9812265" cy="348335"/>
          </a:xfrm>
        </p:grpSpPr>
        <p:sp>
          <p:nvSpPr>
            <p:cNvPr id="6" name="ComponentBackground2">
              <a:extLst>
                <a:ext uri="{FF2B5EF4-FFF2-40B4-BE49-F238E27FC236}">
                  <a16:creationId xmlns:a16="http://schemas.microsoft.com/office/drawing/2014/main" id="{8EB0E3BA-8F61-A9CE-BAF8-20170AC8A521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978940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en-US" altLang="zh-CN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Xpath</a:t>
              </a: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是一种用于在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HTML/XML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文档中导航或定位元素的查询语言，让你能够准确的定位文档中的特定元素、属性或文本 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7" name="Shape2">
              <a:extLst>
                <a:ext uri="{FF2B5EF4-FFF2-40B4-BE49-F238E27FC236}">
                  <a16:creationId xmlns:a16="http://schemas.microsoft.com/office/drawing/2014/main" id="{9B55C5F8-5CD6-B794-6D1D-9D7F867B5998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5095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EE36-3D8C-A848-A35B-235A1DB5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5782873-46B5-6D41-B380-42AE6AB6D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051903"/>
          </a:xfrm>
        </p:spPr>
        <p:txBody>
          <a:bodyPr/>
          <a:lstStyle/>
          <a:p>
            <a:r>
              <a:rPr lang="zh-CN" altLang="en-US"/>
              <a:t>概述</a:t>
            </a:r>
            <a:endParaRPr lang="en-US" altLang="zh-CN"/>
          </a:p>
          <a:p>
            <a:r>
              <a:rPr lang="zh-CN" altLang="en-US"/>
              <a:t>入门程序</a:t>
            </a:r>
            <a:endParaRPr lang="en-US" altLang="zh-CN"/>
          </a:p>
          <a:p>
            <a:r>
              <a:rPr lang="zh-CN" altLang="en-US"/>
              <a:t>网页结构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网页解析</a:t>
            </a:r>
            <a:endParaRPr lang="en-US" altLang="zh-CN">
              <a:solidFill>
                <a:srgbClr val="C00000"/>
              </a:solidFill>
            </a:endParaRPr>
          </a:p>
          <a:p>
            <a:pPr marL="612000" lvl="1">
              <a:lnSpc>
                <a:spcPct val="150000"/>
              </a:lnSpc>
            </a:pPr>
            <a:r>
              <a:rPr lang="zh-CN" altLang="en-US" sz="1600"/>
              <a:t>入门</a:t>
            </a:r>
            <a:endParaRPr lang="en-US" altLang="zh-CN" sz="1600"/>
          </a:p>
          <a:p>
            <a:pPr marL="612000" lvl="1">
              <a:lnSpc>
                <a:spcPct val="150000"/>
              </a:lnSpc>
            </a:pPr>
            <a:r>
              <a:rPr lang="en-US" altLang="zh-CN" sz="1600">
                <a:solidFill>
                  <a:srgbClr val="C00000"/>
                </a:solidFill>
              </a:rPr>
              <a:t>Xpath</a:t>
            </a:r>
            <a:r>
              <a:rPr lang="zh-CN" altLang="en-US" sz="1600">
                <a:solidFill>
                  <a:srgbClr val="C00000"/>
                </a:solidFill>
              </a:rPr>
              <a:t>语法</a:t>
            </a:r>
            <a:endParaRPr lang="en-US" altLang="zh-CN" sz="1600">
              <a:solidFill>
                <a:srgbClr val="C00000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E14545-D79D-3E0F-E6AC-AAFEC8D786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433480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48DD85-4C58-A4CB-1A30-BD73A76CC5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435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881A-72AB-9367-31EF-AD0DB5DF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9125F84-4E42-AC81-C3A4-9154A694A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zh-CN" b="1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Xpath</a:t>
            </a:r>
            <a:r>
              <a:rPr kumimoji="1" lang="zh-CN" altLang="en-US" b="1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：</a:t>
            </a:r>
            <a:r>
              <a:rPr kumimoji="1" lang="zh-CN" altLang="en-US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一种在</a:t>
            </a:r>
            <a:r>
              <a:rPr kumimoji="1" lang="en-US" altLang="zh-CN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HTML/XML</a:t>
            </a:r>
            <a:r>
              <a:rPr kumimoji="1" lang="zh-CN" altLang="en-US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文档中导航或定位元素的查询语言，让你能够准确的定位文档中的特定元素、属性或文本 。</a:t>
            </a:r>
            <a:endParaRPr kumimoji="1" lang="zh-CN" altLang="en-US" kern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98E8AE-093E-4E3F-16E9-CB45AEF9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Xpath</a:t>
            </a:r>
            <a:r>
              <a:rPr lang="zh-CN" altLang="en-US"/>
              <a:t>语法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A73875-B184-9143-E1E6-FD74C5618FA8}"/>
              </a:ext>
            </a:extLst>
          </p:cNvPr>
          <p:cNvSpPr/>
          <p:nvPr/>
        </p:nvSpPr>
        <p:spPr>
          <a:xfrm>
            <a:off x="7833305" y="1524281"/>
            <a:ext cx="4140034" cy="4909649"/>
          </a:xfrm>
          <a:prstGeom prst="roundRect">
            <a:avLst>
              <a:gd name="adj" fmla="val 1602"/>
            </a:avLst>
          </a:prstGeom>
          <a:solidFill>
            <a:srgbClr val="F5F5F5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108000" rtlCol="0" anchor="ctr"/>
          <a:lstStyle/>
          <a:p>
            <a:pPr>
              <a:lnSpc>
                <a:spcPct val="200000"/>
              </a:lnSpc>
              <a:buNone/>
            </a:pP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html </a:t>
            </a:r>
            <a:r>
              <a:rPr lang="en-US" altLang="zh-CN" sz="1000">
                <a:solidFill>
                  <a:srgbClr val="174AD4"/>
                </a:solidFill>
                <a:latin typeface="Fira Code" panose="020B0809050000020004" pitchFamily="49" charset="0"/>
              </a:rPr>
              <a:t>lang</a:t>
            </a:r>
            <a:r>
              <a:rPr lang="en-US" altLang="zh-CN" sz="1000">
                <a:solidFill>
                  <a:srgbClr val="067D17"/>
                </a:solidFill>
                <a:latin typeface="Fira Code" panose="020B0809050000020004" pitchFamily="49" charset="0"/>
              </a:rPr>
              <a:t>="zh-CN"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head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meta </a:t>
            </a:r>
            <a:r>
              <a:rPr lang="en-US" altLang="zh-CN" sz="1000">
                <a:solidFill>
                  <a:srgbClr val="174AD4"/>
                </a:solidFill>
                <a:latin typeface="Fira Code" panose="020B0809050000020004" pitchFamily="49" charset="0"/>
              </a:rPr>
              <a:t>charset</a:t>
            </a:r>
            <a:r>
              <a:rPr lang="en-US" altLang="zh-CN" sz="1000">
                <a:solidFill>
                  <a:srgbClr val="067D17"/>
                </a:solidFill>
                <a:latin typeface="Fira Code" panose="020B0809050000020004" pitchFamily="49" charset="0"/>
              </a:rPr>
              <a:t>="UTF-8"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title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1000">
                <a:solidFill>
                  <a:srgbClr val="080808"/>
                </a:solidFill>
                <a:latin typeface="Courier New" panose="02070309020205020404" pitchFamily="49" charset="0"/>
              </a:rPr>
              <a:t>仙逆人物志 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- </a:t>
            </a:r>
            <a:r>
              <a:rPr lang="zh-CN" altLang="en-US" sz="1000">
                <a:solidFill>
                  <a:srgbClr val="080808"/>
                </a:solidFill>
                <a:latin typeface="Courier New" panose="02070309020205020404" pitchFamily="49" charset="0"/>
              </a:rPr>
              <a:t>修真世界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title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head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body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div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</a:p>
          <a:p>
            <a:pPr>
              <a:lnSpc>
                <a:spcPct val="200000"/>
              </a:lnSpc>
              <a:buNone/>
            </a:pP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 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h1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&gt;Python&lt;/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h1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 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1000">
                <a:solidFill>
                  <a:srgbClr val="080808"/>
                </a:solidFill>
                <a:latin typeface="Courier New" panose="02070309020205020404" pitchFamily="49" charset="0"/>
              </a:rPr>
              <a:t>一门简介、快速、易用的编程语言。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</a:p>
          <a:p>
            <a:pPr>
              <a:lnSpc>
                <a:spcPct val="200000"/>
              </a:lnSpc>
              <a:buNone/>
            </a:pP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 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1000">
                <a:solidFill>
                  <a:srgbClr val="080808"/>
                </a:solidFill>
                <a:latin typeface="Fira Code" panose="020B0809050000020004" pitchFamily="49" charset="0"/>
              </a:rPr>
              <a:t>人生苦短，我用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Python</a:t>
            </a:r>
            <a:r>
              <a:rPr lang="zh-CN" altLang="en-US" sz="1000">
                <a:solidFill>
                  <a:srgbClr val="080808"/>
                </a:solidFill>
                <a:latin typeface="Courier New" panose="02070309020205020404" pitchFamily="49" charset="0"/>
              </a:rPr>
              <a:t>。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</a:p>
          <a:p>
            <a:pPr>
              <a:lnSpc>
                <a:spcPct val="200000"/>
              </a:lnSpc>
            </a:pP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 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p color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=</a:t>
            </a:r>
            <a:r>
              <a:rPr lang="en-US" altLang="zh-CN" sz="1000">
                <a:solidFill>
                  <a:srgbClr val="067D17"/>
                </a:solidFill>
                <a:latin typeface="Fira Code" panose="020B0809050000020004" pitchFamily="49" charset="0"/>
              </a:rPr>
              <a:t>"red"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&gt;AI</a:t>
            </a:r>
            <a:r>
              <a:rPr lang="zh-CN" altLang="en-US" sz="1000">
                <a:solidFill>
                  <a:srgbClr val="080808"/>
                </a:solidFill>
                <a:latin typeface="Fira Code" panose="020B0809050000020004" pitchFamily="49" charset="0"/>
              </a:rPr>
              <a:t>大模型开发、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AI</a:t>
            </a:r>
            <a:r>
              <a:rPr lang="zh-CN" altLang="en-US" sz="1000">
                <a:solidFill>
                  <a:srgbClr val="080808"/>
                </a:solidFill>
                <a:latin typeface="Fira Code" panose="020B0809050000020004" pitchFamily="49" charset="0"/>
              </a:rPr>
              <a:t>智能应用开发</a:t>
            </a:r>
            <a:r>
              <a:rPr lang="zh-CN" altLang="en-US" sz="1000">
                <a:solidFill>
                  <a:srgbClr val="080808"/>
                </a:solidFill>
                <a:latin typeface="Courier New" panose="02070309020205020404" pitchFamily="49" charset="0"/>
              </a:rPr>
              <a:t>。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p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   &lt;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a </a:t>
            </a:r>
            <a:r>
              <a:rPr lang="en-US" altLang="zh-CN" sz="1000">
                <a:solidFill>
                  <a:srgbClr val="174AD4"/>
                </a:solidFill>
                <a:latin typeface="Fira Code" panose="020B0809050000020004" pitchFamily="49" charset="0"/>
              </a:rPr>
              <a:t>href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=</a:t>
            </a:r>
            <a:r>
              <a:rPr lang="en-US" altLang="zh-CN" sz="1000">
                <a:solidFill>
                  <a:srgbClr val="067D17"/>
                </a:solidFill>
                <a:latin typeface="Fira Code" panose="020B0809050000020004" pitchFamily="49" charset="0"/>
              </a:rPr>
              <a:t>"https://www.itcast.cn"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zh-CN" altLang="en-US" sz="1000">
                <a:solidFill>
                  <a:srgbClr val="080808"/>
                </a:solidFill>
                <a:latin typeface="Courier New" panose="02070309020205020404" pitchFamily="49" charset="0"/>
              </a:rPr>
              <a:t>黑马程序员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a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</a:p>
          <a:p>
            <a:pPr>
              <a:lnSpc>
                <a:spcPct val="200000"/>
              </a:lnSpc>
              <a:buNone/>
            </a:pP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  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div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body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b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&lt;/</a:t>
            </a:r>
            <a:r>
              <a:rPr lang="en-US" altLang="zh-CN" sz="1000">
                <a:solidFill>
                  <a:srgbClr val="0033B3"/>
                </a:solidFill>
                <a:latin typeface="Fira Code" panose="020B0809050000020004" pitchFamily="49" charset="0"/>
              </a:rPr>
              <a:t>html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73086A1-E43B-B0C4-6795-F06513552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93736"/>
              </p:ext>
            </p:extLst>
          </p:nvPr>
        </p:nvGraphicFramePr>
        <p:xfrm>
          <a:off x="965200" y="1494919"/>
          <a:ext cx="6787323" cy="485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756">
                  <a:extLst>
                    <a:ext uri="{9D8B030D-6E8A-4147-A177-3AD203B41FA5}">
                      <a16:colId xmlns:a16="http://schemas.microsoft.com/office/drawing/2014/main" val="1830796156"/>
                    </a:ext>
                  </a:extLst>
                </a:gridCol>
                <a:gridCol w="2687126">
                  <a:extLst>
                    <a:ext uri="{9D8B030D-6E8A-4147-A177-3AD203B41FA5}">
                      <a16:colId xmlns:a16="http://schemas.microsoft.com/office/drawing/2014/main" val="3109578370"/>
                    </a:ext>
                  </a:extLst>
                </a:gridCol>
                <a:gridCol w="2262441">
                  <a:extLst>
                    <a:ext uri="{9D8B030D-6E8A-4147-A177-3AD203B41FA5}">
                      <a16:colId xmlns:a16="http://schemas.microsoft.com/office/drawing/2014/main" val="1827450109"/>
                    </a:ext>
                  </a:extLst>
                </a:gridCol>
              </a:tblGrid>
              <a:tr h="5326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表达式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样例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641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从根节点的直接子元素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/html/body/div/h1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747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从任意位置选择节点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//h1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2089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.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当前节点下查找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 </a:t>
                      </a:r>
                      <a:r>
                        <a:rPr lang="en-US" altLang="zh-CN" sz="1200"/>
                        <a:t>./a </a:t>
                      </a:r>
                      <a:r>
                        <a:rPr lang="zh-CN" altLang="en-US" sz="1200"/>
                        <a:t>与 </a:t>
                      </a:r>
                      <a:r>
                        <a:rPr lang="en-US" altLang="zh-CN" sz="1200"/>
                        <a:t>.//a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84189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[n]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选择第</a:t>
                      </a:r>
                      <a:r>
                        <a:rPr lang="en-US" altLang="zh-CN" sz="1200"/>
                        <a:t>n</a:t>
                      </a:r>
                      <a:r>
                        <a:rPr lang="zh-CN" altLang="en-US" sz="1200"/>
                        <a:t>个元素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//p[2]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533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[last()]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选择最后一个元素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//p[last()]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064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[@attr]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选择有该属性的元素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//p[@color]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0365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[@attr='value']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选择该属性值等于指定值的元素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//p[@color='red']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8004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*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匹配任何元素节点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//body/div/*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3005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@*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匹配元素的任何属性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//body/div/a/@*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683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text()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获取文本内容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//div/p/text()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72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17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AD26-0368-E23F-0566-5C0A86EE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41207B3-34A1-D37B-00F8-986B57D29E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0240" y="2002610"/>
            <a:ext cx="7170081" cy="275492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请描述下列常见的</a:t>
            </a:r>
            <a:r>
              <a:rPr lang="en-US" altLang="zh-CN"/>
              <a:t>Xpath</a:t>
            </a:r>
            <a:r>
              <a:rPr lang="zh-CN" altLang="en-US"/>
              <a:t>表达式具体的含义</a:t>
            </a:r>
            <a:r>
              <a:rPr lang="en-US" altLang="zh-CN"/>
              <a:t>?</a:t>
            </a:r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/html/head/title[1]</a:t>
            </a:r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//div/a/text()</a:t>
            </a:r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//div/a/@href</a:t>
            </a:r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//div/a[@target='_blank']</a:t>
            </a:r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//div[2]/p[last()]/text()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60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46D64-2EE5-7054-F379-F309E114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DB29F0-CC41-C553-4E22-710C9E3B73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入门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网络机器人</a:t>
            </a:r>
            <a:r>
              <a:rPr lang="en-US" altLang="zh-CN">
                <a:solidFill>
                  <a:srgbClr val="C00000"/>
                </a:solidFill>
              </a:rPr>
              <a:t>-</a:t>
            </a:r>
            <a:r>
              <a:rPr lang="zh-CN" altLang="en-US">
                <a:solidFill>
                  <a:srgbClr val="C00000"/>
                </a:solidFill>
              </a:rPr>
              <a:t>案例</a:t>
            </a:r>
            <a:endParaRPr lang="en-US" altLang="zh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557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72E3-FB2B-7CAB-1182-D692D894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43EB06-A5CC-F22A-ED4A-5300DBFABE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5" y="2469081"/>
            <a:ext cx="4348426" cy="901700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案例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57ADB3-AF7B-BF0F-E49C-FB57258CE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56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058F-3F71-F440-473C-73D2EBF9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DA177-F47F-3AC8-16A1-3196C68D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获取高分电影榜单</a:t>
            </a:r>
            <a:r>
              <a:rPr lang="en-US" altLang="zh-CN"/>
              <a:t>(Top100)</a:t>
            </a:r>
            <a:r>
              <a:rPr lang="zh-CN" altLang="en-US"/>
              <a:t>数据，并保存在</a:t>
            </a:r>
            <a:r>
              <a:rPr lang="en-US" altLang="zh-CN"/>
              <a:t>CSV</a:t>
            </a:r>
            <a:r>
              <a:rPr lang="zh-CN" altLang="en-US"/>
              <a:t>文件中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B21527-F99A-055D-8BC7-2C0EDACDDE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4863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数据包括：电影名、年份、上映时间、类型、时长、评分、语言、导演、作者、主演、</a:t>
            </a:r>
            <a:r>
              <a:rPr lang="en-US" altLang="zh-CN"/>
              <a:t>Slogan</a:t>
            </a:r>
            <a:r>
              <a:rPr lang="zh-CN" altLang="en-US"/>
              <a:t>、简介。</a:t>
            </a:r>
          </a:p>
        </p:txBody>
      </p:sp>
      <p:pic>
        <p:nvPicPr>
          <p:cNvPr id="8" name="图片 7" descr="图形用户界面, 网站&#10;&#10;AI 生成的内容可能不正确。">
            <a:extLst>
              <a:ext uri="{FF2B5EF4-FFF2-40B4-BE49-F238E27FC236}">
                <a16:creationId xmlns:a16="http://schemas.microsoft.com/office/drawing/2014/main" id="{8F55E6F8-E3C6-8DB8-5B1D-BF97A022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41" y="1539832"/>
            <a:ext cx="9290302" cy="52898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图片 4" descr="图形用户界面, 网站&#10;&#10;AI 生成的内容可能不正确。">
            <a:extLst>
              <a:ext uri="{FF2B5EF4-FFF2-40B4-BE49-F238E27FC236}">
                <a16:creationId xmlns:a16="http://schemas.microsoft.com/office/drawing/2014/main" id="{FAC4195F-0CE3-FBEE-912B-AB3CBB64B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78" y="1981741"/>
            <a:ext cx="7644770" cy="47788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5533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3CFB5-906E-960D-DC6E-DC8D5DF2D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31DA50-59B6-A295-765D-87FCF56924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49" y="2203927"/>
            <a:ext cx="4387099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BE9573E-F2BB-8E8E-76D6-F8267734EE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484715" cy="1739938"/>
          </a:xfrm>
        </p:spPr>
        <p:txBody>
          <a:bodyPr/>
          <a:lstStyle/>
          <a:p>
            <a:r>
              <a:rPr lang="en-US" altLang="zh-CN"/>
              <a:t>CSV</a:t>
            </a:r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/>
              <a:t>案例实现</a:t>
            </a:r>
            <a:endParaRPr lang="en-US" altLang="zh-CN"/>
          </a:p>
          <a:p>
            <a:r>
              <a:rPr lang="zh-CN" altLang="en-US"/>
              <a:t>案例拓展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D31E3F-5C11-E5D1-1C60-59930373F3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73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03043-8D30-961F-BE94-D96D9F8D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71443C9-9C77-D9DE-0A78-5D196EA1F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158603" cy="8659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zh-CN" b="1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CSV</a:t>
            </a:r>
            <a:r>
              <a:rPr kumimoji="1" lang="zh-CN" altLang="en-US" b="1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：</a:t>
            </a:r>
            <a:r>
              <a:rPr kumimoji="1" lang="zh-CN" altLang="en-US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（</a:t>
            </a:r>
            <a:r>
              <a:rPr kumimoji="1" lang="en-US" altLang="zh-CN" b="1" kern="0">
                <a:solidFill>
                  <a:srgbClr val="C00000"/>
                </a:solidFill>
                <a:ea typeface="微软雅黑"/>
              </a:rPr>
              <a:t>C</a:t>
            </a:r>
            <a:r>
              <a:rPr kumimoji="1" lang="en-US" altLang="zh-CN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omma-</a:t>
            </a:r>
            <a:r>
              <a:rPr kumimoji="1" lang="en-US" altLang="zh-CN" b="1" kern="0">
                <a:solidFill>
                  <a:srgbClr val="C00000"/>
                </a:solidFill>
                <a:ea typeface="微软雅黑"/>
              </a:rPr>
              <a:t>S</a:t>
            </a:r>
            <a:r>
              <a:rPr kumimoji="1" lang="en-US" altLang="zh-CN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eparated </a:t>
            </a:r>
            <a:r>
              <a:rPr kumimoji="1" lang="en-US" altLang="zh-CN" b="1" kern="0">
                <a:solidFill>
                  <a:srgbClr val="C00000"/>
                </a:solidFill>
                <a:ea typeface="微软雅黑"/>
              </a:rPr>
              <a:t>V</a:t>
            </a:r>
            <a:r>
              <a:rPr kumimoji="1" lang="en-US" altLang="zh-CN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alues</a:t>
            </a:r>
            <a:r>
              <a:rPr kumimoji="1" lang="zh-CN" altLang="en-US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，逗号分隔值），是一种简单、通用的文本文件格式，用于存储表格数据，可以直接使用</a:t>
            </a:r>
            <a:r>
              <a:rPr kumimoji="1" lang="en-US" altLang="zh-CN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Excel</a:t>
            </a:r>
            <a:r>
              <a:rPr kumimoji="1" lang="zh-CN" altLang="en-US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打开 。</a:t>
            </a:r>
            <a:endParaRPr kumimoji="1" lang="zh-CN" altLang="en-US" kern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1D88526-B894-12DB-55C8-9DFF4ABA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CSV</a:t>
            </a:r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60C4E2E-C4D6-3833-3C38-3436ED8C4D72}"/>
              </a:ext>
            </a:extLst>
          </p:cNvPr>
          <p:cNvGrpSpPr/>
          <p:nvPr/>
        </p:nvGrpSpPr>
        <p:grpSpPr>
          <a:xfrm>
            <a:off x="959517" y="1927844"/>
            <a:ext cx="7621266" cy="1709877"/>
            <a:chOff x="2297719" y="3660322"/>
            <a:chExt cx="8397216" cy="180652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1F7854F-9088-F3EE-68E9-F08CED029811}"/>
                </a:ext>
              </a:extLst>
            </p:cNvPr>
            <p:cNvSpPr/>
            <p:nvPr/>
          </p:nvSpPr>
          <p:spPr>
            <a:xfrm>
              <a:off x="2297727" y="3660322"/>
              <a:ext cx="8397208" cy="1806527"/>
            </a:xfrm>
            <a:prstGeom prst="roundRect">
              <a:avLst>
                <a:gd name="adj" fmla="val 313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with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open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"resources/01.csv"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"w"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encoding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"utf-8"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f.write(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爱好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\n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f.write(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王林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,29,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男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,'Python,Java'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\n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f.write(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红蝶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,18,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女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,Java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\n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3626D2C7-DCDE-627B-E657-1E3C0760C440}"/>
                </a:ext>
              </a:extLst>
            </p:cNvPr>
            <p:cNvSpPr/>
            <p:nvPr/>
          </p:nvSpPr>
          <p:spPr>
            <a:xfrm>
              <a:off x="2297719" y="3660322"/>
              <a:ext cx="8397207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方式一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F6E3B7E-8DD6-1F99-530B-4983CB84DC9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1B033EC-0326-8054-AD9B-C10C1B7AFA1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92E48E0-1D18-63D8-31FB-B679947691A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85F9DB5-ABE6-6F26-A8F6-9509A509A464}"/>
              </a:ext>
            </a:extLst>
          </p:cNvPr>
          <p:cNvGrpSpPr/>
          <p:nvPr/>
        </p:nvGrpSpPr>
        <p:grpSpPr>
          <a:xfrm>
            <a:off x="959509" y="4092091"/>
            <a:ext cx="7621266" cy="2019217"/>
            <a:chOff x="2297719" y="3660322"/>
            <a:chExt cx="8397216" cy="213335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76F250E-5505-A849-2D17-829E95D1B0F3}"/>
                </a:ext>
              </a:extLst>
            </p:cNvPr>
            <p:cNvSpPr/>
            <p:nvPr/>
          </p:nvSpPr>
          <p:spPr>
            <a:xfrm>
              <a:off x="2297728" y="3660322"/>
              <a:ext cx="8397207" cy="2133352"/>
            </a:xfrm>
            <a:prstGeom prst="roundRect">
              <a:avLst>
                <a:gd name="adj" fmla="val 190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csv</a:t>
              </a:r>
              <a:endPara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with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open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"resources/02.csv"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"w"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encoding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"utf-8"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newline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writer = csv.DictWriter(f,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fieldnames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爱好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writer.writeheader()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writer.writerow({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王林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男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爱好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"Python,Java"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writer.writerow({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红蝶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女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爱好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"Java"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563CA921-AF09-3D43-CE22-94764058577D}"/>
                </a:ext>
              </a:extLst>
            </p:cNvPr>
            <p:cNvSpPr/>
            <p:nvPr/>
          </p:nvSpPr>
          <p:spPr>
            <a:xfrm>
              <a:off x="2297719" y="3660322"/>
              <a:ext cx="8397207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方式二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301F6B5-29AB-2909-2681-E28FFCDA47D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A411F70-9B98-BD5A-99E6-5C3F9D7C11E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6C493AA-47FA-3980-EBFD-03A822A05B6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290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B4EA9-F502-420F-EFF2-94C610BC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4CAB5C-8E2D-E2EB-9839-172616503F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261202" cy="668338"/>
          </a:xfrm>
        </p:spPr>
        <p:txBody>
          <a:bodyPr/>
          <a:lstStyle/>
          <a:p>
            <a:r>
              <a:rPr lang="zh-CN" altLang="en-US"/>
              <a:t>网络机器人</a:t>
            </a:r>
            <a:r>
              <a:rPr lang="en-US" altLang="zh-CN"/>
              <a:t>-</a:t>
            </a:r>
            <a:r>
              <a:rPr lang="zh-CN" altLang="en-US"/>
              <a:t>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FBC175E-C012-77ED-DD6F-880FEC99D6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484715" cy="1739938"/>
          </a:xfrm>
        </p:spPr>
        <p:txBody>
          <a:bodyPr/>
          <a:lstStyle/>
          <a:p>
            <a:r>
              <a:rPr lang="en-US" altLang="zh-CN"/>
              <a:t>CSV</a:t>
            </a:r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案例实现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案例拓展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329AC2-8F9D-2B24-32BA-57E86D6A96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031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61FE-9DA1-3D83-B512-091B9ACB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7C0BB-7DBC-6AFA-D15D-D060BD5D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获取高分电影榜单</a:t>
            </a:r>
            <a:r>
              <a:rPr lang="en-US" altLang="zh-CN"/>
              <a:t>(Top100)</a:t>
            </a:r>
            <a:r>
              <a:rPr lang="zh-CN" altLang="en-US"/>
              <a:t>数据，并保存在</a:t>
            </a:r>
            <a:r>
              <a:rPr lang="en-US" altLang="zh-CN"/>
              <a:t>CSV</a:t>
            </a:r>
            <a:r>
              <a:rPr lang="zh-CN" altLang="en-US"/>
              <a:t>文件中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601303-194E-33E6-2EEB-C64D56918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4863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数据包括：电影名、年份、上映时间、类型、时长、评分、语言、导演、作者、主演、</a:t>
            </a:r>
            <a:r>
              <a:rPr lang="en-US" altLang="zh-CN"/>
              <a:t>Slogan</a:t>
            </a:r>
            <a:r>
              <a:rPr lang="zh-CN" altLang="en-US"/>
              <a:t>、简介。</a:t>
            </a:r>
          </a:p>
        </p:txBody>
      </p:sp>
      <p:pic>
        <p:nvPicPr>
          <p:cNvPr id="8" name="图片 7" descr="图形用户界面, 网站&#10;&#10;AI 生成的内容可能不正确。">
            <a:extLst>
              <a:ext uri="{FF2B5EF4-FFF2-40B4-BE49-F238E27FC236}">
                <a16:creationId xmlns:a16="http://schemas.microsoft.com/office/drawing/2014/main" id="{F338CD84-10C4-3451-78AC-7A0BBB3D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41" y="1539832"/>
            <a:ext cx="9290302" cy="52898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图片 4" descr="图形用户界面, 网站&#10;&#10;AI 生成的内容可能不正确。">
            <a:extLst>
              <a:ext uri="{FF2B5EF4-FFF2-40B4-BE49-F238E27FC236}">
                <a16:creationId xmlns:a16="http://schemas.microsoft.com/office/drawing/2014/main" id="{B1F87C08-AC56-617B-B272-0C5D85D96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78" y="1964953"/>
            <a:ext cx="7644770" cy="47788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4E60C3-80D4-FA84-3EF0-2C712D3BC0AC}"/>
              </a:ext>
            </a:extLst>
          </p:cNvPr>
          <p:cNvSpPr/>
          <p:nvPr/>
        </p:nvSpPr>
        <p:spPr>
          <a:xfrm>
            <a:off x="5076134" y="2434314"/>
            <a:ext cx="1163799" cy="215753"/>
          </a:xfrm>
          <a:prstGeom prst="roundRect">
            <a:avLst>
              <a:gd name="adj" fmla="val 66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7C84201-B9DE-F8AF-3997-B86F85968D5A}"/>
              </a:ext>
            </a:extLst>
          </p:cNvPr>
          <p:cNvSpPr/>
          <p:nvPr/>
        </p:nvSpPr>
        <p:spPr>
          <a:xfrm>
            <a:off x="6328648" y="2434314"/>
            <a:ext cx="364252" cy="215753"/>
          </a:xfrm>
          <a:prstGeom prst="roundRect">
            <a:avLst>
              <a:gd name="adj" fmla="val 66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C0DB291-B790-9B9D-07CB-A07C5ECA12CC}"/>
              </a:ext>
            </a:extLst>
          </p:cNvPr>
          <p:cNvSpPr/>
          <p:nvPr/>
        </p:nvSpPr>
        <p:spPr>
          <a:xfrm>
            <a:off x="5228901" y="2664322"/>
            <a:ext cx="418366" cy="152400"/>
          </a:xfrm>
          <a:prstGeom prst="roundRect">
            <a:avLst>
              <a:gd name="adj" fmla="val 66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9FDD7EA-274E-0F8B-1E56-460F1F8297B0}"/>
              </a:ext>
            </a:extLst>
          </p:cNvPr>
          <p:cNvSpPr/>
          <p:nvPr/>
        </p:nvSpPr>
        <p:spPr>
          <a:xfrm>
            <a:off x="5878350" y="2664322"/>
            <a:ext cx="475883" cy="152400"/>
          </a:xfrm>
          <a:prstGeom prst="roundRect">
            <a:avLst>
              <a:gd name="adj" fmla="val 66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56561D7-C83A-D392-083F-7BDC92E87B21}"/>
              </a:ext>
            </a:extLst>
          </p:cNvPr>
          <p:cNvSpPr/>
          <p:nvPr/>
        </p:nvSpPr>
        <p:spPr>
          <a:xfrm>
            <a:off x="6415984" y="2664322"/>
            <a:ext cx="306550" cy="152400"/>
          </a:xfrm>
          <a:prstGeom prst="roundRect">
            <a:avLst>
              <a:gd name="adj" fmla="val 66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0B6316D-B45A-5E9D-31D3-B7AEA60F1C15}"/>
              </a:ext>
            </a:extLst>
          </p:cNvPr>
          <p:cNvSpPr/>
          <p:nvPr/>
        </p:nvSpPr>
        <p:spPr>
          <a:xfrm>
            <a:off x="5127349" y="2949023"/>
            <a:ext cx="274638" cy="266699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E8F0505-9DA1-983E-6310-83043E216767}"/>
              </a:ext>
            </a:extLst>
          </p:cNvPr>
          <p:cNvSpPr/>
          <p:nvPr/>
        </p:nvSpPr>
        <p:spPr>
          <a:xfrm>
            <a:off x="5053379" y="3669826"/>
            <a:ext cx="1719953" cy="215753"/>
          </a:xfrm>
          <a:prstGeom prst="roundRect">
            <a:avLst>
              <a:gd name="adj" fmla="val 7008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B7C528-8A49-E98D-12EF-8888F93247E0}"/>
              </a:ext>
            </a:extLst>
          </p:cNvPr>
          <p:cNvSpPr/>
          <p:nvPr/>
        </p:nvSpPr>
        <p:spPr>
          <a:xfrm>
            <a:off x="5053379" y="4066839"/>
            <a:ext cx="5345381" cy="656604"/>
          </a:xfrm>
          <a:prstGeom prst="roundRect">
            <a:avLst>
              <a:gd name="adj" fmla="val 4687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37890BB-D73E-ACF8-A986-EF86533BF721}"/>
              </a:ext>
            </a:extLst>
          </p:cNvPr>
          <p:cNvSpPr/>
          <p:nvPr/>
        </p:nvSpPr>
        <p:spPr>
          <a:xfrm>
            <a:off x="5053379" y="4765182"/>
            <a:ext cx="824971" cy="330058"/>
          </a:xfrm>
          <a:prstGeom prst="roundRect">
            <a:avLst>
              <a:gd name="adj" fmla="val 7008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D395F92-0E30-63A9-BCA3-783AC6A5B259}"/>
              </a:ext>
            </a:extLst>
          </p:cNvPr>
          <p:cNvSpPr/>
          <p:nvPr/>
        </p:nvSpPr>
        <p:spPr>
          <a:xfrm>
            <a:off x="6745093" y="4765182"/>
            <a:ext cx="575188" cy="330058"/>
          </a:xfrm>
          <a:prstGeom prst="roundRect">
            <a:avLst>
              <a:gd name="adj" fmla="val 7008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FB0FC0B-997C-E67D-5D46-F6751E249CD4}"/>
              </a:ext>
            </a:extLst>
          </p:cNvPr>
          <p:cNvSpPr/>
          <p:nvPr/>
        </p:nvSpPr>
        <p:spPr>
          <a:xfrm>
            <a:off x="8845563" y="6447182"/>
            <a:ext cx="497220" cy="313421"/>
          </a:xfrm>
          <a:prstGeom prst="roundRect">
            <a:avLst>
              <a:gd name="adj" fmla="val 7008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C67929B-9FF7-F950-F989-4A6F5E1F81B4}"/>
              </a:ext>
            </a:extLst>
          </p:cNvPr>
          <p:cNvSpPr/>
          <p:nvPr/>
        </p:nvSpPr>
        <p:spPr>
          <a:xfrm>
            <a:off x="3237831" y="5503009"/>
            <a:ext cx="5515230" cy="1257593"/>
          </a:xfrm>
          <a:prstGeom prst="roundRect">
            <a:avLst>
              <a:gd name="adj" fmla="val 2266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84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8F83B-751E-EA7A-AB5C-0DB535A7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55521-39FA-DC9C-A5B3-E3197285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获取高分电影榜单</a:t>
            </a:r>
            <a:r>
              <a:rPr lang="en-US" altLang="zh-CN"/>
              <a:t>(Top100)</a:t>
            </a:r>
            <a:r>
              <a:rPr lang="zh-CN" altLang="en-US"/>
              <a:t>数据，并保存在</a:t>
            </a:r>
            <a:r>
              <a:rPr lang="en-US" altLang="zh-CN"/>
              <a:t>CSV</a:t>
            </a:r>
            <a:r>
              <a:rPr lang="zh-CN" altLang="en-US"/>
              <a:t>文件中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CEDEBE-7A35-2C18-C440-7CD5A2D310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4863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数据包括：电影名、年份、上映时间、类型、时长、评分、语言、导演、作者、主演、</a:t>
            </a:r>
            <a:r>
              <a:rPr lang="en-US" altLang="zh-CN"/>
              <a:t>Slogan</a:t>
            </a:r>
            <a:r>
              <a:rPr lang="zh-CN" altLang="en-US"/>
              <a:t>、简介。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6A8BF767-E2A1-25F5-527D-79D5CCDB7E23}"/>
              </a:ext>
            </a:extLst>
          </p:cNvPr>
          <p:cNvSpPr txBox="1">
            <a:spLocks/>
          </p:cNvSpPr>
          <p:nvPr/>
        </p:nvSpPr>
        <p:spPr>
          <a:xfrm>
            <a:off x="1753098" y="1609131"/>
            <a:ext cx="9570540" cy="53482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步骤：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/>
              <a:t>明确网站（</a:t>
            </a:r>
            <a:r>
              <a:rPr lang="en-US" altLang="zh-CN">
                <a:hlinkClick r:id="rId2"/>
              </a:rPr>
              <a:t>https://www.themoviedb.org</a:t>
            </a:r>
            <a:r>
              <a:rPr lang="zh-CN" altLang="en-US"/>
              <a:t>）的</a:t>
            </a:r>
            <a:r>
              <a:rPr lang="en-US" altLang="zh-CN"/>
              <a:t>robots.txt</a:t>
            </a:r>
            <a:r>
              <a:rPr lang="zh-CN" altLang="en-US"/>
              <a:t>中的抓取规则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/>
              <a:t>查看页面的结构，拆解具体的操作步骤，按步骤开发</a:t>
            </a:r>
            <a:endParaRPr lang="en-US" altLang="zh-CN"/>
          </a:p>
          <a:p>
            <a:pPr marL="9396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zh-CN" altLang="en-US"/>
              <a:t>获取高分电影列表数据</a:t>
            </a:r>
            <a:endParaRPr lang="en-US" altLang="zh-CN"/>
          </a:p>
          <a:p>
            <a:pPr marL="9396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zh-CN" altLang="en-US"/>
              <a:t>遍历电影列表，获取每一部电影的详情信息，并提取电影数据信息</a:t>
            </a:r>
            <a:endParaRPr lang="en-US" altLang="zh-CN"/>
          </a:p>
          <a:p>
            <a:pPr marL="9396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zh-CN" altLang="en-US"/>
              <a:t>将电影详情信息保存到</a:t>
            </a:r>
            <a:r>
              <a:rPr lang="en-US" altLang="zh-CN"/>
              <a:t>csv</a:t>
            </a:r>
            <a:r>
              <a:rPr lang="zh-CN" altLang="en-US"/>
              <a:t>文件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854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B24D6-1D58-EE61-B162-99209E5CC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85A65B-EA73-6DFB-2046-818B95134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2723" y="2608182"/>
            <a:ext cx="6967456" cy="5435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/>
              <a:t>提取的年份、上映时间、时长的数据处理 ？</a:t>
            </a: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E591259-0FF5-8B12-EEC0-5520E5504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27" y="3314950"/>
            <a:ext cx="7423870" cy="11245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A083C80-CC10-682F-EDB6-9E190686D7C6}"/>
              </a:ext>
            </a:extLst>
          </p:cNvPr>
          <p:cNvSpPr txBox="1"/>
          <p:nvPr/>
        </p:nvSpPr>
        <p:spPr>
          <a:xfrm>
            <a:off x="6288156" y="4499113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1994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79807E-AC29-786B-34E4-687A98FDE96F}"/>
              </a:ext>
            </a:extLst>
          </p:cNvPr>
          <p:cNvSpPr txBox="1"/>
          <p:nvPr/>
        </p:nvSpPr>
        <p:spPr>
          <a:xfrm>
            <a:off x="7024489" y="4499113"/>
            <a:ext cx="1483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1994-09-23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AAC3D0-8034-DEC4-18FB-3B797F429903}"/>
              </a:ext>
            </a:extLst>
          </p:cNvPr>
          <p:cNvSpPr txBox="1"/>
          <p:nvPr/>
        </p:nvSpPr>
        <p:spPr>
          <a:xfrm>
            <a:off x="9456265" y="4499113"/>
            <a:ext cx="555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144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07714D-9202-071F-D224-FED2BF6DF0D5}"/>
              </a:ext>
            </a:extLst>
          </p:cNvPr>
          <p:cNvSpPr txBox="1"/>
          <p:nvPr/>
        </p:nvSpPr>
        <p:spPr>
          <a:xfrm>
            <a:off x="6288156" y="4897302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1972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8F8D56-F768-89E7-A60F-D5CBA761E84B}"/>
              </a:ext>
            </a:extLst>
          </p:cNvPr>
          <p:cNvSpPr txBox="1"/>
          <p:nvPr/>
        </p:nvSpPr>
        <p:spPr>
          <a:xfrm>
            <a:off x="7024489" y="4897302"/>
            <a:ext cx="1483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1972-03-24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355144-0A00-69FF-E58F-3C067E0CD762}"/>
              </a:ext>
            </a:extLst>
          </p:cNvPr>
          <p:cNvSpPr txBox="1"/>
          <p:nvPr/>
        </p:nvSpPr>
        <p:spPr>
          <a:xfrm>
            <a:off x="9456265" y="4897302"/>
            <a:ext cx="555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177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7F3FC9-8C37-E395-ED00-9C0B9924DED3}"/>
              </a:ext>
            </a:extLst>
          </p:cNvPr>
          <p:cNvSpPr txBox="1"/>
          <p:nvPr/>
        </p:nvSpPr>
        <p:spPr>
          <a:xfrm>
            <a:off x="6288156" y="5295491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1974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A88443-BD8C-779D-633D-A4C507D7D09D}"/>
              </a:ext>
            </a:extLst>
          </p:cNvPr>
          <p:cNvSpPr txBox="1"/>
          <p:nvPr/>
        </p:nvSpPr>
        <p:spPr>
          <a:xfrm>
            <a:off x="7024489" y="5295491"/>
            <a:ext cx="1483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1974-12-20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CB1804-BD3D-4902-DE92-798A9FC5DBD4}"/>
              </a:ext>
            </a:extLst>
          </p:cNvPr>
          <p:cNvSpPr txBox="1"/>
          <p:nvPr/>
        </p:nvSpPr>
        <p:spPr>
          <a:xfrm>
            <a:off x="9456265" y="5295491"/>
            <a:ext cx="555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200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2F2591-2FB9-EED7-B6E7-E8AC4C3807FF}"/>
              </a:ext>
            </a:extLst>
          </p:cNvPr>
          <p:cNvSpPr txBox="1"/>
          <p:nvPr/>
        </p:nvSpPr>
        <p:spPr>
          <a:xfrm>
            <a:off x="6142383" y="604126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字符串切片、切割、截取</a:t>
            </a:r>
          </a:p>
        </p:txBody>
      </p:sp>
      <p:sp>
        <p:nvSpPr>
          <p:cNvPr id="16" name="!!文本框 15">
            <a:extLst>
              <a:ext uri="{FF2B5EF4-FFF2-40B4-BE49-F238E27FC236}">
                <a16:creationId xmlns:a16="http://schemas.microsoft.com/office/drawing/2014/main" id="{C49A8C59-13E9-56B9-B925-7B81D4BB31FF}"/>
              </a:ext>
            </a:extLst>
          </p:cNvPr>
          <p:cNvSpPr txBox="1"/>
          <p:nvPr/>
        </p:nvSpPr>
        <p:spPr>
          <a:xfrm>
            <a:off x="9259706" y="604126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67D17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正则表达式</a:t>
            </a:r>
          </a:p>
        </p:txBody>
      </p:sp>
    </p:spTree>
    <p:extLst>
      <p:ext uri="{BB962C8B-B14F-4D97-AF65-F5344CB8AC3E}">
        <p14:creationId xmlns:p14="http://schemas.microsoft.com/office/powerpoint/2010/main" val="45315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939A-530A-5629-5799-0F7E6D37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D6FBE6A-AE7C-9B4D-60C1-88DB1048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394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i="0">
                <a:solidFill>
                  <a:srgbClr val="C00000"/>
                </a:solidFill>
                <a:effectLst/>
              </a:rPr>
              <a:t>正则表达式</a:t>
            </a:r>
            <a:r>
              <a:rPr lang="zh-CN" altLang="en-US" i="0">
                <a:solidFill>
                  <a:srgbClr val="0F1115"/>
                </a:solidFill>
                <a:effectLst/>
              </a:rPr>
              <a:t>（</a:t>
            </a:r>
            <a:r>
              <a:rPr lang="en-US" altLang="zh-CN" b="1" i="0">
                <a:solidFill>
                  <a:srgbClr val="C00000"/>
                </a:solidFill>
                <a:effectLst/>
              </a:rPr>
              <a:t>R</a:t>
            </a:r>
            <a:r>
              <a:rPr lang="en-US" altLang="zh-CN" i="0">
                <a:solidFill>
                  <a:srgbClr val="0F1115"/>
                </a:solidFill>
                <a:effectLst/>
              </a:rPr>
              <a:t>egular </a:t>
            </a:r>
            <a:r>
              <a:rPr lang="en-US" altLang="zh-CN" b="1" i="0">
                <a:solidFill>
                  <a:srgbClr val="C00000"/>
                </a:solidFill>
                <a:effectLst/>
              </a:rPr>
              <a:t>E</a:t>
            </a:r>
            <a:r>
              <a:rPr lang="en-US" altLang="zh-CN" i="0">
                <a:solidFill>
                  <a:srgbClr val="0F1115"/>
                </a:solidFill>
                <a:effectLst/>
              </a:rPr>
              <a:t>x</a:t>
            </a:r>
            <a:r>
              <a:rPr lang="en-US" altLang="zh-CN">
                <a:solidFill>
                  <a:srgbClr val="0F1115"/>
                </a:solidFill>
              </a:rPr>
              <a:t>pression</a:t>
            </a:r>
            <a:r>
              <a:rPr lang="zh-CN" altLang="en-US" i="0">
                <a:solidFill>
                  <a:srgbClr val="0F1115"/>
                </a:solidFill>
                <a:effectLst/>
              </a:rPr>
              <a:t>）是一种用特定语法规则组成的字符串模式，用来描述、匹配或替换文本中符合某种规则的字符序列，可以理解为是专门用于文本处理的“高级查找和匹配公式”。</a:t>
            </a:r>
            <a:endParaRPr lang="zh-CN" altLang="en-US"/>
          </a:p>
        </p:txBody>
      </p:sp>
      <p:sp>
        <p:nvSpPr>
          <p:cNvPr id="3" name="!!文本框 15">
            <a:extLst>
              <a:ext uri="{FF2B5EF4-FFF2-40B4-BE49-F238E27FC236}">
                <a16:creationId xmlns:a16="http://schemas.microsoft.com/office/drawing/2014/main" id="{E98CB287-8A58-74C2-417E-1157B59E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723055" cy="474415"/>
          </a:xfrm>
        </p:spPr>
        <p:txBody>
          <a:bodyPr/>
          <a:lstStyle/>
          <a:p>
            <a:r>
              <a:rPr lang="zh-CN" altLang="en-US"/>
              <a:t>正则表达式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56A798-74E5-EB69-2377-E4BE22C6EC71}"/>
              </a:ext>
            </a:extLst>
          </p:cNvPr>
          <p:cNvSpPr/>
          <p:nvPr/>
        </p:nvSpPr>
        <p:spPr>
          <a:xfrm>
            <a:off x="974034" y="1915821"/>
            <a:ext cx="1570382" cy="424070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1[3-9]\d{9}</a:t>
            </a:r>
            <a:endParaRPr lang="zh-CN" altLang="en-US" sz="16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83634AC-D16F-FD34-BA97-923A4AD1C85D}"/>
              </a:ext>
            </a:extLst>
          </p:cNvPr>
          <p:cNvSpPr/>
          <p:nvPr/>
        </p:nvSpPr>
        <p:spPr>
          <a:xfrm>
            <a:off x="974027" y="2413979"/>
            <a:ext cx="10542104" cy="424070"/>
          </a:xfrm>
          <a:prstGeom prst="roundRect">
            <a:avLst/>
          </a:prstGeom>
          <a:solidFill>
            <a:schemeClr val="bg1">
              <a:lumMod val="75000"/>
              <a:alpha val="2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18809091231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是我的手机号，你记住了吗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?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我的另一个手机号是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18800001266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QQ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号是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1779989922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你记住了吗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?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835FC52-A138-83A8-A990-0350741CF9D1}"/>
              </a:ext>
            </a:extLst>
          </p:cNvPr>
          <p:cNvGrpSpPr/>
          <p:nvPr/>
        </p:nvGrpSpPr>
        <p:grpSpPr>
          <a:xfrm>
            <a:off x="974026" y="3111705"/>
            <a:ext cx="10542105" cy="3409897"/>
            <a:chOff x="2297718" y="3660322"/>
            <a:chExt cx="11615437" cy="360264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B1E8D07-23F9-D1E2-7422-9B6CBAC7CFA0}"/>
                </a:ext>
              </a:extLst>
            </p:cNvPr>
            <p:cNvSpPr/>
            <p:nvPr/>
          </p:nvSpPr>
          <p:spPr>
            <a:xfrm>
              <a:off x="2297727" y="3660323"/>
              <a:ext cx="11615428" cy="3602639"/>
            </a:xfrm>
            <a:prstGeom prst="roundRect">
              <a:avLst>
                <a:gd name="adj" fmla="val 136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 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我的手机号是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18809091231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你记住了吗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?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我的另一个手机号是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18800001266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，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QQ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号是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1779989922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你记住了吗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?"</a:t>
              </a:r>
              <a:b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result= re.match(</a:t>
              </a:r>
              <a:r>
                <a:rPr lang="en-US" altLang="zh-CN" sz="1100">
                  <a:solidFill>
                    <a:srgbClr val="7030A0"/>
                  </a:solidFill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"1[3-9]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\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d{9}"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s)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en-US" altLang="zh-CN" sz="1100">
                  <a:solidFill>
                    <a:srgbClr val="8C8C8C"/>
                  </a:solidFill>
                  <a:latin typeface="Fira Code" panose="020B0809050000020004" pitchFamily="49" charset="0"/>
                </a:rPr>
                <a:t>match - </a:t>
              </a:r>
              <a:r>
                <a:rPr lang="zh-CN" altLang="en-US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从字符串的开头开始</a:t>
              </a:r>
              <a:r>
                <a:rPr lang="zh-CN" altLang="en-US" sz="1100">
                  <a:solidFill>
                    <a:srgbClr val="8C8C8C"/>
                  </a:solidFill>
                </a:rPr>
                <a:t>匹配 （返回</a:t>
              </a:r>
              <a:r>
                <a:rPr lang="en-US" altLang="zh-CN" sz="1100">
                  <a:solidFill>
                    <a:srgbClr val="8C8C8C"/>
                  </a:solidFill>
                </a:rPr>
                <a:t>Match</a:t>
              </a:r>
              <a:r>
                <a:rPr lang="zh-CN" altLang="en-US" sz="1100">
                  <a:solidFill>
                    <a:srgbClr val="8C8C8C"/>
                  </a:solidFill>
                </a:rPr>
                <a:t>对象）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(result.group())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result= re.search(</a:t>
              </a:r>
              <a:r>
                <a:rPr lang="en-US" altLang="zh-CN" sz="1100">
                  <a:solidFill>
                    <a:srgbClr val="7030A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"1[3-9]\d{9}"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s) </a:t>
              </a:r>
              <a:r>
                <a:rPr lang="en-US" altLang="zh-CN" sz="1100">
                  <a:solidFill>
                    <a:srgbClr val="8C8C8C"/>
                  </a:solidFill>
                  <a:latin typeface="Fira Code" panose="020B0809050000020004" pitchFamily="49" charset="0"/>
                </a:rPr>
                <a:t># search - </a:t>
              </a:r>
              <a:r>
                <a:rPr lang="zh-CN" altLang="en-US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从任意位置开始</a:t>
              </a:r>
              <a:r>
                <a:rPr lang="en-US" altLang="zh-CN" sz="1100">
                  <a:solidFill>
                    <a:srgbClr val="8C8C8C"/>
                  </a:solidFill>
                  <a:latin typeface="Fira Code" panose="020B0809050000020004" pitchFamily="49" charset="0"/>
                </a:rPr>
                <a:t>, </a:t>
              </a:r>
              <a:r>
                <a:rPr lang="zh-CN" altLang="en-US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搜索第一个匹配项</a:t>
              </a:r>
              <a:r>
                <a:rPr lang="zh-CN" altLang="en-US" sz="1100">
                  <a:solidFill>
                    <a:srgbClr val="8C8C8C"/>
                  </a:solidFill>
                </a:rPr>
                <a:t>（返回</a:t>
              </a:r>
              <a:r>
                <a:rPr lang="en-US" altLang="zh-CN" sz="1100">
                  <a:solidFill>
                    <a:srgbClr val="8C8C8C"/>
                  </a:solidFill>
                </a:rPr>
                <a:t>Match</a:t>
              </a:r>
              <a:r>
                <a:rPr lang="zh-CN" altLang="en-US" sz="1100">
                  <a:solidFill>
                    <a:srgbClr val="8C8C8C"/>
                  </a:solidFill>
                </a:rPr>
                <a:t>对象）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(result.group())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result= re.findall(</a:t>
              </a:r>
              <a:r>
                <a:rPr lang="en-US" altLang="zh-CN" sz="1100">
                  <a:solidFill>
                    <a:srgbClr val="7030A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"1[3-9]\d{9}"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s) </a:t>
              </a:r>
              <a:r>
                <a:rPr lang="en-US" altLang="zh-CN" sz="1100">
                  <a:solidFill>
                    <a:srgbClr val="8C8C8C"/>
                  </a:solidFill>
                  <a:latin typeface="Fira Code" panose="020B0809050000020004" pitchFamily="49" charset="0"/>
                </a:rPr>
                <a:t># findall - </a:t>
              </a:r>
              <a:r>
                <a:rPr lang="zh-CN" altLang="en-US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从任意位置开始</a:t>
              </a:r>
              <a:r>
                <a:rPr lang="en-US" altLang="zh-CN" sz="1100">
                  <a:solidFill>
                    <a:srgbClr val="8C8C8C"/>
                  </a:solidFill>
                  <a:latin typeface="Fira Code" panose="020B0809050000020004" pitchFamily="49" charset="0"/>
                </a:rPr>
                <a:t>, </a:t>
              </a:r>
              <a:r>
                <a:rPr lang="zh-CN" altLang="en-US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搜索所有匹配项</a:t>
              </a:r>
              <a:r>
                <a:rPr lang="zh-CN" altLang="en-US" sz="1100">
                  <a:solidFill>
                    <a:srgbClr val="8C8C8C"/>
                  </a:solidFill>
                </a:rPr>
                <a:t>（返回</a:t>
              </a:r>
              <a:r>
                <a:rPr lang="en-US" altLang="zh-CN" sz="1100">
                  <a:solidFill>
                    <a:srgbClr val="8C8C8C"/>
                  </a:solidFill>
                </a:rPr>
                <a:t>Match</a:t>
              </a:r>
              <a:r>
                <a:rPr lang="zh-CN" altLang="en-US" sz="1100">
                  <a:solidFill>
                    <a:srgbClr val="8C8C8C"/>
                  </a:solidFill>
                </a:rPr>
                <a:t>对象</a:t>
              </a:r>
              <a:r>
                <a:rPr lang="en-US" altLang="zh-CN" sz="1100">
                  <a:solidFill>
                    <a:srgbClr val="8C8C8C"/>
                  </a:solidFill>
                </a:rPr>
                <a:t>list</a:t>
              </a:r>
              <a:r>
                <a:rPr lang="zh-CN" altLang="en-US" sz="1100">
                  <a:solidFill>
                    <a:srgbClr val="8C8C8C"/>
                  </a:solidFill>
                </a:rPr>
                <a:t>）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(result)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3E9623BA-F430-E831-90B1-B39ADEF8DFE5}"/>
                </a:ext>
              </a:extLst>
            </p:cNvPr>
            <p:cNvSpPr/>
            <p:nvPr/>
          </p:nvSpPr>
          <p:spPr>
            <a:xfrm>
              <a:off x="2297718" y="3660322"/>
              <a:ext cx="1161542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正则表达式操作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026CA97-9F5D-80AB-1C14-46A1BA462F7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E204A6D-DE09-9D42-ED89-5896376698F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906CC1C-B3FA-9995-B5A3-07CEECE48A1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3518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E90A-E104-AEAE-F52D-1DB521B1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1976381-2C16-98C5-EF2C-19595CED03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3857" y="1823798"/>
            <a:ext cx="8198143" cy="32294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什么是正则表达式，有什么用？</a:t>
            </a:r>
            <a:endParaRPr lang="en-US" altLang="zh-CN"/>
          </a:p>
          <a:p>
            <a:pPr marL="644400" lvl="0" indent="-2857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363C3B"/>
                </a:solidFill>
              </a:rPr>
              <a:t>定义的是字符串的组成规则，根据规则匹配或替换文本中符合这个规则的字符串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字符串前的</a:t>
            </a:r>
            <a:r>
              <a:rPr lang="en-US" altLang="zh-CN"/>
              <a:t>r</a:t>
            </a:r>
            <a:r>
              <a:rPr lang="zh-CN" altLang="en-US"/>
              <a:t>标识什么意思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r</a:t>
            </a:r>
            <a:r>
              <a:rPr lang="zh-CN" altLang="en-US" sz="1400"/>
              <a:t>表示当前这个字符串中的转义字符无效，作为普通字符串使用</a:t>
            </a:r>
            <a:endParaRPr lang="en-US" altLang="zh-CN" sz="20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re</a:t>
            </a:r>
            <a:r>
              <a:rPr lang="zh-CN" altLang="en-US"/>
              <a:t>模块提供的如下三个函数的作用与区别 </a:t>
            </a:r>
            <a:r>
              <a:rPr lang="en-US" altLang="zh-CN"/>
              <a:t>?</a:t>
            </a:r>
          </a:p>
          <a:p>
            <a:pPr marL="644400" indent="-2857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match("</a:t>
            </a:r>
            <a:r>
              <a:rPr lang="zh-CN" altLang="en-US" sz="1400"/>
              <a:t>正则表达式</a:t>
            </a:r>
            <a:r>
              <a:rPr lang="en-US" altLang="zh-CN" sz="1400"/>
              <a:t>", "</a:t>
            </a:r>
            <a:r>
              <a:rPr lang="zh-CN" altLang="en-US" sz="1400"/>
              <a:t>文本字符串</a:t>
            </a:r>
            <a:r>
              <a:rPr lang="en-US" altLang="zh-CN" sz="1400"/>
              <a:t>")</a:t>
            </a:r>
            <a:r>
              <a:rPr lang="zh-CN" altLang="en-US" sz="1400"/>
              <a:t>：从字符串的开头开始匹配</a:t>
            </a:r>
            <a:endParaRPr lang="en-US" altLang="zh-CN" sz="1400"/>
          </a:p>
          <a:p>
            <a:pPr marL="644400" indent="-2857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search("</a:t>
            </a:r>
            <a:r>
              <a:rPr lang="zh-CN" altLang="en-US" sz="1400"/>
              <a:t>正则表达式</a:t>
            </a:r>
            <a:r>
              <a:rPr lang="en-US" altLang="zh-CN" sz="1400"/>
              <a:t>", "</a:t>
            </a:r>
            <a:r>
              <a:rPr lang="zh-CN" altLang="en-US" sz="1400"/>
              <a:t>文本字符串</a:t>
            </a:r>
            <a:r>
              <a:rPr lang="en-US" altLang="zh-CN" sz="1400"/>
              <a:t>")</a:t>
            </a:r>
            <a:r>
              <a:rPr lang="zh-CN" altLang="en-US" sz="1400"/>
              <a:t>：从任意位置开始，搜索第一个匹配项</a:t>
            </a:r>
            <a:endParaRPr lang="en-US" altLang="zh-CN" sz="1400"/>
          </a:p>
          <a:p>
            <a:pPr marL="644400" indent="-2857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findall("</a:t>
            </a:r>
            <a:r>
              <a:rPr lang="zh-CN" altLang="en-US" sz="1400"/>
              <a:t>正则表达式</a:t>
            </a:r>
            <a:r>
              <a:rPr lang="en-US" altLang="zh-CN" sz="1400"/>
              <a:t>", "</a:t>
            </a:r>
            <a:r>
              <a:rPr lang="zh-CN" altLang="en-US" sz="1400"/>
              <a:t>文本字符串</a:t>
            </a:r>
            <a:r>
              <a:rPr lang="en-US" altLang="zh-CN" sz="1400"/>
              <a:t>")</a:t>
            </a:r>
            <a:r>
              <a:rPr lang="zh-CN" altLang="en-US" sz="1400"/>
              <a:t>：从任意位置开始，搜索所有匹配项</a:t>
            </a:r>
            <a:endParaRPr lang="en-US" altLang="zh-CN" sz="1400"/>
          </a:p>
        </p:txBody>
      </p:sp>
      <p:pic>
        <p:nvPicPr>
          <p:cNvPr id="5" name="图片 4" descr="背景图案&#10;&#10;AI 生成的内容可能不正确。">
            <a:extLst>
              <a:ext uri="{FF2B5EF4-FFF2-40B4-BE49-F238E27FC236}">
                <a16:creationId xmlns:a16="http://schemas.microsoft.com/office/drawing/2014/main" id="{02B5BF9F-C0B3-2237-B7AE-915DBA6D3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171" y="4060568"/>
            <a:ext cx="2635385" cy="355618"/>
          </a:xfrm>
          <a:prstGeom prst="rect">
            <a:avLst/>
          </a:prstGeom>
        </p:spPr>
      </p:pic>
      <p:pic>
        <p:nvPicPr>
          <p:cNvPr id="6" name="图片 5" descr="背景图案&#10;&#10;AI 生成的内容可能不正确。">
            <a:extLst>
              <a:ext uri="{FF2B5EF4-FFF2-40B4-BE49-F238E27FC236}">
                <a16:creationId xmlns:a16="http://schemas.microsoft.com/office/drawing/2014/main" id="{A937B8B1-F549-A89E-0CDB-EEB4D2B87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290" y="4475657"/>
            <a:ext cx="3235649" cy="355618"/>
          </a:xfrm>
          <a:prstGeom prst="rect">
            <a:avLst/>
          </a:prstGeom>
        </p:spPr>
      </p:pic>
      <p:pic>
        <p:nvPicPr>
          <p:cNvPr id="7" name="图片 6" descr="背景图案&#10;&#10;AI 生成的内容可能不正确。">
            <a:extLst>
              <a:ext uri="{FF2B5EF4-FFF2-40B4-BE49-F238E27FC236}">
                <a16:creationId xmlns:a16="http://schemas.microsoft.com/office/drawing/2014/main" id="{DCC974B5-2439-260E-E074-1A6D9B4BE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803" y="4890747"/>
            <a:ext cx="3235649" cy="35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83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89E8-316D-2A87-B3E3-FB270134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82A00-A008-6240-7319-5F87F863E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2"/>
            <a:ext cx="9449074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正则表达式的写法多种多样，具体的语法如下：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86E8C5-423C-2D56-2820-5B9882AD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正则表达式</a:t>
            </a:r>
            <a:r>
              <a:rPr lang="en-US" altLang="zh-CN"/>
              <a:t>-</a:t>
            </a:r>
            <a:r>
              <a:rPr lang="zh-CN" altLang="en-US"/>
              <a:t>语法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D0230D2-0AD1-7C69-7F32-D4F38C7FC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96207"/>
              </p:ext>
            </p:extLst>
          </p:nvPr>
        </p:nvGraphicFramePr>
        <p:xfrm>
          <a:off x="978452" y="1430658"/>
          <a:ext cx="4766366" cy="359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067">
                  <a:extLst>
                    <a:ext uri="{9D8B030D-6E8A-4147-A177-3AD203B41FA5}">
                      <a16:colId xmlns:a16="http://schemas.microsoft.com/office/drawing/2014/main" val="1830796156"/>
                    </a:ext>
                  </a:extLst>
                </a:gridCol>
                <a:gridCol w="3619299">
                  <a:extLst>
                    <a:ext uri="{9D8B030D-6E8A-4147-A177-3AD203B41FA5}">
                      <a16:colId xmlns:a16="http://schemas.microsoft.com/office/drawing/2014/main" val="3109578370"/>
                    </a:ext>
                  </a:extLst>
                </a:gridCol>
              </a:tblGrid>
              <a:tr h="43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表达式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641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普通字符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字母、数字、汉字及大多数字符，直接匹配自身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747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.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匹配任意一个字符</a:t>
                      </a:r>
                      <a:r>
                        <a:rPr lang="en-US" altLang="zh-CN" sz="1200"/>
                        <a:t>(</a:t>
                      </a:r>
                      <a:r>
                        <a:rPr lang="zh-CN" altLang="en-US" sz="1200"/>
                        <a:t>除</a:t>
                      </a:r>
                      <a:r>
                        <a:rPr lang="en-US" altLang="zh-CN" sz="1200"/>
                        <a:t>\n)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2089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\d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匹配数字 </a:t>
                      </a:r>
                      <a:r>
                        <a:rPr lang="en-US" altLang="zh-CN" sz="1200"/>
                        <a:t>0-9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841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\D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匹配非数字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5333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\w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匹配单词字符，即</a:t>
                      </a:r>
                      <a:r>
                        <a:rPr lang="en-US" altLang="zh-CN" sz="1200"/>
                        <a:t>a-z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A-Z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0-9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_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064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\W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匹配非单词字符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0365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\s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匹配空白字符，即 空格、</a:t>
                      </a:r>
                      <a:r>
                        <a:rPr lang="en-US" altLang="zh-CN" sz="1200"/>
                        <a:t>\t</a:t>
                      </a:r>
                      <a:endParaRPr lang="zh-CN" altLang="en-US" sz="12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8004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匹配非空白字符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300520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4AD9AB-ED3A-9C63-9748-BD2EBD7E532D}"/>
              </a:ext>
            </a:extLst>
          </p:cNvPr>
          <p:cNvSpPr/>
          <p:nvPr/>
        </p:nvSpPr>
        <p:spPr>
          <a:xfrm>
            <a:off x="8746434" y="466084"/>
            <a:ext cx="1570382" cy="42407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1[3-9]\d{9}</a:t>
            </a:r>
            <a:endParaRPr lang="zh-CN" altLang="en-US" sz="160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BC9750A-12EE-D080-9DDC-B3EFA8703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842833"/>
              </p:ext>
            </p:extLst>
          </p:nvPr>
        </p:nvGraphicFramePr>
        <p:xfrm>
          <a:off x="5943601" y="1430658"/>
          <a:ext cx="4081670" cy="4391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434">
                  <a:extLst>
                    <a:ext uri="{9D8B030D-6E8A-4147-A177-3AD203B41FA5}">
                      <a16:colId xmlns:a16="http://schemas.microsoft.com/office/drawing/2014/main" val="1830796156"/>
                    </a:ext>
                  </a:extLst>
                </a:gridCol>
                <a:gridCol w="2955236">
                  <a:extLst>
                    <a:ext uri="{9D8B030D-6E8A-4147-A177-3AD203B41FA5}">
                      <a16:colId xmlns:a16="http://schemas.microsoft.com/office/drawing/2014/main" val="3109578370"/>
                    </a:ext>
                  </a:extLst>
                </a:gridCol>
              </a:tblGrid>
              <a:tr h="43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表达式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641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*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出现任意次（</a:t>
                      </a:r>
                      <a:r>
                        <a:rPr lang="en-US" altLang="zh-CN" sz="1200" b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0</a:t>
                      </a:r>
                      <a:r>
                        <a:rPr lang="zh-CN" altLang="en-US" sz="1200" b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次或无数次）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747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+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至少出现</a:t>
                      </a:r>
                      <a:r>
                        <a:rPr lang="en-US" altLang="zh-CN" sz="1200"/>
                        <a:t>1</a:t>
                      </a:r>
                      <a:r>
                        <a:rPr lang="zh-CN" altLang="en-US" sz="1200"/>
                        <a:t>次（</a:t>
                      </a:r>
                      <a:r>
                        <a:rPr lang="en-US" altLang="zh-CN" sz="1200"/>
                        <a:t>1</a:t>
                      </a:r>
                      <a:r>
                        <a:rPr lang="zh-CN" altLang="en-US" sz="1200"/>
                        <a:t>次或无数次）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2089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？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至多出现一次（</a:t>
                      </a:r>
                      <a:r>
                        <a:rPr lang="en-US" altLang="zh-CN" sz="1200"/>
                        <a:t>0</a:t>
                      </a:r>
                      <a:r>
                        <a:rPr lang="zh-CN" altLang="en-US" sz="1200"/>
                        <a:t>次或</a:t>
                      </a:r>
                      <a:r>
                        <a:rPr lang="en-US" altLang="zh-CN" sz="1200"/>
                        <a:t>1</a:t>
                      </a:r>
                      <a:r>
                        <a:rPr lang="zh-CN" altLang="en-US" sz="1200"/>
                        <a:t>洗）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841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{m}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出现</a:t>
                      </a:r>
                      <a:r>
                        <a:rPr lang="en-US" altLang="zh-CN" sz="1200"/>
                        <a:t>m</a:t>
                      </a:r>
                      <a:r>
                        <a:rPr lang="zh-CN" altLang="en-US" sz="1200"/>
                        <a:t>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5333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{m,}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至少出现</a:t>
                      </a:r>
                      <a:r>
                        <a:rPr lang="en-US" altLang="zh-CN" sz="1200"/>
                        <a:t>m</a:t>
                      </a:r>
                      <a:r>
                        <a:rPr lang="zh-CN" altLang="en-US" sz="1200"/>
                        <a:t>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064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{m,n}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出现</a:t>
                      </a:r>
                      <a:r>
                        <a:rPr lang="en-US" altLang="zh-CN" sz="1200"/>
                        <a:t>m</a:t>
                      </a:r>
                      <a:r>
                        <a:rPr lang="zh-CN" altLang="en-US" sz="1200"/>
                        <a:t>到</a:t>
                      </a:r>
                      <a:r>
                        <a:rPr lang="en-US" altLang="zh-CN" sz="1200"/>
                        <a:t>n</a:t>
                      </a:r>
                      <a:r>
                        <a:rPr lang="zh-CN" altLang="en-US" sz="1200"/>
                        <a:t>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0365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|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或的意思，匹配左右任意一个表达式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8004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()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将括号中的字符作为一个分组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30052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^</a:t>
                      </a:r>
                      <a:endParaRPr lang="zh-CN" altLang="en-US" sz="1200"/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匹配字符串开头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6835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$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匹配字符串结尾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72315"/>
                  </a:ext>
                </a:extLst>
              </a:tr>
            </a:tbl>
          </a:graphicData>
        </a:graphic>
      </p:graphicFrame>
      <p:sp>
        <p:nvSpPr>
          <p:cNvPr id="9" name="矩形: 圆角 8">
            <a:extLst>
              <a:ext uri="{FF2B5EF4-FFF2-40B4-BE49-F238E27FC236}">
                <a16:creationId xmlns:a16="http://schemas.microsoft.com/office/drawing/2014/main" id="{A0931620-FC55-34B9-7BC1-7BA31441CFE9}"/>
              </a:ext>
            </a:extLst>
          </p:cNvPr>
          <p:cNvSpPr/>
          <p:nvPr/>
        </p:nvSpPr>
        <p:spPr>
          <a:xfrm>
            <a:off x="10066296" y="1876746"/>
            <a:ext cx="1570382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1[3-9]\d*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6523569-B31F-FD55-324D-3E35F2282E7A}"/>
              </a:ext>
            </a:extLst>
          </p:cNvPr>
          <p:cNvSpPr/>
          <p:nvPr/>
        </p:nvSpPr>
        <p:spPr>
          <a:xfrm>
            <a:off x="10066296" y="2340074"/>
            <a:ext cx="1570382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1[3-9]\d+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893D2E6-4831-6E37-AA7E-A3AF423FF715}"/>
              </a:ext>
            </a:extLst>
          </p:cNvPr>
          <p:cNvSpPr/>
          <p:nvPr/>
        </p:nvSpPr>
        <p:spPr>
          <a:xfrm>
            <a:off x="10066296" y="2803402"/>
            <a:ext cx="1570382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1[3-9]\d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214C20-23C3-4CEE-3892-69C08A823935}"/>
              </a:ext>
            </a:extLst>
          </p:cNvPr>
          <p:cNvSpPr/>
          <p:nvPr/>
        </p:nvSpPr>
        <p:spPr>
          <a:xfrm>
            <a:off x="10066296" y="3266730"/>
            <a:ext cx="1570382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1[3-9]\d{9}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F81821F-E64E-65C0-7028-EF038789FC41}"/>
              </a:ext>
            </a:extLst>
          </p:cNvPr>
          <p:cNvSpPr/>
          <p:nvPr/>
        </p:nvSpPr>
        <p:spPr>
          <a:xfrm>
            <a:off x="10066296" y="3730058"/>
            <a:ext cx="1570382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1[3-9]\d{9,}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8310374-7924-B060-8E57-5F06EDA39031}"/>
              </a:ext>
            </a:extLst>
          </p:cNvPr>
          <p:cNvSpPr/>
          <p:nvPr/>
        </p:nvSpPr>
        <p:spPr>
          <a:xfrm>
            <a:off x="10066296" y="5445807"/>
            <a:ext cx="1570382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^1[3-9]\d{9}$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8F4273-9C9E-34C1-0382-09332A05E484}"/>
              </a:ext>
            </a:extLst>
          </p:cNvPr>
          <p:cNvSpPr/>
          <p:nvPr/>
        </p:nvSpPr>
        <p:spPr>
          <a:xfrm>
            <a:off x="10066296" y="4193386"/>
            <a:ext cx="1996662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^1(3|5|7|8|9)\d{9}$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6EB0104-F3D7-2461-E36B-104C81374689}"/>
              </a:ext>
            </a:extLst>
          </p:cNvPr>
          <p:cNvSpPr/>
          <p:nvPr/>
        </p:nvSpPr>
        <p:spPr>
          <a:xfrm>
            <a:off x="10072288" y="4656712"/>
            <a:ext cx="575834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ab+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5B07A27-44F3-ACFE-BBC3-7A00D4F9DE15}"/>
              </a:ext>
            </a:extLst>
          </p:cNvPr>
          <p:cNvSpPr/>
          <p:nvPr/>
        </p:nvSpPr>
        <p:spPr>
          <a:xfrm>
            <a:off x="10754139" y="4646535"/>
            <a:ext cx="882539" cy="35624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(ab)+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3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CCCF2-1B9F-38CE-4964-07CBCB5A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0EDAA55-69B4-54DE-6289-DFB2111DDF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46036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请说出如下正则表达式写法的含义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.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\d </a:t>
            </a:r>
            <a:r>
              <a:rPr lang="zh-CN" altLang="en-US" sz="1600">
                <a:solidFill>
                  <a:srgbClr val="363C3B"/>
                </a:solidFill>
              </a:rPr>
              <a:t>与 </a:t>
            </a:r>
            <a:r>
              <a:rPr lang="en-US" altLang="zh-CN" sz="1600">
                <a:solidFill>
                  <a:srgbClr val="363C3B"/>
                </a:solidFill>
              </a:rPr>
              <a:t>\D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\w </a:t>
            </a:r>
            <a:r>
              <a:rPr lang="zh-CN" altLang="en-US" sz="1600">
                <a:solidFill>
                  <a:srgbClr val="363C3B"/>
                </a:solidFill>
              </a:rPr>
              <a:t>与 </a:t>
            </a:r>
            <a:r>
              <a:rPr lang="en-US" altLang="zh-CN" sz="1600">
                <a:solidFill>
                  <a:srgbClr val="363C3B"/>
                </a:solidFill>
              </a:rPr>
              <a:t>\W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\s </a:t>
            </a:r>
            <a:r>
              <a:rPr lang="zh-CN" altLang="en-US" sz="1600">
                <a:solidFill>
                  <a:srgbClr val="363C3B"/>
                </a:solidFill>
              </a:rPr>
              <a:t>与 </a:t>
            </a:r>
            <a:r>
              <a:rPr lang="en-US" altLang="zh-CN" sz="1600">
                <a:solidFill>
                  <a:srgbClr val="363C3B"/>
                </a:solidFill>
              </a:rPr>
              <a:t>\S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* + ?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{m} </a:t>
            </a:r>
            <a:r>
              <a:rPr lang="zh-CN" altLang="en-US" sz="1600">
                <a:solidFill>
                  <a:srgbClr val="363C3B"/>
                </a:solidFill>
              </a:rPr>
              <a:t>与 </a:t>
            </a:r>
            <a:r>
              <a:rPr lang="en-US" altLang="zh-CN" sz="1600">
                <a:solidFill>
                  <a:srgbClr val="363C3B"/>
                </a:solidFill>
              </a:rPr>
              <a:t>{m,} </a:t>
            </a:r>
            <a:r>
              <a:rPr lang="zh-CN" altLang="en-US" sz="1600">
                <a:solidFill>
                  <a:srgbClr val="363C3B"/>
                </a:solidFill>
              </a:rPr>
              <a:t>与 </a:t>
            </a:r>
            <a:r>
              <a:rPr lang="en-US" altLang="zh-CN" sz="1600">
                <a:solidFill>
                  <a:srgbClr val="363C3B"/>
                </a:solidFill>
              </a:rPr>
              <a:t>{m,n}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| </a:t>
            </a:r>
            <a:r>
              <a:rPr lang="zh-CN" altLang="en-US" sz="1600">
                <a:solidFill>
                  <a:srgbClr val="363C3B"/>
                </a:solidFill>
              </a:rPr>
              <a:t>与 </a:t>
            </a:r>
            <a:r>
              <a:rPr lang="en-US" altLang="zh-CN" sz="1600">
                <a:solidFill>
                  <a:srgbClr val="363C3B"/>
                </a:solidFill>
              </a:rPr>
              <a:t>()</a:t>
            </a:r>
          </a:p>
          <a:p>
            <a:pPr marL="61200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solidFill>
                  <a:srgbClr val="363C3B"/>
                </a:solidFill>
              </a:rPr>
              <a:t>^ </a:t>
            </a:r>
            <a:r>
              <a:rPr lang="zh-CN" altLang="en-US" sz="1600">
                <a:solidFill>
                  <a:srgbClr val="363C3B"/>
                </a:solidFill>
              </a:rPr>
              <a:t>与 </a:t>
            </a:r>
            <a:r>
              <a:rPr lang="en-US" altLang="zh-CN" sz="1600">
                <a:solidFill>
                  <a:srgbClr val="363C3B"/>
                </a:solidFill>
              </a:rPr>
              <a:t>$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343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38233</TotalTime>
  <Words>3253</Words>
  <Application>Microsoft Office PowerPoint</Application>
  <PresentationFormat>宽屏</PresentationFormat>
  <Paragraphs>330</Paragraphs>
  <Slides>40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60" baseType="lpstr">
      <vt:lpstr>Alibaba PuHuiTi B</vt:lpstr>
      <vt:lpstr>Menlo</vt:lpstr>
      <vt:lpstr>阿里巴巴普惠体</vt:lpstr>
      <vt:lpstr>阿里巴巴普惠体 Heavy</vt:lpstr>
      <vt:lpstr>阿里巴巴普惠体 Medium</vt:lpstr>
      <vt:lpstr>等线</vt:lpstr>
      <vt:lpstr>荆南波波黑</vt:lpstr>
      <vt:lpstr>楷体</vt:lpstr>
      <vt:lpstr>微软雅黑</vt:lpstr>
      <vt:lpstr>Arial</vt:lpstr>
      <vt:lpstr>Calisto MT</vt:lpstr>
      <vt:lpstr>Consolas</vt:lpstr>
      <vt:lpstr>Courier New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小结思考模板2</vt:lpstr>
      <vt:lpstr>Python项目实战</vt:lpstr>
      <vt:lpstr>爬虫</vt:lpstr>
      <vt:lpstr>PowerPoint 演示文稿</vt:lpstr>
      <vt:lpstr>PowerPoint 演示文稿</vt:lpstr>
      <vt:lpstr>网络机器人-概述</vt:lpstr>
      <vt:lpstr>网络机器人-概述</vt:lpstr>
      <vt:lpstr>网络机器人-合规性(robots协议)</vt:lpstr>
      <vt:lpstr>PowerPoint 演示文稿</vt:lpstr>
      <vt:lpstr>PowerPoint 演示文稿</vt:lpstr>
      <vt:lpstr>获取TIOBE编程语言排行榜单</vt:lpstr>
      <vt:lpstr>获取TIOBE编程语言排行榜单</vt:lpstr>
      <vt:lpstr>PowerPoint 演示文稿</vt:lpstr>
      <vt:lpstr>PowerPoint 演示文稿</vt:lpstr>
      <vt:lpstr>初识网页</vt:lpstr>
      <vt:lpstr>前端网页结构</vt:lpstr>
      <vt:lpstr>前端网页结构</vt:lpstr>
      <vt:lpstr>PowerPoint 演示文稿</vt:lpstr>
      <vt:lpstr>前端网页结构-HTML</vt:lpstr>
      <vt:lpstr>PowerPoint 演示文稿</vt:lpstr>
      <vt:lpstr>PowerPoint 演示文稿</vt:lpstr>
      <vt:lpstr>PowerPoint 演示文稿</vt:lpstr>
      <vt:lpstr>网页解析</vt:lpstr>
      <vt:lpstr>网页解析-入门</vt:lpstr>
      <vt:lpstr>PowerPoint 演示文稿</vt:lpstr>
      <vt:lpstr>Xpath语法</vt:lpstr>
      <vt:lpstr>PowerPoint 演示文稿</vt:lpstr>
      <vt:lpstr>PowerPoint 演示文稿</vt:lpstr>
      <vt:lpstr>PowerPoint 演示文稿</vt:lpstr>
      <vt:lpstr>获取高分电影榜单(Top100)数据，并保存在CSV文件中</vt:lpstr>
      <vt:lpstr>PowerPoint 演示文稿</vt:lpstr>
      <vt:lpstr>CSV</vt:lpstr>
      <vt:lpstr>PowerPoint 演示文稿</vt:lpstr>
      <vt:lpstr>获取高分电影榜单(Top100)数据，并保存在CSV文件中</vt:lpstr>
      <vt:lpstr>获取高分电影榜单(Top100)数据，并保存在CSV文件中</vt:lpstr>
      <vt:lpstr>PowerPoint 演示文稿</vt:lpstr>
      <vt:lpstr>正则表达式</vt:lpstr>
      <vt:lpstr>PowerPoint 演示文稿</vt:lpstr>
      <vt:lpstr>正则表达式-语法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2728</cp:revision>
  <cp:lastPrinted>2022-05-29T16:00:00Z</cp:lastPrinted>
  <dcterms:created xsi:type="dcterms:W3CDTF">2022-05-29T16:00:00Z</dcterms:created>
  <dcterms:modified xsi:type="dcterms:W3CDTF">2026-02-02T08:23:15Z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