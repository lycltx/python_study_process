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74"/>
  </p:notesMasterIdLst>
  <p:handoutMasterIdLst>
    <p:handoutMasterId r:id="rId75"/>
  </p:handoutMasterIdLst>
  <p:sldIdLst>
    <p:sldId id="686" r:id="rId5"/>
    <p:sldId id="341" r:id="rId6"/>
    <p:sldId id="280" r:id="rId7"/>
    <p:sldId id="614" r:id="rId8"/>
    <p:sldId id="632" r:id="rId9"/>
    <p:sldId id="615" r:id="rId10"/>
    <p:sldId id="616" r:id="rId11"/>
    <p:sldId id="651" r:id="rId12"/>
    <p:sldId id="636" r:id="rId13"/>
    <p:sldId id="620" r:id="rId14"/>
    <p:sldId id="619" r:id="rId15"/>
    <p:sldId id="638" r:id="rId16"/>
    <p:sldId id="655" r:id="rId17"/>
    <p:sldId id="621" r:id="rId18"/>
    <p:sldId id="656" r:id="rId19"/>
    <p:sldId id="657" r:id="rId20"/>
    <p:sldId id="687" r:id="rId21"/>
    <p:sldId id="688" r:id="rId22"/>
    <p:sldId id="637" r:id="rId23"/>
    <p:sldId id="640" r:id="rId24"/>
    <p:sldId id="641" r:id="rId25"/>
    <p:sldId id="642" r:id="rId26"/>
    <p:sldId id="643" r:id="rId27"/>
    <p:sldId id="658" r:id="rId28"/>
    <p:sldId id="617" r:id="rId29"/>
    <p:sldId id="618" r:id="rId30"/>
    <p:sldId id="653" r:id="rId31"/>
    <p:sldId id="654" r:id="rId32"/>
    <p:sldId id="633" r:id="rId33"/>
    <p:sldId id="634" r:id="rId34"/>
    <p:sldId id="622" r:id="rId35"/>
    <p:sldId id="659" r:id="rId36"/>
    <p:sldId id="644" r:id="rId37"/>
    <p:sldId id="645" r:id="rId38"/>
    <p:sldId id="646" r:id="rId39"/>
    <p:sldId id="660" r:id="rId40"/>
    <p:sldId id="662" r:id="rId41"/>
    <p:sldId id="661" r:id="rId42"/>
    <p:sldId id="648" r:id="rId43"/>
    <p:sldId id="649" r:id="rId44"/>
    <p:sldId id="663" r:id="rId45"/>
    <p:sldId id="624" r:id="rId46"/>
    <p:sldId id="625" r:id="rId47"/>
    <p:sldId id="689" r:id="rId48"/>
    <p:sldId id="650" r:id="rId49"/>
    <p:sldId id="664" r:id="rId50"/>
    <p:sldId id="626" r:id="rId51"/>
    <p:sldId id="627" r:id="rId52"/>
    <p:sldId id="628" r:id="rId53"/>
    <p:sldId id="629" r:id="rId54"/>
    <p:sldId id="630" r:id="rId55"/>
    <p:sldId id="671" r:id="rId56"/>
    <p:sldId id="631" r:id="rId57"/>
    <p:sldId id="665" r:id="rId58"/>
    <p:sldId id="682" r:id="rId59"/>
    <p:sldId id="666" r:id="rId60"/>
    <p:sldId id="667" r:id="rId61"/>
    <p:sldId id="668" r:id="rId62"/>
    <p:sldId id="669" r:id="rId63"/>
    <p:sldId id="670" r:id="rId64"/>
    <p:sldId id="683" r:id="rId65"/>
    <p:sldId id="672" r:id="rId66"/>
    <p:sldId id="673" r:id="rId67"/>
    <p:sldId id="684" r:id="rId68"/>
    <p:sldId id="674" r:id="rId69"/>
    <p:sldId id="685" r:id="rId70"/>
    <p:sldId id="675" r:id="rId71"/>
    <p:sldId id="676" r:id="rId72"/>
    <p:sldId id="288" r:id="rId73"/>
  </p:sldIdLst>
  <p:sldSz cx="12192000" cy="6858000"/>
  <p:notesSz cx="6858000" cy="9144000"/>
  <p:custDataLst>
    <p:tags r:id="rId7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D2C"/>
    <a:srgbClr val="00B050"/>
    <a:srgbClr val="00B0F0"/>
    <a:srgbClr val="0033B3"/>
    <a:srgbClr val="1B1E1D"/>
    <a:srgbClr val="8C8C8C"/>
    <a:srgbClr val="067D17"/>
    <a:srgbClr val="FFFFFF"/>
    <a:srgbClr val="7F7F7F"/>
    <a:srgbClr val="FFF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8" autoAdjust="0"/>
    <p:restoredTop sz="91564" autoAdjust="0"/>
  </p:normalViewPr>
  <p:slideViewPr>
    <p:cSldViewPr snapToGrid="0" showGuides="1">
      <p:cViewPr varScale="1">
        <p:scale>
          <a:sx n="96" d="100"/>
          <a:sy n="96" d="100"/>
        </p:scale>
        <p:origin x="8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32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gs" Target="tags/tag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04610-8F19-5419-0115-B2A15A011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D5C7DC-88F4-909B-B9F0-9FCCFC5E7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677BAA-ED23-295C-7EAF-AE9EC7E24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合并列表方式：</a:t>
            </a:r>
            <a:r>
              <a:rPr lang="en-US" altLang="zh-CN"/>
              <a:t>+</a:t>
            </a:r>
            <a:r>
              <a:rPr lang="zh-CN" altLang="en-US"/>
              <a:t>，解包 </a:t>
            </a:r>
            <a:r>
              <a:rPr lang="en-US" altLang="zh-CN"/>
              <a:t>*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AD2532-09F6-7BFC-AD90-2C1D2B29C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534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合并列表方式：</a:t>
            </a:r>
            <a:r>
              <a:rPr lang="en-US" altLang="zh-CN"/>
              <a:t>+</a:t>
            </a:r>
            <a:r>
              <a:rPr lang="zh-CN" altLang="en-US"/>
              <a:t>，解包 </a:t>
            </a:r>
            <a:r>
              <a:rPr lang="en-US" altLang="zh-CN"/>
              <a:t>*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495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案例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购物车系统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 = {"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华为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Meta70" : {"price" : 6999.0, "count" : 1}, "Apple iPhone 13 Pro" : {"price" : 9999.0, "count" : 1}}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menu = """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# # # # # # # # # # # # # # # # # # # # # # # # # 【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菜单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# # # # # # # # # # # # # # # # 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 1.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添加购物车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修改购物车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删除购物车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查询购物车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统计购物车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退出购物车系统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# # # # # # # # # # # # # # # # # # # # # # # # # # # # # # # # # # # # # # # # # # # # # #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= {}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True: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print(menu)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choice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请选择要执行操作的菜单项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(1-6)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choice == "1":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name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请输入商品名称：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price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请输入商品价格：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count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请输入商品数量：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s[name] = {"price" : float(price), "count" : int(count)}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添加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【{name}】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"2":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name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请输入商品名称：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name not in s: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商品不存在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continue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price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请输入商品价格：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count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请输入商品数量：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s[name] = {"price" : float(price), "count" : int(count)}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【{name}】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"3":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name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请输入商品名称：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name not in s: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商品不存在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continue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del s[name]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删除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【{name}】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"4":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商品名称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xxxx,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商品价格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xxxx,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商品数量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xxxx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k in s.keys():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商品名称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{k}: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商品价格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{s[k]['price']},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商品数量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{s[k]['count']}")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"5":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统计购物车中所有商品的总数量、总价格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total_count = 0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total_price = 0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for i in s: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total_count += s[i]["count"]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total_price += s[i]["price"] * s[i]["count"]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购物车中商品的总数量为：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{total_count}")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购物车中商品的总价格为：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{total_price}")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获取购物车中商品名称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 = [i for i in s.keys()]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购物车中所有商品名称：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{names}")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"6":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退出购物车系统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Bye ~")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break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else: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输入错误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请输入正确的菜单编号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926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教务管理系统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制作菜单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添加学生信息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修改学生信息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删除学生信息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查询学生信息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列出所有学生信息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查询班级学生信息统计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退出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menu = """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# # # # # # # # # # # # # # # # # # # # # # # # # 【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菜单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# # # # # # # # # # # # # # # # # # # # # # # # # # #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 1.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添加学生信息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修改学生信息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删除学生信息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查询学生信息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列出所有学生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统计班级成绩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退出系统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# # # # # # # # # # # # # # # # # # # # # # # # # # # # # # # # # # # # # # # # # # # # # # # # # # # # # # # # #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记录所有学员成绩信息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= []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True: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print(menu)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choice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请选择要执行的操作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(1-7)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choice == "1":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添加学生信息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请输入学生姓名：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chinese_score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请输入语文成绩：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math_score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请输入数学成绩：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english_score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请输入英语成绩：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students.append({"name": name, "chinese_score": float(chinese_score), "math_score": float(math_score), "english_score": float(english_score)})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添加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【{name}】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"2":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修改学生信息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请输入学生姓名：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name not in [i["name"] for i in students]: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学生不存在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continue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for i in students: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if i["name"] == name: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i["chinese_score"] = float(input("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请输入语文成绩：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i["math_score"] = float(input("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请输入数学成绩：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i["english_score"] = float(input("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请输入英语成绩：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【{name}】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"3":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删除学生信息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请输入学生姓名：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name not in [i["name"] for i in students]: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学生不存在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continue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for i in students: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if i["name"] == name: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students.remove(i)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删除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【{name}】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"4":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查询学生信息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 = input("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请输入学生姓名：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name not in [i["name"] for i in students]: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学生不存在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continue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for i in students: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if i["name"] == name: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print(i)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"5":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列出所有学生信息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 in students: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print(i)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"6":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统计班级学生成绩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计算班级中所有学员的各科的平均分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chinese_score_list = [s["chinese_score"] for s in students]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math_score_list = [s["math_score"] for s in students]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english_score_list = [s["english_score"] for s in students]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班级语文平均分：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{sum(chinese_score_list) / len(chinese_score_list)}")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班级数学平均分：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{sum(math_score_list) / len(math_score_list)}")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班级英语平均分：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{sum(english_score_list) / len(english_score_list)}")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找出班级中各个科目成绩最高、最低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班级语文最高分：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{max(chinese_score_list)},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最低分：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{min(chinese_score_list)}")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班级数学最高分：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{max(math_score_list)},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最低分：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{min(math_score_list)}")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班级英语最高分：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{max(english_score_list)},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最低分：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{min(english_score_list)}")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找出班级中各科目最高分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最低分的学生姓名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chinese_score_max_name = [s["name"] for s in students if s["chinese_score"] == max(chinese_score_list)]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chinese_score_min_name = [s["name"] for s in students if s["chinese_score"] == min(chinese_score_list)]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math_score_max_name = [s["name"] for s in students if s["math_score"] == max(math_score_list)]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math_score_min_name = [s["name"] for s in students if s["math_score"] == min(math_score_list)]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english_score_max_name = [s["name"] for s in students if s["english_score"] == max(english_score_list)]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english_score_min_name = [s["name"] for s in students if s["english_score"] == min(english_score_list)]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班级语文最高分：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{chinese_score_max_name},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最低分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{chinese_score_min_name}")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班级数学最高分：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{math_score_max_name},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最低分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{math_score_min_name}")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班级英语最高分：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{english_score_max_name},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最低分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{english_score_min_name}")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choice == "7":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退出系统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Bye ~")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break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else: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print("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输入错误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987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319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E8CD7-7660-1A36-F5AC-DF5453DB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ource Code Pro Black"/>
                <a:ea typeface="阿里巴巴普惠体 Heavy"/>
                <a:cs typeface="+mj-cs"/>
              </a:rPr>
              <a:t>Python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ource Code Pro Black"/>
                <a:ea typeface="阿里巴巴普惠体 Heavy"/>
                <a:cs typeface="+mj-cs"/>
              </a:rPr>
              <a:t>核心语法</a:t>
            </a:r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F5794D4-FA2F-5D70-8C82-C77264384343}"/>
              </a:ext>
            </a:extLst>
          </p:cNvPr>
          <p:cNvSpPr/>
          <p:nvPr/>
        </p:nvSpPr>
        <p:spPr>
          <a:xfrm>
            <a:off x="50888" y="2103257"/>
            <a:ext cx="12192000" cy="1390935"/>
          </a:xfrm>
          <a:custGeom>
            <a:avLst/>
            <a:gdLst>
              <a:gd name="connsiteX0" fmla="*/ 3269730 w 6539459"/>
              <a:gd name="connsiteY0" fmla="*/ 2024556 h 2024556"/>
              <a:gd name="connsiteX1" fmla="*/ 6473799 w 6539459"/>
              <a:gd name="connsiteY1" fmla="*/ 130650 h 2024556"/>
              <a:gd name="connsiteX2" fmla="*/ 6539459 w 6539459"/>
              <a:gd name="connsiteY2" fmla="*/ 0 h 2024556"/>
              <a:gd name="connsiteX3" fmla="*/ 0 w 6539459"/>
              <a:gd name="connsiteY3" fmla="*/ 0 h 2024556"/>
              <a:gd name="connsiteX4" fmla="*/ 65661 w 6539459"/>
              <a:gd name="connsiteY4" fmla="*/ 130650 h 2024556"/>
              <a:gd name="connsiteX5" fmla="*/ 3269730 w 6539459"/>
              <a:gd name="connsiteY5" fmla="*/ 2024556 h 2024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9459" h="2024556">
                <a:moveTo>
                  <a:pt x="3269730" y="2024556"/>
                </a:moveTo>
                <a:cubicBezTo>
                  <a:pt x="4649984" y="2024556"/>
                  <a:pt x="5851589" y="1259672"/>
                  <a:pt x="6473799" y="130650"/>
                </a:cubicBezTo>
                <a:lnTo>
                  <a:pt x="6539459" y="0"/>
                </a:lnTo>
                <a:lnTo>
                  <a:pt x="0" y="0"/>
                </a:lnTo>
                <a:lnTo>
                  <a:pt x="65661" y="130650"/>
                </a:lnTo>
                <a:cubicBezTo>
                  <a:pt x="687871" y="1259672"/>
                  <a:pt x="1889476" y="2024556"/>
                  <a:pt x="3269730" y="2024556"/>
                </a:cubicBezTo>
                <a:close/>
              </a:path>
            </a:pathLst>
          </a:custGeom>
          <a:noFill/>
          <a:ln w="6350" cap="flat" cmpd="sng" algn="ctr">
            <a:gradFill>
              <a:gsLst>
                <a:gs pos="0">
                  <a:srgbClr val="4381DD">
                    <a:alpha val="0"/>
                  </a:srgbClr>
                </a:gs>
                <a:gs pos="100000">
                  <a:srgbClr val="4381DD">
                    <a:alpha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BA6D718-B2F5-011A-6A8E-C77F8EB2F6BA}"/>
              </a:ext>
            </a:extLst>
          </p:cNvPr>
          <p:cNvGrpSpPr/>
          <p:nvPr/>
        </p:nvGrpSpPr>
        <p:grpSpPr>
          <a:xfrm>
            <a:off x="654395" y="2016492"/>
            <a:ext cx="1564466" cy="1564466"/>
            <a:chOff x="654395" y="2016492"/>
            <a:chExt cx="1564466" cy="1564466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AA4E47F-7AF1-471D-77F4-E0F4B87D856F}"/>
                </a:ext>
              </a:extLst>
            </p:cNvPr>
            <p:cNvSpPr/>
            <p:nvPr/>
          </p:nvSpPr>
          <p:spPr>
            <a:xfrm>
              <a:off x="654395" y="2016492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4381DD">
                    <a:lumMod val="60000"/>
                    <a:lumOff val="40000"/>
                  </a:srgbClr>
                </a:gs>
                <a:gs pos="50000">
                  <a:srgbClr val="4381DD"/>
                </a:gs>
              </a:gsLst>
              <a:lin ang="2700000" scaled="1"/>
              <a:tileRect/>
            </a:gradFill>
            <a:effectLst>
              <a:reflection blurRad="6350" stA="15000" endPos="35000" dir="5400000" sy="-100000" algn="bl" rotWithShape="0"/>
            </a:effectLst>
          </p:spPr>
          <p:txBody>
            <a:bodyPr wrap="none" lIns="108000" tIns="108000" rIns="108000" bIns="10800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形状1">
              <a:extLst>
                <a:ext uri="{FF2B5EF4-FFF2-40B4-BE49-F238E27FC236}">
                  <a16:creationId xmlns:a16="http://schemas.microsoft.com/office/drawing/2014/main" id="{848053D3-BF1A-843E-ACC1-C4F1B93856DF}"/>
                </a:ext>
              </a:extLst>
            </p:cNvPr>
            <p:cNvSpPr txBox="1">
              <a:spLocks/>
            </p:cNvSpPr>
            <p:nvPr/>
          </p:nvSpPr>
          <p:spPr>
            <a:xfrm>
              <a:off x="715456" y="2749040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数据存储与运算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14508D8-A3A3-1D89-14A6-DE23CD7390D9}"/>
                </a:ext>
              </a:extLst>
            </p:cNvPr>
            <p:cNvSpPr txBox="1"/>
            <p:nvPr/>
          </p:nvSpPr>
          <p:spPr>
            <a:xfrm>
              <a:off x="1159439" y="2161555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V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FF2EE05-CEF0-7E33-51A1-6B0DE4571879}"/>
              </a:ext>
            </a:extLst>
          </p:cNvPr>
          <p:cNvGrpSpPr/>
          <p:nvPr/>
        </p:nvGrpSpPr>
        <p:grpSpPr>
          <a:xfrm>
            <a:off x="2883600" y="2488467"/>
            <a:ext cx="1564466" cy="1564466"/>
            <a:chOff x="2883600" y="2488467"/>
            <a:chExt cx="1564466" cy="1564466"/>
          </a:xfrm>
        </p:grpSpPr>
        <p:sp>
          <p:nvSpPr>
            <p:cNvPr id="40" name="IconBackground1">
              <a:extLst>
                <a:ext uri="{FF2B5EF4-FFF2-40B4-BE49-F238E27FC236}">
                  <a16:creationId xmlns:a16="http://schemas.microsoft.com/office/drawing/2014/main" id="{CCE7E541-D9BB-B1BC-DB0A-1C54325CE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600" y="2488467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AEDAF8"/>
                </a:gs>
                <a:gs pos="60000">
                  <a:srgbClr val="72BEF2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5" name="形状1">
              <a:extLst>
                <a:ext uri="{FF2B5EF4-FFF2-40B4-BE49-F238E27FC236}">
                  <a16:creationId xmlns:a16="http://schemas.microsoft.com/office/drawing/2014/main" id="{7257DE16-877D-4B2C-17E7-EFC442FDEB5E}"/>
                </a:ext>
              </a:extLst>
            </p:cNvPr>
            <p:cNvSpPr txBox="1">
              <a:spLocks/>
            </p:cNvSpPr>
            <p:nvPr/>
          </p:nvSpPr>
          <p:spPr>
            <a:xfrm>
              <a:off x="2934403" y="3190222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数据的逻辑处理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686F182-486D-AD5A-C17A-285EEECAB314}"/>
                </a:ext>
              </a:extLst>
            </p:cNvPr>
            <p:cNvSpPr txBox="1"/>
            <p:nvPr/>
          </p:nvSpPr>
          <p:spPr>
            <a:xfrm>
              <a:off x="3467898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L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C989A5C-0847-F99A-4EC2-357164960CA5}"/>
              </a:ext>
            </a:extLst>
          </p:cNvPr>
          <p:cNvGrpSpPr/>
          <p:nvPr/>
        </p:nvGrpSpPr>
        <p:grpSpPr>
          <a:xfrm>
            <a:off x="5313767" y="2693955"/>
            <a:ext cx="1564466" cy="1564466"/>
            <a:chOff x="5313767" y="2693955"/>
            <a:chExt cx="1564466" cy="156446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59A2720-5447-01A7-1012-EA306D120594}"/>
                </a:ext>
              </a:extLst>
            </p:cNvPr>
            <p:cNvGrpSpPr/>
            <p:nvPr/>
          </p:nvGrpSpPr>
          <p:grpSpPr>
            <a:xfrm>
              <a:off x="5313767" y="2693955"/>
              <a:ext cx="1564466" cy="1564466"/>
              <a:chOff x="1174224" y="1867691"/>
              <a:chExt cx="2386018" cy="2386018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6AB6814-505A-F055-61BF-7597DF909C50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62CB78">
                      <a:lumMod val="60000"/>
                      <a:lumOff val="40000"/>
                    </a:srgbClr>
                  </a:gs>
                  <a:gs pos="50000">
                    <a:srgbClr val="62CB7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形状2">
                <a:extLst>
                  <a:ext uri="{FF2B5EF4-FFF2-40B4-BE49-F238E27FC236}">
                    <a16:creationId xmlns:a16="http://schemas.microsoft.com/office/drawing/2014/main" id="{D82B4AB2-EBEA-DEB1-BFCB-FA5476AEC2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043852"/>
                <a:ext cx="2079526" cy="8619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数据存储容器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0E729E-B709-9F89-82B6-3EF7948A3144}"/>
                </a:ext>
              </a:extLst>
            </p:cNvPr>
            <p:cNvSpPr txBox="1"/>
            <p:nvPr/>
          </p:nvSpPr>
          <p:spPr>
            <a:xfrm>
              <a:off x="5846310" y="2844937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C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EDE311D-D316-CB83-15A8-67AD284BFB69}"/>
              </a:ext>
            </a:extLst>
          </p:cNvPr>
          <p:cNvGrpSpPr/>
          <p:nvPr/>
        </p:nvGrpSpPr>
        <p:grpSpPr>
          <a:xfrm>
            <a:off x="7743934" y="2488467"/>
            <a:ext cx="1564466" cy="1564466"/>
            <a:chOff x="7743934" y="2488467"/>
            <a:chExt cx="1564466" cy="156446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282EDF7-431D-EE04-67F8-405C5B296158}"/>
                </a:ext>
              </a:extLst>
            </p:cNvPr>
            <p:cNvGrpSpPr/>
            <p:nvPr/>
          </p:nvGrpSpPr>
          <p:grpSpPr>
            <a:xfrm>
              <a:off x="7743934" y="2488467"/>
              <a:ext cx="1564466" cy="1564466"/>
              <a:chOff x="1174224" y="1867691"/>
              <a:chExt cx="2386018" cy="2386018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9F5643EB-9BC4-46A9-0C3B-60E7A8ED5E11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44B4CF">
                      <a:lumMod val="60000"/>
                      <a:lumOff val="40000"/>
                    </a:srgbClr>
                  </a:gs>
                  <a:gs pos="50000">
                    <a:srgbClr val="44B4CF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形状3">
                <a:extLst>
                  <a:ext uri="{FF2B5EF4-FFF2-40B4-BE49-F238E27FC236}">
                    <a16:creationId xmlns:a16="http://schemas.microsoft.com/office/drawing/2014/main" id="{A5364520-2746-8A8B-7E0D-A337E0BFFC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27026"/>
                <a:ext cx="2079526" cy="719928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函数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F7D29A8-D2E3-8380-AE42-953F7BCBECFE}"/>
                </a:ext>
              </a:extLst>
            </p:cNvPr>
            <p:cNvSpPr txBox="1"/>
            <p:nvPr/>
          </p:nvSpPr>
          <p:spPr>
            <a:xfrm>
              <a:off x="8276477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F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AE127DF-6A86-1244-A06D-782065C66685}"/>
              </a:ext>
            </a:extLst>
          </p:cNvPr>
          <p:cNvGrpSpPr/>
          <p:nvPr/>
        </p:nvGrpSpPr>
        <p:grpSpPr>
          <a:xfrm>
            <a:off x="9973139" y="1961339"/>
            <a:ext cx="1564466" cy="1564466"/>
            <a:chOff x="9973139" y="1961339"/>
            <a:chExt cx="1564466" cy="156446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0683EE4-9B02-F80E-8CBC-CEA4C8E3A0E7}"/>
                </a:ext>
              </a:extLst>
            </p:cNvPr>
            <p:cNvGrpSpPr/>
            <p:nvPr/>
          </p:nvGrpSpPr>
          <p:grpSpPr>
            <a:xfrm>
              <a:off x="9973139" y="1961339"/>
              <a:ext cx="1564466" cy="1564466"/>
              <a:chOff x="1174224" y="1867691"/>
              <a:chExt cx="2386018" cy="2386018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CF98E2A-A331-123A-9438-7C0E15F6260F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7995D8">
                      <a:lumMod val="60000"/>
                      <a:lumOff val="40000"/>
                    </a:srgbClr>
                  </a:gs>
                  <a:gs pos="50000">
                    <a:srgbClr val="7995D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形状4">
                <a:extLst>
                  <a:ext uri="{FF2B5EF4-FFF2-40B4-BE49-F238E27FC236}">
                    <a16:creationId xmlns:a16="http://schemas.microsoft.com/office/drawing/2014/main" id="{705FBF11-224F-BB09-A452-43802F4878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76178"/>
                <a:ext cx="2079526" cy="67077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面向对象基础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E09CE27-0AC9-B230-0E7D-B8C5E3FF1211}"/>
                </a:ext>
              </a:extLst>
            </p:cNvPr>
            <p:cNvSpPr txBox="1"/>
            <p:nvPr/>
          </p:nvSpPr>
          <p:spPr>
            <a:xfrm>
              <a:off x="10442733" y="2134524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O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E31FEEC-114E-4D58-783B-CCD1C80F31E6}"/>
              </a:ext>
            </a:extLst>
          </p:cNvPr>
          <p:cNvSpPr/>
          <p:nvPr/>
        </p:nvSpPr>
        <p:spPr>
          <a:xfrm>
            <a:off x="786827" y="45021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字面量与变量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B0B81F-5EC7-D8C5-595D-6F1B676DAC42}"/>
              </a:ext>
            </a:extLst>
          </p:cNvPr>
          <p:cNvSpPr/>
          <p:nvPr/>
        </p:nvSpPr>
        <p:spPr>
          <a:xfrm>
            <a:off x="786827" y="49276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数据类型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A5A5E5-2CF7-2010-A7C6-8CE7F29E3CDB}"/>
              </a:ext>
            </a:extLst>
          </p:cNvPr>
          <p:cNvSpPr/>
          <p:nvPr/>
        </p:nvSpPr>
        <p:spPr>
          <a:xfrm>
            <a:off x="786827" y="53530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输入与输出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71669C9-D9BE-84B1-43AC-26DA799A67C6}"/>
              </a:ext>
            </a:extLst>
          </p:cNvPr>
          <p:cNvSpPr/>
          <p:nvPr/>
        </p:nvSpPr>
        <p:spPr>
          <a:xfrm>
            <a:off x="786827" y="57785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运算符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3D120CF-E703-AAD4-43C3-113ABC8C2278}"/>
              </a:ext>
            </a:extLst>
          </p:cNvPr>
          <p:cNvSpPr/>
          <p:nvPr/>
        </p:nvSpPr>
        <p:spPr>
          <a:xfrm>
            <a:off x="3052949" y="48641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条件判断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43B57C-4CEB-F5B0-055A-9F61F19E125F}"/>
              </a:ext>
            </a:extLst>
          </p:cNvPr>
          <p:cNvSpPr/>
          <p:nvPr/>
        </p:nvSpPr>
        <p:spPr>
          <a:xfrm>
            <a:off x="3052949" y="52895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结构模式匹配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B2CF6B5-A27F-F311-7807-AF13EF4EB44B}"/>
              </a:ext>
            </a:extLst>
          </p:cNvPr>
          <p:cNvSpPr/>
          <p:nvPr/>
        </p:nvSpPr>
        <p:spPr>
          <a:xfrm>
            <a:off x="3052949" y="57150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循环</a:t>
            </a:r>
          </a:p>
        </p:txBody>
      </p:sp>
    </p:spTree>
    <p:extLst>
      <p:ext uri="{BB962C8B-B14F-4D97-AF65-F5344CB8AC3E}">
        <p14:creationId xmlns:p14="http://schemas.microsoft.com/office/powerpoint/2010/main" val="294288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A768C8-D230-C5AC-DECE-92B6732643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3156483" cy="454164"/>
          </a:xfrm>
        </p:spPr>
        <p:txBody>
          <a:bodyPr/>
          <a:lstStyle/>
          <a:p>
            <a:r>
              <a:rPr lang="en-US" altLang="zh-CN"/>
              <a:t>—— </a:t>
            </a:r>
            <a:r>
              <a:rPr lang="zh-CN" altLang="en-US"/>
              <a:t>数据存储容器 </a:t>
            </a:r>
            <a:r>
              <a:rPr lang="en-US" altLang="zh-CN"/>
              <a:t>——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2">
            <a:extLst>
              <a:ext uri="{FF2B5EF4-FFF2-40B4-BE49-F238E27FC236}">
                <a16:creationId xmlns:a16="http://schemas.microsoft.com/office/drawing/2014/main" id="{571F4F6C-A7D1-C5DD-268C-7CC411AACD05}"/>
              </a:ext>
            </a:extLst>
          </p:cNvPr>
          <p:cNvGrpSpPr/>
          <p:nvPr/>
        </p:nvGrpSpPr>
        <p:grpSpPr>
          <a:xfrm>
            <a:off x="921791" y="2750906"/>
            <a:ext cx="3071470" cy="947209"/>
            <a:chOff x="2297719" y="3660322"/>
            <a:chExt cx="3384189" cy="94726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D1FA9C-E377-1EFD-DDA8-FEE4E3F98C69}"/>
                </a:ext>
              </a:extLst>
            </p:cNvPr>
            <p:cNvSpPr/>
            <p:nvPr/>
          </p:nvSpPr>
          <p:spPr>
            <a:xfrm>
              <a:off x="2297728" y="3660323"/>
              <a:ext cx="3384180" cy="947264"/>
            </a:xfrm>
            <a:prstGeom prst="roundRect">
              <a:avLst>
                <a:gd name="adj" fmla="val 590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0EA05ECD-F75B-CE35-AF49-B78F6354C90A}"/>
                </a:ext>
              </a:extLst>
            </p:cNvPr>
            <p:cNvSpPr/>
            <p:nvPr/>
          </p:nvSpPr>
          <p:spPr>
            <a:xfrm>
              <a:off x="2297719" y="3660322"/>
              <a:ext cx="338418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5FAAB22-4EB9-8CA4-355C-C1653EEF209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509DA62-B403-19DE-C229-531F14713E6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D611517-6CE1-2B20-E012-A6CB50DF63A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857FCE6D-6A13-2737-AF8B-B4BD30521E6D}"/>
              </a:ext>
            </a:extLst>
          </p:cNvPr>
          <p:cNvGrpSpPr/>
          <p:nvPr/>
        </p:nvGrpSpPr>
        <p:grpSpPr>
          <a:xfrm>
            <a:off x="4521607" y="2121438"/>
            <a:ext cx="3071470" cy="2315909"/>
            <a:chOff x="2297719" y="3660322"/>
            <a:chExt cx="3384189" cy="231604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2FD8ADB-DD69-0928-79DD-15BE8B24B801}"/>
                </a:ext>
              </a:extLst>
            </p:cNvPr>
            <p:cNvSpPr/>
            <p:nvPr/>
          </p:nvSpPr>
          <p:spPr>
            <a:xfrm>
              <a:off x="2297728" y="3660322"/>
              <a:ext cx="3384180" cy="2316046"/>
            </a:xfrm>
            <a:prstGeom prst="roundRect">
              <a:avLst>
                <a:gd name="adj" fmla="val 28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score1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score2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558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score3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622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score4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589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score5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645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D3A147EE-47B1-830E-C739-8429F27EDEBF}"/>
                </a:ext>
              </a:extLst>
            </p:cNvPr>
            <p:cNvSpPr/>
            <p:nvPr/>
          </p:nvSpPr>
          <p:spPr>
            <a:xfrm>
              <a:off x="2297719" y="3660322"/>
              <a:ext cx="338418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4A48D0E-7980-2291-2908-0C9EAE3FA51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0544FD8-196F-6FDD-BC69-A35E9C53DC2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3870FC6-F8AD-E594-95A3-5E09E021905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DA8959D5-523A-60FD-898A-9BCCC75BA8A6}"/>
              </a:ext>
            </a:extLst>
          </p:cNvPr>
          <p:cNvGrpSpPr/>
          <p:nvPr/>
        </p:nvGrpSpPr>
        <p:grpSpPr>
          <a:xfrm>
            <a:off x="8121424" y="1221891"/>
            <a:ext cx="3071470" cy="4414218"/>
            <a:chOff x="2297719" y="3660322"/>
            <a:chExt cx="3384189" cy="441447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EACF9EB-EE80-DD91-D03C-EA5F6F48CC74}"/>
                </a:ext>
              </a:extLst>
            </p:cNvPr>
            <p:cNvSpPr/>
            <p:nvPr/>
          </p:nvSpPr>
          <p:spPr>
            <a:xfrm>
              <a:off x="2297728" y="3660322"/>
              <a:ext cx="3384180" cy="4414479"/>
            </a:xfrm>
            <a:prstGeom prst="roundRect">
              <a:avLst>
                <a:gd name="adj" fmla="val 174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score1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score2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558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score3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622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score4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589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score5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645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score6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607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score7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577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score8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552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score9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475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score10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602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......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CD5D2F94-99A0-E063-7D77-B7F84C28939D}"/>
                </a:ext>
              </a:extLst>
            </p:cNvPr>
            <p:cNvSpPr/>
            <p:nvPr/>
          </p:nvSpPr>
          <p:spPr>
            <a:xfrm>
              <a:off x="2297719" y="3660322"/>
              <a:ext cx="338418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4142587-1C66-76EF-36A0-1338A0A90CE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BDAD7A7-B5D3-C69E-030F-79326268F96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C16D710-B509-030C-0E72-A9DF9C1109F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AE00DB6B-17F0-A130-D047-9F44C7A4E1E6}"/>
              </a:ext>
            </a:extLst>
          </p:cNvPr>
          <p:cNvSpPr txBox="1"/>
          <p:nvPr/>
        </p:nvSpPr>
        <p:spPr>
          <a:xfrm>
            <a:off x="10596622" y="53012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繁琐</a:t>
            </a:r>
          </a:p>
        </p:txBody>
      </p:sp>
    </p:spTree>
    <p:extLst>
      <p:ext uri="{BB962C8B-B14F-4D97-AF65-F5344CB8AC3E}">
        <p14:creationId xmlns:p14="http://schemas.microsoft.com/office/powerpoint/2010/main" val="359989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71C6-3233-1B8D-CF8E-4BFB5332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2">
            <a:extLst>
              <a:ext uri="{FF2B5EF4-FFF2-40B4-BE49-F238E27FC236}">
                <a16:creationId xmlns:a16="http://schemas.microsoft.com/office/drawing/2014/main" id="{E6E8B6BA-B833-7708-389B-EEE2B8FEEF98}"/>
              </a:ext>
            </a:extLst>
          </p:cNvPr>
          <p:cNvGrpSpPr/>
          <p:nvPr/>
        </p:nvGrpSpPr>
        <p:grpSpPr>
          <a:xfrm>
            <a:off x="949047" y="1360787"/>
            <a:ext cx="3071470" cy="4414218"/>
            <a:chOff x="2297719" y="3660322"/>
            <a:chExt cx="3384189" cy="441447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E2698DB-79EC-6710-75F7-03A2C229B1F5}"/>
                </a:ext>
              </a:extLst>
            </p:cNvPr>
            <p:cNvSpPr/>
            <p:nvPr/>
          </p:nvSpPr>
          <p:spPr>
            <a:xfrm>
              <a:off x="2297728" y="3660322"/>
              <a:ext cx="3384180" cy="4414479"/>
            </a:xfrm>
            <a:prstGeom prst="roundRect">
              <a:avLst>
                <a:gd name="adj" fmla="val 174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score1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score2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558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score3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622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score4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589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score5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645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score6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607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score7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577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score8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552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score9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475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score10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602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......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1E82556D-F303-EEE3-D169-C970F54384D9}"/>
                </a:ext>
              </a:extLst>
            </p:cNvPr>
            <p:cNvSpPr/>
            <p:nvPr/>
          </p:nvSpPr>
          <p:spPr>
            <a:xfrm>
              <a:off x="2297719" y="3660322"/>
              <a:ext cx="338418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9EE9FE5-8467-3B39-76DF-AEA63F7DE9D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CD7AF1B-BEDB-929E-F7F8-DC32580791C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13671B8-02DE-F908-6990-BB8FC7360DE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8C016F2A-4BBC-A468-7F26-EA2D847602DB}"/>
              </a:ext>
            </a:extLst>
          </p:cNvPr>
          <p:cNvSpPr txBox="1"/>
          <p:nvPr/>
        </p:nvSpPr>
        <p:spPr>
          <a:xfrm>
            <a:off x="3327720" y="54056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繁琐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A58AC3D2-FF6A-5FE7-E2AC-AACE456AD918}"/>
              </a:ext>
            </a:extLst>
          </p:cNvPr>
          <p:cNvGrpSpPr/>
          <p:nvPr/>
        </p:nvGrpSpPr>
        <p:grpSpPr>
          <a:xfrm>
            <a:off x="4949781" y="2955395"/>
            <a:ext cx="6549667" cy="947209"/>
            <a:chOff x="2297719" y="3660322"/>
            <a:chExt cx="7216515" cy="94726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41EC68F-526F-9415-64E8-C333A8B187FE}"/>
                </a:ext>
              </a:extLst>
            </p:cNvPr>
            <p:cNvSpPr/>
            <p:nvPr/>
          </p:nvSpPr>
          <p:spPr>
            <a:xfrm>
              <a:off x="2297727" y="3660323"/>
              <a:ext cx="7216507" cy="947264"/>
            </a:xfrm>
            <a:prstGeom prst="roundRect">
              <a:avLst>
                <a:gd name="adj" fmla="val 590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score_list =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[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695, 558, 622, 589, 645, 607, 577, 552, 475, 602, ...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]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166802D5-FE2B-C396-64BE-0905592C136D}"/>
                </a:ext>
              </a:extLst>
            </p:cNvPr>
            <p:cNvSpPr/>
            <p:nvPr/>
          </p:nvSpPr>
          <p:spPr>
            <a:xfrm>
              <a:off x="2297719" y="3660322"/>
              <a:ext cx="7216507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601B375A-EA9D-1248-4A95-99569210BD8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ED6CB66-784A-3C90-79AB-4F1A5CD6B1E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BDEA756-6212-AA23-5424-CA4DBFA1AC1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57522642-E98A-CBB8-F237-40B7F507282D}"/>
              </a:ext>
            </a:extLst>
          </p:cNvPr>
          <p:cNvSpPr txBox="1"/>
          <p:nvPr/>
        </p:nvSpPr>
        <p:spPr>
          <a:xfrm>
            <a:off x="10216502" y="322548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简洁、优雅</a:t>
            </a:r>
          </a:p>
        </p:txBody>
      </p:sp>
      <p:sp>
        <p:nvSpPr>
          <p:cNvPr id="28" name="!!文本框 27">
            <a:extLst>
              <a:ext uri="{FF2B5EF4-FFF2-40B4-BE49-F238E27FC236}">
                <a16:creationId xmlns:a16="http://schemas.microsoft.com/office/drawing/2014/main" id="{99C0F2AF-15A4-1C46-6624-374F48538ACE}"/>
              </a:ext>
            </a:extLst>
          </p:cNvPr>
          <p:cNvSpPr txBox="1"/>
          <p:nvPr/>
        </p:nvSpPr>
        <p:spPr>
          <a:xfrm>
            <a:off x="7677025" y="2442258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数据容器</a:t>
            </a:r>
          </a:p>
        </p:txBody>
      </p:sp>
    </p:spTree>
    <p:extLst>
      <p:ext uri="{BB962C8B-B14F-4D97-AF65-F5344CB8AC3E}">
        <p14:creationId xmlns:p14="http://schemas.microsoft.com/office/powerpoint/2010/main" val="1040445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C7DC-EB33-0E7E-195B-0CA2A6504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文本框 27">
            <a:extLst>
              <a:ext uri="{FF2B5EF4-FFF2-40B4-BE49-F238E27FC236}">
                <a16:creationId xmlns:a16="http://schemas.microsoft.com/office/drawing/2014/main" id="{5A5D363C-7FA7-7B2E-710E-3D4B3F6C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6206569" cy="474415"/>
          </a:xfrm>
        </p:spPr>
        <p:txBody>
          <a:bodyPr/>
          <a:lstStyle/>
          <a:p>
            <a:r>
              <a:rPr lang="zh-CN" altLang="en-US"/>
              <a:t>数据容器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B299CB-88E4-F236-0212-6F8649A32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6607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一种可以容纳多份数据的数据类型（容器），容纳的每一份数据称之为</a:t>
            </a:r>
            <a:r>
              <a:rPr lang="en-US" altLang="zh-CN"/>
              <a:t>1</a:t>
            </a:r>
            <a:r>
              <a:rPr lang="zh-CN" altLang="en-US"/>
              <a:t>个元素，每一个元素都可以是任意类型的数据，如：字符串、数字、布尔等。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CF9E0A3-F266-60C7-C897-E37D47D55ED2}"/>
              </a:ext>
            </a:extLst>
          </p:cNvPr>
          <p:cNvSpPr/>
          <p:nvPr/>
        </p:nvSpPr>
        <p:spPr>
          <a:xfrm>
            <a:off x="3057072" y="5252619"/>
            <a:ext cx="1634246" cy="914400"/>
          </a:xfrm>
          <a:prstGeom prst="roundRect">
            <a:avLst>
              <a:gd name="adj" fmla="val 10284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字符串（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str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F164B15-B007-E1C8-8B81-EB2F8C6A56CE}"/>
              </a:ext>
            </a:extLst>
          </p:cNvPr>
          <p:cNvSpPr/>
          <p:nvPr/>
        </p:nvSpPr>
        <p:spPr>
          <a:xfrm>
            <a:off x="920229" y="5252619"/>
            <a:ext cx="1634246" cy="914400"/>
          </a:xfrm>
          <a:prstGeom prst="roundRect">
            <a:avLst>
              <a:gd name="adj" fmla="val 957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列表（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list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DD78F2C-5B2D-89BD-659C-47A4B9699AF9}"/>
              </a:ext>
            </a:extLst>
          </p:cNvPr>
          <p:cNvSpPr/>
          <p:nvPr/>
        </p:nvSpPr>
        <p:spPr>
          <a:xfrm>
            <a:off x="5193915" y="5252619"/>
            <a:ext cx="1634246" cy="914400"/>
          </a:xfrm>
          <a:prstGeom prst="roundRect">
            <a:avLst>
              <a:gd name="adj" fmla="val 957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元组（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tuple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8BC183B-6246-7B21-8B58-786957716163}"/>
              </a:ext>
            </a:extLst>
          </p:cNvPr>
          <p:cNvSpPr/>
          <p:nvPr/>
        </p:nvSpPr>
        <p:spPr>
          <a:xfrm>
            <a:off x="7330758" y="5252619"/>
            <a:ext cx="1634246" cy="914400"/>
          </a:xfrm>
          <a:prstGeom prst="roundRect">
            <a:avLst>
              <a:gd name="adj" fmla="val 957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集合（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set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）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7174549-F232-C04C-F847-186405F599C4}"/>
              </a:ext>
            </a:extLst>
          </p:cNvPr>
          <p:cNvSpPr/>
          <p:nvPr/>
        </p:nvSpPr>
        <p:spPr>
          <a:xfrm>
            <a:off x="9467601" y="5252619"/>
            <a:ext cx="1634246" cy="914400"/>
          </a:xfrm>
          <a:prstGeom prst="roundRect">
            <a:avLst>
              <a:gd name="adj" fmla="val 957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字典（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dict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）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179DC19-F25D-326F-5C09-5C443A1AC566}"/>
              </a:ext>
            </a:extLst>
          </p:cNvPr>
          <p:cNvSpPr/>
          <p:nvPr/>
        </p:nvSpPr>
        <p:spPr>
          <a:xfrm>
            <a:off x="3011675" y="1967744"/>
            <a:ext cx="6664104" cy="1741738"/>
          </a:xfrm>
          <a:prstGeom prst="roundRect">
            <a:avLst>
              <a:gd name="adj" fmla="val 5674"/>
            </a:avLst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068B77-AFB1-CB7A-6486-C3333BF765A9}"/>
              </a:ext>
            </a:extLst>
          </p:cNvPr>
          <p:cNvSpPr/>
          <p:nvPr/>
        </p:nvSpPr>
        <p:spPr>
          <a:xfrm>
            <a:off x="3219216" y="2230877"/>
            <a:ext cx="1115438" cy="46693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7044425-61ED-3716-86EB-48B607F51840}"/>
              </a:ext>
            </a:extLst>
          </p:cNvPr>
          <p:cNvSpPr/>
          <p:nvPr/>
        </p:nvSpPr>
        <p:spPr>
          <a:xfrm>
            <a:off x="5780342" y="2230877"/>
            <a:ext cx="1115438" cy="466930"/>
          </a:xfrm>
          <a:prstGeom prst="roundRect">
            <a:avLst/>
          </a:prstGeom>
          <a:solidFill>
            <a:srgbClr val="7030A0">
              <a:alpha val="20000"/>
            </a:srgbClr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4DB06EE-BD7B-FB41-D974-885EB2E5114A}"/>
              </a:ext>
            </a:extLst>
          </p:cNvPr>
          <p:cNvSpPr/>
          <p:nvPr/>
        </p:nvSpPr>
        <p:spPr>
          <a:xfrm>
            <a:off x="4499779" y="2230877"/>
            <a:ext cx="1115438" cy="466930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46B494D-EC5F-1FA0-61D7-B47A71EE9BC3}"/>
              </a:ext>
            </a:extLst>
          </p:cNvPr>
          <p:cNvSpPr/>
          <p:nvPr/>
        </p:nvSpPr>
        <p:spPr>
          <a:xfrm>
            <a:off x="7060905" y="2230877"/>
            <a:ext cx="1115438" cy="466930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0F5148-5346-F45B-E35E-89343CFFA1D8}"/>
              </a:ext>
            </a:extLst>
          </p:cNvPr>
          <p:cNvSpPr/>
          <p:nvPr/>
        </p:nvSpPr>
        <p:spPr>
          <a:xfrm>
            <a:off x="8341467" y="2230877"/>
            <a:ext cx="1115438" cy="46693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5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76BC5A1-CA42-0CB3-8EC9-89CA658EBD81}"/>
              </a:ext>
            </a:extLst>
          </p:cNvPr>
          <p:cNvSpPr/>
          <p:nvPr/>
        </p:nvSpPr>
        <p:spPr>
          <a:xfrm>
            <a:off x="3219216" y="2960941"/>
            <a:ext cx="1115438" cy="466930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6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CB58D5B-0BED-6E00-B8D7-12C448D1596F}"/>
              </a:ext>
            </a:extLst>
          </p:cNvPr>
          <p:cNvSpPr/>
          <p:nvPr/>
        </p:nvSpPr>
        <p:spPr>
          <a:xfrm>
            <a:off x="5780342" y="2960941"/>
            <a:ext cx="1115438" cy="46693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8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BCB0489-2F47-81E1-A056-6699093EDAB6}"/>
              </a:ext>
            </a:extLst>
          </p:cNvPr>
          <p:cNvSpPr/>
          <p:nvPr/>
        </p:nvSpPr>
        <p:spPr>
          <a:xfrm>
            <a:off x="4499779" y="2960941"/>
            <a:ext cx="1115438" cy="466930"/>
          </a:xfrm>
          <a:prstGeom prst="roundRect">
            <a:avLst/>
          </a:prstGeom>
          <a:solidFill>
            <a:srgbClr val="7030A0">
              <a:alpha val="20000"/>
            </a:srgbClr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7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FC6F84-F2F7-273B-BA0C-230FB9C72946}"/>
              </a:ext>
            </a:extLst>
          </p:cNvPr>
          <p:cNvSpPr/>
          <p:nvPr/>
        </p:nvSpPr>
        <p:spPr>
          <a:xfrm>
            <a:off x="7060905" y="2960941"/>
            <a:ext cx="1115438" cy="466930"/>
          </a:xfrm>
          <a:prstGeom prst="roundRect">
            <a:avLst/>
          </a:prstGeom>
          <a:solidFill>
            <a:srgbClr val="7030A0">
              <a:alpha val="20000"/>
            </a:srgbClr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9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7021EB0-8D79-069E-F6CE-75057BD0D86E}"/>
              </a:ext>
            </a:extLst>
          </p:cNvPr>
          <p:cNvSpPr/>
          <p:nvPr/>
        </p:nvSpPr>
        <p:spPr>
          <a:xfrm>
            <a:off x="8341467" y="2960941"/>
            <a:ext cx="1115438" cy="466930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Shape4">
            <a:extLst>
              <a:ext uri="{FF2B5EF4-FFF2-40B4-BE49-F238E27FC236}">
                <a16:creationId xmlns:a16="http://schemas.microsoft.com/office/drawing/2014/main" id="{A75A89DA-4AF3-46E1-B213-1D5250729EEC}"/>
              </a:ext>
            </a:extLst>
          </p:cNvPr>
          <p:cNvSpPr/>
          <p:nvPr/>
        </p:nvSpPr>
        <p:spPr>
          <a:xfrm>
            <a:off x="1826035" y="4604677"/>
            <a:ext cx="1980722" cy="324001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15A0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/>
              <a:t>  是否支持重复元素</a:t>
            </a:r>
          </a:p>
        </p:txBody>
      </p:sp>
      <p:sp>
        <p:nvSpPr>
          <p:cNvPr id="26" name="Shape4">
            <a:extLst>
              <a:ext uri="{FF2B5EF4-FFF2-40B4-BE49-F238E27FC236}">
                <a16:creationId xmlns:a16="http://schemas.microsoft.com/office/drawing/2014/main" id="{5C1C8B2C-E81B-8E6A-0F02-82572E95D380}"/>
              </a:ext>
            </a:extLst>
          </p:cNvPr>
          <p:cNvSpPr/>
          <p:nvPr/>
        </p:nvSpPr>
        <p:spPr>
          <a:xfrm>
            <a:off x="5057498" y="4604676"/>
            <a:ext cx="1980722" cy="324001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15A0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/>
              <a:t>    是否可以修改</a:t>
            </a:r>
          </a:p>
        </p:txBody>
      </p:sp>
      <p:sp>
        <p:nvSpPr>
          <p:cNvPr id="27" name="Shape4">
            <a:extLst>
              <a:ext uri="{FF2B5EF4-FFF2-40B4-BE49-F238E27FC236}">
                <a16:creationId xmlns:a16="http://schemas.microsoft.com/office/drawing/2014/main" id="{715CEA4C-4FE4-BA80-FCC9-888A20D11E36}"/>
              </a:ext>
            </a:extLst>
          </p:cNvPr>
          <p:cNvSpPr/>
          <p:nvPr/>
        </p:nvSpPr>
        <p:spPr>
          <a:xfrm>
            <a:off x="8385243" y="4604675"/>
            <a:ext cx="1874195" cy="324001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15A0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/>
              <a:t>     是否有序</a:t>
            </a:r>
          </a:p>
        </p:txBody>
      </p:sp>
    </p:spTree>
    <p:extLst>
      <p:ext uri="{BB962C8B-B14F-4D97-AF65-F5344CB8AC3E}">
        <p14:creationId xmlns:p14="http://schemas.microsoft.com/office/powerpoint/2010/main" val="2202874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1D0A-D8AA-4BA8-1398-7F222797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C52A2A-C340-E771-9775-7A9FDD194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49496" y="1297807"/>
            <a:ext cx="3692525" cy="3332065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列表（</a:t>
            </a:r>
            <a:r>
              <a:rPr lang="en-US" altLang="zh-CN">
                <a:latin typeface="+mn-lt"/>
              </a:rPr>
              <a:t>list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字符串（</a:t>
            </a:r>
            <a:r>
              <a:rPr lang="en-US" altLang="zh-CN">
                <a:latin typeface="+mn-lt"/>
              </a:rPr>
              <a:t>str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元组（</a:t>
            </a:r>
            <a:r>
              <a:rPr lang="en-US" altLang="zh-CN">
                <a:latin typeface="+mn-lt"/>
              </a:rPr>
              <a:t>tuple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集合（</a:t>
            </a:r>
            <a:r>
              <a:rPr lang="en-US" altLang="zh-CN">
                <a:latin typeface="+mn-lt"/>
              </a:rPr>
              <a:t>set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字典（</a:t>
            </a:r>
            <a:r>
              <a:rPr lang="en-US" altLang="zh-CN">
                <a:latin typeface="+mn-lt"/>
              </a:rPr>
              <a:t>dict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综合案例</a:t>
            </a:r>
          </a:p>
        </p:txBody>
      </p:sp>
    </p:spTree>
    <p:extLst>
      <p:ext uri="{BB962C8B-B14F-4D97-AF65-F5344CB8AC3E}">
        <p14:creationId xmlns:p14="http://schemas.microsoft.com/office/powerpoint/2010/main" val="215094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F0F7-8206-9A0B-D767-FCE346BE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70AF14-1280-4522-84FA-8CD7D3A947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列表</a:t>
            </a:r>
            <a:r>
              <a:rPr lang="en-US" altLang="zh-CN"/>
              <a:t>(list)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E79BCA-8858-13E3-40F8-EAAE427FFF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614042"/>
          </a:xfrm>
        </p:spPr>
        <p:txBody>
          <a:bodyPr/>
          <a:lstStyle/>
          <a:p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/>
              <a:t>常见方法</a:t>
            </a:r>
            <a:endParaRPr lang="en-US" altLang="zh-CN"/>
          </a:p>
          <a:p>
            <a:r>
              <a:rPr lang="zh-CN" altLang="en-US"/>
              <a:t>案例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7525FD-583F-51F6-F67F-56AA1856DE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00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D1A252-5F50-2888-EC3A-29E0E019A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8978619" cy="223762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列表是数据容器中的一类，是一次性可以存储多个数据（元素）的。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定义：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特点：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可以存储不同类型的元素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元素有序、可以重复、元素可以修改</a:t>
            </a:r>
            <a:endParaRPr lang="en-US" altLang="zh-CN" sz="140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233CDE2-0ED3-9AF8-2511-83B0BB67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</a:t>
            </a:r>
            <a:r>
              <a:rPr lang="en-US" altLang="zh-CN"/>
              <a:t>-</a:t>
            </a:r>
            <a:r>
              <a:rPr lang="zh-CN" altLang="en-US"/>
              <a:t>介绍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081C77-2924-78EC-2B5F-6EE1D5A0FA04}"/>
              </a:ext>
            </a:extLst>
          </p:cNvPr>
          <p:cNvSpPr/>
          <p:nvPr/>
        </p:nvSpPr>
        <p:spPr>
          <a:xfrm>
            <a:off x="1575590" y="1500193"/>
            <a:ext cx="4301749" cy="417368"/>
          </a:xfrm>
          <a:prstGeom prst="roundRect">
            <a:avLst>
              <a:gd name="adj" fmla="val 11932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列表名称 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= [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元素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1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，元素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2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，元素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3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，元素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4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，元素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5...]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1D1C23C-0483-22BF-8DF8-393359C51D80}"/>
              </a:ext>
            </a:extLst>
          </p:cNvPr>
          <p:cNvSpPr/>
          <p:nvPr/>
        </p:nvSpPr>
        <p:spPr>
          <a:xfrm>
            <a:off x="2795780" y="3495301"/>
            <a:ext cx="6653020" cy="1035630"/>
          </a:xfrm>
          <a:prstGeom prst="roundRect">
            <a:avLst>
              <a:gd name="adj" fmla="val 8674"/>
            </a:avLst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0149F2C-CB65-1DAC-F146-D447B9237159}"/>
              </a:ext>
            </a:extLst>
          </p:cNvPr>
          <p:cNvSpPr/>
          <p:nvPr/>
        </p:nvSpPr>
        <p:spPr>
          <a:xfrm>
            <a:off x="2915056" y="3714943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54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D3DACED-3D84-C645-1414-CCF560762C00}"/>
              </a:ext>
            </a:extLst>
          </p:cNvPr>
          <p:cNvSpPr/>
          <p:nvPr/>
        </p:nvSpPr>
        <p:spPr>
          <a:xfrm>
            <a:off x="5716132" y="3710615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108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45A6D71-92BF-B712-34D4-5102839BD5EA}"/>
              </a:ext>
            </a:extLst>
          </p:cNvPr>
          <p:cNvSpPr/>
          <p:nvPr/>
        </p:nvSpPr>
        <p:spPr>
          <a:xfrm>
            <a:off x="3848748" y="3714943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15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9F790E-B7CC-4647-B9B5-FFB377AB2405}"/>
              </a:ext>
            </a:extLst>
          </p:cNvPr>
          <p:cNvSpPr/>
          <p:nvPr/>
        </p:nvSpPr>
        <p:spPr>
          <a:xfrm>
            <a:off x="4782440" y="3710615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75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51CCC26-1603-AFF5-2623-B6FDD5F5EC96}"/>
              </a:ext>
            </a:extLst>
          </p:cNvPr>
          <p:cNvSpPr/>
          <p:nvPr/>
        </p:nvSpPr>
        <p:spPr>
          <a:xfrm>
            <a:off x="6644038" y="3710614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23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950044F-5A2D-D249-237D-F5744096E3D9}"/>
              </a:ext>
            </a:extLst>
          </p:cNvPr>
          <p:cNvSpPr/>
          <p:nvPr/>
        </p:nvSpPr>
        <p:spPr>
          <a:xfrm>
            <a:off x="7571944" y="3710613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78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90E5A04-62CB-DE74-1524-F3D74F754FFE}"/>
              </a:ext>
            </a:extLst>
          </p:cNvPr>
          <p:cNvSpPr/>
          <p:nvPr/>
        </p:nvSpPr>
        <p:spPr>
          <a:xfrm>
            <a:off x="3146552" y="3616557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0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5686A93-5775-D092-A43E-DBEED5489A44}"/>
              </a:ext>
            </a:extLst>
          </p:cNvPr>
          <p:cNvSpPr/>
          <p:nvPr/>
        </p:nvSpPr>
        <p:spPr>
          <a:xfrm>
            <a:off x="4086029" y="3616556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9875EAB-2759-30A9-8985-B50C6D772710}"/>
              </a:ext>
            </a:extLst>
          </p:cNvPr>
          <p:cNvSpPr/>
          <p:nvPr/>
        </p:nvSpPr>
        <p:spPr>
          <a:xfrm>
            <a:off x="5019721" y="3616555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42811DE-5D12-3F35-C7E9-3E67C7CA16C4}"/>
              </a:ext>
            </a:extLst>
          </p:cNvPr>
          <p:cNvSpPr/>
          <p:nvPr/>
        </p:nvSpPr>
        <p:spPr>
          <a:xfrm>
            <a:off x="5950520" y="3616555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B8B85F3-88C7-26EF-4E34-2BC98B07CF2A}"/>
              </a:ext>
            </a:extLst>
          </p:cNvPr>
          <p:cNvSpPr/>
          <p:nvPr/>
        </p:nvSpPr>
        <p:spPr>
          <a:xfrm>
            <a:off x="6872639" y="3616555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54D6F1E-6E29-1AA2-8EFA-026ED45E0961}"/>
              </a:ext>
            </a:extLst>
          </p:cNvPr>
          <p:cNvSpPr/>
          <p:nvPr/>
        </p:nvSpPr>
        <p:spPr>
          <a:xfrm>
            <a:off x="7806332" y="3616554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DF8A8FA-EE65-77A2-8B3B-C8CAA8571FF7}"/>
              </a:ext>
            </a:extLst>
          </p:cNvPr>
          <p:cNvSpPr/>
          <p:nvPr/>
        </p:nvSpPr>
        <p:spPr>
          <a:xfrm>
            <a:off x="7806332" y="4177932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BC652B7-A032-AB40-165C-0E83EBEA7CE6}"/>
              </a:ext>
            </a:extLst>
          </p:cNvPr>
          <p:cNvSpPr/>
          <p:nvPr/>
        </p:nvSpPr>
        <p:spPr>
          <a:xfrm>
            <a:off x="6879396" y="4177932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15B97B7-A7CD-A0B7-E984-74AFF163776C}"/>
              </a:ext>
            </a:extLst>
          </p:cNvPr>
          <p:cNvSpPr/>
          <p:nvPr/>
        </p:nvSpPr>
        <p:spPr>
          <a:xfrm>
            <a:off x="5950520" y="4177932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8E04DFB-716F-83A4-FD5F-2BC7F9A84455}"/>
              </a:ext>
            </a:extLst>
          </p:cNvPr>
          <p:cNvSpPr/>
          <p:nvPr/>
        </p:nvSpPr>
        <p:spPr>
          <a:xfrm>
            <a:off x="5019721" y="4177931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C0DFF62-F0C2-BEBE-F586-C959CABD16A5}"/>
              </a:ext>
            </a:extLst>
          </p:cNvPr>
          <p:cNvSpPr/>
          <p:nvPr/>
        </p:nvSpPr>
        <p:spPr>
          <a:xfrm>
            <a:off x="4077996" y="4177930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-6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EE1090C-2255-4BD1-A0E4-1C63F84AE98C}"/>
              </a:ext>
            </a:extLst>
          </p:cNvPr>
          <p:cNvSpPr/>
          <p:nvPr/>
        </p:nvSpPr>
        <p:spPr>
          <a:xfrm>
            <a:off x="3141734" y="4177930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-7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7207B27-1015-0A05-D9F7-863657D21CC9}"/>
              </a:ext>
            </a:extLst>
          </p:cNvPr>
          <p:cNvSpPr txBox="1"/>
          <p:nvPr/>
        </p:nvSpPr>
        <p:spPr>
          <a:xfrm>
            <a:off x="2024654" y="3821615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s = </a:t>
            </a:r>
            <a:endParaRPr lang="zh-CN" altLang="en-US" sz="20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06D8193-D6B2-9D51-5471-841C42E15F69}"/>
              </a:ext>
            </a:extLst>
          </p:cNvPr>
          <p:cNvSpPr txBox="1"/>
          <p:nvPr/>
        </p:nvSpPr>
        <p:spPr>
          <a:xfrm>
            <a:off x="2982175" y="468765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0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054E311-B52D-CB77-9F96-C8186E211A41}"/>
              </a:ext>
            </a:extLst>
          </p:cNvPr>
          <p:cNvSpPr txBox="1"/>
          <p:nvPr/>
        </p:nvSpPr>
        <p:spPr>
          <a:xfrm>
            <a:off x="2917772" y="49890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-7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05AA3BE-9266-3920-915A-E4E0B8326F91}"/>
              </a:ext>
            </a:extLst>
          </p:cNvPr>
          <p:cNvSpPr txBox="1"/>
          <p:nvPr/>
        </p:nvSpPr>
        <p:spPr>
          <a:xfrm>
            <a:off x="3867079" y="468765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1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3C36FA2-3D34-7395-29A1-0877345134D5}"/>
              </a:ext>
            </a:extLst>
          </p:cNvPr>
          <p:cNvSpPr txBox="1"/>
          <p:nvPr/>
        </p:nvSpPr>
        <p:spPr>
          <a:xfrm>
            <a:off x="3819165" y="4989086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-6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5858A7-69C2-5902-285F-D1ED6AFC3C25}"/>
              </a:ext>
            </a:extLst>
          </p:cNvPr>
          <p:cNvSpPr txBox="1"/>
          <p:nvPr/>
        </p:nvSpPr>
        <p:spPr>
          <a:xfrm>
            <a:off x="4818316" y="4687655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2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B448261-F096-EFAA-57C6-2591F0DC9F00}"/>
              </a:ext>
            </a:extLst>
          </p:cNvPr>
          <p:cNvSpPr txBox="1"/>
          <p:nvPr/>
        </p:nvSpPr>
        <p:spPr>
          <a:xfrm>
            <a:off x="4770402" y="49890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-5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6019BE0-6698-D758-165B-3F3C1627D2F9}"/>
              </a:ext>
            </a:extLst>
          </p:cNvPr>
          <p:cNvSpPr txBox="1"/>
          <p:nvPr/>
        </p:nvSpPr>
        <p:spPr>
          <a:xfrm>
            <a:off x="5751134" y="4683330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3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EE5C7F3-E95C-5BEE-2E63-F1F27E0EBF6F}"/>
              </a:ext>
            </a:extLst>
          </p:cNvPr>
          <p:cNvSpPr txBox="1"/>
          <p:nvPr/>
        </p:nvSpPr>
        <p:spPr>
          <a:xfrm>
            <a:off x="5703220" y="498476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-4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4C53FF6-000E-E273-4227-F8DD2044A71B}"/>
              </a:ext>
            </a:extLst>
          </p:cNvPr>
          <p:cNvSpPr txBox="1"/>
          <p:nvPr/>
        </p:nvSpPr>
        <p:spPr>
          <a:xfrm>
            <a:off x="6683952" y="4683329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4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0FD71C1-57BC-66DA-34B8-A34BE1161846}"/>
              </a:ext>
            </a:extLst>
          </p:cNvPr>
          <p:cNvSpPr txBox="1"/>
          <p:nvPr/>
        </p:nvSpPr>
        <p:spPr>
          <a:xfrm>
            <a:off x="6636038" y="498476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-3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E0B8555-DB2A-0072-774B-171EFA725DA6}"/>
              </a:ext>
            </a:extLst>
          </p:cNvPr>
          <p:cNvSpPr txBox="1"/>
          <p:nvPr/>
        </p:nvSpPr>
        <p:spPr>
          <a:xfrm>
            <a:off x="7656312" y="4683329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5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075F5FD-E3EE-1057-9EBC-4698FE996CEF}"/>
              </a:ext>
            </a:extLst>
          </p:cNvPr>
          <p:cNvSpPr txBox="1"/>
          <p:nvPr/>
        </p:nvSpPr>
        <p:spPr>
          <a:xfrm>
            <a:off x="7608398" y="498476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-2</a:t>
            </a:r>
            <a:r>
              <a:rPr lang="en-US" altLang="zh-CN" sz="1400"/>
              <a:t>]</a:t>
            </a:r>
            <a:endParaRPr lang="zh-CN" altLang="en-US" sz="140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22AF773-0BC3-5C7E-3EF5-8A983310B87F}"/>
              </a:ext>
            </a:extLst>
          </p:cNvPr>
          <p:cNvGrpSpPr/>
          <p:nvPr/>
        </p:nvGrpSpPr>
        <p:grpSpPr>
          <a:xfrm>
            <a:off x="860031" y="6355951"/>
            <a:ext cx="10463662" cy="348335"/>
            <a:chOff x="4685665" y="1834757"/>
            <a:chExt cx="10535544" cy="348335"/>
          </a:xfrm>
        </p:grpSpPr>
        <p:sp>
          <p:nvSpPr>
            <p:cNvPr id="47" name="ComponentBackground2">
              <a:extLst>
                <a:ext uri="{FF2B5EF4-FFF2-40B4-BE49-F238E27FC236}">
                  <a16:creationId xmlns:a16="http://schemas.microsoft.com/office/drawing/2014/main" id="{77A651A9-CBC9-03C4-6177-FB2282990F91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从前向后（正向索引），下标从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0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开始；从后向前（反向索引），下标从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-1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开始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48" name="Shape2">
              <a:extLst>
                <a:ext uri="{FF2B5EF4-FFF2-40B4-BE49-F238E27FC236}">
                  <a16:creationId xmlns:a16="http://schemas.microsoft.com/office/drawing/2014/main" id="{FBB90A1B-B8F7-C28D-26D9-943F3CBFD756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EB26558-FD21-9A39-FAEA-709352D814AF}"/>
              </a:ext>
            </a:extLst>
          </p:cNvPr>
          <p:cNvGrpSpPr/>
          <p:nvPr/>
        </p:nvGrpSpPr>
        <p:grpSpPr>
          <a:xfrm>
            <a:off x="855893" y="5921936"/>
            <a:ext cx="10463662" cy="348335"/>
            <a:chOff x="4685665" y="1834757"/>
            <a:chExt cx="10535544" cy="348335"/>
          </a:xfrm>
        </p:grpSpPr>
        <p:sp>
          <p:nvSpPr>
            <p:cNvPr id="50" name="ComponentBackground2">
              <a:extLst>
                <a:ext uri="{FF2B5EF4-FFF2-40B4-BE49-F238E27FC236}">
                  <a16:creationId xmlns:a16="http://schemas.microsoft.com/office/drawing/2014/main" id="{F88217ED-F47B-BB7D-3F21-BCDE3B507A34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序列类型：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容器中的元素按特定顺序排列的、可通过索引访问的容器类型称之为序列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51" name="Shape2">
              <a:extLst>
                <a:ext uri="{FF2B5EF4-FFF2-40B4-BE49-F238E27FC236}">
                  <a16:creationId xmlns:a16="http://schemas.microsoft.com/office/drawing/2014/main" id="{CF4D7E1C-8BD1-A2F2-8D69-455AE0772C77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15C1A9A-5532-605B-4EA0-8D826A1636C6}"/>
              </a:ext>
            </a:extLst>
          </p:cNvPr>
          <p:cNvSpPr/>
          <p:nvPr/>
        </p:nvSpPr>
        <p:spPr>
          <a:xfrm>
            <a:off x="8490647" y="3710613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75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CC37B1CF-8B09-E83B-9DC0-D576BC093659}"/>
              </a:ext>
            </a:extLst>
          </p:cNvPr>
          <p:cNvSpPr/>
          <p:nvPr/>
        </p:nvSpPr>
        <p:spPr>
          <a:xfrm>
            <a:off x="8725035" y="3616554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6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EE8F5021-038C-5F95-9E14-ED42A018EDF7}"/>
              </a:ext>
            </a:extLst>
          </p:cNvPr>
          <p:cNvSpPr/>
          <p:nvPr/>
        </p:nvSpPr>
        <p:spPr>
          <a:xfrm>
            <a:off x="8725035" y="4177932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33B16B2-A849-EAE5-9B76-281E9361EED4}"/>
              </a:ext>
            </a:extLst>
          </p:cNvPr>
          <p:cNvSpPr txBox="1"/>
          <p:nvPr/>
        </p:nvSpPr>
        <p:spPr>
          <a:xfrm>
            <a:off x="8589112" y="4683329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6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7E736DC-9A93-9E1B-CF97-20FED9FB033F}"/>
              </a:ext>
            </a:extLst>
          </p:cNvPr>
          <p:cNvSpPr txBox="1"/>
          <p:nvPr/>
        </p:nvSpPr>
        <p:spPr>
          <a:xfrm>
            <a:off x="8541198" y="498476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-1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C507665-5AD0-A930-BB9C-49D0F384B514}"/>
              </a:ext>
            </a:extLst>
          </p:cNvPr>
          <p:cNvSpPr/>
          <p:nvPr/>
        </p:nvSpPr>
        <p:spPr>
          <a:xfrm>
            <a:off x="6122291" y="1500193"/>
            <a:ext cx="3512040" cy="417368"/>
          </a:xfrm>
          <a:prstGeom prst="roundRect">
            <a:avLst>
              <a:gd name="adj" fmla="val 11932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s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= [</a:t>
            </a:r>
            <a:r>
              <a:rPr lang="en-US" altLang="zh-CN" sz="1200">
                <a:solidFill>
                  <a:srgbClr val="0033B3"/>
                </a:solidFill>
              </a:rPr>
              <a:t>54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altLang="zh-CN" sz="1200">
                <a:solidFill>
                  <a:srgbClr val="0033B3"/>
                </a:solidFill>
              </a:rPr>
              <a:t>15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altLang="zh-CN" sz="1200">
                <a:solidFill>
                  <a:srgbClr val="0033B3"/>
                </a:solidFill>
              </a:rPr>
              <a:t>75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altLang="zh-CN" sz="1200">
                <a:solidFill>
                  <a:srgbClr val="0033B3"/>
                </a:solidFill>
              </a:rPr>
              <a:t>108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altLang="zh-CN" sz="1200">
                <a:solidFill>
                  <a:srgbClr val="0033B3"/>
                </a:solidFill>
              </a:rPr>
              <a:t>23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altLang="zh-CN" sz="1200">
                <a:solidFill>
                  <a:srgbClr val="0033B3"/>
                </a:solidFill>
              </a:rPr>
              <a:t>78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en-US" altLang="zh-CN" sz="1200">
                <a:solidFill>
                  <a:srgbClr val="0033B3"/>
                </a:solidFill>
              </a:rPr>
              <a:t>75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]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39B985-1F34-E3DB-6C4D-8154FD57F1E9}"/>
              </a:ext>
            </a:extLst>
          </p:cNvPr>
          <p:cNvSpPr txBox="1"/>
          <p:nvPr/>
        </p:nvSpPr>
        <p:spPr>
          <a:xfrm>
            <a:off x="9549646" y="354877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下标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30BDC1-B41D-4C06-4318-A84F6B1747B3}"/>
              </a:ext>
            </a:extLst>
          </p:cNvPr>
          <p:cNvSpPr txBox="1"/>
          <p:nvPr/>
        </p:nvSpPr>
        <p:spPr>
          <a:xfrm>
            <a:off x="10232296" y="354877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索引</a:t>
            </a:r>
          </a:p>
        </p:txBody>
      </p:sp>
    </p:spTree>
    <p:extLst>
      <p:ext uri="{BB962C8B-B14F-4D97-AF65-F5344CB8AC3E}">
        <p14:creationId xmlns:p14="http://schemas.microsoft.com/office/powerpoint/2010/main" val="138688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52" grpId="0" animBg="1"/>
      <p:bldP spid="53" grpId="0" animBg="1"/>
      <p:bldP spid="54" grpId="0" animBg="1"/>
      <p:bldP spid="55" grpId="0"/>
      <p:bldP spid="56" grpId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74649-6B2D-86A2-2685-ECD8E9BA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7E8551-2C27-5199-0781-33BAD00B00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9046" y="789654"/>
            <a:ext cx="7170081" cy="527869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列表的定义方式及特点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列表名</a:t>
            </a:r>
            <a:r>
              <a:rPr lang="en-US" altLang="zh-CN" sz="1400"/>
              <a:t> = [</a:t>
            </a:r>
            <a:r>
              <a:rPr lang="zh-CN" altLang="en-US" sz="1400"/>
              <a:t>元素</a:t>
            </a:r>
            <a:r>
              <a:rPr lang="en-US" altLang="zh-CN" sz="1400"/>
              <a:t>1, </a:t>
            </a:r>
            <a:r>
              <a:rPr lang="zh-CN" altLang="en-US" sz="1400"/>
              <a:t>元素</a:t>
            </a:r>
            <a:r>
              <a:rPr lang="en-US" altLang="zh-CN" sz="1400"/>
              <a:t>2, </a:t>
            </a:r>
            <a:r>
              <a:rPr lang="zh-CN" altLang="en-US" sz="1400"/>
              <a:t>元素</a:t>
            </a:r>
            <a:r>
              <a:rPr lang="en-US" altLang="zh-CN" sz="1400"/>
              <a:t>3]</a:t>
            </a: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可以存放不同类型元素、可重复、有序、元素可以修改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列表的索引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正向索引：从</a:t>
            </a:r>
            <a:r>
              <a:rPr lang="en-US" altLang="zh-CN" sz="1400"/>
              <a:t>0</a:t>
            </a:r>
            <a:r>
              <a:rPr lang="zh-CN" altLang="en-US" sz="1400"/>
              <a:t>开始</a:t>
            </a:r>
            <a:endParaRPr lang="en-US" altLang="zh-CN" sz="1400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反向索引：从</a:t>
            </a:r>
            <a:r>
              <a:rPr lang="en-US" altLang="zh-CN" sz="1400"/>
              <a:t>-1</a:t>
            </a:r>
            <a:r>
              <a:rPr lang="zh-CN" altLang="en-US" sz="1400"/>
              <a:t>开始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列表元素的查看、修改、删除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查看：</a:t>
            </a:r>
            <a:r>
              <a:rPr lang="en-US" altLang="zh-CN" sz="1400"/>
              <a:t>list1[0]</a:t>
            </a: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修改：</a:t>
            </a:r>
            <a:r>
              <a:rPr lang="en-US" altLang="zh-CN" sz="1400"/>
              <a:t>list1[0] = "A"</a:t>
            </a: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删除：</a:t>
            </a:r>
            <a:r>
              <a:rPr lang="en-US" altLang="zh-CN" sz="1400">
                <a:solidFill>
                  <a:srgbClr val="0033B3"/>
                </a:solidFill>
              </a:rPr>
              <a:t>del</a:t>
            </a:r>
            <a:r>
              <a:rPr lang="en-US" altLang="zh-CN" sz="1400"/>
              <a:t> list1[3]</a:t>
            </a: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>
                <a:solidFill>
                  <a:srgbClr val="C00000"/>
                </a:solidFill>
              </a:rPr>
              <a:t>注意：如果指定的索引值超出范围，将会报错</a:t>
            </a:r>
            <a:endParaRPr lang="zh-CN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26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6129-53CB-3F67-C79C-5A7E437C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55B9E-8841-F3B4-F0D1-39CE59D0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</a:t>
            </a:r>
            <a:r>
              <a:rPr lang="en-US" altLang="zh-CN"/>
              <a:t>-</a:t>
            </a:r>
            <a:r>
              <a:rPr lang="zh-CN" altLang="en-US"/>
              <a:t>切片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D3BB0F-AE51-95F8-FDC0-228D17517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520727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介绍：切片是指对操作的数据截取其中一部分的操作。列表、字符串、元组都支持切片操作。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语法：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1200"/>
              </a:spcBef>
            </a:pPr>
            <a:r>
              <a:rPr lang="zh-CN" altLang="en-US" sz="1400"/>
              <a:t>不包含结束索引位置对应的元素</a:t>
            </a:r>
            <a:r>
              <a:rPr lang="en-US" altLang="zh-CN" sz="1400"/>
              <a:t>(</a:t>
            </a:r>
            <a:r>
              <a:rPr lang="zh-CN" altLang="en-US" sz="1400"/>
              <a:t>开始索引未指定默认为</a:t>
            </a:r>
            <a:r>
              <a:rPr lang="en-US" altLang="zh-CN" sz="1400"/>
              <a:t>0</a:t>
            </a:r>
            <a:r>
              <a:rPr lang="zh-CN" altLang="en-US" sz="1400"/>
              <a:t>；结束索引未指定默认为列表长度</a:t>
            </a:r>
            <a:r>
              <a:rPr lang="en-US" altLang="zh-CN" sz="1400"/>
              <a:t>(</a:t>
            </a:r>
            <a:r>
              <a:rPr lang="zh-CN" altLang="en-US" sz="1400"/>
              <a:t>直到列表末尾</a:t>
            </a:r>
            <a:r>
              <a:rPr lang="en-US" altLang="zh-CN" sz="1400"/>
              <a:t>)</a:t>
            </a:r>
            <a:r>
              <a:rPr lang="zh-CN" altLang="en-US" sz="1400"/>
              <a:t>；步长未指定默认为</a:t>
            </a:r>
            <a:r>
              <a:rPr lang="en-US" altLang="zh-CN" sz="1400"/>
              <a:t>1)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索引采用正向、反向索引都可以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步长是选取间隔，默认步长为</a:t>
            </a:r>
            <a:r>
              <a:rPr lang="en-US" altLang="zh-CN" sz="1400"/>
              <a:t>1</a:t>
            </a:r>
          </a:p>
          <a:p>
            <a:pPr marL="2857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举例：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1200"/>
              </a:spcBef>
            </a:pPr>
            <a:r>
              <a:rPr lang="en-US" altLang="zh-CN" sz="1400"/>
              <a:t>s[0:5:1] </a:t>
            </a:r>
            <a:r>
              <a:rPr lang="zh-CN" altLang="en-US" sz="1400"/>
              <a:t>切片后的结果为 </a:t>
            </a:r>
            <a:r>
              <a:rPr lang="en-US" altLang="zh-CN" sz="1400"/>
              <a:t>["A", "C", "E", "B", "D"]</a:t>
            </a:r>
          </a:p>
          <a:p>
            <a:pPr marL="612000" lvl="1" indent="-285750">
              <a:lnSpc>
                <a:spcPct val="150000"/>
              </a:lnSpc>
              <a:spcBef>
                <a:spcPts val="1200"/>
              </a:spcBef>
            </a:pPr>
            <a:r>
              <a:rPr lang="en-US" altLang="zh-CN" sz="1400"/>
              <a:t>S[0:5:2] </a:t>
            </a:r>
            <a:r>
              <a:rPr lang="zh-CN" altLang="en-US" sz="1400"/>
              <a:t>切片后的结果为 </a:t>
            </a:r>
            <a:r>
              <a:rPr lang="en-US" altLang="zh-CN" sz="1400"/>
              <a:t>["A", "E", "D"]</a:t>
            </a:r>
            <a:endParaRPr lang="zh-CN" altLang="en-US" sz="140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0BC1F78-38B9-E6EB-4883-152BE8E1C6B9}"/>
              </a:ext>
            </a:extLst>
          </p:cNvPr>
          <p:cNvSpPr/>
          <p:nvPr/>
        </p:nvSpPr>
        <p:spPr>
          <a:xfrm>
            <a:off x="1519296" y="2983019"/>
            <a:ext cx="3658447" cy="441837"/>
          </a:xfrm>
          <a:prstGeom prst="roundRect">
            <a:avLst>
              <a:gd name="adj" fmla="val 11932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序列数据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[</a:t>
            </a:r>
            <a:r>
              <a:rPr lang="zh-CN" altLang="en-US" sz="1200">
                <a:solidFill>
                  <a:srgbClr val="C00000"/>
                </a:solidFill>
              </a:rPr>
              <a:t>开始索引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:</a:t>
            </a:r>
            <a:r>
              <a:rPr lang="zh-CN" altLang="en-US" sz="1200">
                <a:solidFill>
                  <a:srgbClr val="C00000"/>
                </a:solidFill>
              </a:rPr>
              <a:t>结束索引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:</a:t>
            </a:r>
            <a:r>
              <a:rPr lang="zh-CN" altLang="en-US" sz="1200">
                <a:solidFill>
                  <a:srgbClr val="C00000"/>
                </a:solidFill>
              </a:rPr>
              <a:t>步长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]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E6B1707E-E79A-A79B-0960-5854F10AC63A}"/>
              </a:ext>
            </a:extLst>
          </p:cNvPr>
          <p:cNvSpPr/>
          <p:nvPr/>
        </p:nvSpPr>
        <p:spPr>
          <a:xfrm>
            <a:off x="2358458" y="1662330"/>
            <a:ext cx="6653020" cy="1035630"/>
          </a:xfrm>
          <a:prstGeom prst="roundRect">
            <a:avLst>
              <a:gd name="adj" fmla="val 8674"/>
            </a:avLst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E3D53DB6-DB8C-82F0-0242-3019F74E6670}"/>
              </a:ext>
            </a:extLst>
          </p:cNvPr>
          <p:cNvSpPr/>
          <p:nvPr/>
        </p:nvSpPr>
        <p:spPr>
          <a:xfrm>
            <a:off x="2477734" y="1881972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"A"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443782D0-0031-EFB6-F645-E2E1524EF64E}"/>
              </a:ext>
            </a:extLst>
          </p:cNvPr>
          <p:cNvSpPr/>
          <p:nvPr/>
        </p:nvSpPr>
        <p:spPr>
          <a:xfrm>
            <a:off x="5278810" y="1877644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"B"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590AB6AF-9A94-AC66-C485-66216FC2384F}"/>
              </a:ext>
            </a:extLst>
          </p:cNvPr>
          <p:cNvSpPr/>
          <p:nvPr/>
        </p:nvSpPr>
        <p:spPr>
          <a:xfrm>
            <a:off x="3411426" y="1881972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"C"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22430A5C-0CAD-C203-B069-A978A7ABB5EB}"/>
              </a:ext>
            </a:extLst>
          </p:cNvPr>
          <p:cNvSpPr/>
          <p:nvPr/>
        </p:nvSpPr>
        <p:spPr>
          <a:xfrm>
            <a:off x="4345118" y="1877644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"E"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A00A4446-99C9-8A77-C7CA-F2CACFE0055A}"/>
              </a:ext>
            </a:extLst>
          </p:cNvPr>
          <p:cNvSpPr/>
          <p:nvPr/>
        </p:nvSpPr>
        <p:spPr>
          <a:xfrm>
            <a:off x="6206716" y="1877643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"D"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49B294BE-E6A9-1B51-4E17-5AFE385E6A48}"/>
              </a:ext>
            </a:extLst>
          </p:cNvPr>
          <p:cNvSpPr/>
          <p:nvPr/>
        </p:nvSpPr>
        <p:spPr>
          <a:xfrm>
            <a:off x="7134622" y="1877642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"E"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480DB207-BD0C-447D-9DF0-ABFB837F0CB8}"/>
              </a:ext>
            </a:extLst>
          </p:cNvPr>
          <p:cNvSpPr/>
          <p:nvPr/>
        </p:nvSpPr>
        <p:spPr>
          <a:xfrm>
            <a:off x="2709230" y="1783586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0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918F067E-B53D-F0A7-84C8-68F90A367C04}"/>
              </a:ext>
            </a:extLst>
          </p:cNvPr>
          <p:cNvSpPr/>
          <p:nvPr/>
        </p:nvSpPr>
        <p:spPr>
          <a:xfrm>
            <a:off x="3648707" y="1783585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7AD1204A-EA87-B9BD-1949-3FDC3C7062CE}"/>
              </a:ext>
            </a:extLst>
          </p:cNvPr>
          <p:cNvSpPr/>
          <p:nvPr/>
        </p:nvSpPr>
        <p:spPr>
          <a:xfrm>
            <a:off x="4582399" y="1783584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57092546-AED4-A213-8B60-770C7150AAB3}"/>
              </a:ext>
            </a:extLst>
          </p:cNvPr>
          <p:cNvSpPr/>
          <p:nvPr/>
        </p:nvSpPr>
        <p:spPr>
          <a:xfrm>
            <a:off x="5513198" y="1783584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BCA535DB-20AC-D806-7C57-2582223A06AE}"/>
              </a:ext>
            </a:extLst>
          </p:cNvPr>
          <p:cNvSpPr/>
          <p:nvPr/>
        </p:nvSpPr>
        <p:spPr>
          <a:xfrm>
            <a:off x="6435317" y="1783584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4AAFF93-FBD7-FBCB-D12B-DDB6DB44AF16}"/>
              </a:ext>
            </a:extLst>
          </p:cNvPr>
          <p:cNvSpPr/>
          <p:nvPr/>
        </p:nvSpPr>
        <p:spPr>
          <a:xfrm>
            <a:off x="7369010" y="178358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C600B30A-B430-AD2C-C451-253C0E0F7A5D}"/>
              </a:ext>
            </a:extLst>
          </p:cNvPr>
          <p:cNvSpPr/>
          <p:nvPr/>
        </p:nvSpPr>
        <p:spPr>
          <a:xfrm>
            <a:off x="7369010" y="2344961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1731035E-F522-E307-AF4B-EF440BE83DCE}"/>
              </a:ext>
            </a:extLst>
          </p:cNvPr>
          <p:cNvSpPr/>
          <p:nvPr/>
        </p:nvSpPr>
        <p:spPr>
          <a:xfrm>
            <a:off x="6442074" y="2344961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2BECBE86-5E2F-1DBF-612D-9A4239C1AB38}"/>
              </a:ext>
            </a:extLst>
          </p:cNvPr>
          <p:cNvSpPr/>
          <p:nvPr/>
        </p:nvSpPr>
        <p:spPr>
          <a:xfrm>
            <a:off x="5513198" y="2344961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3F050B0A-0001-225E-E4CB-2FBB392AFB47}"/>
              </a:ext>
            </a:extLst>
          </p:cNvPr>
          <p:cNvSpPr/>
          <p:nvPr/>
        </p:nvSpPr>
        <p:spPr>
          <a:xfrm>
            <a:off x="4582399" y="2344960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BB914719-B331-E015-5E12-EBF3C9288B07}"/>
              </a:ext>
            </a:extLst>
          </p:cNvPr>
          <p:cNvSpPr/>
          <p:nvPr/>
        </p:nvSpPr>
        <p:spPr>
          <a:xfrm>
            <a:off x="3640674" y="2344959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-6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078A8610-A732-062A-FEC1-ACE9E2E71AEF}"/>
              </a:ext>
            </a:extLst>
          </p:cNvPr>
          <p:cNvSpPr/>
          <p:nvPr/>
        </p:nvSpPr>
        <p:spPr>
          <a:xfrm>
            <a:off x="2704412" y="2344959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-7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DAEB3C5-6003-6398-2AC0-E0E7FDF275E3}"/>
              </a:ext>
            </a:extLst>
          </p:cNvPr>
          <p:cNvSpPr txBox="1"/>
          <p:nvPr/>
        </p:nvSpPr>
        <p:spPr>
          <a:xfrm>
            <a:off x="1587332" y="1988644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s = </a:t>
            </a:r>
            <a:endParaRPr lang="zh-CN" altLang="en-US" sz="2000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CF79F26C-11B6-7323-CD8A-CAE9C21DD4F8}"/>
              </a:ext>
            </a:extLst>
          </p:cNvPr>
          <p:cNvSpPr/>
          <p:nvPr/>
        </p:nvSpPr>
        <p:spPr>
          <a:xfrm>
            <a:off x="8053325" y="1877642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"G"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41BBC692-56C9-9750-8C1F-4D36048A6B18}"/>
              </a:ext>
            </a:extLst>
          </p:cNvPr>
          <p:cNvSpPr/>
          <p:nvPr/>
        </p:nvSpPr>
        <p:spPr>
          <a:xfrm>
            <a:off x="8287713" y="178358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6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7EA391A7-1A85-2E8C-4206-EA98359AC7B2}"/>
              </a:ext>
            </a:extLst>
          </p:cNvPr>
          <p:cNvSpPr/>
          <p:nvPr/>
        </p:nvSpPr>
        <p:spPr>
          <a:xfrm>
            <a:off x="8287713" y="2344961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-1</a:t>
            </a:r>
            <a:endParaRPr lang="zh-CN" alt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42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B7DE-F3BF-D85B-1DC0-F584E37F9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1EF3632-27B1-ED1E-BCE7-3E979CBE9A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31434" y="1595852"/>
            <a:ext cx="7546762" cy="338910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列表的切片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语法：</a:t>
            </a:r>
            <a:r>
              <a:rPr lang="en-US" altLang="zh-CN" sz="1400"/>
              <a:t>s[start:end:step]</a:t>
            </a: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特点：</a:t>
            </a:r>
            <a:endParaRPr lang="en-US" altLang="zh-CN" sz="1400"/>
          </a:p>
          <a:p>
            <a:pPr marL="1069200" lvl="2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200"/>
              <a:t>start</a:t>
            </a:r>
            <a:r>
              <a:rPr lang="zh-CN" altLang="en-US" sz="1200"/>
              <a:t>：开始索引，不指定默认为</a:t>
            </a:r>
            <a:r>
              <a:rPr lang="en-US" altLang="zh-CN" sz="1200"/>
              <a:t>0</a:t>
            </a:r>
            <a:r>
              <a:rPr lang="zh-CN" altLang="en-US" sz="1200"/>
              <a:t>（第一个元素的索引）</a:t>
            </a:r>
            <a:endParaRPr lang="en-US" altLang="zh-CN" sz="1200"/>
          </a:p>
          <a:p>
            <a:pPr marL="1069200" lvl="2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200"/>
              <a:t>end</a:t>
            </a:r>
            <a:r>
              <a:rPr lang="zh-CN" altLang="en-US" sz="1200"/>
              <a:t>：结束索引，不指定默认为列表长度</a:t>
            </a:r>
            <a:r>
              <a:rPr lang="en-US" altLang="zh-CN" sz="1200"/>
              <a:t>(</a:t>
            </a:r>
            <a:r>
              <a:rPr lang="zh-CN" altLang="en-US" sz="1200"/>
              <a:t>直到列表末尾</a:t>
            </a:r>
            <a:r>
              <a:rPr lang="en-US" altLang="zh-CN" sz="1200"/>
              <a:t>) </a:t>
            </a:r>
          </a:p>
          <a:p>
            <a:pPr marL="1069200" lvl="2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200"/>
              <a:t>step</a:t>
            </a:r>
            <a:r>
              <a:rPr lang="zh-CN" altLang="en-US" sz="1200"/>
              <a:t>：步长，不指定默认为</a:t>
            </a:r>
            <a:r>
              <a:rPr lang="en-US" altLang="zh-CN" sz="1200"/>
              <a:t>1 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29950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91DF-2186-23DF-011B-AD1D5004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B02576-2BFE-A279-2010-4309A87C92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列表</a:t>
            </a:r>
            <a:r>
              <a:rPr lang="en-US" altLang="zh-CN"/>
              <a:t>(list)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997A92-AC32-1CA9-E86F-B39CD1FF93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614042"/>
          </a:xfrm>
        </p:spPr>
        <p:txBody>
          <a:bodyPr/>
          <a:lstStyle/>
          <a:p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常见方法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B17644-012F-DDAB-AEBC-80817BCE4D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077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BA79-A3D9-5CF5-5E50-AB5BF110A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7D3FE-C92D-4E4F-1370-328FA9DC8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什么是方法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ABBB4-487A-1BDD-C2CB-F0E09D880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方法就像是物品具备的能力或功能。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5BD9DD-FF6E-0E8A-C961-55E7D19D4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7" t="23703" r="17011" b="27183"/>
          <a:stretch>
            <a:fillRect/>
          </a:stretch>
        </p:blipFill>
        <p:spPr>
          <a:xfrm>
            <a:off x="1255852" y="1811439"/>
            <a:ext cx="1921399" cy="2339444"/>
          </a:xfrm>
          <a:prstGeom prst="roundRect">
            <a:avLst>
              <a:gd name="adj" fmla="val 7280"/>
            </a:avLst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27E547FB-2A89-004D-2652-E198D5B0824A}"/>
              </a:ext>
            </a:extLst>
          </p:cNvPr>
          <p:cNvGrpSpPr/>
          <p:nvPr/>
        </p:nvGrpSpPr>
        <p:grpSpPr>
          <a:xfrm>
            <a:off x="3743737" y="3501793"/>
            <a:ext cx="1152130" cy="382945"/>
            <a:chOff x="3707551" y="1955141"/>
            <a:chExt cx="1152130" cy="382945"/>
          </a:xfrm>
        </p:grpSpPr>
        <p:sp>
          <p:nvSpPr>
            <p:cNvPr id="6" name="photo-camera_176358">
              <a:extLst>
                <a:ext uri="{FF2B5EF4-FFF2-40B4-BE49-F238E27FC236}">
                  <a16:creationId xmlns:a16="http://schemas.microsoft.com/office/drawing/2014/main" id="{5CFD2CEC-E5C2-F1DB-E751-5320A008DC5C}"/>
                </a:ext>
              </a:extLst>
            </p:cNvPr>
            <p:cNvSpPr/>
            <p:nvPr/>
          </p:nvSpPr>
          <p:spPr>
            <a:xfrm>
              <a:off x="3707551" y="1955141"/>
              <a:ext cx="505634" cy="382945"/>
            </a:xfrm>
            <a:custGeom>
              <a:avLst/>
              <a:gdLst>
                <a:gd name="connsiteX0" fmla="*/ 303677 w 607356"/>
                <a:gd name="connsiteY0" fmla="*/ 113661 h 429673"/>
                <a:gd name="connsiteX1" fmla="*/ 189779 w 607356"/>
                <a:gd name="connsiteY1" fmla="*/ 227392 h 429673"/>
                <a:gd name="connsiteX2" fmla="*/ 303677 w 607356"/>
                <a:gd name="connsiteY2" fmla="*/ 341122 h 429673"/>
                <a:gd name="connsiteX3" fmla="*/ 417576 w 607356"/>
                <a:gd name="connsiteY3" fmla="*/ 227392 h 429673"/>
                <a:gd name="connsiteX4" fmla="*/ 303677 w 607356"/>
                <a:gd name="connsiteY4" fmla="*/ 113661 h 429673"/>
                <a:gd name="connsiteX5" fmla="*/ 506075 w 607356"/>
                <a:gd name="connsiteY5" fmla="*/ 101120 h 429673"/>
                <a:gd name="connsiteX6" fmla="*/ 531448 w 607356"/>
                <a:gd name="connsiteY6" fmla="*/ 101120 h 429673"/>
                <a:gd name="connsiteX7" fmla="*/ 544059 w 607356"/>
                <a:gd name="connsiteY7" fmla="*/ 113711 h 429673"/>
                <a:gd name="connsiteX8" fmla="*/ 531448 w 607356"/>
                <a:gd name="connsiteY8" fmla="*/ 126453 h 429673"/>
                <a:gd name="connsiteX9" fmla="*/ 506075 w 607356"/>
                <a:gd name="connsiteY9" fmla="*/ 126453 h 429673"/>
                <a:gd name="connsiteX10" fmla="*/ 493464 w 607356"/>
                <a:gd name="connsiteY10" fmla="*/ 113711 h 429673"/>
                <a:gd name="connsiteX11" fmla="*/ 506075 w 607356"/>
                <a:gd name="connsiteY11" fmla="*/ 101120 h 429673"/>
                <a:gd name="connsiteX12" fmla="*/ 303677 w 607356"/>
                <a:gd name="connsiteY12" fmla="*/ 88489 h 429673"/>
                <a:gd name="connsiteX13" fmla="*/ 442938 w 607356"/>
                <a:gd name="connsiteY13" fmla="*/ 227392 h 429673"/>
                <a:gd name="connsiteX14" fmla="*/ 303677 w 607356"/>
                <a:gd name="connsiteY14" fmla="*/ 366446 h 429673"/>
                <a:gd name="connsiteX15" fmla="*/ 164417 w 607356"/>
                <a:gd name="connsiteY15" fmla="*/ 227392 h 429673"/>
                <a:gd name="connsiteX16" fmla="*/ 303677 w 607356"/>
                <a:gd name="connsiteY16" fmla="*/ 88489 h 429673"/>
                <a:gd name="connsiteX17" fmla="*/ 242487 w 607356"/>
                <a:gd name="connsiteY17" fmla="*/ 25319 h 429673"/>
                <a:gd name="connsiteX18" fmla="*/ 219863 w 607356"/>
                <a:gd name="connsiteY18" fmla="*/ 68984 h 429673"/>
                <a:gd name="connsiteX19" fmla="*/ 208627 w 607356"/>
                <a:gd name="connsiteY19" fmla="*/ 75807 h 429673"/>
                <a:gd name="connsiteX20" fmla="*/ 94748 w 607356"/>
                <a:gd name="connsiteY20" fmla="*/ 75807 h 429673"/>
                <a:gd name="connsiteX21" fmla="*/ 25357 w 607356"/>
                <a:gd name="connsiteY21" fmla="*/ 132965 h 429673"/>
                <a:gd name="connsiteX22" fmla="*/ 25357 w 607356"/>
                <a:gd name="connsiteY22" fmla="*/ 335218 h 429673"/>
                <a:gd name="connsiteX23" fmla="*/ 94748 w 607356"/>
                <a:gd name="connsiteY23" fmla="*/ 404354 h 429673"/>
                <a:gd name="connsiteX24" fmla="*/ 525059 w 607356"/>
                <a:gd name="connsiteY24" fmla="*/ 404354 h 429673"/>
                <a:gd name="connsiteX25" fmla="*/ 581999 w 607356"/>
                <a:gd name="connsiteY25" fmla="*/ 335066 h 429673"/>
                <a:gd name="connsiteX26" fmla="*/ 581999 w 607356"/>
                <a:gd name="connsiteY26" fmla="*/ 132965 h 429673"/>
                <a:gd name="connsiteX27" fmla="*/ 525059 w 607356"/>
                <a:gd name="connsiteY27" fmla="*/ 75807 h 429673"/>
                <a:gd name="connsiteX28" fmla="*/ 413458 w 607356"/>
                <a:gd name="connsiteY28" fmla="*/ 75807 h 429673"/>
                <a:gd name="connsiteX29" fmla="*/ 402221 w 607356"/>
                <a:gd name="connsiteY29" fmla="*/ 68984 h 429673"/>
                <a:gd name="connsiteX30" fmla="*/ 379749 w 607356"/>
                <a:gd name="connsiteY30" fmla="*/ 25319 h 429673"/>
                <a:gd name="connsiteX31" fmla="*/ 234743 w 607356"/>
                <a:gd name="connsiteY31" fmla="*/ 0 h 429673"/>
                <a:gd name="connsiteX32" fmla="*/ 387493 w 607356"/>
                <a:gd name="connsiteY32" fmla="*/ 0 h 429673"/>
                <a:gd name="connsiteX33" fmla="*/ 398729 w 607356"/>
                <a:gd name="connsiteY33" fmla="*/ 6974 h 429673"/>
                <a:gd name="connsiteX34" fmla="*/ 421201 w 607356"/>
                <a:gd name="connsiteY34" fmla="*/ 50639 h 429673"/>
                <a:gd name="connsiteX35" fmla="*/ 525059 w 607356"/>
                <a:gd name="connsiteY35" fmla="*/ 50639 h 429673"/>
                <a:gd name="connsiteX36" fmla="*/ 607356 w 607356"/>
                <a:gd name="connsiteY36" fmla="*/ 132965 h 429673"/>
                <a:gd name="connsiteX37" fmla="*/ 607356 w 607356"/>
                <a:gd name="connsiteY37" fmla="*/ 335218 h 429673"/>
                <a:gd name="connsiteX38" fmla="*/ 525059 w 607356"/>
                <a:gd name="connsiteY38" fmla="*/ 429673 h 429673"/>
                <a:gd name="connsiteX39" fmla="*/ 94748 w 607356"/>
                <a:gd name="connsiteY39" fmla="*/ 429673 h 429673"/>
                <a:gd name="connsiteX40" fmla="*/ 0 w 607356"/>
                <a:gd name="connsiteY40" fmla="*/ 335066 h 429673"/>
                <a:gd name="connsiteX41" fmla="*/ 0 w 607356"/>
                <a:gd name="connsiteY41" fmla="*/ 132965 h 429673"/>
                <a:gd name="connsiteX42" fmla="*/ 94748 w 607356"/>
                <a:gd name="connsiteY42" fmla="*/ 50639 h 429673"/>
                <a:gd name="connsiteX43" fmla="*/ 101277 w 607356"/>
                <a:gd name="connsiteY43" fmla="*/ 50639 h 429673"/>
                <a:gd name="connsiteX44" fmla="*/ 101277 w 607356"/>
                <a:gd name="connsiteY44" fmla="*/ 25319 h 429673"/>
                <a:gd name="connsiteX45" fmla="*/ 113879 w 607356"/>
                <a:gd name="connsiteY45" fmla="*/ 12736 h 429673"/>
                <a:gd name="connsiteX46" fmla="*/ 126482 w 607356"/>
                <a:gd name="connsiteY46" fmla="*/ 25319 h 429673"/>
                <a:gd name="connsiteX47" fmla="*/ 126482 w 607356"/>
                <a:gd name="connsiteY47" fmla="*/ 50639 h 429673"/>
                <a:gd name="connsiteX48" fmla="*/ 201035 w 607356"/>
                <a:gd name="connsiteY48" fmla="*/ 50639 h 429673"/>
                <a:gd name="connsiteX49" fmla="*/ 223507 w 607356"/>
                <a:gd name="connsiteY49" fmla="*/ 6974 h 429673"/>
                <a:gd name="connsiteX50" fmla="*/ 234743 w 607356"/>
                <a:gd name="connsiteY50" fmla="*/ 0 h 42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607356" h="429673">
                  <a:moveTo>
                    <a:pt x="303677" y="113661"/>
                  </a:moveTo>
                  <a:cubicBezTo>
                    <a:pt x="240805" y="113661"/>
                    <a:pt x="189779" y="164764"/>
                    <a:pt x="189779" y="227392"/>
                  </a:cubicBezTo>
                  <a:cubicBezTo>
                    <a:pt x="189779" y="290171"/>
                    <a:pt x="240805" y="341122"/>
                    <a:pt x="303677" y="341122"/>
                  </a:cubicBezTo>
                  <a:cubicBezTo>
                    <a:pt x="366550" y="341122"/>
                    <a:pt x="417576" y="290171"/>
                    <a:pt x="417576" y="227392"/>
                  </a:cubicBezTo>
                  <a:cubicBezTo>
                    <a:pt x="417576" y="164764"/>
                    <a:pt x="366550" y="113661"/>
                    <a:pt x="303677" y="113661"/>
                  </a:cubicBezTo>
                  <a:close/>
                  <a:moveTo>
                    <a:pt x="506075" y="101120"/>
                  </a:moveTo>
                  <a:lnTo>
                    <a:pt x="531448" y="101120"/>
                  </a:lnTo>
                  <a:cubicBezTo>
                    <a:pt x="538437" y="101120"/>
                    <a:pt x="544059" y="106733"/>
                    <a:pt x="544059" y="113711"/>
                  </a:cubicBezTo>
                  <a:cubicBezTo>
                    <a:pt x="544059" y="120689"/>
                    <a:pt x="538437" y="126453"/>
                    <a:pt x="531448" y="126453"/>
                  </a:cubicBezTo>
                  <a:lnTo>
                    <a:pt x="506075" y="126453"/>
                  </a:lnTo>
                  <a:cubicBezTo>
                    <a:pt x="499086" y="126453"/>
                    <a:pt x="493464" y="120689"/>
                    <a:pt x="493464" y="113711"/>
                  </a:cubicBezTo>
                  <a:cubicBezTo>
                    <a:pt x="493464" y="106733"/>
                    <a:pt x="499086" y="101120"/>
                    <a:pt x="506075" y="101120"/>
                  </a:cubicBezTo>
                  <a:close/>
                  <a:moveTo>
                    <a:pt x="303677" y="88489"/>
                  </a:moveTo>
                  <a:cubicBezTo>
                    <a:pt x="380521" y="88489"/>
                    <a:pt x="442938" y="150813"/>
                    <a:pt x="442938" y="227392"/>
                  </a:cubicBezTo>
                  <a:cubicBezTo>
                    <a:pt x="442938" y="304122"/>
                    <a:pt x="380369" y="366446"/>
                    <a:pt x="303677" y="366446"/>
                  </a:cubicBezTo>
                  <a:cubicBezTo>
                    <a:pt x="226986" y="366446"/>
                    <a:pt x="164417" y="304122"/>
                    <a:pt x="164417" y="227392"/>
                  </a:cubicBezTo>
                  <a:cubicBezTo>
                    <a:pt x="164417" y="150813"/>
                    <a:pt x="226986" y="88489"/>
                    <a:pt x="303677" y="88489"/>
                  </a:cubicBezTo>
                  <a:close/>
                  <a:moveTo>
                    <a:pt x="242487" y="25319"/>
                  </a:moveTo>
                  <a:lnTo>
                    <a:pt x="219863" y="68984"/>
                  </a:lnTo>
                  <a:cubicBezTo>
                    <a:pt x="217737" y="73229"/>
                    <a:pt x="213334" y="75807"/>
                    <a:pt x="208627" y="75807"/>
                  </a:cubicBezTo>
                  <a:lnTo>
                    <a:pt x="94748" y="75807"/>
                  </a:lnTo>
                  <a:cubicBezTo>
                    <a:pt x="61343" y="75807"/>
                    <a:pt x="25357" y="97639"/>
                    <a:pt x="25357" y="132965"/>
                  </a:cubicBezTo>
                  <a:lnTo>
                    <a:pt x="25357" y="335218"/>
                  </a:lnTo>
                  <a:cubicBezTo>
                    <a:pt x="25357" y="370089"/>
                    <a:pt x="59673" y="404354"/>
                    <a:pt x="94748" y="404354"/>
                  </a:cubicBezTo>
                  <a:lnTo>
                    <a:pt x="525059" y="404354"/>
                  </a:lnTo>
                  <a:cubicBezTo>
                    <a:pt x="560286" y="404354"/>
                    <a:pt x="581999" y="368421"/>
                    <a:pt x="581999" y="335066"/>
                  </a:cubicBezTo>
                  <a:lnTo>
                    <a:pt x="581999" y="132965"/>
                  </a:lnTo>
                  <a:cubicBezTo>
                    <a:pt x="581999" y="98246"/>
                    <a:pt x="559679" y="75807"/>
                    <a:pt x="525059" y="75807"/>
                  </a:cubicBezTo>
                  <a:lnTo>
                    <a:pt x="413458" y="75807"/>
                  </a:lnTo>
                  <a:cubicBezTo>
                    <a:pt x="408751" y="75807"/>
                    <a:pt x="404499" y="73229"/>
                    <a:pt x="402221" y="68984"/>
                  </a:cubicBezTo>
                  <a:lnTo>
                    <a:pt x="379749" y="25319"/>
                  </a:lnTo>
                  <a:close/>
                  <a:moveTo>
                    <a:pt x="234743" y="0"/>
                  </a:moveTo>
                  <a:lnTo>
                    <a:pt x="387493" y="0"/>
                  </a:lnTo>
                  <a:cubicBezTo>
                    <a:pt x="392200" y="0"/>
                    <a:pt x="396452" y="2729"/>
                    <a:pt x="398729" y="6974"/>
                  </a:cubicBezTo>
                  <a:lnTo>
                    <a:pt x="421201" y="50639"/>
                  </a:lnTo>
                  <a:lnTo>
                    <a:pt x="525059" y="50639"/>
                  </a:lnTo>
                  <a:cubicBezTo>
                    <a:pt x="573496" y="50639"/>
                    <a:pt x="607356" y="84449"/>
                    <a:pt x="607356" y="132965"/>
                  </a:cubicBezTo>
                  <a:lnTo>
                    <a:pt x="607356" y="335218"/>
                  </a:lnTo>
                  <a:cubicBezTo>
                    <a:pt x="607356" y="380550"/>
                    <a:pt x="575925" y="429673"/>
                    <a:pt x="525059" y="429673"/>
                  </a:cubicBezTo>
                  <a:lnTo>
                    <a:pt x="94748" y="429673"/>
                  </a:lnTo>
                  <a:cubicBezTo>
                    <a:pt x="46007" y="429673"/>
                    <a:pt x="0" y="383734"/>
                    <a:pt x="0" y="335066"/>
                  </a:cubicBezTo>
                  <a:lnTo>
                    <a:pt x="0" y="132965"/>
                  </a:lnTo>
                  <a:cubicBezTo>
                    <a:pt x="0" y="82023"/>
                    <a:pt x="49196" y="50639"/>
                    <a:pt x="94748" y="50639"/>
                  </a:cubicBezTo>
                  <a:lnTo>
                    <a:pt x="101277" y="50639"/>
                  </a:lnTo>
                  <a:lnTo>
                    <a:pt x="101277" y="25319"/>
                  </a:lnTo>
                  <a:cubicBezTo>
                    <a:pt x="101277" y="18345"/>
                    <a:pt x="106895" y="12736"/>
                    <a:pt x="113879" y="12736"/>
                  </a:cubicBezTo>
                  <a:cubicBezTo>
                    <a:pt x="120864" y="12736"/>
                    <a:pt x="126482" y="18345"/>
                    <a:pt x="126482" y="25319"/>
                  </a:cubicBezTo>
                  <a:lnTo>
                    <a:pt x="126482" y="50639"/>
                  </a:lnTo>
                  <a:lnTo>
                    <a:pt x="201035" y="50639"/>
                  </a:lnTo>
                  <a:lnTo>
                    <a:pt x="223507" y="6974"/>
                  </a:lnTo>
                  <a:cubicBezTo>
                    <a:pt x="225633" y="2729"/>
                    <a:pt x="230036" y="0"/>
                    <a:pt x="234743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37F2F9D-BE13-83CB-4A35-7D8263DFA88F}"/>
                </a:ext>
              </a:extLst>
            </p:cNvPr>
            <p:cNvSpPr txBox="1"/>
            <p:nvPr/>
          </p:nvSpPr>
          <p:spPr>
            <a:xfrm>
              <a:off x="4271058" y="1999532"/>
              <a:ext cx="5886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拍照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38C82C2-7936-5C03-EA7E-AB1594301830}"/>
              </a:ext>
            </a:extLst>
          </p:cNvPr>
          <p:cNvGrpSpPr/>
          <p:nvPr/>
        </p:nvGrpSpPr>
        <p:grpSpPr>
          <a:xfrm>
            <a:off x="3663233" y="1871294"/>
            <a:ext cx="1354109" cy="459246"/>
            <a:chOff x="3707550" y="2698114"/>
            <a:chExt cx="1354109" cy="459246"/>
          </a:xfrm>
        </p:grpSpPr>
        <p:sp>
          <p:nvSpPr>
            <p:cNvPr id="7" name="phone-call_126509">
              <a:extLst>
                <a:ext uri="{FF2B5EF4-FFF2-40B4-BE49-F238E27FC236}">
                  <a16:creationId xmlns:a16="http://schemas.microsoft.com/office/drawing/2014/main" id="{7C6E2927-50D8-7B94-0A95-304C2E93F33D}"/>
                </a:ext>
              </a:extLst>
            </p:cNvPr>
            <p:cNvSpPr/>
            <p:nvPr/>
          </p:nvSpPr>
          <p:spPr>
            <a:xfrm>
              <a:off x="3707550" y="2698114"/>
              <a:ext cx="459287" cy="459246"/>
            </a:xfrm>
            <a:custGeom>
              <a:avLst/>
              <a:gdLst>
                <a:gd name="connsiteX0" fmla="*/ 334428 w 607513"/>
                <a:gd name="connsiteY0" fmla="*/ 110383 h 607460"/>
                <a:gd name="connsiteX1" fmla="*/ 441627 w 607513"/>
                <a:gd name="connsiteY1" fmla="*/ 165861 h 607460"/>
                <a:gd name="connsiteX2" fmla="*/ 497201 w 607513"/>
                <a:gd name="connsiteY2" fmla="*/ 272971 h 607460"/>
                <a:gd name="connsiteX3" fmla="*/ 482946 w 607513"/>
                <a:gd name="connsiteY3" fmla="*/ 292970 h 607460"/>
                <a:gd name="connsiteX4" fmla="*/ 480057 w 607513"/>
                <a:gd name="connsiteY4" fmla="*/ 293162 h 607460"/>
                <a:gd name="connsiteX5" fmla="*/ 462913 w 607513"/>
                <a:gd name="connsiteY5" fmla="*/ 278836 h 607460"/>
                <a:gd name="connsiteX6" fmla="*/ 416970 w 607513"/>
                <a:gd name="connsiteY6" fmla="*/ 190379 h 607460"/>
                <a:gd name="connsiteX7" fmla="*/ 328360 w 607513"/>
                <a:gd name="connsiteY7" fmla="*/ 144516 h 607460"/>
                <a:gd name="connsiteX8" fmla="*/ 314395 w 607513"/>
                <a:gd name="connsiteY8" fmla="*/ 124517 h 607460"/>
                <a:gd name="connsiteX9" fmla="*/ 334428 w 607513"/>
                <a:gd name="connsiteY9" fmla="*/ 110383 h 607460"/>
                <a:gd name="connsiteX10" fmla="*/ 116203 w 607513"/>
                <a:gd name="connsiteY10" fmla="*/ 69656 h 607460"/>
                <a:gd name="connsiteX11" fmla="*/ 96747 w 607513"/>
                <a:gd name="connsiteY11" fmla="*/ 78792 h 607460"/>
                <a:gd name="connsiteX12" fmla="*/ 52923 w 607513"/>
                <a:gd name="connsiteY12" fmla="*/ 122551 h 607460"/>
                <a:gd name="connsiteX13" fmla="*/ 35201 w 607513"/>
                <a:gd name="connsiteY13" fmla="*/ 160636 h 607460"/>
                <a:gd name="connsiteX14" fmla="*/ 49552 w 607513"/>
                <a:gd name="connsiteY14" fmla="*/ 240845 h 607460"/>
                <a:gd name="connsiteX15" fmla="*/ 142015 w 607513"/>
                <a:gd name="connsiteY15" fmla="*/ 394627 h 607460"/>
                <a:gd name="connsiteX16" fmla="*/ 331565 w 607513"/>
                <a:gd name="connsiteY16" fmla="*/ 542831 h 607460"/>
                <a:gd name="connsiteX17" fmla="*/ 431734 w 607513"/>
                <a:gd name="connsiteY17" fmla="*/ 572837 h 607460"/>
                <a:gd name="connsiteX18" fmla="*/ 437706 w 607513"/>
                <a:gd name="connsiteY18" fmla="*/ 573030 h 607460"/>
                <a:gd name="connsiteX19" fmla="*/ 485960 w 607513"/>
                <a:gd name="connsiteY19" fmla="*/ 552641 h 607460"/>
                <a:gd name="connsiteX20" fmla="*/ 510713 w 607513"/>
                <a:gd name="connsiteY20" fmla="*/ 526962 h 607460"/>
                <a:gd name="connsiteX21" fmla="*/ 526413 w 607513"/>
                <a:gd name="connsiteY21" fmla="*/ 511286 h 607460"/>
                <a:gd name="connsiteX22" fmla="*/ 526316 w 607513"/>
                <a:gd name="connsiteY22" fmla="*/ 471182 h 607460"/>
                <a:gd name="connsiteX23" fmla="*/ 455524 w 607513"/>
                <a:gd name="connsiteY23" fmla="*/ 400494 h 607460"/>
                <a:gd name="connsiteX24" fmla="*/ 455235 w 607513"/>
                <a:gd name="connsiteY24" fmla="*/ 400301 h 607460"/>
                <a:gd name="connsiteX25" fmla="*/ 436742 w 607513"/>
                <a:gd name="connsiteY25" fmla="*/ 390876 h 607460"/>
                <a:gd name="connsiteX26" fmla="*/ 417383 w 607513"/>
                <a:gd name="connsiteY26" fmla="*/ 400494 h 607460"/>
                <a:gd name="connsiteX27" fmla="*/ 373463 w 607513"/>
                <a:gd name="connsiteY27" fmla="*/ 444349 h 607460"/>
                <a:gd name="connsiteX28" fmla="*/ 353911 w 607513"/>
                <a:gd name="connsiteY28" fmla="*/ 453197 h 607460"/>
                <a:gd name="connsiteX29" fmla="*/ 341197 w 607513"/>
                <a:gd name="connsiteY29" fmla="*/ 450023 h 607460"/>
                <a:gd name="connsiteX30" fmla="*/ 339656 w 607513"/>
                <a:gd name="connsiteY30" fmla="*/ 449158 h 607460"/>
                <a:gd name="connsiteX31" fmla="*/ 326942 w 607513"/>
                <a:gd name="connsiteY31" fmla="*/ 442329 h 607460"/>
                <a:gd name="connsiteX32" fmla="*/ 311146 w 607513"/>
                <a:gd name="connsiteY32" fmla="*/ 433770 h 607460"/>
                <a:gd name="connsiteX33" fmla="*/ 197108 w 607513"/>
                <a:gd name="connsiteY33" fmla="*/ 330095 h 607460"/>
                <a:gd name="connsiteX34" fmla="*/ 197012 w 607513"/>
                <a:gd name="connsiteY34" fmla="*/ 329998 h 607460"/>
                <a:gd name="connsiteX35" fmla="*/ 155500 w 607513"/>
                <a:gd name="connsiteY35" fmla="*/ 262388 h 607460"/>
                <a:gd name="connsiteX36" fmla="*/ 155114 w 607513"/>
                <a:gd name="connsiteY36" fmla="*/ 261234 h 607460"/>
                <a:gd name="connsiteX37" fmla="*/ 161856 w 607513"/>
                <a:gd name="connsiteY37" fmla="*/ 232189 h 607460"/>
                <a:gd name="connsiteX38" fmla="*/ 162434 w 607513"/>
                <a:gd name="connsiteY38" fmla="*/ 231516 h 607460"/>
                <a:gd name="connsiteX39" fmla="*/ 194700 w 607513"/>
                <a:gd name="connsiteY39" fmla="*/ 200260 h 607460"/>
                <a:gd name="connsiteX40" fmla="*/ 205777 w 607513"/>
                <a:gd name="connsiteY40" fmla="*/ 189200 h 607460"/>
                <a:gd name="connsiteX41" fmla="*/ 205777 w 607513"/>
                <a:gd name="connsiteY41" fmla="*/ 149480 h 607460"/>
                <a:gd name="connsiteX42" fmla="*/ 170718 w 607513"/>
                <a:gd name="connsiteY42" fmla="*/ 114473 h 607460"/>
                <a:gd name="connsiteX43" fmla="*/ 158485 w 607513"/>
                <a:gd name="connsiteY43" fmla="*/ 101970 h 607460"/>
                <a:gd name="connsiteX44" fmla="*/ 135370 w 607513"/>
                <a:gd name="connsiteY44" fmla="*/ 79081 h 607460"/>
                <a:gd name="connsiteX45" fmla="*/ 134984 w 607513"/>
                <a:gd name="connsiteY45" fmla="*/ 78696 h 607460"/>
                <a:gd name="connsiteX46" fmla="*/ 116203 w 607513"/>
                <a:gd name="connsiteY46" fmla="*/ 69656 h 607460"/>
                <a:gd name="connsiteX47" fmla="*/ 116010 w 607513"/>
                <a:gd name="connsiteY47" fmla="*/ 35033 h 607460"/>
                <a:gd name="connsiteX48" fmla="*/ 158967 w 607513"/>
                <a:gd name="connsiteY48" fmla="*/ 53883 h 607460"/>
                <a:gd name="connsiteX49" fmla="*/ 183142 w 607513"/>
                <a:gd name="connsiteY49" fmla="*/ 77734 h 607460"/>
                <a:gd name="connsiteX50" fmla="*/ 195085 w 607513"/>
                <a:gd name="connsiteY50" fmla="*/ 89948 h 607460"/>
                <a:gd name="connsiteX51" fmla="*/ 230145 w 607513"/>
                <a:gd name="connsiteY51" fmla="*/ 124956 h 607460"/>
                <a:gd name="connsiteX52" fmla="*/ 230145 w 607513"/>
                <a:gd name="connsiteY52" fmla="*/ 213724 h 607460"/>
                <a:gd name="connsiteX53" fmla="*/ 219357 w 607513"/>
                <a:gd name="connsiteY53" fmla="*/ 224592 h 607460"/>
                <a:gd name="connsiteX54" fmla="*/ 189595 w 607513"/>
                <a:gd name="connsiteY54" fmla="*/ 253829 h 607460"/>
                <a:gd name="connsiteX55" fmla="*/ 224269 w 607513"/>
                <a:gd name="connsiteY55" fmla="*/ 308455 h 607460"/>
                <a:gd name="connsiteX56" fmla="*/ 329928 w 607513"/>
                <a:gd name="connsiteY56" fmla="*/ 404629 h 607460"/>
                <a:gd name="connsiteX57" fmla="*/ 342642 w 607513"/>
                <a:gd name="connsiteY57" fmla="*/ 411458 h 607460"/>
                <a:gd name="connsiteX58" fmla="*/ 352562 w 607513"/>
                <a:gd name="connsiteY58" fmla="*/ 416555 h 607460"/>
                <a:gd name="connsiteX59" fmla="*/ 393111 w 607513"/>
                <a:gd name="connsiteY59" fmla="*/ 376162 h 607460"/>
                <a:gd name="connsiteX60" fmla="*/ 437031 w 607513"/>
                <a:gd name="connsiteY60" fmla="*/ 356446 h 607460"/>
                <a:gd name="connsiteX61" fmla="*/ 480470 w 607513"/>
                <a:gd name="connsiteY61" fmla="*/ 376258 h 607460"/>
                <a:gd name="connsiteX62" fmla="*/ 550973 w 607513"/>
                <a:gd name="connsiteY62" fmla="*/ 446946 h 607460"/>
                <a:gd name="connsiteX63" fmla="*/ 570718 w 607513"/>
                <a:gd name="connsiteY63" fmla="*/ 490897 h 607460"/>
                <a:gd name="connsiteX64" fmla="*/ 551359 w 607513"/>
                <a:gd name="connsiteY64" fmla="*/ 535330 h 607460"/>
                <a:gd name="connsiteX65" fmla="*/ 534600 w 607513"/>
                <a:gd name="connsiteY65" fmla="*/ 551872 h 607460"/>
                <a:gd name="connsiteX66" fmla="*/ 512158 w 607513"/>
                <a:gd name="connsiteY66" fmla="*/ 575049 h 607460"/>
                <a:gd name="connsiteX67" fmla="*/ 511676 w 607513"/>
                <a:gd name="connsiteY67" fmla="*/ 575723 h 607460"/>
                <a:gd name="connsiteX68" fmla="*/ 437513 w 607513"/>
                <a:gd name="connsiteY68" fmla="*/ 607460 h 607460"/>
                <a:gd name="connsiteX69" fmla="*/ 429422 w 607513"/>
                <a:gd name="connsiteY69" fmla="*/ 607268 h 607460"/>
                <a:gd name="connsiteX70" fmla="*/ 316444 w 607513"/>
                <a:gd name="connsiteY70" fmla="*/ 573895 h 607460"/>
                <a:gd name="connsiteX71" fmla="*/ 115240 w 607513"/>
                <a:gd name="connsiteY71" fmla="*/ 416555 h 607460"/>
                <a:gd name="connsiteX72" fmla="*/ 16997 w 607513"/>
                <a:gd name="connsiteY72" fmla="*/ 252963 h 607460"/>
                <a:gd name="connsiteX73" fmla="*/ 527 w 607513"/>
                <a:gd name="connsiteY73" fmla="*/ 157751 h 607460"/>
                <a:gd name="connsiteX74" fmla="*/ 28362 w 607513"/>
                <a:gd name="connsiteY74" fmla="*/ 98123 h 607460"/>
                <a:gd name="connsiteX75" fmla="*/ 72090 w 607513"/>
                <a:gd name="connsiteY75" fmla="*/ 54172 h 607460"/>
                <a:gd name="connsiteX76" fmla="*/ 72283 w 607513"/>
                <a:gd name="connsiteY76" fmla="*/ 53883 h 607460"/>
                <a:gd name="connsiteX77" fmla="*/ 116010 w 607513"/>
                <a:gd name="connsiteY77" fmla="*/ 35033 h 607460"/>
                <a:gd name="connsiteX78" fmla="*/ 339147 w 607513"/>
                <a:gd name="connsiteY78" fmla="*/ 282 h 607460"/>
                <a:gd name="connsiteX79" fmla="*/ 515672 w 607513"/>
                <a:gd name="connsiteY79" fmla="*/ 91639 h 607460"/>
                <a:gd name="connsiteX80" fmla="*/ 607257 w 607513"/>
                <a:gd name="connsiteY80" fmla="*/ 268008 h 607460"/>
                <a:gd name="connsiteX81" fmla="*/ 593100 w 607513"/>
                <a:gd name="connsiteY81" fmla="*/ 287722 h 607460"/>
                <a:gd name="connsiteX82" fmla="*/ 590211 w 607513"/>
                <a:gd name="connsiteY82" fmla="*/ 288010 h 607460"/>
                <a:gd name="connsiteX83" fmla="*/ 573069 w 607513"/>
                <a:gd name="connsiteY83" fmla="*/ 273585 h 607460"/>
                <a:gd name="connsiteX84" fmla="*/ 491307 w 607513"/>
                <a:gd name="connsiteY84" fmla="*/ 116066 h 607460"/>
                <a:gd name="connsiteX85" fmla="*/ 333465 w 607513"/>
                <a:gd name="connsiteY85" fmla="*/ 34325 h 607460"/>
                <a:gd name="connsiteX86" fmla="*/ 319212 w 607513"/>
                <a:gd name="connsiteY86" fmla="*/ 14322 h 607460"/>
                <a:gd name="connsiteX87" fmla="*/ 339147 w 607513"/>
                <a:gd name="connsiteY87" fmla="*/ 282 h 607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07513" h="607460">
                  <a:moveTo>
                    <a:pt x="334428" y="110383"/>
                  </a:moveTo>
                  <a:cubicBezTo>
                    <a:pt x="375073" y="117306"/>
                    <a:pt x="412251" y="136536"/>
                    <a:pt x="441627" y="165861"/>
                  </a:cubicBezTo>
                  <a:cubicBezTo>
                    <a:pt x="471003" y="195283"/>
                    <a:pt x="490266" y="232300"/>
                    <a:pt x="497201" y="272971"/>
                  </a:cubicBezTo>
                  <a:cubicBezTo>
                    <a:pt x="498742" y="282393"/>
                    <a:pt x="492482" y="291431"/>
                    <a:pt x="482946" y="292970"/>
                  </a:cubicBezTo>
                  <a:cubicBezTo>
                    <a:pt x="481983" y="293066"/>
                    <a:pt x="481020" y="293162"/>
                    <a:pt x="480057" y="293162"/>
                  </a:cubicBezTo>
                  <a:cubicBezTo>
                    <a:pt x="471677" y="293162"/>
                    <a:pt x="464357" y="287297"/>
                    <a:pt x="462913" y="278836"/>
                  </a:cubicBezTo>
                  <a:cubicBezTo>
                    <a:pt x="457134" y="245280"/>
                    <a:pt x="441338" y="214705"/>
                    <a:pt x="416970" y="190379"/>
                  </a:cubicBezTo>
                  <a:cubicBezTo>
                    <a:pt x="392603" y="166053"/>
                    <a:pt x="361974" y="150093"/>
                    <a:pt x="328360" y="144516"/>
                  </a:cubicBezTo>
                  <a:cubicBezTo>
                    <a:pt x="318825" y="142978"/>
                    <a:pt x="312661" y="133844"/>
                    <a:pt x="314395" y="124517"/>
                  </a:cubicBezTo>
                  <a:cubicBezTo>
                    <a:pt x="316032" y="115095"/>
                    <a:pt x="324893" y="108845"/>
                    <a:pt x="334428" y="110383"/>
                  </a:cubicBezTo>
                  <a:close/>
                  <a:moveTo>
                    <a:pt x="116203" y="69656"/>
                  </a:moveTo>
                  <a:cubicBezTo>
                    <a:pt x="109653" y="69656"/>
                    <a:pt x="103007" y="72926"/>
                    <a:pt x="96747" y="78792"/>
                  </a:cubicBezTo>
                  <a:lnTo>
                    <a:pt x="52923" y="122551"/>
                  </a:lnTo>
                  <a:cubicBezTo>
                    <a:pt x="42232" y="133130"/>
                    <a:pt x="36453" y="145633"/>
                    <a:pt x="35201" y="160636"/>
                  </a:cubicBezTo>
                  <a:cubicBezTo>
                    <a:pt x="33275" y="184103"/>
                    <a:pt x="37609" y="208915"/>
                    <a:pt x="49552" y="240845"/>
                  </a:cubicBezTo>
                  <a:cubicBezTo>
                    <a:pt x="69008" y="293164"/>
                    <a:pt x="98288" y="341924"/>
                    <a:pt x="142015" y="394627"/>
                  </a:cubicBezTo>
                  <a:cubicBezTo>
                    <a:pt x="195085" y="457813"/>
                    <a:pt x="258943" y="507728"/>
                    <a:pt x="331565" y="542831"/>
                  </a:cubicBezTo>
                  <a:cubicBezTo>
                    <a:pt x="358149" y="555526"/>
                    <a:pt x="393593" y="570433"/>
                    <a:pt x="431734" y="572837"/>
                  </a:cubicBezTo>
                  <a:cubicBezTo>
                    <a:pt x="433660" y="573030"/>
                    <a:pt x="435779" y="573030"/>
                    <a:pt x="437706" y="573030"/>
                  </a:cubicBezTo>
                  <a:cubicBezTo>
                    <a:pt x="457739" y="573030"/>
                    <a:pt x="472957" y="566490"/>
                    <a:pt x="485960" y="552641"/>
                  </a:cubicBezTo>
                  <a:cubicBezTo>
                    <a:pt x="493954" y="543216"/>
                    <a:pt x="502430" y="534945"/>
                    <a:pt x="510713" y="526962"/>
                  </a:cubicBezTo>
                  <a:cubicBezTo>
                    <a:pt x="516299" y="521577"/>
                    <a:pt x="521404" y="516672"/>
                    <a:pt x="526413" y="511286"/>
                  </a:cubicBezTo>
                  <a:cubicBezTo>
                    <a:pt x="539512" y="497726"/>
                    <a:pt x="539512" y="484261"/>
                    <a:pt x="526316" y="471182"/>
                  </a:cubicBezTo>
                  <a:lnTo>
                    <a:pt x="455524" y="400494"/>
                  </a:lnTo>
                  <a:lnTo>
                    <a:pt x="455235" y="400301"/>
                  </a:lnTo>
                  <a:cubicBezTo>
                    <a:pt x="451286" y="395877"/>
                    <a:pt x="444737" y="390876"/>
                    <a:pt x="436742" y="390876"/>
                  </a:cubicBezTo>
                  <a:cubicBezTo>
                    <a:pt x="428652" y="390876"/>
                    <a:pt x="421717" y="396166"/>
                    <a:pt x="417383" y="400494"/>
                  </a:cubicBezTo>
                  <a:lnTo>
                    <a:pt x="373463" y="444349"/>
                  </a:lnTo>
                  <a:cubicBezTo>
                    <a:pt x="371248" y="446561"/>
                    <a:pt x="364602" y="453197"/>
                    <a:pt x="353911" y="453197"/>
                  </a:cubicBezTo>
                  <a:cubicBezTo>
                    <a:pt x="349673" y="453197"/>
                    <a:pt x="345627" y="452235"/>
                    <a:pt x="341197" y="450023"/>
                  </a:cubicBezTo>
                  <a:cubicBezTo>
                    <a:pt x="340715" y="449735"/>
                    <a:pt x="340234" y="449350"/>
                    <a:pt x="339656" y="449158"/>
                  </a:cubicBezTo>
                  <a:cubicBezTo>
                    <a:pt x="335996" y="446850"/>
                    <a:pt x="331565" y="444638"/>
                    <a:pt x="326942" y="442329"/>
                  </a:cubicBezTo>
                  <a:cubicBezTo>
                    <a:pt x="321837" y="439733"/>
                    <a:pt x="316444" y="437040"/>
                    <a:pt x="311146" y="433770"/>
                  </a:cubicBezTo>
                  <a:cubicBezTo>
                    <a:pt x="269923" y="407707"/>
                    <a:pt x="232552" y="373757"/>
                    <a:pt x="197108" y="330095"/>
                  </a:cubicBezTo>
                  <a:lnTo>
                    <a:pt x="197012" y="329998"/>
                  </a:lnTo>
                  <a:cubicBezTo>
                    <a:pt x="177460" y="305282"/>
                    <a:pt x="164650" y="284508"/>
                    <a:pt x="155500" y="262388"/>
                  </a:cubicBezTo>
                  <a:lnTo>
                    <a:pt x="155114" y="261234"/>
                  </a:lnTo>
                  <a:cubicBezTo>
                    <a:pt x="152803" y="253925"/>
                    <a:pt x="150780" y="243153"/>
                    <a:pt x="161856" y="232189"/>
                  </a:cubicBezTo>
                  <a:cubicBezTo>
                    <a:pt x="161953" y="231901"/>
                    <a:pt x="162242" y="231805"/>
                    <a:pt x="162434" y="231516"/>
                  </a:cubicBezTo>
                  <a:cubicBezTo>
                    <a:pt x="173607" y="221514"/>
                    <a:pt x="183913" y="211224"/>
                    <a:pt x="194700" y="200260"/>
                  </a:cubicBezTo>
                  <a:cubicBezTo>
                    <a:pt x="198457" y="196605"/>
                    <a:pt x="202020" y="192951"/>
                    <a:pt x="205777" y="189200"/>
                  </a:cubicBezTo>
                  <a:cubicBezTo>
                    <a:pt x="219357" y="175639"/>
                    <a:pt x="219357" y="163040"/>
                    <a:pt x="205777" y="149480"/>
                  </a:cubicBezTo>
                  <a:lnTo>
                    <a:pt x="170718" y="114473"/>
                  </a:lnTo>
                  <a:cubicBezTo>
                    <a:pt x="166576" y="110241"/>
                    <a:pt x="162434" y="106106"/>
                    <a:pt x="158485" y="101970"/>
                  </a:cubicBezTo>
                  <a:cubicBezTo>
                    <a:pt x="150684" y="93891"/>
                    <a:pt x="143171" y="86390"/>
                    <a:pt x="135370" y="79081"/>
                  </a:cubicBezTo>
                  <a:lnTo>
                    <a:pt x="134984" y="78696"/>
                  </a:lnTo>
                  <a:cubicBezTo>
                    <a:pt x="130843" y="74560"/>
                    <a:pt x="124293" y="69656"/>
                    <a:pt x="116203" y="69656"/>
                  </a:cubicBezTo>
                  <a:close/>
                  <a:moveTo>
                    <a:pt x="116010" y="35033"/>
                  </a:moveTo>
                  <a:cubicBezTo>
                    <a:pt x="131613" y="35033"/>
                    <a:pt x="146542" y="41573"/>
                    <a:pt x="158967" y="53883"/>
                  </a:cubicBezTo>
                  <a:cubicBezTo>
                    <a:pt x="167346" y="61577"/>
                    <a:pt x="175437" y="69848"/>
                    <a:pt x="183142" y="77734"/>
                  </a:cubicBezTo>
                  <a:cubicBezTo>
                    <a:pt x="186995" y="81870"/>
                    <a:pt x="191137" y="86005"/>
                    <a:pt x="195085" y="89948"/>
                  </a:cubicBezTo>
                  <a:lnTo>
                    <a:pt x="230145" y="124956"/>
                  </a:lnTo>
                  <a:cubicBezTo>
                    <a:pt x="257113" y="151884"/>
                    <a:pt x="257113" y="186795"/>
                    <a:pt x="230145" y="213724"/>
                  </a:cubicBezTo>
                  <a:cubicBezTo>
                    <a:pt x="226581" y="217283"/>
                    <a:pt x="222921" y="221033"/>
                    <a:pt x="219357" y="224592"/>
                  </a:cubicBezTo>
                  <a:cubicBezTo>
                    <a:pt x="209822" y="234209"/>
                    <a:pt x="200094" y="244211"/>
                    <a:pt x="189595" y="253829"/>
                  </a:cubicBezTo>
                  <a:cubicBezTo>
                    <a:pt x="197397" y="271140"/>
                    <a:pt x="208184" y="288163"/>
                    <a:pt x="224269" y="308455"/>
                  </a:cubicBezTo>
                  <a:cubicBezTo>
                    <a:pt x="257402" y="349137"/>
                    <a:pt x="291883" y="380490"/>
                    <a:pt x="329928" y="404629"/>
                  </a:cubicBezTo>
                  <a:cubicBezTo>
                    <a:pt x="333684" y="406937"/>
                    <a:pt x="338018" y="409149"/>
                    <a:pt x="342642" y="411458"/>
                  </a:cubicBezTo>
                  <a:cubicBezTo>
                    <a:pt x="345820" y="413093"/>
                    <a:pt x="349191" y="414728"/>
                    <a:pt x="352562" y="416555"/>
                  </a:cubicBezTo>
                  <a:lnTo>
                    <a:pt x="393111" y="376162"/>
                  </a:lnTo>
                  <a:cubicBezTo>
                    <a:pt x="406114" y="363178"/>
                    <a:pt x="421236" y="356446"/>
                    <a:pt x="437031" y="356446"/>
                  </a:cubicBezTo>
                  <a:cubicBezTo>
                    <a:pt x="452924" y="356446"/>
                    <a:pt x="467949" y="363371"/>
                    <a:pt x="480470" y="376258"/>
                  </a:cubicBezTo>
                  <a:lnTo>
                    <a:pt x="550973" y="446946"/>
                  </a:lnTo>
                  <a:cubicBezTo>
                    <a:pt x="563880" y="459737"/>
                    <a:pt x="570718" y="475029"/>
                    <a:pt x="570718" y="490897"/>
                  </a:cubicBezTo>
                  <a:cubicBezTo>
                    <a:pt x="570718" y="506670"/>
                    <a:pt x="564072" y="522058"/>
                    <a:pt x="551359" y="535330"/>
                  </a:cubicBezTo>
                  <a:cubicBezTo>
                    <a:pt x="545772" y="541100"/>
                    <a:pt x="540186" y="546582"/>
                    <a:pt x="534600" y="551872"/>
                  </a:cubicBezTo>
                  <a:cubicBezTo>
                    <a:pt x="526509" y="559662"/>
                    <a:pt x="518804" y="566971"/>
                    <a:pt x="512158" y="575049"/>
                  </a:cubicBezTo>
                  <a:cubicBezTo>
                    <a:pt x="512062" y="575338"/>
                    <a:pt x="511773" y="575434"/>
                    <a:pt x="511676" y="575723"/>
                  </a:cubicBezTo>
                  <a:cubicBezTo>
                    <a:pt x="492124" y="596881"/>
                    <a:pt x="467178" y="607460"/>
                    <a:pt x="437513" y="607460"/>
                  </a:cubicBezTo>
                  <a:cubicBezTo>
                    <a:pt x="435009" y="607460"/>
                    <a:pt x="432119" y="607364"/>
                    <a:pt x="429422" y="607268"/>
                  </a:cubicBezTo>
                  <a:cubicBezTo>
                    <a:pt x="385406" y="604382"/>
                    <a:pt x="346013" y="587841"/>
                    <a:pt x="316444" y="573895"/>
                  </a:cubicBezTo>
                  <a:cubicBezTo>
                    <a:pt x="239102" y="536580"/>
                    <a:pt x="171488" y="483588"/>
                    <a:pt x="115240" y="416555"/>
                  </a:cubicBezTo>
                  <a:cubicBezTo>
                    <a:pt x="68815" y="360870"/>
                    <a:pt x="37801" y="308936"/>
                    <a:pt x="16997" y="252963"/>
                  </a:cubicBezTo>
                  <a:cubicBezTo>
                    <a:pt x="8521" y="230074"/>
                    <a:pt x="-2555" y="195259"/>
                    <a:pt x="527" y="157751"/>
                  </a:cubicBezTo>
                  <a:cubicBezTo>
                    <a:pt x="2550" y="134573"/>
                    <a:pt x="11989" y="114569"/>
                    <a:pt x="28362" y="98123"/>
                  </a:cubicBezTo>
                  <a:lnTo>
                    <a:pt x="72090" y="54172"/>
                  </a:lnTo>
                  <a:lnTo>
                    <a:pt x="72283" y="53883"/>
                  </a:lnTo>
                  <a:cubicBezTo>
                    <a:pt x="85189" y="41573"/>
                    <a:pt x="100311" y="35033"/>
                    <a:pt x="116010" y="35033"/>
                  </a:cubicBezTo>
                  <a:close/>
                  <a:moveTo>
                    <a:pt x="339147" y="282"/>
                  </a:moveTo>
                  <a:cubicBezTo>
                    <a:pt x="406174" y="11630"/>
                    <a:pt x="467135" y="43172"/>
                    <a:pt x="515672" y="91639"/>
                  </a:cubicBezTo>
                  <a:cubicBezTo>
                    <a:pt x="564209" y="140107"/>
                    <a:pt x="595797" y="201076"/>
                    <a:pt x="607257" y="268008"/>
                  </a:cubicBezTo>
                  <a:cubicBezTo>
                    <a:pt x="608894" y="277336"/>
                    <a:pt x="602538" y="286279"/>
                    <a:pt x="593100" y="287722"/>
                  </a:cubicBezTo>
                  <a:cubicBezTo>
                    <a:pt x="592137" y="287818"/>
                    <a:pt x="591174" y="288010"/>
                    <a:pt x="590211" y="288010"/>
                  </a:cubicBezTo>
                  <a:cubicBezTo>
                    <a:pt x="581833" y="288010"/>
                    <a:pt x="574514" y="282048"/>
                    <a:pt x="573069" y="273585"/>
                  </a:cubicBezTo>
                  <a:cubicBezTo>
                    <a:pt x="562957" y="213866"/>
                    <a:pt x="534740" y="159340"/>
                    <a:pt x="491307" y="116066"/>
                  </a:cubicBezTo>
                  <a:cubicBezTo>
                    <a:pt x="447874" y="72791"/>
                    <a:pt x="393366" y="44518"/>
                    <a:pt x="333465" y="34325"/>
                  </a:cubicBezTo>
                  <a:cubicBezTo>
                    <a:pt x="324027" y="32690"/>
                    <a:pt x="317671" y="23843"/>
                    <a:pt x="319212" y="14322"/>
                  </a:cubicBezTo>
                  <a:cubicBezTo>
                    <a:pt x="320945" y="4994"/>
                    <a:pt x="329805" y="-1449"/>
                    <a:pt x="339147" y="28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FF35EC4-9EBF-399E-C9F1-7F295EEC99DF}"/>
                </a:ext>
              </a:extLst>
            </p:cNvPr>
            <p:cNvSpPr txBox="1"/>
            <p:nvPr/>
          </p:nvSpPr>
          <p:spPr>
            <a:xfrm>
              <a:off x="4271058" y="2758460"/>
              <a:ext cx="790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打电话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7D08909-27B4-C113-A8A3-7F0D3183C7CE}"/>
              </a:ext>
            </a:extLst>
          </p:cNvPr>
          <p:cNvGrpSpPr/>
          <p:nvPr/>
        </p:nvGrpSpPr>
        <p:grpSpPr>
          <a:xfrm>
            <a:off x="3743737" y="2658844"/>
            <a:ext cx="1249961" cy="471433"/>
            <a:chOff x="3811698" y="3517388"/>
            <a:chExt cx="1249961" cy="471433"/>
          </a:xfrm>
        </p:grpSpPr>
        <p:sp>
          <p:nvSpPr>
            <p:cNvPr id="8" name="smartphone-message_21518">
              <a:extLst>
                <a:ext uri="{FF2B5EF4-FFF2-40B4-BE49-F238E27FC236}">
                  <a16:creationId xmlns:a16="http://schemas.microsoft.com/office/drawing/2014/main" id="{27E140B3-5CC3-E6D0-A772-C25277B8A285}"/>
                </a:ext>
              </a:extLst>
            </p:cNvPr>
            <p:cNvSpPr/>
            <p:nvPr/>
          </p:nvSpPr>
          <p:spPr>
            <a:xfrm>
              <a:off x="3811698" y="3517388"/>
              <a:ext cx="355139" cy="471433"/>
            </a:xfrm>
            <a:custGeom>
              <a:avLst/>
              <a:gdLst>
                <a:gd name="T0" fmla="*/ 634 w 820"/>
                <a:gd name="T1" fmla="*/ 281 h 1090"/>
                <a:gd name="T2" fmla="*/ 560 w 820"/>
                <a:gd name="T3" fmla="*/ 0 h 1090"/>
                <a:gd name="T4" fmla="*/ 0 w 820"/>
                <a:gd name="T5" fmla="*/ 74 h 1090"/>
                <a:gd name="T6" fmla="*/ 74 w 820"/>
                <a:gd name="T7" fmla="*/ 1090 h 1090"/>
                <a:gd name="T8" fmla="*/ 634 w 820"/>
                <a:gd name="T9" fmla="*/ 1016 h 1090"/>
                <a:gd name="T10" fmla="*/ 749 w 820"/>
                <a:gd name="T11" fmla="*/ 780 h 1090"/>
                <a:gd name="T12" fmla="*/ 820 w 820"/>
                <a:gd name="T13" fmla="*/ 351 h 1090"/>
                <a:gd name="T14" fmla="*/ 239 w 820"/>
                <a:gd name="T15" fmla="*/ 53 h 1090"/>
                <a:gd name="T16" fmla="*/ 404 w 820"/>
                <a:gd name="T17" fmla="*/ 62 h 1090"/>
                <a:gd name="T18" fmla="*/ 239 w 820"/>
                <a:gd name="T19" fmla="*/ 71 h 1090"/>
                <a:gd name="T20" fmla="*/ 239 w 820"/>
                <a:gd name="T21" fmla="*/ 53 h 1090"/>
                <a:gd name="T22" fmla="*/ 280 w 820"/>
                <a:gd name="T23" fmla="*/ 1016 h 1090"/>
                <a:gd name="T24" fmla="*/ 354 w 820"/>
                <a:gd name="T25" fmla="*/ 1016 h 1090"/>
                <a:gd name="T26" fmla="*/ 582 w 820"/>
                <a:gd name="T27" fmla="*/ 954 h 1090"/>
                <a:gd name="T28" fmla="*/ 52 w 820"/>
                <a:gd name="T29" fmla="*/ 117 h 1090"/>
                <a:gd name="T30" fmla="*/ 582 w 820"/>
                <a:gd name="T31" fmla="*/ 281 h 1090"/>
                <a:gd name="T32" fmla="*/ 209 w 820"/>
                <a:gd name="T33" fmla="*/ 351 h 1090"/>
                <a:gd name="T34" fmla="*/ 279 w 820"/>
                <a:gd name="T35" fmla="*/ 780 h 1090"/>
                <a:gd name="T36" fmla="*/ 322 w 820"/>
                <a:gd name="T37" fmla="*/ 900 h 1090"/>
                <a:gd name="T38" fmla="*/ 582 w 820"/>
                <a:gd name="T39" fmla="*/ 780 h 1090"/>
                <a:gd name="T40" fmla="*/ 788 w 820"/>
                <a:gd name="T41" fmla="*/ 710 h 1090"/>
                <a:gd name="T42" fmla="*/ 429 w 820"/>
                <a:gd name="T43" fmla="*/ 749 h 1090"/>
                <a:gd name="T44" fmla="*/ 353 w 820"/>
                <a:gd name="T45" fmla="*/ 749 h 1090"/>
                <a:gd name="T46" fmla="*/ 240 w 820"/>
                <a:gd name="T47" fmla="*/ 710 h 1090"/>
                <a:gd name="T48" fmla="*/ 279 w 820"/>
                <a:gd name="T49" fmla="*/ 312 h 1090"/>
                <a:gd name="T50" fmla="*/ 788 w 820"/>
                <a:gd name="T51" fmla="*/ 351 h 1090"/>
                <a:gd name="T52" fmla="*/ 711 w 820"/>
                <a:gd name="T53" fmla="*/ 423 h 1090"/>
                <a:gd name="T54" fmla="*/ 337 w 820"/>
                <a:gd name="T55" fmla="*/ 443 h 1090"/>
                <a:gd name="T56" fmla="*/ 337 w 820"/>
                <a:gd name="T57" fmla="*/ 404 h 1090"/>
                <a:gd name="T58" fmla="*/ 711 w 820"/>
                <a:gd name="T59" fmla="*/ 423 h 1090"/>
                <a:gd name="T60" fmla="*/ 692 w 820"/>
                <a:gd name="T61" fmla="*/ 547 h 1090"/>
                <a:gd name="T62" fmla="*/ 319 w 820"/>
                <a:gd name="T63" fmla="*/ 528 h 1090"/>
                <a:gd name="T64" fmla="*/ 692 w 820"/>
                <a:gd name="T65" fmla="*/ 509 h 1090"/>
                <a:gd name="T66" fmla="*/ 711 w 820"/>
                <a:gd name="T67" fmla="*/ 632 h 1090"/>
                <a:gd name="T68" fmla="*/ 337 w 820"/>
                <a:gd name="T69" fmla="*/ 651 h 1090"/>
                <a:gd name="T70" fmla="*/ 337 w 820"/>
                <a:gd name="T71" fmla="*/ 613 h 1090"/>
                <a:gd name="T72" fmla="*/ 711 w 820"/>
                <a:gd name="T73" fmla="*/ 632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20" h="1090">
                  <a:moveTo>
                    <a:pt x="749" y="281"/>
                  </a:moveTo>
                  <a:lnTo>
                    <a:pt x="634" y="281"/>
                  </a:lnTo>
                  <a:lnTo>
                    <a:pt x="634" y="74"/>
                  </a:lnTo>
                  <a:cubicBezTo>
                    <a:pt x="634" y="33"/>
                    <a:pt x="601" y="0"/>
                    <a:pt x="560" y="0"/>
                  </a:cubicBezTo>
                  <a:lnTo>
                    <a:pt x="74" y="0"/>
                  </a:lnTo>
                  <a:cubicBezTo>
                    <a:pt x="34" y="0"/>
                    <a:pt x="0" y="33"/>
                    <a:pt x="0" y="74"/>
                  </a:cubicBezTo>
                  <a:lnTo>
                    <a:pt x="0" y="1016"/>
                  </a:lnTo>
                  <a:cubicBezTo>
                    <a:pt x="0" y="1057"/>
                    <a:pt x="34" y="1090"/>
                    <a:pt x="74" y="1090"/>
                  </a:cubicBezTo>
                  <a:lnTo>
                    <a:pt x="560" y="1090"/>
                  </a:lnTo>
                  <a:cubicBezTo>
                    <a:pt x="601" y="1090"/>
                    <a:pt x="634" y="1057"/>
                    <a:pt x="634" y="1016"/>
                  </a:cubicBezTo>
                  <a:lnTo>
                    <a:pt x="634" y="780"/>
                  </a:lnTo>
                  <a:lnTo>
                    <a:pt x="749" y="780"/>
                  </a:lnTo>
                  <a:cubicBezTo>
                    <a:pt x="788" y="780"/>
                    <a:pt x="820" y="748"/>
                    <a:pt x="820" y="710"/>
                  </a:cubicBezTo>
                  <a:lnTo>
                    <a:pt x="820" y="351"/>
                  </a:lnTo>
                  <a:cubicBezTo>
                    <a:pt x="820" y="312"/>
                    <a:pt x="788" y="281"/>
                    <a:pt x="749" y="281"/>
                  </a:cubicBezTo>
                  <a:close/>
                  <a:moveTo>
                    <a:pt x="239" y="53"/>
                  </a:moveTo>
                  <a:lnTo>
                    <a:pt x="395" y="53"/>
                  </a:lnTo>
                  <a:cubicBezTo>
                    <a:pt x="400" y="53"/>
                    <a:pt x="404" y="57"/>
                    <a:pt x="404" y="62"/>
                  </a:cubicBezTo>
                  <a:cubicBezTo>
                    <a:pt x="404" y="67"/>
                    <a:pt x="400" y="71"/>
                    <a:pt x="395" y="71"/>
                  </a:cubicBezTo>
                  <a:lnTo>
                    <a:pt x="239" y="71"/>
                  </a:lnTo>
                  <a:cubicBezTo>
                    <a:pt x="234" y="71"/>
                    <a:pt x="230" y="67"/>
                    <a:pt x="230" y="62"/>
                  </a:cubicBezTo>
                  <a:cubicBezTo>
                    <a:pt x="230" y="57"/>
                    <a:pt x="234" y="53"/>
                    <a:pt x="239" y="53"/>
                  </a:cubicBezTo>
                  <a:close/>
                  <a:moveTo>
                    <a:pt x="317" y="1053"/>
                  </a:moveTo>
                  <a:cubicBezTo>
                    <a:pt x="297" y="1053"/>
                    <a:pt x="280" y="1037"/>
                    <a:pt x="280" y="1016"/>
                  </a:cubicBezTo>
                  <a:cubicBezTo>
                    <a:pt x="280" y="996"/>
                    <a:pt x="297" y="980"/>
                    <a:pt x="317" y="980"/>
                  </a:cubicBezTo>
                  <a:cubicBezTo>
                    <a:pt x="337" y="980"/>
                    <a:pt x="354" y="996"/>
                    <a:pt x="354" y="1016"/>
                  </a:cubicBezTo>
                  <a:cubicBezTo>
                    <a:pt x="354" y="1037"/>
                    <a:pt x="337" y="1053"/>
                    <a:pt x="317" y="1053"/>
                  </a:cubicBezTo>
                  <a:close/>
                  <a:moveTo>
                    <a:pt x="582" y="954"/>
                  </a:moveTo>
                  <a:lnTo>
                    <a:pt x="52" y="954"/>
                  </a:lnTo>
                  <a:lnTo>
                    <a:pt x="52" y="117"/>
                  </a:lnTo>
                  <a:lnTo>
                    <a:pt x="582" y="117"/>
                  </a:lnTo>
                  <a:lnTo>
                    <a:pt x="582" y="281"/>
                  </a:lnTo>
                  <a:lnTo>
                    <a:pt x="279" y="281"/>
                  </a:lnTo>
                  <a:cubicBezTo>
                    <a:pt x="240" y="281"/>
                    <a:pt x="209" y="312"/>
                    <a:pt x="209" y="351"/>
                  </a:cubicBezTo>
                  <a:lnTo>
                    <a:pt x="209" y="710"/>
                  </a:lnTo>
                  <a:cubicBezTo>
                    <a:pt x="209" y="748"/>
                    <a:pt x="240" y="780"/>
                    <a:pt x="279" y="780"/>
                  </a:cubicBezTo>
                  <a:lnTo>
                    <a:pt x="322" y="780"/>
                  </a:lnTo>
                  <a:lnTo>
                    <a:pt x="322" y="900"/>
                  </a:lnTo>
                  <a:lnTo>
                    <a:pt x="442" y="780"/>
                  </a:lnTo>
                  <a:lnTo>
                    <a:pt x="582" y="780"/>
                  </a:lnTo>
                  <a:lnTo>
                    <a:pt x="582" y="954"/>
                  </a:lnTo>
                  <a:close/>
                  <a:moveTo>
                    <a:pt x="788" y="710"/>
                  </a:moveTo>
                  <a:cubicBezTo>
                    <a:pt x="788" y="731"/>
                    <a:pt x="771" y="749"/>
                    <a:pt x="749" y="749"/>
                  </a:cubicBezTo>
                  <a:lnTo>
                    <a:pt x="429" y="749"/>
                  </a:lnTo>
                  <a:lnTo>
                    <a:pt x="353" y="825"/>
                  </a:lnTo>
                  <a:lnTo>
                    <a:pt x="353" y="749"/>
                  </a:lnTo>
                  <a:lnTo>
                    <a:pt x="279" y="749"/>
                  </a:lnTo>
                  <a:cubicBezTo>
                    <a:pt x="257" y="749"/>
                    <a:pt x="240" y="731"/>
                    <a:pt x="240" y="710"/>
                  </a:cubicBezTo>
                  <a:lnTo>
                    <a:pt x="240" y="351"/>
                  </a:lnTo>
                  <a:cubicBezTo>
                    <a:pt x="240" y="330"/>
                    <a:pt x="257" y="312"/>
                    <a:pt x="279" y="312"/>
                  </a:cubicBezTo>
                  <a:lnTo>
                    <a:pt x="749" y="312"/>
                  </a:lnTo>
                  <a:cubicBezTo>
                    <a:pt x="771" y="312"/>
                    <a:pt x="788" y="330"/>
                    <a:pt x="788" y="351"/>
                  </a:cubicBezTo>
                  <a:lnTo>
                    <a:pt x="788" y="710"/>
                  </a:lnTo>
                  <a:close/>
                  <a:moveTo>
                    <a:pt x="711" y="423"/>
                  </a:moveTo>
                  <a:cubicBezTo>
                    <a:pt x="711" y="434"/>
                    <a:pt x="702" y="443"/>
                    <a:pt x="692" y="443"/>
                  </a:cubicBezTo>
                  <a:lnTo>
                    <a:pt x="337" y="443"/>
                  </a:lnTo>
                  <a:cubicBezTo>
                    <a:pt x="327" y="443"/>
                    <a:pt x="319" y="434"/>
                    <a:pt x="319" y="423"/>
                  </a:cubicBezTo>
                  <a:cubicBezTo>
                    <a:pt x="319" y="413"/>
                    <a:pt x="327" y="404"/>
                    <a:pt x="337" y="404"/>
                  </a:cubicBezTo>
                  <a:lnTo>
                    <a:pt x="692" y="404"/>
                  </a:lnTo>
                  <a:cubicBezTo>
                    <a:pt x="702" y="404"/>
                    <a:pt x="711" y="413"/>
                    <a:pt x="711" y="423"/>
                  </a:cubicBezTo>
                  <a:close/>
                  <a:moveTo>
                    <a:pt x="711" y="528"/>
                  </a:moveTo>
                  <a:cubicBezTo>
                    <a:pt x="711" y="538"/>
                    <a:pt x="702" y="547"/>
                    <a:pt x="692" y="547"/>
                  </a:cubicBezTo>
                  <a:lnTo>
                    <a:pt x="337" y="547"/>
                  </a:lnTo>
                  <a:cubicBezTo>
                    <a:pt x="327" y="547"/>
                    <a:pt x="319" y="538"/>
                    <a:pt x="319" y="528"/>
                  </a:cubicBezTo>
                  <a:cubicBezTo>
                    <a:pt x="319" y="517"/>
                    <a:pt x="327" y="509"/>
                    <a:pt x="337" y="509"/>
                  </a:cubicBezTo>
                  <a:lnTo>
                    <a:pt x="692" y="509"/>
                  </a:lnTo>
                  <a:cubicBezTo>
                    <a:pt x="702" y="509"/>
                    <a:pt x="711" y="517"/>
                    <a:pt x="711" y="528"/>
                  </a:cubicBezTo>
                  <a:close/>
                  <a:moveTo>
                    <a:pt x="711" y="632"/>
                  </a:moveTo>
                  <a:cubicBezTo>
                    <a:pt x="711" y="643"/>
                    <a:pt x="702" y="651"/>
                    <a:pt x="692" y="651"/>
                  </a:cubicBezTo>
                  <a:lnTo>
                    <a:pt x="337" y="651"/>
                  </a:lnTo>
                  <a:cubicBezTo>
                    <a:pt x="327" y="651"/>
                    <a:pt x="319" y="643"/>
                    <a:pt x="319" y="632"/>
                  </a:cubicBezTo>
                  <a:cubicBezTo>
                    <a:pt x="319" y="622"/>
                    <a:pt x="327" y="613"/>
                    <a:pt x="337" y="613"/>
                  </a:cubicBezTo>
                  <a:lnTo>
                    <a:pt x="692" y="613"/>
                  </a:lnTo>
                  <a:cubicBezTo>
                    <a:pt x="702" y="613"/>
                    <a:pt x="711" y="622"/>
                    <a:pt x="711" y="63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D5EE1C3-174F-F98C-8F65-A06D113B135D}"/>
                </a:ext>
              </a:extLst>
            </p:cNvPr>
            <p:cNvSpPr txBox="1"/>
            <p:nvPr/>
          </p:nvSpPr>
          <p:spPr>
            <a:xfrm>
              <a:off x="4271058" y="3517388"/>
              <a:ext cx="7906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发短信</a:t>
              </a: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C43B544C-83AB-991A-0F6E-5A5A93DD7F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6" t="20253" r="5893" b="23291"/>
          <a:stretch>
            <a:fillRect/>
          </a:stretch>
        </p:blipFill>
        <p:spPr>
          <a:xfrm>
            <a:off x="6551272" y="2235497"/>
            <a:ext cx="2691114" cy="1724478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5A9FC400-6A01-7B22-017E-3187F5A03A17}"/>
              </a:ext>
            </a:extLst>
          </p:cNvPr>
          <p:cNvGrpSpPr/>
          <p:nvPr/>
        </p:nvGrpSpPr>
        <p:grpSpPr>
          <a:xfrm>
            <a:off x="9918507" y="1932313"/>
            <a:ext cx="1165169" cy="409902"/>
            <a:chOff x="10074765" y="2634239"/>
            <a:chExt cx="1165169" cy="409902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1E0786A-CAB0-0331-4AA0-5ACE23DB386A}"/>
                </a:ext>
              </a:extLst>
            </p:cNvPr>
            <p:cNvSpPr txBox="1"/>
            <p:nvPr/>
          </p:nvSpPr>
          <p:spPr>
            <a:xfrm>
              <a:off x="10651311" y="2669913"/>
              <a:ext cx="5886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制冷</a:t>
              </a:r>
            </a:p>
          </p:txBody>
        </p:sp>
        <p:sp>
          <p:nvSpPr>
            <p:cNvPr id="20" name="snowflake_238707">
              <a:extLst>
                <a:ext uri="{FF2B5EF4-FFF2-40B4-BE49-F238E27FC236}">
                  <a16:creationId xmlns:a16="http://schemas.microsoft.com/office/drawing/2014/main" id="{670D9F1B-B34A-8002-16FD-6715A7495CA1}"/>
                </a:ext>
              </a:extLst>
            </p:cNvPr>
            <p:cNvSpPr/>
            <p:nvPr/>
          </p:nvSpPr>
          <p:spPr>
            <a:xfrm>
              <a:off x="10074765" y="2634239"/>
              <a:ext cx="414865" cy="409902"/>
            </a:xfrm>
            <a:custGeom>
              <a:avLst/>
              <a:gdLst>
                <a:gd name="T0" fmla="*/ 372171 w 604011"/>
                <a:gd name="T1" fmla="*/ 372171 w 604011"/>
                <a:gd name="T2" fmla="*/ 372171 w 604011"/>
                <a:gd name="T3" fmla="*/ 372171 w 604011"/>
                <a:gd name="T4" fmla="*/ 372171 w 604011"/>
                <a:gd name="T5" fmla="*/ 372171 w 604011"/>
                <a:gd name="T6" fmla="*/ 372171 w 604011"/>
                <a:gd name="T7" fmla="*/ 372171 w 604011"/>
                <a:gd name="T8" fmla="*/ 372171 w 604011"/>
                <a:gd name="T9" fmla="*/ 372171 w 604011"/>
                <a:gd name="T10" fmla="*/ 372171 w 604011"/>
                <a:gd name="T11" fmla="*/ 372171 w 604011"/>
                <a:gd name="T12" fmla="*/ 372171 w 604011"/>
                <a:gd name="T13" fmla="*/ 372171 w 604011"/>
                <a:gd name="T14" fmla="*/ 372171 w 604011"/>
                <a:gd name="T15" fmla="*/ 372171 w 604011"/>
                <a:gd name="T16" fmla="*/ 372171 w 604011"/>
                <a:gd name="T17" fmla="*/ 372171 w 604011"/>
                <a:gd name="T18" fmla="*/ 372171 w 604011"/>
                <a:gd name="T19" fmla="*/ 372171 w 604011"/>
                <a:gd name="T20" fmla="*/ 372171 w 604011"/>
                <a:gd name="T21" fmla="*/ 372171 w 604011"/>
                <a:gd name="T22" fmla="*/ 372171 w 604011"/>
                <a:gd name="T23" fmla="*/ 372171 w 604011"/>
                <a:gd name="T24" fmla="*/ 372171 w 604011"/>
                <a:gd name="T25" fmla="*/ 372171 w 604011"/>
                <a:gd name="T26" fmla="*/ 372171 w 604011"/>
                <a:gd name="T27" fmla="*/ 372171 w 604011"/>
                <a:gd name="T28" fmla="*/ 372171 w 604011"/>
                <a:gd name="T29" fmla="*/ 372171 w 604011"/>
                <a:gd name="T30" fmla="*/ 372171 w 604011"/>
                <a:gd name="T31" fmla="*/ 372171 w 604011"/>
                <a:gd name="T32" fmla="*/ 372171 w 604011"/>
                <a:gd name="T33" fmla="*/ 372171 w 604011"/>
                <a:gd name="T34" fmla="*/ 372171 w 604011"/>
                <a:gd name="T35" fmla="*/ 372171 w 604011"/>
                <a:gd name="T36" fmla="*/ 372171 w 604011"/>
                <a:gd name="T37" fmla="*/ 372171 w 604011"/>
                <a:gd name="T38" fmla="*/ 372171 w 604011"/>
                <a:gd name="T39" fmla="*/ 372171 w 604011"/>
                <a:gd name="T40" fmla="*/ 372171 w 604011"/>
                <a:gd name="T41" fmla="*/ 372171 w 604011"/>
                <a:gd name="T42" fmla="*/ 372171 w 604011"/>
                <a:gd name="T43" fmla="*/ 372171 w 604011"/>
                <a:gd name="T44" fmla="*/ 372171 w 604011"/>
                <a:gd name="T45" fmla="*/ 372171 w 604011"/>
                <a:gd name="T46" fmla="*/ 372171 w 604011"/>
                <a:gd name="T47" fmla="*/ 372171 w 604011"/>
                <a:gd name="T48" fmla="*/ 372171 w 604011"/>
                <a:gd name="T49" fmla="*/ 372171 w 604011"/>
                <a:gd name="T50" fmla="*/ 372171 w 604011"/>
                <a:gd name="T51" fmla="*/ 372171 w 604011"/>
                <a:gd name="T52" fmla="*/ 372171 w 604011"/>
                <a:gd name="T53" fmla="*/ 372171 w 604011"/>
                <a:gd name="T54" fmla="*/ 372171 w 604011"/>
                <a:gd name="T55" fmla="*/ 372171 w 604011"/>
                <a:gd name="T56" fmla="*/ 372171 w 604011"/>
                <a:gd name="T57" fmla="*/ 372171 w 604011"/>
                <a:gd name="T58" fmla="*/ 372171 w 604011"/>
                <a:gd name="T59" fmla="*/ 372171 w 604011"/>
                <a:gd name="T60" fmla="*/ 372171 w 604011"/>
                <a:gd name="T61" fmla="*/ 372171 w 604011"/>
                <a:gd name="T62" fmla="*/ 372171 w 604011"/>
                <a:gd name="T63" fmla="*/ 372171 w 604011"/>
                <a:gd name="T64" fmla="*/ 372171 w 604011"/>
                <a:gd name="T65" fmla="*/ 372171 w 604011"/>
                <a:gd name="T66" fmla="*/ 372171 w 604011"/>
                <a:gd name="T67" fmla="*/ 372171 w 604011"/>
                <a:gd name="T68" fmla="*/ 372171 w 604011"/>
                <a:gd name="T69" fmla="*/ 372171 w 604011"/>
                <a:gd name="T70" fmla="*/ 372171 w 604011"/>
                <a:gd name="T71" fmla="*/ 372171 w 604011"/>
                <a:gd name="T72" fmla="*/ 372171 w 604011"/>
                <a:gd name="T73" fmla="*/ 372171 w 604011"/>
                <a:gd name="T74" fmla="*/ 372171 w 604011"/>
                <a:gd name="T75" fmla="*/ 372171 w 604011"/>
                <a:gd name="T76" fmla="*/ 372171 w 604011"/>
                <a:gd name="T77" fmla="*/ 372171 w 604011"/>
                <a:gd name="T78" fmla="*/ 372171 w 604011"/>
                <a:gd name="T79" fmla="*/ 372171 w 604011"/>
                <a:gd name="T80" fmla="*/ 372171 w 604011"/>
                <a:gd name="T81" fmla="*/ 372171 w 604011"/>
                <a:gd name="T82" fmla="*/ 372171 w 604011"/>
                <a:gd name="T83" fmla="*/ 372171 w 604011"/>
                <a:gd name="T84" fmla="*/ 372171 w 604011"/>
                <a:gd name="T85" fmla="*/ 372171 w 604011"/>
                <a:gd name="T86" fmla="*/ 372171 w 604011"/>
                <a:gd name="T87" fmla="*/ 372171 w 604011"/>
                <a:gd name="T88" fmla="*/ 372171 w 604011"/>
                <a:gd name="T89" fmla="*/ 372171 w 604011"/>
                <a:gd name="T90" fmla="*/ 372171 w 604011"/>
                <a:gd name="T91" fmla="*/ 372171 w 604011"/>
                <a:gd name="T92" fmla="*/ 372171 w 604011"/>
                <a:gd name="T93" fmla="*/ 372171 w 604011"/>
                <a:gd name="T94" fmla="*/ 372171 w 604011"/>
                <a:gd name="T95" fmla="*/ 372171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827" h="6755">
                  <a:moveTo>
                    <a:pt x="6739" y="3795"/>
                  </a:moveTo>
                  <a:lnTo>
                    <a:pt x="5192" y="4209"/>
                  </a:lnTo>
                  <a:lnTo>
                    <a:pt x="4764" y="3962"/>
                  </a:lnTo>
                  <a:lnTo>
                    <a:pt x="4764" y="2792"/>
                  </a:lnTo>
                  <a:lnTo>
                    <a:pt x="5192" y="2545"/>
                  </a:lnTo>
                  <a:lnTo>
                    <a:pt x="6739" y="2960"/>
                  </a:lnTo>
                  <a:lnTo>
                    <a:pt x="6827" y="2634"/>
                  </a:lnTo>
                  <a:lnTo>
                    <a:pt x="5606" y="2307"/>
                  </a:lnTo>
                  <a:lnTo>
                    <a:pt x="6423" y="1835"/>
                  </a:lnTo>
                  <a:lnTo>
                    <a:pt x="6254" y="1542"/>
                  </a:lnTo>
                  <a:lnTo>
                    <a:pt x="5437" y="2014"/>
                  </a:lnTo>
                  <a:lnTo>
                    <a:pt x="5764" y="793"/>
                  </a:lnTo>
                  <a:lnTo>
                    <a:pt x="5438" y="706"/>
                  </a:lnTo>
                  <a:lnTo>
                    <a:pt x="5023" y="2253"/>
                  </a:lnTo>
                  <a:lnTo>
                    <a:pt x="4595" y="2500"/>
                  </a:lnTo>
                  <a:lnTo>
                    <a:pt x="3582" y="1915"/>
                  </a:lnTo>
                  <a:lnTo>
                    <a:pt x="3582" y="1421"/>
                  </a:lnTo>
                  <a:lnTo>
                    <a:pt x="4715" y="288"/>
                  </a:lnTo>
                  <a:lnTo>
                    <a:pt x="4476" y="49"/>
                  </a:lnTo>
                  <a:lnTo>
                    <a:pt x="3582" y="943"/>
                  </a:lnTo>
                  <a:lnTo>
                    <a:pt x="3582" y="0"/>
                  </a:lnTo>
                  <a:lnTo>
                    <a:pt x="3244" y="0"/>
                  </a:lnTo>
                  <a:lnTo>
                    <a:pt x="3244" y="943"/>
                  </a:lnTo>
                  <a:lnTo>
                    <a:pt x="2351" y="49"/>
                  </a:lnTo>
                  <a:lnTo>
                    <a:pt x="2112" y="288"/>
                  </a:lnTo>
                  <a:lnTo>
                    <a:pt x="3244" y="1421"/>
                  </a:lnTo>
                  <a:lnTo>
                    <a:pt x="3244" y="1915"/>
                  </a:lnTo>
                  <a:lnTo>
                    <a:pt x="2231" y="2500"/>
                  </a:lnTo>
                  <a:lnTo>
                    <a:pt x="1803" y="2253"/>
                  </a:lnTo>
                  <a:lnTo>
                    <a:pt x="1389" y="706"/>
                  </a:lnTo>
                  <a:lnTo>
                    <a:pt x="1063" y="793"/>
                  </a:lnTo>
                  <a:lnTo>
                    <a:pt x="1390" y="2014"/>
                  </a:lnTo>
                  <a:lnTo>
                    <a:pt x="573" y="1542"/>
                  </a:lnTo>
                  <a:lnTo>
                    <a:pt x="404" y="1835"/>
                  </a:lnTo>
                  <a:lnTo>
                    <a:pt x="1221" y="2307"/>
                  </a:lnTo>
                  <a:lnTo>
                    <a:pt x="0" y="2634"/>
                  </a:lnTo>
                  <a:lnTo>
                    <a:pt x="87" y="2960"/>
                  </a:lnTo>
                  <a:lnTo>
                    <a:pt x="1635" y="2545"/>
                  </a:lnTo>
                  <a:lnTo>
                    <a:pt x="2062" y="2792"/>
                  </a:lnTo>
                  <a:lnTo>
                    <a:pt x="2062" y="3962"/>
                  </a:lnTo>
                  <a:lnTo>
                    <a:pt x="1635" y="4209"/>
                  </a:lnTo>
                  <a:lnTo>
                    <a:pt x="87" y="3795"/>
                  </a:lnTo>
                  <a:lnTo>
                    <a:pt x="0" y="4121"/>
                  </a:lnTo>
                  <a:lnTo>
                    <a:pt x="1221" y="4448"/>
                  </a:lnTo>
                  <a:lnTo>
                    <a:pt x="404" y="4920"/>
                  </a:lnTo>
                  <a:lnTo>
                    <a:pt x="573" y="5212"/>
                  </a:lnTo>
                  <a:lnTo>
                    <a:pt x="1390" y="4741"/>
                  </a:lnTo>
                  <a:lnTo>
                    <a:pt x="1063" y="5962"/>
                  </a:lnTo>
                  <a:lnTo>
                    <a:pt x="1389" y="6049"/>
                  </a:lnTo>
                  <a:lnTo>
                    <a:pt x="1803" y="4502"/>
                  </a:lnTo>
                  <a:lnTo>
                    <a:pt x="2231" y="4255"/>
                  </a:lnTo>
                  <a:lnTo>
                    <a:pt x="3244" y="4840"/>
                  </a:lnTo>
                  <a:lnTo>
                    <a:pt x="3244" y="5334"/>
                  </a:lnTo>
                  <a:lnTo>
                    <a:pt x="2112" y="6466"/>
                  </a:lnTo>
                  <a:lnTo>
                    <a:pt x="2351" y="6705"/>
                  </a:lnTo>
                  <a:lnTo>
                    <a:pt x="3245" y="5811"/>
                  </a:lnTo>
                  <a:lnTo>
                    <a:pt x="3245" y="6755"/>
                  </a:lnTo>
                  <a:lnTo>
                    <a:pt x="3582" y="6755"/>
                  </a:lnTo>
                  <a:lnTo>
                    <a:pt x="3582" y="5811"/>
                  </a:lnTo>
                  <a:lnTo>
                    <a:pt x="4476" y="6705"/>
                  </a:lnTo>
                  <a:lnTo>
                    <a:pt x="4715" y="6466"/>
                  </a:lnTo>
                  <a:lnTo>
                    <a:pt x="3582" y="5334"/>
                  </a:lnTo>
                  <a:lnTo>
                    <a:pt x="3582" y="4840"/>
                  </a:lnTo>
                  <a:lnTo>
                    <a:pt x="4596" y="4255"/>
                  </a:lnTo>
                  <a:lnTo>
                    <a:pt x="5023" y="4502"/>
                  </a:lnTo>
                  <a:lnTo>
                    <a:pt x="5438" y="6049"/>
                  </a:lnTo>
                  <a:lnTo>
                    <a:pt x="5764" y="5962"/>
                  </a:lnTo>
                  <a:lnTo>
                    <a:pt x="5437" y="4741"/>
                  </a:lnTo>
                  <a:lnTo>
                    <a:pt x="6254" y="5212"/>
                  </a:lnTo>
                  <a:lnTo>
                    <a:pt x="6423" y="4920"/>
                  </a:lnTo>
                  <a:lnTo>
                    <a:pt x="5606" y="4448"/>
                  </a:lnTo>
                  <a:lnTo>
                    <a:pt x="6827" y="4121"/>
                  </a:lnTo>
                  <a:lnTo>
                    <a:pt x="6739" y="3795"/>
                  </a:lnTo>
                  <a:close/>
                  <a:moveTo>
                    <a:pt x="2400" y="2987"/>
                  </a:moveTo>
                  <a:lnTo>
                    <a:pt x="3076" y="3377"/>
                  </a:lnTo>
                  <a:lnTo>
                    <a:pt x="2400" y="3767"/>
                  </a:lnTo>
                  <a:lnTo>
                    <a:pt x="2400" y="2987"/>
                  </a:lnTo>
                  <a:close/>
                  <a:moveTo>
                    <a:pt x="3244" y="4450"/>
                  </a:moveTo>
                  <a:lnTo>
                    <a:pt x="2569" y="4060"/>
                  </a:lnTo>
                  <a:lnTo>
                    <a:pt x="3244" y="3670"/>
                  </a:lnTo>
                  <a:lnTo>
                    <a:pt x="3244" y="4450"/>
                  </a:lnTo>
                  <a:close/>
                  <a:moveTo>
                    <a:pt x="3244" y="3085"/>
                  </a:moveTo>
                  <a:lnTo>
                    <a:pt x="2569" y="2695"/>
                  </a:lnTo>
                  <a:lnTo>
                    <a:pt x="3244" y="2305"/>
                  </a:lnTo>
                  <a:lnTo>
                    <a:pt x="3244" y="3085"/>
                  </a:lnTo>
                  <a:close/>
                  <a:moveTo>
                    <a:pt x="3582" y="2305"/>
                  </a:moveTo>
                  <a:lnTo>
                    <a:pt x="4257" y="2695"/>
                  </a:lnTo>
                  <a:lnTo>
                    <a:pt x="3582" y="3085"/>
                  </a:lnTo>
                  <a:lnTo>
                    <a:pt x="3582" y="2305"/>
                  </a:lnTo>
                  <a:close/>
                  <a:moveTo>
                    <a:pt x="3582" y="4450"/>
                  </a:moveTo>
                  <a:lnTo>
                    <a:pt x="3582" y="3670"/>
                  </a:lnTo>
                  <a:lnTo>
                    <a:pt x="4257" y="4060"/>
                  </a:lnTo>
                  <a:lnTo>
                    <a:pt x="3582" y="4450"/>
                  </a:lnTo>
                  <a:close/>
                  <a:moveTo>
                    <a:pt x="4427" y="3767"/>
                  </a:moveTo>
                  <a:lnTo>
                    <a:pt x="3751" y="3377"/>
                  </a:lnTo>
                  <a:lnTo>
                    <a:pt x="4427" y="2987"/>
                  </a:lnTo>
                  <a:lnTo>
                    <a:pt x="4427" y="3767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8794F2D-3CC2-F6BA-CADF-5F556322DB9D}"/>
              </a:ext>
            </a:extLst>
          </p:cNvPr>
          <p:cNvGrpSpPr/>
          <p:nvPr/>
        </p:nvGrpSpPr>
        <p:grpSpPr>
          <a:xfrm>
            <a:off x="9918507" y="2727074"/>
            <a:ext cx="1165169" cy="474416"/>
            <a:chOff x="10074765" y="3429000"/>
            <a:chExt cx="1165169" cy="474416"/>
          </a:xfrm>
        </p:grpSpPr>
        <p:sp>
          <p:nvSpPr>
            <p:cNvPr id="22" name="iconfont-11244-5317043">
              <a:extLst>
                <a:ext uri="{FF2B5EF4-FFF2-40B4-BE49-F238E27FC236}">
                  <a16:creationId xmlns:a16="http://schemas.microsoft.com/office/drawing/2014/main" id="{7A4D515C-CF20-B127-E256-5C0470D0F5B8}"/>
                </a:ext>
              </a:extLst>
            </p:cNvPr>
            <p:cNvSpPr/>
            <p:nvPr/>
          </p:nvSpPr>
          <p:spPr>
            <a:xfrm>
              <a:off x="10074765" y="3429000"/>
              <a:ext cx="474335" cy="474416"/>
            </a:xfrm>
            <a:custGeom>
              <a:avLst/>
              <a:gdLst>
                <a:gd name="T0" fmla="*/ 3204 w 12160"/>
                <a:gd name="T1" fmla="*/ 6080 h 12160"/>
                <a:gd name="T2" fmla="*/ 8956 w 12160"/>
                <a:gd name="T3" fmla="*/ 6080 h 12160"/>
                <a:gd name="T4" fmla="*/ 6080 w 12160"/>
                <a:gd name="T5" fmla="*/ 3844 h 12160"/>
                <a:gd name="T6" fmla="*/ 6080 w 12160"/>
                <a:gd name="T7" fmla="*/ 8316 h 12160"/>
                <a:gd name="T8" fmla="*/ 6080 w 12160"/>
                <a:gd name="T9" fmla="*/ 3844 h 12160"/>
                <a:gd name="T10" fmla="*/ 5760 w 12160"/>
                <a:gd name="T11" fmla="*/ 2240 h 12160"/>
                <a:gd name="T12" fmla="*/ 6080 w 12160"/>
                <a:gd name="T13" fmla="*/ 0 h 12160"/>
                <a:gd name="T14" fmla="*/ 6400 w 12160"/>
                <a:gd name="T15" fmla="*/ 2240 h 12160"/>
                <a:gd name="T16" fmla="*/ 6080 w 12160"/>
                <a:gd name="T17" fmla="*/ 12160 h 12160"/>
                <a:gd name="T18" fmla="*/ 5760 w 12160"/>
                <a:gd name="T19" fmla="*/ 9920 h 12160"/>
                <a:gd name="T20" fmla="*/ 6400 w 12160"/>
                <a:gd name="T21" fmla="*/ 9920 h 12160"/>
                <a:gd name="T22" fmla="*/ 6080 w 12160"/>
                <a:gd name="T23" fmla="*/ 12160 h 12160"/>
                <a:gd name="T24" fmla="*/ 320 w 12160"/>
                <a:gd name="T25" fmla="*/ 6400 h 12160"/>
                <a:gd name="T26" fmla="*/ 320 w 12160"/>
                <a:gd name="T27" fmla="*/ 5760 h 12160"/>
                <a:gd name="T28" fmla="*/ 2560 w 12160"/>
                <a:gd name="T29" fmla="*/ 6080 h 12160"/>
                <a:gd name="T30" fmla="*/ 11840 w 12160"/>
                <a:gd name="T31" fmla="*/ 6400 h 12160"/>
                <a:gd name="T32" fmla="*/ 9600 w 12160"/>
                <a:gd name="T33" fmla="*/ 6080 h 12160"/>
                <a:gd name="T34" fmla="*/ 11840 w 12160"/>
                <a:gd name="T35" fmla="*/ 5760 h 12160"/>
                <a:gd name="T36" fmla="*/ 11840 w 12160"/>
                <a:gd name="T37" fmla="*/ 6400 h 12160"/>
                <a:gd name="T38" fmla="*/ 2653 w 12160"/>
                <a:gd name="T39" fmla="*/ 3107 h 12160"/>
                <a:gd name="T40" fmla="*/ 1377 w 12160"/>
                <a:gd name="T41" fmla="*/ 1378 h 12160"/>
                <a:gd name="T42" fmla="*/ 3106 w 12160"/>
                <a:gd name="T43" fmla="*/ 2654 h 12160"/>
                <a:gd name="T44" fmla="*/ 2880 w 12160"/>
                <a:gd name="T45" fmla="*/ 3200 h 12160"/>
                <a:gd name="T46" fmla="*/ 1373 w 12160"/>
                <a:gd name="T47" fmla="*/ 10334 h 12160"/>
                <a:gd name="T48" fmla="*/ 3102 w 12160"/>
                <a:gd name="T49" fmla="*/ 9058 h 12160"/>
                <a:gd name="T50" fmla="*/ 1826 w 12160"/>
                <a:gd name="T51" fmla="*/ 10787 h 12160"/>
                <a:gd name="T52" fmla="*/ 1600 w 12160"/>
                <a:gd name="T53" fmla="*/ 10880 h 12160"/>
                <a:gd name="T54" fmla="*/ 10333 w 12160"/>
                <a:gd name="T55" fmla="*/ 10787 h 12160"/>
                <a:gd name="T56" fmla="*/ 9057 w 12160"/>
                <a:gd name="T57" fmla="*/ 9058 h 12160"/>
                <a:gd name="T58" fmla="*/ 10786 w 12160"/>
                <a:gd name="T59" fmla="*/ 10334 h 12160"/>
                <a:gd name="T60" fmla="*/ 10560 w 12160"/>
                <a:gd name="T61" fmla="*/ 10880 h 12160"/>
                <a:gd name="T62" fmla="*/ 9053 w 12160"/>
                <a:gd name="T63" fmla="*/ 2654 h 12160"/>
                <a:gd name="T64" fmla="*/ 10782 w 12160"/>
                <a:gd name="T65" fmla="*/ 1378 h 12160"/>
                <a:gd name="T66" fmla="*/ 9506 w 12160"/>
                <a:gd name="T67" fmla="*/ 3107 h 12160"/>
                <a:gd name="T68" fmla="*/ 9280 w 12160"/>
                <a:gd name="T69" fmla="*/ 3200 h 12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60" h="12160">
                  <a:moveTo>
                    <a:pt x="6080" y="8956"/>
                  </a:moveTo>
                  <a:cubicBezTo>
                    <a:pt x="4495" y="8956"/>
                    <a:pt x="3204" y="7666"/>
                    <a:pt x="3204" y="6080"/>
                  </a:cubicBezTo>
                  <a:cubicBezTo>
                    <a:pt x="3204" y="4494"/>
                    <a:pt x="4494" y="3204"/>
                    <a:pt x="6080" y="3204"/>
                  </a:cubicBezTo>
                  <a:cubicBezTo>
                    <a:pt x="7666" y="3204"/>
                    <a:pt x="8956" y="4494"/>
                    <a:pt x="8956" y="6080"/>
                  </a:cubicBezTo>
                  <a:cubicBezTo>
                    <a:pt x="8956" y="7666"/>
                    <a:pt x="7666" y="8956"/>
                    <a:pt x="6080" y="8956"/>
                  </a:cubicBezTo>
                  <a:close/>
                  <a:moveTo>
                    <a:pt x="6080" y="3844"/>
                  </a:moveTo>
                  <a:cubicBezTo>
                    <a:pt x="4847" y="3844"/>
                    <a:pt x="3844" y="4847"/>
                    <a:pt x="3844" y="6080"/>
                  </a:cubicBezTo>
                  <a:cubicBezTo>
                    <a:pt x="3844" y="7313"/>
                    <a:pt x="4847" y="8316"/>
                    <a:pt x="6080" y="8316"/>
                  </a:cubicBezTo>
                  <a:cubicBezTo>
                    <a:pt x="7313" y="8316"/>
                    <a:pt x="8316" y="7313"/>
                    <a:pt x="8316" y="6080"/>
                  </a:cubicBezTo>
                  <a:cubicBezTo>
                    <a:pt x="8316" y="4847"/>
                    <a:pt x="7313" y="3844"/>
                    <a:pt x="6080" y="3844"/>
                  </a:cubicBezTo>
                  <a:close/>
                  <a:moveTo>
                    <a:pt x="6080" y="2560"/>
                  </a:moveTo>
                  <a:cubicBezTo>
                    <a:pt x="5903" y="2560"/>
                    <a:pt x="5760" y="2417"/>
                    <a:pt x="5760" y="2240"/>
                  </a:cubicBezTo>
                  <a:lnTo>
                    <a:pt x="5760" y="320"/>
                  </a:lnTo>
                  <a:cubicBezTo>
                    <a:pt x="5760" y="143"/>
                    <a:pt x="5903" y="0"/>
                    <a:pt x="6080" y="0"/>
                  </a:cubicBezTo>
                  <a:cubicBezTo>
                    <a:pt x="6257" y="0"/>
                    <a:pt x="6400" y="143"/>
                    <a:pt x="6400" y="320"/>
                  </a:cubicBezTo>
                  <a:lnTo>
                    <a:pt x="6400" y="2240"/>
                  </a:lnTo>
                  <a:cubicBezTo>
                    <a:pt x="6400" y="2417"/>
                    <a:pt x="6257" y="2560"/>
                    <a:pt x="6080" y="2560"/>
                  </a:cubicBezTo>
                  <a:close/>
                  <a:moveTo>
                    <a:pt x="6080" y="12160"/>
                  </a:moveTo>
                  <a:cubicBezTo>
                    <a:pt x="5903" y="12160"/>
                    <a:pt x="5760" y="12017"/>
                    <a:pt x="5760" y="11840"/>
                  </a:cubicBezTo>
                  <a:lnTo>
                    <a:pt x="5760" y="9920"/>
                  </a:lnTo>
                  <a:cubicBezTo>
                    <a:pt x="5760" y="9743"/>
                    <a:pt x="5903" y="9600"/>
                    <a:pt x="6080" y="9600"/>
                  </a:cubicBezTo>
                  <a:cubicBezTo>
                    <a:pt x="6257" y="9600"/>
                    <a:pt x="6400" y="9743"/>
                    <a:pt x="6400" y="9920"/>
                  </a:cubicBezTo>
                  <a:lnTo>
                    <a:pt x="6400" y="11840"/>
                  </a:lnTo>
                  <a:cubicBezTo>
                    <a:pt x="6400" y="12017"/>
                    <a:pt x="6257" y="12160"/>
                    <a:pt x="6080" y="12160"/>
                  </a:cubicBezTo>
                  <a:close/>
                  <a:moveTo>
                    <a:pt x="2240" y="6400"/>
                  </a:moveTo>
                  <a:lnTo>
                    <a:pt x="320" y="6400"/>
                  </a:lnTo>
                  <a:cubicBezTo>
                    <a:pt x="143" y="6400"/>
                    <a:pt x="0" y="6257"/>
                    <a:pt x="0" y="6080"/>
                  </a:cubicBezTo>
                  <a:cubicBezTo>
                    <a:pt x="0" y="5903"/>
                    <a:pt x="143" y="5760"/>
                    <a:pt x="320" y="5760"/>
                  </a:cubicBezTo>
                  <a:lnTo>
                    <a:pt x="2240" y="5760"/>
                  </a:lnTo>
                  <a:cubicBezTo>
                    <a:pt x="2417" y="5760"/>
                    <a:pt x="2560" y="5903"/>
                    <a:pt x="2560" y="6080"/>
                  </a:cubicBezTo>
                  <a:cubicBezTo>
                    <a:pt x="2560" y="6257"/>
                    <a:pt x="2417" y="6400"/>
                    <a:pt x="2240" y="6400"/>
                  </a:cubicBezTo>
                  <a:close/>
                  <a:moveTo>
                    <a:pt x="11840" y="6400"/>
                  </a:moveTo>
                  <a:lnTo>
                    <a:pt x="9920" y="6400"/>
                  </a:lnTo>
                  <a:cubicBezTo>
                    <a:pt x="9743" y="6400"/>
                    <a:pt x="9600" y="6257"/>
                    <a:pt x="9600" y="6080"/>
                  </a:cubicBezTo>
                  <a:cubicBezTo>
                    <a:pt x="9600" y="5903"/>
                    <a:pt x="9743" y="5760"/>
                    <a:pt x="9920" y="5760"/>
                  </a:cubicBezTo>
                  <a:lnTo>
                    <a:pt x="11840" y="5760"/>
                  </a:lnTo>
                  <a:cubicBezTo>
                    <a:pt x="12017" y="5760"/>
                    <a:pt x="12160" y="5903"/>
                    <a:pt x="12160" y="6080"/>
                  </a:cubicBezTo>
                  <a:cubicBezTo>
                    <a:pt x="12160" y="6257"/>
                    <a:pt x="12017" y="6400"/>
                    <a:pt x="11840" y="6400"/>
                  </a:cubicBezTo>
                  <a:close/>
                  <a:moveTo>
                    <a:pt x="2880" y="3200"/>
                  </a:moveTo>
                  <a:cubicBezTo>
                    <a:pt x="2795" y="3200"/>
                    <a:pt x="2714" y="3166"/>
                    <a:pt x="2653" y="3107"/>
                  </a:cubicBezTo>
                  <a:lnTo>
                    <a:pt x="1373" y="1827"/>
                  </a:lnTo>
                  <a:cubicBezTo>
                    <a:pt x="1252" y="1701"/>
                    <a:pt x="1254" y="1501"/>
                    <a:pt x="1377" y="1378"/>
                  </a:cubicBezTo>
                  <a:cubicBezTo>
                    <a:pt x="1501" y="1255"/>
                    <a:pt x="1700" y="1253"/>
                    <a:pt x="1826" y="1374"/>
                  </a:cubicBezTo>
                  <a:lnTo>
                    <a:pt x="3106" y="2654"/>
                  </a:lnTo>
                  <a:cubicBezTo>
                    <a:pt x="3307" y="2856"/>
                    <a:pt x="3164" y="3200"/>
                    <a:pt x="2879" y="3200"/>
                  </a:cubicBezTo>
                  <a:lnTo>
                    <a:pt x="2880" y="3200"/>
                  </a:lnTo>
                  <a:close/>
                  <a:moveTo>
                    <a:pt x="1600" y="10880"/>
                  </a:moveTo>
                  <a:cubicBezTo>
                    <a:pt x="1315" y="10880"/>
                    <a:pt x="1172" y="10536"/>
                    <a:pt x="1373" y="10334"/>
                  </a:cubicBezTo>
                  <a:lnTo>
                    <a:pt x="2653" y="9054"/>
                  </a:lnTo>
                  <a:cubicBezTo>
                    <a:pt x="2779" y="8933"/>
                    <a:pt x="2979" y="8935"/>
                    <a:pt x="3102" y="9058"/>
                  </a:cubicBezTo>
                  <a:cubicBezTo>
                    <a:pt x="3225" y="9181"/>
                    <a:pt x="3227" y="9381"/>
                    <a:pt x="3106" y="9507"/>
                  </a:cubicBezTo>
                  <a:lnTo>
                    <a:pt x="1826" y="10787"/>
                  </a:lnTo>
                  <a:cubicBezTo>
                    <a:pt x="1766" y="10847"/>
                    <a:pt x="1684" y="10880"/>
                    <a:pt x="1599" y="10880"/>
                  </a:cubicBezTo>
                  <a:lnTo>
                    <a:pt x="1600" y="10880"/>
                  </a:lnTo>
                  <a:close/>
                  <a:moveTo>
                    <a:pt x="10560" y="10880"/>
                  </a:moveTo>
                  <a:cubicBezTo>
                    <a:pt x="10475" y="10880"/>
                    <a:pt x="10394" y="10846"/>
                    <a:pt x="10333" y="10787"/>
                  </a:cubicBezTo>
                  <a:lnTo>
                    <a:pt x="9053" y="9507"/>
                  </a:lnTo>
                  <a:cubicBezTo>
                    <a:pt x="8932" y="9381"/>
                    <a:pt x="8934" y="9181"/>
                    <a:pt x="9057" y="9058"/>
                  </a:cubicBezTo>
                  <a:cubicBezTo>
                    <a:pt x="9181" y="8935"/>
                    <a:pt x="9380" y="8933"/>
                    <a:pt x="9506" y="9054"/>
                  </a:cubicBezTo>
                  <a:lnTo>
                    <a:pt x="10786" y="10334"/>
                  </a:lnTo>
                  <a:cubicBezTo>
                    <a:pt x="10987" y="10536"/>
                    <a:pt x="10844" y="10880"/>
                    <a:pt x="10559" y="10880"/>
                  </a:cubicBezTo>
                  <a:lnTo>
                    <a:pt x="10560" y="10880"/>
                  </a:lnTo>
                  <a:close/>
                  <a:moveTo>
                    <a:pt x="9280" y="3200"/>
                  </a:moveTo>
                  <a:cubicBezTo>
                    <a:pt x="8995" y="3200"/>
                    <a:pt x="8852" y="2856"/>
                    <a:pt x="9053" y="2654"/>
                  </a:cubicBezTo>
                  <a:lnTo>
                    <a:pt x="10333" y="1374"/>
                  </a:lnTo>
                  <a:cubicBezTo>
                    <a:pt x="10459" y="1253"/>
                    <a:pt x="10659" y="1255"/>
                    <a:pt x="10782" y="1378"/>
                  </a:cubicBezTo>
                  <a:cubicBezTo>
                    <a:pt x="10905" y="1501"/>
                    <a:pt x="10907" y="1701"/>
                    <a:pt x="10786" y="1827"/>
                  </a:cubicBezTo>
                  <a:lnTo>
                    <a:pt x="9506" y="3107"/>
                  </a:lnTo>
                  <a:cubicBezTo>
                    <a:pt x="9446" y="3167"/>
                    <a:pt x="9364" y="3200"/>
                    <a:pt x="9279" y="3200"/>
                  </a:cubicBezTo>
                  <a:lnTo>
                    <a:pt x="9280" y="320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55BA6AF-3454-395B-8EE7-EDEA1A722F42}"/>
                </a:ext>
              </a:extLst>
            </p:cNvPr>
            <p:cNvSpPr txBox="1"/>
            <p:nvPr/>
          </p:nvSpPr>
          <p:spPr>
            <a:xfrm>
              <a:off x="10651311" y="3500025"/>
              <a:ext cx="5886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制热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F6CC5B7-10EA-5CFC-2DD0-8AF1EFB988E0}"/>
              </a:ext>
            </a:extLst>
          </p:cNvPr>
          <p:cNvGrpSpPr/>
          <p:nvPr/>
        </p:nvGrpSpPr>
        <p:grpSpPr>
          <a:xfrm>
            <a:off x="9985667" y="3519390"/>
            <a:ext cx="1098009" cy="338554"/>
            <a:chOff x="10141925" y="4221316"/>
            <a:chExt cx="1098009" cy="33855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351BD5C-C19F-C033-A15F-B76777E37017}"/>
                </a:ext>
              </a:extLst>
            </p:cNvPr>
            <p:cNvSpPr txBox="1"/>
            <p:nvPr/>
          </p:nvSpPr>
          <p:spPr>
            <a:xfrm>
              <a:off x="10651311" y="4221316"/>
              <a:ext cx="5886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通风</a:t>
              </a:r>
            </a:p>
          </p:txBody>
        </p:sp>
        <p:sp>
          <p:nvSpPr>
            <p:cNvPr id="25" name="ventilating-fan_95130">
              <a:extLst>
                <a:ext uri="{FF2B5EF4-FFF2-40B4-BE49-F238E27FC236}">
                  <a16:creationId xmlns:a16="http://schemas.microsoft.com/office/drawing/2014/main" id="{072500E4-2B67-6F1C-4D41-763000D0CAA5}"/>
                </a:ext>
              </a:extLst>
            </p:cNvPr>
            <p:cNvSpPr/>
            <p:nvPr/>
          </p:nvSpPr>
          <p:spPr>
            <a:xfrm>
              <a:off x="10141925" y="4223443"/>
              <a:ext cx="340013" cy="336427"/>
            </a:xfrm>
            <a:custGeom>
              <a:avLst/>
              <a:gdLst>
                <a:gd name="T0" fmla="*/ 1759 w 2241"/>
                <a:gd name="T1" fmla="*/ 1281 h 2221"/>
                <a:gd name="T2" fmla="*/ 2146 w 2241"/>
                <a:gd name="T3" fmla="*/ 854 h 2221"/>
                <a:gd name="T4" fmla="*/ 1774 w 2241"/>
                <a:gd name="T5" fmla="*/ 25 h 2221"/>
                <a:gd name="T6" fmla="*/ 1279 w 2241"/>
                <a:gd name="T7" fmla="*/ 484 h 2221"/>
                <a:gd name="T8" fmla="*/ 852 w 2241"/>
                <a:gd name="T9" fmla="*/ 95 h 2221"/>
                <a:gd name="T10" fmla="*/ 23 w 2241"/>
                <a:gd name="T11" fmla="*/ 468 h 2221"/>
                <a:gd name="T12" fmla="*/ 483 w 2241"/>
                <a:gd name="T13" fmla="*/ 963 h 2221"/>
                <a:gd name="T14" fmla="*/ 95 w 2241"/>
                <a:gd name="T15" fmla="*/ 1390 h 2221"/>
                <a:gd name="T16" fmla="*/ 468 w 2241"/>
                <a:gd name="T17" fmla="*/ 2219 h 2221"/>
                <a:gd name="T18" fmla="*/ 840 w 2241"/>
                <a:gd name="T19" fmla="*/ 2071 h 2221"/>
                <a:gd name="T20" fmla="*/ 1008 w 2241"/>
                <a:gd name="T21" fmla="*/ 1598 h 2221"/>
                <a:gd name="T22" fmla="*/ 1667 w 2241"/>
                <a:gd name="T23" fmla="*/ 2215 h 2221"/>
                <a:gd name="T24" fmla="*/ 2218 w 2241"/>
                <a:gd name="T25" fmla="*/ 1775 h 2221"/>
                <a:gd name="T26" fmla="*/ 1121 w 2241"/>
                <a:gd name="T27" fmla="*/ 1371 h 2221"/>
                <a:gd name="T28" fmla="*/ 1121 w 2241"/>
                <a:gd name="T29" fmla="*/ 873 h 2221"/>
                <a:gd name="T30" fmla="*/ 1121 w 2241"/>
                <a:gd name="T31" fmla="*/ 1371 h 2221"/>
                <a:gd name="T32" fmla="*/ 1555 w 2241"/>
                <a:gd name="T33" fmla="*/ 301 h 2221"/>
                <a:gd name="T34" fmla="*/ 1952 w 2241"/>
                <a:gd name="T35" fmla="*/ 344 h 2221"/>
                <a:gd name="T36" fmla="*/ 1562 w 2241"/>
                <a:gd name="T37" fmla="*/ 1038 h 2221"/>
                <a:gd name="T38" fmla="*/ 1476 w 2241"/>
                <a:gd name="T39" fmla="*/ 518 h 2221"/>
                <a:gd name="T40" fmla="*/ 222 w 2241"/>
                <a:gd name="T41" fmla="*/ 489 h 2221"/>
                <a:gd name="T42" fmla="*/ 761 w 2241"/>
                <a:gd name="T43" fmla="*/ 273 h 2221"/>
                <a:gd name="T44" fmla="*/ 765 w 2241"/>
                <a:gd name="T45" fmla="*/ 848 h 2221"/>
                <a:gd name="T46" fmla="*/ 299 w 2241"/>
                <a:gd name="T47" fmla="*/ 686 h 2221"/>
                <a:gd name="T48" fmla="*/ 686 w 2241"/>
                <a:gd name="T49" fmla="*/ 1943 h 2221"/>
                <a:gd name="T50" fmla="*/ 289 w 2241"/>
                <a:gd name="T51" fmla="*/ 1900 h 2221"/>
                <a:gd name="T52" fmla="*/ 680 w 2241"/>
                <a:gd name="T53" fmla="*/ 1206 h 2221"/>
                <a:gd name="T54" fmla="*/ 765 w 2241"/>
                <a:gd name="T55" fmla="*/ 1726 h 2221"/>
                <a:gd name="T56" fmla="*/ 1899 w 2241"/>
                <a:gd name="T57" fmla="*/ 1954 h 2221"/>
                <a:gd name="T58" fmla="*/ 1205 w 2241"/>
                <a:gd name="T59" fmla="*/ 1563 h 2221"/>
                <a:gd name="T60" fmla="*/ 1725 w 2241"/>
                <a:gd name="T61" fmla="*/ 1478 h 2221"/>
                <a:gd name="T62" fmla="*/ 2019 w 2241"/>
                <a:gd name="T63" fmla="*/ 1755 h 2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41" h="2221">
                  <a:moveTo>
                    <a:pt x="2070" y="1403"/>
                  </a:moveTo>
                  <a:cubicBezTo>
                    <a:pt x="1964" y="1316"/>
                    <a:pt x="1855" y="1297"/>
                    <a:pt x="1759" y="1281"/>
                  </a:cubicBezTo>
                  <a:cubicBezTo>
                    <a:pt x="1695" y="1270"/>
                    <a:pt x="1642" y="1261"/>
                    <a:pt x="1596" y="1235"/>
                  </a:cubicBezTo>
                  <a:cubicBezTo>
                    <a:pt x="1854" y="1179"/>
                    <a:pt x="2047" y="1046"/>
                    <a:pt x="2146" y="854"/>
                  </a:cubicBezTo>
                  <a:cubicBezTo>
                    <a:pt x="2241" y="670"/>
                    <a:pt x="2235" y="450"/>
                    <a:pt x="2129" y="250"/>
                  </a:cubicBezTo>
                  <a:cubicBezTo>
                    <a:pt x="2065" y="129"/>
                    <a:pt x="1925" y="41"/>
                    <a:pt x="1774" y="25"/>
                  </a:cubicBezTo>
                  <a:cubicBezTo>
                    <a:pt x="1628" y="10"/>
                    <a:pt x="1492" y="64"/>
                    <a:pt x="1402" y="173"/>
                  </a:cubicBezTo>
                  <a:cubicBezTo>
                    <a:pt x="1314" y="279"/>
                    <a:pt x="1295" y="388"/>
                    <a:pt x="1279" y="484"/>
                  </a:cubicBezTo>
                  <a:cubicBezTo>
                    <a:pt x="1268" y="548"/>
                    <a:pt x="1259" y="600"/>
                    <a:pt x="1233" y="646"/>
                  </a:cubicBezTo>
                  <a:cubicBezTo>
                    <a:pt x="1178" y="388"/>
                    <a:pt x="1045" y="195"/>
                    <a:pt x="852" y="95"/>
                  </a:cubicBezTo>
                  <a:cubicBezTo>
                    <a:pt x="668" y="0"/>
                    <a:pt x="448" y="7"/>
                    <a:pt x="249" y="113"/>
                  </a:cubicBezTo>
                  <a:cubicBezTo>
                    <a:pt x="128" y="177"/>
                    <a:pt x="39" y="317"/>
                    <a:pt x="23" y="468"/>
                  </a:cubicBezTo>
                  <a:cubicBezTo>
                    <a:pt x="8" y="614"/>
                    <a:pt x="62" y="749"/>
                    <a:pt x="172" y="840"/>
                  </a:cubicBezTo>
                  <a:cubicBezTo>
                    <a:pt x="278" y="928"/>
                    <a:pt x="387" y="946"/>
                    <a:pt x="483" y="963"/>
                  </a:cubicBezTo>
                  <a:cubicBezTo>
                    <a:pt x="547" y="973"/>
                    <a:pt x="599" y="982"/>
                    <a:pt x="645" y="1009"/>
                  </a:cubicBezTo>
                  <a:cubicBezTo>
                    <a:pt x="388" y="1065"/>
                    <a:pt x="194" y="1198"/>
                    <a:pt x="95" y="1390"/>
                  </a:cubicBezTo>
                  <a:cubicBezTo>
                    <a:pt x="0" y="1574"/>
                    <a:pt x="7" y="1794"/>
                    <a:pt x="113" y="1994"/>
                  </a:cubicBezTo>
                  <a:cubicBezTo>
                    <a:pt x="177" y="2115"/>
                    <a:pt x="316" y="2203"/>
                    <a:pt x="468" y="2219"/>
                  </a:cubicBezTo>
                  <a:cubicBezTo>
                    <a:pt x="484" y="2220"/>
                    <a:pt x="500" y="2221"/>
                    <a:pt x="516" y="2221"/>
                  </a:cubicBezTo>
                  <a:cubicBezTo>
                    <a:pt x="643" y="2221"/>
                    <a:pt x="759" y="2168"/>
                    <a:pt x="840" y="2071"/>
                  </a:cubicBezTo>
                  <a:cubicBezTo>
                    <a:pt x="928" y="1965"/>
                    <a:pt x="946" y="1856"/>
                    <a:pt x="963" y="1759"/>
                  </a:cubicBezTo>
                  <a:cubicBezTo>
                    <a:pt x="973" y="1696"/>
                    <a:pt x="982" y="1644"/>
                    <a:pt x="1008" y="1598"/>
                  </a:cubicBezTo>
                  <a:cubicBezTo>
                    <a:pt x="1064" y="1856"/>
                    <a:pt x="1197" y="2049"/>
                    <a:pt x="1389" y="2148"/>
                  </a:cubicBezTo>
                  <a:cubicBezTo>
                    <a:pt x="1476" y="2193"/>
                    <a:pt x="1570" y="2215"/>
                    <a:pt x="1667" y="2215"/>
                  </a:cubicBezTo>
                  <a:cubicBezTo>
                    <a:pt x="1776" y="2215"/>
                    <a:pt x="1887" y="2187"/>
                    <a:pt x="1993" y="2131"/>
                  </a:cubicBezTo>
                  <a:cubicBezTo>
                    <a:pt x="2114" y="2067"/>
                    <a:pt x="2202" y="1927"/>
                    <a:pt x="2218" y="1775"/>
                  </a:cubicBezTo>
                  <a:cubicBezTo>
                    <a:pt x="2233" y="1630"/>
                    <a:pt x="2179" y="1494"/>
                    <a:pt x="2070" y="1403"/>
                  </a:cubicBezTo>
                  <a:close/>
                  <a:moveTo>
                    <a:pt x="1121" y="1371"/>
                  </a:moveTo>
                  <a:cubicBezTo>
                    <a:pt x="984" y="1371"/>
                    <a:pt x="872" y="1259"/>
                    <a:pt x="872" y="1122"/>
                  </a:cubicBezTo>
                  <a:cubicBezTo>
                    <a:pt x="872" y="985"/>
                    <a:pt x="984" y="873"/>
                    <a:pt x="1121" y="873"/>
                  </a:cubicBezTo>
                  <a:cubicBezTo>
                    <a:pt x="1258" y="873"/>
                    <a:pt x="1370" y="985"/>
                    <a:pt x="1370" y="1122"/>
                  </a:cubicBezTo>
                  <a:cubicBezTo>
                    <a:pt x="1370" y="1259"/>
                    <a:pt x="1258" y="1371"/>
                    <a:pt x="1121" y="1371"/>
                  </a:cubicBezTo>
                  <a:close/>
                  <a:moveTo>
                    <a:pt x="1476" y="518"/>
                  </a:moveTo>
                  <a:cubicBezTo>
                    <a:pt x="1490" y="436"/>
                    <a:pt x="1502" y="365"/>
                    <a:pt x="1555" y="301"/>
                  </a:cubicBezTo>
                  <a:cubicBezTo>
                    <a:pt x="1620" y="223"/>
                    <a:pt x="1707" y="219"/>
                    <a:pt x="1753" y="224"/>
                  </a:cubicBezTo>
                  <a:cubicBezTo>
                    <a:pt x="1837" y="233"/>
                    <a:pt x="1919" y="282"/>
                    <a:pt x="1952" y="344"/>
                  </a:cubicBezTo>
                  <a:cubicBezTo>
                    <a:pt x="2028" y="487"/>
                    <a:pt x="2034" y="635"/>
                    <a:pt x="1969" y="762"/>
                  </a:cubicBezTo>
                  <a:cubicBezTo>
                    <a:pt x="1898" y="898"/>
                    <a:pt x="1756" y="994"/>
                    <a:pt x="1562" y="1038"/>
                  </a:cubicBezTo>
                  <a:cubicBezTo>
                    <a:pt x="1541" y="928"/>
                    <a:pt x="1479" y="832"/>
                    <a:pt x="1394" y="766"/>
                  </a:cubicBezTo>
                  <a:cubicBezTo>
                    <a:pt x="1448" y="682"/>
                    <a:pt x="1463" y="593"/>
                    <a:pt x="1476" y="518"/>
                  </a:cubicBezTo>
                  <a:close/>
                  <a:moveTo>
                    <a:pt x="299" y="686"/>
                  </a:moveTo>
                  <a:cubicBezTo>
                    <a:pt x="221" y="621"/>
                    <a:pt x="218" y="535"/>
                    <a:pt x="222" y="489"/>
                  </a:cubicBezTo>
                  <a:cubicBezTo>
                    <a:pt x="231" y="404"/>
                    <a:pt x="281" y="322"/>
                    <a:pt x="342" y="289"/>
                  </a:cubicBezTo>
                  <a:cubicBezTo>
                    <a:pt x="485" y="214"/>
                    <a:pt x="634" y="208"/>
                    <a:pt x="761" y="273"/>
                  </a:cubicBezTo>
                  <a:cubicBezTo>
                    <a:pt x="897" y="343"/>
                    <a:pt x="993" y="486"/>
                    <a:pt x="1037" y="681"/>
                  </a:cubicBezTo>
                  <a:cubicBezTo>
                    <a:pt x="927" y="702"/>
                    <a:pt x="831" y="763"/>
                    <a:pt x="765" y="848"/>
                  </a:cubicBezTo>
                  <a:cubicBezTo>
                    <a:pt x="681" y="793"/>
                    <a:pt x="592" y="778"/>
                    <a:pt x="516" y="765"/>
                  </a:cubicBezTo>
                  <a:cubicBezTo>
                    <a:pt x="434" y="752"/>
                    <a:pt x="364" y="740"/>
                    <a:pt x="299" y="686"/>
                  </a:cubicBezTo>
                  <a:close/>
                  <a:moveTo>
                    <a:pt x="765" y="1726"/>
                  </a:moveTo>
                  <a:cubicBezTo>
                    <a:pt x="752" y="1808"/>
                    <a:pt x="740" y="1878"/>
                    <a:pt x="686" y="1943"/>
                  </a:cubicBezTo>
                  <a:cubicBezTo>
                    <a:pt x="621" y="2021"/>
                    <a:pt x="535" y="2025"/>
                    <a:pt x="489" y="2020"/>
                  </a:cubicBezTo>
                  <a:cubicBezTo>
                    <a:pt x="404" y="2011"/>
                    <a:pt x="322" y="1962"/>
                    <a:pt x="289" y="1900"/>
                  </a:cubicBezTo>
                  <a:cubicBezTo>
                    <a:pt x="213" y="1757"/>
                    <a:pt x="208" y="1608"/>
                    <a:pt x="273" y="1481"/>
                  </a:cubicBezTo>
                  <a:cubicBezTo>
                    <a:pt x="343" y="1346"/>
                    <a:pt x="486" y="1250"/>
                    <a:pt x="680" y="1206"/>
                  </a:cubicBezTo>
                  <a:cubicBezTo>
                    <a:pt x="701" y="1316"/>
                    <a:pt x="762" y="1412"/>
                    <a:pt x="848" y="1478"/>
                  </a:cubicBezTo>
                  <a:cubicBezTo>
                    <a:pt x="793" y="1562"/>
                    <a:pt x="778" y="1650"/>
                    <a:pt x="765" y="1726"/>
                  </a:cubicBezTo>
                  <a:close/>
                  <a:moveTo>
                    <a:pt x="2019" y="1755"/>
                  </a:moveTo>
                  <a:cubicBezTo>
                    <a:pt x="2010" y="1839"/>
                    <a:pt x="1961" y="1921"/>
                    <a:pt x="1899" y="1954"/>
                  </a:cubicBezTo>
                  <a:cubicBezTo>
                    <a:pt x="1756" y="2030"/>
                    <a:pt x="1608" y="2036"/>
                    <a:pt x="1481" y="1970"/>
                  </a:cubicBezTo>
                  <a:cubicBezTo>
                    <a:pt x="1345" y="1900"/>
                    <a:pt x="1249" y="1757"/>
                    <a:pt x="1205" y="1563"/>
                  </a:cubicBezTo>
                  <a:cubicBezTo>
                    <a:pt x="1315" y="1542"/>
                    <a:pt x="1410" y="1481"/>
                    <a:pt x="1476" y="1395"/>
                  </a:cubicBezTo>
                  <a:cubicBezTo>
                    <a:pt x="1561" y="1450"/>
                    <a:pt x="1649" y="1465"/>
                    <a:pt x="1725" y="1478"/>
                  </a:cubicBezTo>
                  <a:cubicBezTo>
                    <a:pt x="1807" y="1492"/>
                    <a:pt x="1878" y="1504"/>
                    <a:pt x="1942" y="1557"/>
                  </a:cubicBezTo>
                  <a:cubicBezTo>
                    <a:pt x="2020" y="1622"/>
                    <a:pt x="2024" y="1709"/>
                    <a:pt x="2019" y="1755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D6D153E-7F69-7467-7EAE-1162547E7CF9}"/>
              </a:ext>
            </a:extLst>
          </p:cNvPr>
          <p:cNvSpPr/>
          <p:nvPr/>
        </p:nvSpPr>
        <p:spPr>
          <a:xfrm>
            <a:off x="1839835" y="6222018"/>
            <a:ext cx="8043614" cy="40990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列表的常用方法就是指列表这种数据类型内置的常见功能（添加元素、删除元素、排序等）。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EB82B9-15AE-03F3-9794-D07C7B7ED887}"/>
              </a:ext>
            </a:extLst>
          </p:cNvPr>
          <p:cNvSpPr txBox="1"/>
          <p:nvPr/>
        </p:nvSpPr>
        <p:spPr>
          <a:xfrm>
            <a:off x="5212956" y="194764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方法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3F3AA9-2F10-F27F-DCFD-D4302C352FB0}"/>
              </a:ext>
            </a:extLst>
          </p:cNvPr>
          <p:cNvSpPr txBox="1"/>
          <p:nvPr/>
        </p:nvSpPr>
        <p:spPr>
          <a:xfrm>
            <a:off x="5212955" y="351939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方法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0E58A9-EB0A-3B20-1D21-3359D201135F}"/>
              </a:ext>
            </a:extLst>
          </p:cNvPr>
          <p:cNvSpPr txBox="1"/>
          <p:nvPr/>
        </p:nvSpPr>
        <p:spPr>
          <a:xfrm>
            <a:off x="5212955" y="26909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方法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52C956-1D19-348E-B6AE-ACBC850ED301}"/>
              </a:ext>
            </a:extLst>
          </p:cNvPr>
          <p:cNvSpPr txBox="1"/>
          <p:nvPr/>
        </p:nvSpPr>
        <p:spPr>
          <a:xfrm>
            <a:off x="11230083" y="193058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方法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D8A703-E48D-9D89-27A1-CE1120EF907D}"/>
              </a:ext>
            </a:extLst>
          </p:cNvPr>
          <p:cNvSpPr txBox="1"/>
          <p:nvPr/>
        </p:nvSpPr>
        <p:spPr>
          <a:xfrm>
            <a:off x="11230082" y="350232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方法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0B61E93-FE9B-5B13-52CD-84AB3BD400C6}"/>
              </a:ext>
            </a:extLst>
          </p:cNvPr>
          <p:cNvSpPr txBox="1"/>
          <p:nvPr/>
        </p:nvSpPr>
        <p:spPr>
          <a:xfrm>
            <a:off x="11230082" y="267392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方法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CB8B695-26CD-3F52-0BAE-779303F50F26}"/>
              </a:ext>
            </a:extLst>
          </p:cNvPr>
          <p:cNvSpPr txBox="1"/>
          <p:nvPr/>
        </p:nvSpPr>
        <p:spPr>
          <a:xfrm>
            <a:off x="1919033" y="42624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对象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7E19F1F-1EA2-A3D0-AF75-066DA90EF666}"/>
              </a:ext>
            </a:extLst>
          </p:cNvPr>
          <p:cNvSpPr txBox="1"/>
          <p:nvPr/>
        </p:nvSpPr>
        <p:spPr>
          <a:xfrm>
            <a:off x="7677103" y="42624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对象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894C243-0DA0-2E0E-E8D1-21C437FB30A2}"/>
              </a:ext>
            </a:extLst>
          </p:cNvPr>
          <p:cNvSpPr/>
          <p:nvPr/>
        </p:nvSpPr>
        <p:spPr>
          <a:xfrm>
            <a:off x="935618" y="5177075"/>
            <a:ext cx="1653251" cy="36933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True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8FBBE9D-0F66-1CDF-0BDD-F52061A464DC}"/>
              </a:ext>
            </a:extLst>
          </p:cNvPr>
          <p:cNvSpPr/>
          <p:nvPr/>
        </p:nvSpPr>
        <p:spPr>
          <a:xfrm>
            <a:off x="2788089" y="5177075"/>
            <a:ext cx="1653251" cy="36933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"Hello"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B758348-B6BB-E131-D987-7C4825308A77}"/>
              </a:ext>
            </a:extLst>
          </p:cNvPr>
          <p:cNvSpPr/>
          <p:nvPr/>
        </p:nvSpPr>
        <p:spPr>
          <a:xfrm>
            <a:off x="4622041" y="5176211"/>
            <a:ext cx="1653251" cy="36933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'A'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48FB309-BB14-4DDF-54C4-F0D152C112A5}"/>
              </a:ext>
            </a:extLst>
          </p:cNvPr>
          <p:cNvSpPr/>
          <p:nvPr/>
        </p:nvSpPr>
        <p:spPr>
          <a:xfrm>
            <a:off x="6452889" y="5176211"/>
            <a:ext cx="1653251" cy="36933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80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06016EE-D911-8EE7-D727-45F70B9380B4}"/>
              </a:ext>
            </a:extLst>
          </p:cNvPr>
          <p:cNvSpPr/>
          <p:nvPr/>
        </p:nvSpPr>
        <p:spPr>
          <a:xfrm>
            <a:off x="8283737" y="5176211"/>
            <a:ext cx="1653251" cy="36933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3.14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78A7E79-FEB1-667A-C04A-2092A321A2F4}"/>
              </a:ext>
            </a:extLst>
          </p:cNvPr>
          <p:cNvSpPr/>
          <p:nvPr/>
        </p:nvSpPr>
        <p:spPr>
          <a:xfrm>
            <a:off x="10112080" y="5176211"/>
            <a:ext cx="1653251" cy="36933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None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21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2" grpId="0" animBg="1"/>
      <p:bldP spid="4" grpId="0"/>
      <p:bldP spid="15" grpId="0"/>
      <p:bldP spid="17" grpId="0"/>
      <p:bldP spid="18" grpId="0"/>
      <p:bldP spid="21" grpId="0"/>
      <p:bldP spid="29" grpId="0"/>
      <p:bldP spid="30" grpId="0"/>
      <p:bldP spid="31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A2BC-4CFD-4787-AA32-F5F8F361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CC5AA-B788-2A69-9F25-CB379781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</a:t>
            </a:r>
            <a:r>
              <a:rPr lang="en-US" altLang="zh-CN"/>
              <a:t>-</a:t>
            </a:r>
            <a:r>
              <a:rPr lang="zh-CN" altLang="en-US"/>
              <a:t>常见方法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44C8EC-0A28-29EB-28C3-60F99A7DC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列表的常见方法：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5FF3382-CE5F-2DCA-58BF-1D4E95430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758712"/>
              </p:ext>
            </p:extLst>
          </p:nvPr>
        </p:nvGraphicFramePr>
        <p:xfrm>
          <a:off x="1048792" y="1508646"/>
          <a:ext cx="10213375" cy="2772000"/>
        </p:xfrm>
        <a:graphic>
          <a:graphicData uri="http://schemas.openxmlformats.org/drawingml/2006/table">
            <a:tbl>
              <a:tblPr/>
              <a:tblGrid>
                <a:gridCol w="1699269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6152871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  <a:gridCol w="2361235">
                  <a:extLst>
                    <a:ext uri="{9D8B030D-6E8A-4147-A177-3AD203B41FA5}">
                      <a16:colId xmlns:a16="http://schemas.microsoft.com/office/drawing/2014/main" val="58880292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方法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作用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样例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append()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在列表的尾部追加元素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s.append(10086)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insert()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在指定索引之前，插入该元素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s.insert(0, 92)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07392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remove()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移除列表中第一个匹配到的值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s.remove(75)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pop()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删除列表中指定索引位置的元素（如果未指定索引，默认删最后一个）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s.pop(2) / s.pop()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sort()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对列表进行排序（列表元素的数据类型一致，才可以进行排序）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s.sort()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reverse()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反转列表元素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s.reverse()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</a:tbl>
          </a:graphicData>
        </a:graphic>
      </p:graphicFrame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0260934-6CE5-78C1-7BCD-5353D611A2B2}"/>
              </a:ext>
            </a:extLst>
          </p:cNvPr>
          <p:cNvSpPr/>
          <p:nvPr/>
        </p:nvSpPr>
        <p:spPr>
          <a:xfrm>
            <a:off x="2709641" y="4860272"/>
            <a:ext cx="6653020" cy="1035630"/>
          </a:xfrm>
          <a:prstGeom prst="roundRect">
            <a:avLst>
              <a:gd name="adj" fmla="val 8674"/>
            </a:avLst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C03878C3-C17F-19C6-563D-29204633BB1D}"/>
              </a:ext>
            </a:extLst>
          </p:cNvPr>
          <p:cNvSpPr/>
          <p:nvPr/>
        </p:nvSpPr>
        <p:spPr>
          <a:xfrm>
            <a:off x="2828917" y="5079914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54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C0B6A02E-890E-D072-EBA3-64B2D19A6135}"/>
              </a:ext>
            </a:extLst>
          </p:cNvPr>
          <p:cNvSpPr/>
          <p:nvPr/>
        </p:nvSpPr>
        <p:spPr>
          <a:xfrm>
            <a:off x="5629993" y="5075586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108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4DE3134-624E-1BC2-AB15-0F644DB528A1}"/>
              </a:ext>
            </a:extLst>
          </p:cNvPr>
          <p:cNvSpPr/>
          <p:nvPr/>
        </p:nvSpPr>
        <p:spPr>
          <a:xfrm>
            <a:off x="3762609" y="5079914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15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85CBD96-0897-036C-56F0-0A2E92952028}"/>
              </a:ext>
            </a:extLst>
          </p:cNvPr>
          <p:cNvSpPr/>
          <p:nvPr/>
        </p:nvSpPr>
        <p:spPr>
          <a:xfrm>
            <a:off x="4696301" y="5075586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75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1C764DB-BF34-8BBF-A956-4E79F68F8E62}"/>
              </a:ext>
            </a:extLst>
          </p:cNvPr>
          <p:cNvSpPr/>
          <p:nvPr/>
        </p:nvSpPr>
        <p:spPr>
          <a:xfrm>
            <a:off x="6557899" y="5075585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23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46ED3377-A033-6F3D-54B7-0195B1B6D712}"/>
              </a:ext>
            </a:extLst>
          </p:cNvPr>
          <p:cNvSpPr/>
          <p:nvPr/>
        </p:nvSpPr>
        <p:spPr>
          <a:xfrm>
            <a:off x="7485805" y="5075584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78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C237C8C8-0620-6794-6687-3B02C2288C6E}"/>
              </a:ext>
            </a:extLst>
          </p:cNvPr>
          <p:cNvSpPr/>
          <p:nvPr/>
        </p:nvSpPr>
        <p:spPr>
          <a:xfrm>
            <a:off x="3060413" y="4981528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0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75C4A806-7D87-DA17-017E-4C34FC490B23}"/>
              </a:ext>
            </a:extLst>
          </p:cNvPr>
          <p:cNvSpPr/>
          <p:nvPr/>
        </p:nvSpPr>
        <p:spPr>
          <a:xfrm>
            <a:off x="3999890" y="4981527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8DF6716C-0245-70CD-9C8E-C89E9D6B8099}"/>
              </a:ext>
            </a:extLst>
          </p:cNvPr>
          <p:cNvSpPr/>
          <p:nvPr/>
        </p:nvSpPr>
        <p:spPr>
          <a:xfrm>
            <a:off x="4933582" y="4981526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C4BAE3C7-9018-B57A-8412-C134247DA7D4}"/>
              </a:ext>
            </a:extLst>
          </p:cNvPr>
          <p:cNvSpPr/>
          <p:nvPr/>
        </p:nvSpPr>
        <p:spPr>
          <a:xfrm>
            <a:off x="5864381" y="4981526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B7480DF6-2ECE-CBAB-F645-50BA23900B34}"/>
              </a:ext>
            </a:extLst>
          </p:cNvPr>
          <p:cNvSpPr/>
          <p:nvPr/>
        </p:nvSpPr>
        <p:spPr>
          <a:xfrm>
            <a:off x="6786500" y="4981526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6BD24C96-5DD1-D93C-C15E-3520225F1507}"/>
              </a:ext>
            </a:extLst>
          </p:cNvPr>
          <p:cNvSpPr/>
          <p:nvPr/>
        </p:nvSpPr>
        <p:spPr>
          <a:xfrm>
            <a:off x="7720193" y="4981525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114D2894-6681-8465-C214-ABAAF77D8C9B}"/>
              </a:ext>
            </a:extLst>
          </p:cNvPr>
          <p:cNvSpPr/>
          <p:nvPr/>
        </p:nvSpPr>
        <p:spPr>
          <a:xfrm>
            <a:off x="7720193" y="554290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0271F5C-32FF-F61E-1BAB-98A52D10B36E}"/>
              </a:ext>
            </a:extLst>
          </p:cNvPr>
          <p:cNvSpPr/>
          <p:nvPr/>
        </p:nvSpPr>
        <p:spPr>
          <a:xfrm>
            <a:off x="6793257" y="554290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6BAA78D-2C62-C61A-2390-A6261E2BB615}"/>
              </a:ext>
            </a:extLst>
          </p:cNvPr>
          <p:cNvSpPr/>
          <p:nvPr/>
        </p:nvSpPr>
        <p:spPr>
          <a:xfrm>
            <a:off x="5864381" y="554290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3A9D68FF-0830-B067-546E-9F02738E8ECD}"/>
              </a:ext>
            </a:extLst>
          </p:cNvPr>
          <p:cNvSpPr/>
          <p:nvPr/>
        </p:nvSpPr>
        <p:spPr>
          <a:xfrm>
            <a:off x="4933582" y="5542902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5907CC21-58AD-9921-4562-06DD682441B5}"/>
              </a:ext>
            </a:extLst>
          </p:cNvPr>
          <p:cNvSpPr/>
          <p:nvPr/>
        </p:nvSpPr>
        <p:spPr>
          <a:xfrm>
            <a:off x="3991857" y="5542901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-6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2E141F8E-2226-AEA9-E453-B80084F92877}"/>
              </a:ext>
            </a:extLst>
          </p:cNvPr>
          <p:cNvSpPr/>
          <p:nvPr/>
        </p:nvSpPr>
        <p:spPr>
          <a:xfrm>
            <a:off x="3055595" y="5542901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-7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93D9CF4-B173-064B-1309-E2052B402FF7}"/>
              </a:ext>
            </a:extLst>
          </p:cNvPr>
          <p:cNvSpPr txBox="1"/>
          <p:nvPr/>
        </p:nvSpPr>
        <p:spPr>
          <a:xfrm>
            <a:off x="1938515" y="518658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s = </a:t>
            </a:r>
            <a:endParaRPr lang="zh-CN" altLang="en-US" sz="200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C13A062-EC7B-87B4-79A8-3F6DD28B6479}"/>
              </a:ext>
            </a:extLst>
          </p:cNvPr>
          <p:cNvSpPr txBox="1"/>
          <p:nvPr/>
        </p:nvSpPr>
        <p:spPr>
          <a:xfrm>
            <a:off x="2896036" y="6052625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0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1D854B1-FF88-6881-2093-AFDBB99A9D6B}"/>
              </a:ext>
            </a:extLst>
          </p:cNvPr>
          <p:cNvSpPr txBox="1"/>
          <p:nvPr/>
        </p:nvSpPr>
        <p:spPr>
          <a:xfrm>
            <a:off x="2831633" y="6354058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-7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360CCFF-7264-3C64-7D23-7F8DA418448F}"/>
              </a:ext>
            </a:extLst>
          </p:cNvPr>
          <p:cNvSpPr txBox="1"/>
          <p:nvPr/>
        </p:nvSpPr>
        <p:spPr>
          <a:xfrm>
            <a:off x="3780940" y="6052625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1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9B6591D-9841-78F1-9D3C-989F4719ACA9}"/>
              </a:ext>
            </a:extLst>
          </p:cNvPr>
          <p:cNvSpPr txBox="1"/>
          <p:nvPr/>
        </p:nvSpPr>
        <p:spPr>
          <a:xfrm>
            <a:off x="3733026" y="635405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-6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32AE1A6-F000-19CA-83BC-AA7FC0EA25B4}"/>
              </a:ext>
            </a:extLst>
          </p:cNvPr>
          <p:cNvSpPr txBox="1"/>
          <p:nvPr/>
        </p:nvSpPr>
        <p:spPr>
          <a:xfrm>
            <a:off x="4732177" y="605262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2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92B9B5E-B1C7-952E-6CCC-6221C92B833F}"/>
              </a:ext>
            </a:extLst>
          </p:cNvPr>
          <p:cNvSpPr txBox="1"/>
          <p:nvPr/>
        </p:nvSpPr>
        <p:spPr>
          <a:xfrm>
            <a:off x="4684263" y="6354058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-5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80A7217-D063-AEA0-C35B-1ED3D062E8A0}"/>
              </a:ext>
            </a:extLst>
          </p:cNvPr>
          <p:cNvSpPr txBox="1"/>
          <p:nvPr/>
        </p:nvSpPr>
        <p:spPr>
          <a:xfrm>
            <a:off x="5664995" y="6048301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3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42E493D-D00E-1C36-7FEF-D5A98DE5D08D}"/>
              </a:ext>
            </a:extLst>
          </p:cNvPr>
          <p:cNvSpPr txBox="1"/>
          <p:nvPr/>
        </p:nvSpPr>
        <p:spPr>
          <a:xfrm>
            <a:off x="5617081" y="6349733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-4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B40A90E-6724-943D-77B8-2FE36B9B9297}"/>
              </a:ext>
            </a:extLst>
          </p:cNvPr>
          <p:cNvSpPr txBox="1"/>
          <p:nvPr/>
        </p:nvSpPr>
        <p:spPr>
          <a:xfrm>
            <a:off x="6597813" y="6048300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4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D107404-058F-829B-EEFE-A7859E2DBBCC}"/>
              </a:ext>
            </a:extLst>
          </p:cNvPr>
          <p:cNvSpPr txBox="1"/>
          <p:nvPr/>
        </p:nvSpPr>
        <p:spPr>
          <a:xfrm>
            <a:off x="6549899" y="634973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-3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CE2E0EAD-171C-F611-AB00-C7FD99A4F25B}"/>
              </a:ext>
            </a:extLst>
          </p:cNvPr>
          <p:cNvSpPr txBox="1"/>
          <p:nvPr/>
        </p:nvSpPr>
        <p:spPr>
          <a:xfrm>
            <a:off x="7570173" y="6048300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5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281EABA-071A-DE13-4712-59CA302B6AD5}"/>
              </a:ext>
            </a:extLst>
          </p:cNvPr>
          <p:cNvSpPr txBox="1"/>
          <p:nvPr/>
        </p:nvSpPr>
        <p:spPr>
          <a:xfrm>
            <a:off x="7522259" y="634973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-2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97F9D6CA-1520-26AC-8759-B6391351B67E}"/>
              </a:ext>
            </a:extLst>
          </p:cNvPr>
          <p:cNvSpPr/>
          <p:nvPr/>
        </p:nvSpPr>
        <p:spPr>
          <a:xfrm>
            <a:off x="8404508" y="5075584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75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03F540BC-A677-DF6E-4278-4A5983B2367E}"/>
              </a:ext>
            </a:extLst>
          </p:cNvPr>
          <p:cNvSpPr/>
          <p:nvPr/>
        </p:nvSpPr>
        <p:spPr>
          <a:xfrm>
            <a:off x="8638896" y="4981525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6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EB41001B-10F9-9AB1-4250-D0796155F386}"/>
              </a:ext>
            </a:extLst>
          </p:cNvPr>
          <p:cNvSpPr/>
          <p:nvPr/>
        </p:nvSpPr>
        <p:spPr>
          <a:xfrm>
            <a:off x="8638896" y="554290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AFBAFD0-2058-A4DE-651F-13335707B47E}"/>
              </a:ext>
            </a:extLst>
          </p:cNvPr>
          <p:cNvSpPr txBox="1"/>
          <p:nvPr/>
        </p:nvSpPr>
        <p:spPr>
          <a:xfrm>
            <a:off x="8502973" y="6048300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6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124C8D6-7C9A-956E-9794-697669432EFB}"/>
              </a:ext>
            </a:extLst>
          </p:cNvPr>
          <p:cNvSpPr txBox="1"/>
          <p:nvPr/>
        </p:nvSpPr>
        <p:spPr>
          <a:xfrm>
            <a:off x="8455059" y="634973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-1</a:t>
            </a:r>
            <a:r>
              <a:rPr lang="en-US" altLang="zh-CN" sz="1400"/>
              <a:t>]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0642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 animBg="1"/>
      <p:bldP spid="79" grpId="0" animBg="1"/>
      <p:bldP spid="80" grpId="0" animBg="1"/>
      <p:bldP spid="81" grpId="0"/>
      <p:bldP spid="8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22BE4-BFF5-549B-95EA-35814722A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386E12-8BAF-84B5-7718-D5A4AC9E3E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列表</a:t>
            </a:r>
            <a:r>
              <a:rPr lang="en-US" altLang="zh-CN"/>
              <a:t>(list)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26F2C-C9B0-CAC4-6ECA-260E96DA1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1614042"/>
          </a:xfrm>
        </p:spPr>
        <p:txBody>
          <a:bodyPr/>
          <a:lstStyle/>
          <a:p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常见方法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  <a:endParaRPr lang="en-US" altLang="zh-CN">
              <a:solidFill>
                <a:srgbClr val="C00000"/>
              </a:solidFill>
            </a:endParaRPr>
          </a:p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069584-0306-38FA-CEC5-4364035A8B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570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B31B4-5840-77E7-8DCA-2795F4E64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C4B27-33ED-50A7-188D-48824FD3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734765-4364-1FF8-B616-950B3345B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9735967" cy="85687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将用户输入的</a:t>
            </a:r>
            <a:r>
              <a:rPr lang="en-US" altLang="zh-CN"/>
              <a:t>10</a:t>
            </a:r>
            <a:r>
              <a:rPr lang="zh-CN" altLang="en-US"/>
              <a:t>个数字，存储到一个列表中，并将列表中的数字进行排序</a:t>
            </a:r>
            <a:r>
              <a:rPr lang="en-US" altLang="zh-CN"/>
              <a:t>, </a:t>
            </a:r>
            <a:r>
              <a:rPr lang="zh-CN" altLang="en-US"/>
              <a:t>输出其中的最小值、最大值 和 平均值。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2961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7B4471-2F55-CE16-B4A7-B49704CF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中用于数据统计的常见语句</a:t>
            </a:r>
            <a:endParaRPr lang="en-US" altLang="zh-CN"/>
          </a:p>
          <a:p>
            <a:pPr marL="64800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min()</a:t>
            </a:r>
            <a:r>
              <a:rPr lang="zh-CN" altLang="en-US" sz="1400"/>
              <a:t>：获取最小值</a:t>
            </a:r>
            <a:endParaRPr lang="en-US" altLang="zh-CN" sz="1400"/>
          </a:p>
          <a:p>
            <a:pPr marL="64800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max()</a:t>
            </a:r>
            <a:r>
              <a:rPr lang="zh-CN" altLang="en-US" sz="1400"/>
              <a:t>：获取最大值</a:t>
            </a:r>
            <a:endParaRPr lang="en-US" altLang="zh-CN" sz="1400"/>
          </a:p>
          <a:p>
            <a:pPr marL="64800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sum()</a:t>
            </a:r>
            <a:r>
              <a:rPr lang="zh-CN" altLang="en-US" sz="1400"/>
              <a:t>：求和</a:t>
            </a:r>
            <a:endParaRPr lang="en-US" altLang="zh-CN" sz="1400"/>
          </a:p>
          <a:p>
            <a:pPr marL="64800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len()</a:t>
            </a:r>
            <a:r>
              <a:rPr lang="zh-CN" altLang="en-US" sz="1400"/>
              <a:t>：获取元素的个数</a:t>
            </a:r>
          </a:p>
        </p:txBody>
      </p:sp>
    </p:spTree>
    <p:extLst>
      <p:ext uri="{BB962C8B-B14F-4D97-AF65-F5344CB8AC3E}">
        <p14:creationId xmlns:p14="http://schemas.microsoft.com/office/powerpoint/2010/main" val="316293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DDBB6-AEFA-0BFB-3DE3-126F57E3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F2107-551E-8359-FA77-83109292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F5496-69F3-6030-C32A-9D98D44235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9735967" cy="47441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合并两个列表中的元素，并对合并的结果进行去重处理</a:t>
            </a:r>
            <a:r>
              <a:rPr lang="en-US" altLang="zh-CN"/>
              <a:t>(</a:t>
            </a:r>
            <a:r>
              <a:rPr lang="zh-CN" altLang="en-US"/>
              <a:t>去除列表中的重复元素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961729F6-C6B2-050B-42BA-E955AE907747}"/>
              </a:ext>
            </a:extLst>
          </p:cNvPr>
          <p:cNvGrpSpPr/>
          <p:nvPr/>
        </p:nvGrpSpPr>
        <p:grpSpPr>
          <a:xfrm>
            <a:off x="2226458" y="1733194"/>
            <a:ext cx="8256012" cy="1586477"/>
            <a:chOff x="2297718" y="3660322"/>
            <a:chExt cx="9096590" cy="158657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D0C5C4E-35E2-964A-E4AD-18E51641726A}"/>
                </a:ext>
              </a:extLst>
            </p:cNvPr>
            <p:cNvSpPr/>
            <p:nvPr/>
          </p:nvSpPr>
          <p:spPr>
            <a:xfrm>
              <a:off x="2297727" y="3660322"/>
              <a:ext cx="9096581" cy="1586571"/>
            </a:xfrm>
            <a:prstGeom prst="roundRect">
              <a:avLst>
                <a:gd name="adj" fmla="val 590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</a:t>
              </a:r>
              <a:r>
                <a:rPr lang="zh-CN" altLang="en-US" sz="1200">
                  <a:solidFill>
                    <a:srgbClr val="8C8C8C"/>
                  </a:solidFill>
                  <a:latin typeface="Courier New" panose="02070309020205020404" pitchFamily="49" charset="0"/>
                </a:rPr>
                <a:t>列表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num_list1 = [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19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23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54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64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875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109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232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123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54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num_list2 = [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55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80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72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35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60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123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54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29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91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45C33DCD-8CAF-D315-2747-D563DC7E64F1}"/>
                </a:ext>
              </a:extLst>
            </p:cNvPr>
            <p:cNvSpPr/>
            <p:nvPr/>
          </p:nvSpPr>
          <p:spPr>
            <a:xfrm>
              <a:off x="2297718" y="3660322"/>
              <a:ext cx="9096580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CD11A1F-52F4-15EA-EE3D-4F2E4E9983E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47BA116-8BF8-70F1-D020-ED76618F493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4095CE2-885A-0182-DBC7-C89948493E8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670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4D08-7AAA-E1D6-A1A3-93135AB4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0667EF-76A8-856C-2DE4-982CE56D4E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如何快速合并两个列表？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使用</a:t>
            </a:r>
            <a:r>
              <a:rPr lang="en-US" altLang="zh-CN" sz="1400"/>
              <a:t>+</a:t>
            </a:r>
            <a:r>
              <a:rPr lang="zh-CN" altLang="en-US" sz="1400"/>
              <a:t>运算符直接合并</a:t>
            </a:r>
            <a:endParaRPr lang="en-US" altLang="zh-CN" sz="1400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使用</a:t>
            </a:r>
            <a:r>
              <a:rPr lang="en-US" altLang="zh-CN" sz="1400"/>
              <a:t>*</a:t>
            </a:r>
            <a:r>
              <a:rPr lang="zh-CN" altLang="en-US" sz="1400"/>
              <a:t>进行解包操作</a:t>
            </a:r>
            <a:r>
              <a:rPr lang="en-US" altLang="zh-CN" sz="1400"/>
              <a:t>(</a:t>
            </a:r>
            <a:r>
              <a:rPr lang="zh-CN" altLang="en-US" sz="1400"/>
              <a:t>解包指将列表这一类数据容器解开成独立的元素</a:t>
            </a:r>
            <a:r>
              <a:rPr lang="en-US" altLang="zh-CN" sz="140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如何判断一个元素是否存在于列表之中？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可以使用</a:t>
            </a:r>
            <a:r>
              <a:rPr lang="en-US" altLang="zh-CN" sz="1400"/>
              <a:t>in</a:t>
            </a:r>
            <a:r>
              <a:rPr lang="zh-CN" altLang="en-US" sz="1400"/>
              <a:t>运算符，语法为：元素 </a:t>
            </a:r>
            <a:r>
              <a:rPr lang="en-US" altLang="zh-CN" sz="1400"/>
              <a:t>in </a:t>
            </a:r>
            <a:r>
              <a:rPr lang="zh-CN" altLang="en-US" sz="1400"/>
              <a:t>列表</a:t>
            </a:r>
            <a:endParaRPr lang="en-US" altLang="zh-CN" sz="1400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返回结果为布尔值，</a:t>
            </a:r>
            <a:r>
              <a:rPr lang="en-US" altLang="zh-CN" sz="1400"/>
              <a:t>True</a:t>
            </a:r>
            <a:r>
              <a:rPr lang="zh-CN" altLang="en-US" sz="1400"/>
              <a:t>表示存在，</a:t>
            </a:r>
            <a:r>
              <a:rPr lang="en-US" altLang="zh-CN" sz="1400"/>
              <a:t>False</a:t>
            </a:r>
            <a:r>
              <a:rPr lang="zh-CN" altLang="en-US" sz="1400"/>
              <a:t>表示不存在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698C5D-066A-DF28-01EB-A9C70508D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"/>
          <a:stretch>
            <a:fillRect/>
          </a:stretch>
        </p:blipFill>
        <p:spPr>
          <a:xfrm>
            <a:off x="6983895" y="1468742"/>
            <a:ext cx="4784036" cy="1281241"/>
          </a:xfrm>
          <a:prstGeom prst="roundRect">
            <a:avLst>
              <a:gd name="adj" fmla="val 4316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5A4F5E-47CC-6B7B-9EDB-774A10D1F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895" y="4805634"/>
            <a:ext cx="4375375" cy="1251014"/>
          </a:xfrm>
          <a:prstGeom prst="roundRect">
            <a:avLst>
              <a:gd name="adj" fmla="val 4316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516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303A-143E-FF9C-DCA1-2504993E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FF99CA-42EB-590C-B855-BECC5837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606FC0-D87C-B77B-BF51-F375E7A234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9735967" cy="101590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生成</a:t>
            </a:r>
            <a:r>
              <a:rPr lang="en-US" altLang="zh-CN"/>
              <a:t>1-20</a:t>
            </a:r>
            <a:r>
              <a:rPr lang="zh-CN" altLang="en-US"/>
              <a:t>的平方列表。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从如下数字列表中提取所有偶数，并计算其平方，组成一个新的列表。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E4ADBAC1-7A74-653E-46AD-6C2FF7B76211}"/>
              </a:ext>
            </a:extLst>
          </p:cNvPr>
          <p:cNvGrpSpPr/>
          <p:nvPr/>
        </p:nvGrpSpPr>
        <p:grpSpPr>
          <a:xfrm>
            <a:off x="2182890" y="2080591"/>
            <a:ext cx="8256012" cy="1179443"/>
            <a:chOff x="2297718" y="3660322"/>
            <a:chExt cx="9096590" cy="117951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58AC169-87B7-8244-CE7A-7A1029CC4DD4}"/>
                </a:ext>
              </a:extLst>
            </p:cNvPr>
            <p:cNvSpPr/>
            <p:nvPr/>
          </p:nvSpPr>
          <p:spPr>
            <a:xfrm>
              <a:off x="2297727" y="3660322"/>
              <a:ext cx="9096581" cy="1179513"/>
            </a:xfrm>
            <a:prstGeom prst="roundRect">
              <a:avLst>
                <a:gd name="adj" fmla="val 590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</a:t>
              </a:r>
              <a:r>
                <a:rPr lang="zh-CN" altLang="en-US" sz="1200">
                  <a:solidFill>
                    <a:srgbClr val="8C8C8C"/>
                  </a:solidFill>
                  <a:latin typeface="Courier New" panose="02070309020205020404" pitchFamily="49" charset="0"/>
                </a:rPr>
                <a:t>列表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num_list = [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19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23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54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64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87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109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232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123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43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26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55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pt-BR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72</a:t>
              </a:r>
              <a:r>
                <a:rPr lang="pt-BR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289EC677-BBD7-411E-1D31-69E340BE60FA}"/>
                </a:ext>
              </a:extLst>
            </p:cNvPr>
            <p:cNvSpPr/>
            <p:nvPr/>
          </p:nvSpPr>
          <p:spPr>
            <a:xfrm>
              <a:off x="2297718" y="3660322"/>
              <a:ext cx="9096580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3DF42D5-C088-DCF3-A774-4D30C038DEF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766ACCE-8849-A7FB-D008-89F66926C13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FC6049D-8CA6-0F61-A3BB-77107885126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195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6B0E7-CC07-B475-1E5C-25BEC16C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7A80E89-EBF4-B279-F4CE-74F6C26136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6622" y="2155008"/>
            <a:ext cx="7170081" cy="174113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列表推导式</a:t>
            </a:r>
            <a:endParaRPr lang="en-US" altLang="zh-CN"/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含义：列表推导式就是按照一定规则快速生成一个列表的方法</a:t>
            </a:r>
            <a:endParaRPr lang="en-US" altLang="zh-CN" sz="1400"/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格式</a:t>
            </a:r>
            <a:r>
              <a:rPr lang="en-US" altLang="zh-CN" sz="1400"/>
              <a:t>1</a:t>
            </a:r>
            <a:r>
              <a:rPr lang="zh-CN" altLang="en-US" sz="1400"/>
              <a:t>：列表名称</a:t>
            </a:r>
            <a:r>
              <a:rPr lang="en-US" altLang="zh-CN" sz="1400"/>
              <a:t>=[</a:t>
            </a:r>
            <a:r>
              <a:rPr lang="zh-CN" altLang="en-US" sz="1400"/>
              <a:t>要插入列表的数据 </a:t>
            </a:r>
            <a:r>
              <a:rPr lang="en-US" altLang="zh-CN" sz="1400">
                <a:solidFill>
                  <a:srgbClr val="0033B3"/>
                </a:solidFill>
              </a:rPr>
              <a:t>for</a:t>
            </a:r>
            <a:r>
              <a:rPr lang="en-US" altLang="zh-CN" sz="1400"/>
              <a:t> i </a:t>
            </a:r>
            <a:r>
              <a:rPr lang="en-US" altLang="zh-CN" sz="1400">
                <a:solidFill>
                  <a:srgbClr val="0033B3"/>
                </a:solidFill>
              </a:rPr>
              <a:t>in</a:t>
            </a:r>
            <a:r>
              <a:rPr lang="en-US" altLang="zh-CN" sz="1400"/>
              <a:t> </a:t>
            </a:r>
            <a:r>
              <a:rPr lang="zh-CN" altLang="en-US" sz="1400"/>
              <a:t>列表</a:t>
            </a:r>
            <a:r>
              <a:rPr lang="en-US" altLang="zh-CN" sz="1400"/>
              <a:t>]</a:t>
            </a:r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格式</a:t>
            </a:r>
            <a:r>
              <a:rPr lang="en-US" altLang="zh-CN" sz="1400"/>
              <a:t>2</a:t>
            </a:r>
            <a:r>
              <a:rPr lang="zh-CN" altLang="en-US" sz="1400"/>
              <a:t>：列表名称</a:t>
            </a:r>
            <a:r>
              <a:rPr lang="en-US" altLang="zh-CN" sz="1400"/>
              <a:t>=[</a:t>
            </a:r>
            <a:r>
              <a:rPr lang="zh-CN" altLang="en-US" sz="1400"/>
              <a:t>要插入列表的数据 </a:t>
            </a:r>
            <a:r>
              <a:rPr lang="en-US" altLang="zh-CN" sz="1400">
                <a:solidFill>
                  <a:srgbClr val="0033B3"/>
                </a:solidFill>
              </a:rPr>
              <a:t>for</a:t>
            </a:r>
            <a:r>
              <a:rPr lang="en-US" altLang="zh-CN" sz="1400"/>
              <a:t> i </a:t>
            </a:r>
            <a:r>
              <a:rPr lang="en-US" altLang="zh-CN" sz="1400">
                <a:solidFill>
                  <a:srgbClr val="0033B3"/>
                </a:solidFill>
              </a:rPr>
              <a:t>in</a:t>
            </a:r>
            <a:r>
              <a:rPr lang="en-US" altLang="zh-CN" sz="1400"/>
              <a:t> </a:t>
            </a:r>
            <a:r>
              <a:rPr lang="zh-CN" altLang="en-US" sz="1400"/>
              <a:t>列表 </a:t>
            </a:r>
            <a:r>
              <a:rPr lang="en-US" altLang="zh-CN" sz="1400">
                <a:solidFill>
                  <a:srgbClr val="0033B3"/>
                </a:solidFill>
              </a:rPr>
              <a:t>if</a:t>
            </a:r>
            <a:r>
              <a:rPr lang="en-US" altLang="zh-CN" sz="1400"/>
              <a:t> </a:t>
            </a:r>
            <a:r>
              <a:rPr lang="zh-CN" altLang="en-US" sz="1400"/>
              <a:t>条件</a:t>
            </a:r>
            <a:r>
              <a:rPr lang="en-US" altLang="zh-CN" sz="1400"/>
              <a:t>]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88338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AB853-44C7-2014-2EFE-FE9F7857E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AF2D2-0927-0290-2776-F0D316BB0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43D453-1A3F-54E9-F9D0-D57020248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7441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将如下多个列表合并为一个列表，并去重重复元素，排好序（升序）后输出到控制台。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DE5BDB46-8800-3F34-7DF9-064B7A1FD101}"/>
              </a:ext>
            </a:extLst>
          </p:cNvPr>
          <p:cNvSpPr txBox="1">
            <a:spLocks/>
          </p:cNvSpPr>
          <p:nvPr/>
        </p:nvSpPr>
        <p:spPr>
          <a:xfrm>
            <a:off x="1753098" y="3131638"/>
            <a:ext cx="9570540" cy="4744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2. </a:t>
            </a:r>
            <a:r>
              <a:rPr lang="zh-CN" altLang="en-US"/>
              <a:t>将如下列表中能被</a:t>
            </a:r>
            <a:r>
              <a:rPr lang="en-US" altLang="zh-CN"/>
              <a:t>3</a:t>
            </a:r>
            <a:r>
              <a:rPr lang="zh-CN" altLang="en-US"/>
              <a:t> 或 </a:t>
            </a:r>
            <a:r>
              <a:rPr lang="en-US" altLang="zh-CN"/>
              <a:t>5</a:t>
            </a:r>
            <a:r>
              <a:rPr lang="zh-CN" altLang="en-US"/>
              <a:t>整除的元素提出来，并获取这些数字对应的平方，组成一个新的列表。</a:t>
            </a:r>
          </a:p>
        </p:txBody>
      </p:sp>
      <p:grpSp>
        <p:nvGrpSpPr>
          <p:cNvPr id="7" name="组合 2">
            <a:extLst>
              <a:ext uri="{FF2B5EF4-FFF2-40B4-BE49-F238E27FC236}">
                <a16:creationId xmlns:a16="http://schemas.microsoft.com/office/drawing/2014/main" id="{68077C0C-74D8-435D-F343-B6F2844537BA}"/>
              </a:ext>
            </a:extLst>
          </p:cNvPr>
          <p:cNvGrpSpPr/>
          <p:nvPr/>
        </p:nvGrpSpPr>
        <p:grpSpPr>
          <a:xfrm>
            <a:off x="2175510" y="1618878"/>
            <a:ext cx="8369026" cy="1442625"/>
            <a:chOff x="2297719" y="3660322"/>
            <a:chExt cx="9221110" cy="144271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DB94F1D-E1EA-5005-4E23-CDDB0EA1FB94}"/>
                </a:ext>
              </a:extLst>
            </p:cNvPr>
            <p:cNvSpPr/>
            <p:nvPr/>
          </p:nvSpPr>
          <p:spPr>
            <a:xfrm>
              <a:off x="2297726" y="3660322"/>
              <a:ext cx="9221103" cy="1442711"/>
            </a:xfrm>
            <a:prstGeom prst="roundRect">
              <a:avLst>
                <a:gd name="adj" fmla="val 43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latin typeface="Courier New" panose="02070309020205020404" pitchFamily="49" charset="0"/>
                </a:rPr>
                <a:t>合并如下三个列表，并对合并后的列表进行元素的去重，然后排好序后输出到控制台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list1 =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'M'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'A'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'C'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'E'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'F'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'G'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'H'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'L'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'N'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'I'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'J'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'K'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'O'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list2 =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'X'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'Z'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'T'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'Y'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'D'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'E'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'F'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'G'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list3 =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'W'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'A'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'S'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'D'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CBE546F6-CD74-24FC-F1F1-FFEDA0520B2B}"/>
                </a:ext>
              </a:extLst>
            </p:cNvPr>
            <p:cNvSpPr/>
            <p:nvPr/>
          </p:nvSpPr>
          <p:spPr>
            <a:xfrm>
              <a:off x="2297719" y="3660322"/>
              <a:ext cx="922110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8C3AFB9-46F7-699D-9592-7013C61389F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568D5B4-4063-304D-2F94-A3DE89A700C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6BC3D94-EE2C-5389-848C-29C7491A20E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2">
            <a:extLst>
              <a:ext uri="{FF2B5EF4-FFF2-40B4-BE49-F238E27FC236}">
                <a16:creationId xmlns:a16="http://schemas.microsoft.com/office/drawing/2014/main" id="{F2CE8A98-DE80-1383-7AF2-9B67C98329B9}"/>
              </a:ext>
            </a:extLst>
          </p:cNvPr>
          <p:cNvGrpSpPr/>
          <p:nvPr/>
        </p:nvGrpSpPr>
        <p:grpSpPr>
          <a:xfrm>
            <a:off x="2175503" y="3727459"/>
            <a:ext cx="8369026" cy="1136169"/>
            <a:chOff x="2297719" y="3660322"/>
            <a:chExt cx="9221110" cy="1136237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26689A0-954B-198E-96AF-7F1B9E501A6C}"/>
                </a:ext>
              </a:extLst>
            </p:cNvPr>
            <p:cNvSpPr/>
            <p:nvPr/>
          </p:nvSpPr>
          <p:spPr>
            <a:xfrm>
              <a:off x="2297726" y="3660322"/>
              <a:ext cx="9221103" cy="1136237"/>
            </a:xfrm>
            <a:prstGeom prst="roundRect">
              <a:avLst>
                <a:gd name="adj" fmla="val 43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将如下列表中能被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3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或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5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整除的元素提出来，并获取这些数字对应的平方，组成一个新的列表。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list1 = [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7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17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27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22EA971A-8511-D00B-613B-31428EE83346}"/>
                </a:ext>
              </a:extLst>
            </p:cNvPr>
            <p:cNvSpPr/>
            <p:nvPr/>
          </p:nvSpPr>
          <p:spPr>
            <a:xfrm>
              <a:off x="2297719" y="3660322"/>
              <a:ext cx="922110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82D810F-B0D0-3CC8-6557-3C03487125B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3F23F7D-B1C8-FCC8-272E-56EFF5FF97A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90DCB2B-6769-0FF2-14BA-17FB5DFDC1B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37B7ED33-F309-A4EC-396D-6763DCE716FA}"/>
              </a:ext>
            </a:extLst>
          </p:cNvPr>
          <p:cNvSpPr txBox="1">
            <a:spLocks/>
          </p:cNvSpPr>
          <p:nvPr/>
        </p:nvSpPr>
        <p:spPr>
          <a:xfrm>
            <a:off x="1753098" y="5001136"/>
            <a:ext cx="9570540" cy="4744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3. </a:t>
            </a:r>
            <a:r>
              <a:rPr lang="zh-CN" altLang="en-US"/>
              <a:t>将如下列表中的正数提取出来，封装为一个新的列表。</a:t>
            </a:r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14DB7816-DAE7-9561-49F3-0E9C13A3CACF}"/>
              </a:ext>
            </a:extLst>
          </p:cNvPr>
          <p:cNvGrpSpPr/>
          <p:nvPr/>
        </p:nvGrpSpPr>
        <p:grpSpPr>
          <a:xfrm>
            <a:off x="2175503" y="5544870"/>
            <a:ext cx="8369026" cy="881155"/>
            <a:chOff x="2297719" y="3660322"/>
            <a:chExt cx="9221110" cy="881208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97A03CCC-199F-08C5-4038-9D79E453AA68}"/>
                </a:ext>
              </a:extLst>
            </p:cNvPr>
            <p:cNvSpPr/>
            <p:nvPr/>
          </p:nvSpPr>
          <p:spPr>
            <a:xfrm>
              <a:off x="2297726" y="3660323"/>
              <a:ext cx="9221103" cy="881207"/>
            </a:xfrm>
            <a:prstGeom prst="roundRect">
              <a:avLst>
                <a:gd name="adj" fmla="val 647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将如下列表中的正数提取出来，封装为一个新的列表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。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list1 = [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-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17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-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latin typeface="Fira Code" panose="020B0809050000020004" pitchFamily="49" charset="0"/>
                </a:rPr>
                <a:t>54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-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latin typeface="Fira Code" panose="020B0809050000020004" pitchFamily="49" charset="0"/>
                </a:rPr>
                <a:t>36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-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latin typeface="Fira Code" panose="020B0809050000020004" pitchFamily="49" charset="0"/>
                </a:rPr>
                <a:t>8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7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latin typeface="Fira Code" panose="020B0809050000020004" pitchFamily="49" charset="0"/>
                </a:rPr>
                <a:t>-39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954FEC35-A9F0-E736-E2E0-2A5685241EAF}"/>
                </a:ext>
              </a:extLst>
            </p:cNvPr>
            <p:cNvSpPr/>
            <p:nvPr/>
          </p:nvSpPr>
          <p:spPr>
            <a:xfrm>
              <a:off x="2297719" y="3660322"/>
              <a:ext cx="922110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79BBA89-0D08-97CF-3F56-B80589ED4FE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A106C98-0775-DA2B-E4EC-8BB01EA127D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DFA7B21-1365-486D-79D1-87434715C19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7907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43BEF-352D-0C72-14C4-7EFDC9A5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8E6EA5-3B2A-1FBF-413D-02FB36A21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49496" y="1297807"/>
            <a:ext cx="3692525" cy="3332065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列表（</a:t>
            </a:r>
            <a:r>
              <a:rPr lang="en-US" altLang="zh-CN">
                <a:latin typeface="+mn-lt"/>
              </a:rPr>
              <a:t>list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字符串（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str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）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元组（</a:t>
            </a:r>
            <a:r>
              <a:rPr lang="en-US" altLang="zh-CN">
                <a:latin typeface="+mn-lt"/>
              </a:rPr>
              <a:t>tuple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集合（</a:t>
            </a:r>
            <a:r>
              <a:rPr lang="en-US" altLang="zh-CN">
                <a:latin typeface="+mn-lt"/>
              </a:rPr>
              <a:t>set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字典（</a:t>
            </a:r>
            <a:r>
              <a:rPr lang="en-US" altLang="zh-CN">
                <a:latin typeface="+mn-lt"/>
              </a:rPr>
              <a:t>dict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综合案例</a:t>
            </a:r>
          </a:p>
        </p:txBody>
      </p:sp>
    </p:spTree>
    <p:extLst>
      <p:ext uri="{BB962C8B-B14F-4D97-AF65-F5344CB8AC3E}">
        <p14:creationId xmlns:p14="http://schemas.microsoft.com/office/powerpoint/2010/main" val="1196791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7BF9-57E1-3FD4-B803-B139CF55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624390-2664-49A7-48B5-F0A5A5006F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字符串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74D1CA-FADE-A379-91CF-EAD8E95C1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2971969" cy="1647173"/>
          </a:xfrm>
        </p:spPr>
        <p:txBody>
          <a:bodyPr/>
          <a:lstStyle/>
          <a:p>
            <a:r>
              <a:rPr lang="zh-CN" altLang="en-US"/>
              <a:t>基本操作</a:t>
            </a:r>
            <a:endParaRPr lang="en-US" altLang="zh-CN"/>
          </a:p>
          <a:p>
            <a:r>
              <a:rPr lang="zh-CN" altLang="en-US"/>
              <a:t>常用方法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E109B9D-553B-9C50-6F98-B4A992EC6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04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97973-3068-2441-3C8A-CFC6DA1E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69788-3730-35D0-6E93-BAEF8657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7A79E9-2C6C-1B67-0E05-9B29881FD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383890" cy="152074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介绍：字符串是字符的容器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，一个字符串中可以</a:t>
            </a:r>
            <a:r>
              <a:rPr lang="zh-CN" altLang="en-US"/>
              <a:t>存放任意数量的字符。如：</a:t>
            </a:r>
            <a:r>
              <a:rPr lang="en-US" altLang="zh-CN">
                <a:solidFill>
                  <a:srgbClr val="00B050"/>
                </a:solidFill>
              </a:rPr>
              <a:t>"Python"</a:t>
            </a:r>
            <a:r>
              <a:rPr lang="en-US" altLang="zh-CN"/>
              <a:t>  </a:t>
            </a:r>
            <a:r>
              <a:rPr lang="en-US" altLang="zh-CN">
                <a:solidFill>
                  <a:srgbClr val="00B050"/>
                </a:solidFill>
              </a:rPr>
              <a:t>'Python'</a:t>
            </a:r>
            <a:r>
              <a:rPr lang="en-US" altLang="zh-CN"/>
              <a:t>  </a:t>
            </a:r>
            <a:r>
              <a:rPr lang="en-US" altLang="zh-CN">
                <a:solidFill>
                  <a:srgbClr val="00B050"/>
                </a:solidFill>
              </a:rPr>
              <a:t>"""Python"""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特点：不可变性（无法修改）、有序性、可迭代性。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字符串中的每一个字符元素都有其对应的下标（索引），通过元素对应的索引，就可以获取到对应的元素。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40F8D00-3155-DB6D-AF4D-64BFDCDA3761}"/>
              </a:ext>
            </a:extLst>
          </p:cNvPr>
          <p:cNvSpPr/>
          <p:nvPr/>
        </p:nvSpPr>
        <p:spPr>
          <a:xfrm>
            <a:off x="2855416" y="3125216"/>
            <a:ext cx="5675125" cy="827542"/>
          </a:xfrm>
          <a:prstGeom prst="roundRect">
            <a:avLst>
              <a:gd name="adj" fmla="val 8674"/>
            </a:avLst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132B970-B986-2448-0C5F-EED57EF44DD6}"/>
              </a:ext>
            </a:extLst>
          </p:cNvPr>
          <p:cNvSpPr/>
          <p:nvPr/>
        </p:nvSpPr>
        <p:spPr>
          <a:xfrm>
            <a:off x="2974692" y="3232257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P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D4F818B-B31A-6165-6F7C-9C01296640F1}"/>
              </a:ext>
            </a:extLst>
          </p:cNvPr>
          <p:cNvSpPr/>
          <p:nvPr/>
        </p:nvSpPr>
        <p:spPr>
          <a:xfrm>
            <a:off x="5775768" y="3227929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h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B91552-8BD5-977C-54CC-B29D8103EEBB}"/>
              </a:ext>
            </a:extLst>
          </p:cNvPr>
          <p:cNvSpPr/>
          <p:nvPr/>
        </p:nvSpPr>
        <p:spPr>
          <a:xfrm>
            <a:off x="3908384" y="3232257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y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D829827-733F-29FE-12FB-9FA45DD7BC7D}"/>
              </a:ext>
            </a:extLst>
          </p:cNvPr>
          <p:cNvSpPr/>
          <p:nvPr/>
        </p:nvSpPr>
        <p:spPr>
          <a:xfrm>
            <a:off x="4842076" y="3227929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DCD55F4-1F47-0FCB-E0F3-DEB03F414619}"/>
              </a:ext>
            </a:extLst>
          </p:cNvPr>
          <p:cNvSpPr/>
          <p:nvPr/>
        </p:nvSpPr>
        <p:spPr>
          <a:xfrm>
            <a:off x="6703674" y="3227928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o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AABCFFD-31E0-57C4-E351-62ACCAAB82DD}"/>
              </a:ext>
            </a:extLst>
          </p:cNvPr>
          <p:cNvSpPr/>
          <p:nvPr/>
        </p:nvSpPr>
        <p:spPr>
          <a:xfrm>
            <a:off x="7631580" y="3227927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n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BAC5F71-BAF4-EAFE-BA8D-63CE9AA7A612}"/>
              </a:ext>
            </a:extLst>
          </p:cNvPr>
          <p:cNvSpPr/>
          <p:nvPr/>
        </p:nvSpPr>
        <p:spPr>
          <a:xfrm>
            <a:off x="3206188" y="3133871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0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F16628F-074C-925F-28B5-09BE2F849269}"/>
              </a:ext>
            </a:extLst>
          </p:cNvPr>
          <p:cNvSpPr/>
          <p:nvPr/>
        </p:nvSpPr>
        <p:spPr>
          <a:xfrm>
            <a:off x="4145665" y="3133870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2831D51-9444-B51A-E278-658AD33C2F27}"/>
              </a:ext>
            </a:extLst>
          </p:cNvPr>
          <p:cNvSpPr/>
          <p:nvPr/>
        </p:nvSpPr>
        <p:spPr>
          <a:xfrm>
            <a:off x="5079357" y="3133869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4422040-6F10-3CEF-7CCC-65AF30396463}"/>
              </a:ext>
            </a:extLst>
          </p:cNvPr>
          <p:cNvSpPr/>
          <p:nvPr/>
        </p:nvSpPr>
        <p:spPr>
          <a:xfrm>
            <a:off x="6010156" y="3133869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174D9B0-B1AE-D38B-2B01-E420EB9F1E3D}"/>
              </a:ext>
            </a:extLst>
          </p:cNvPr>
          <p:cNvSpPr/>
          <p:nvPr/>
        </p:nvSpPr>
        <p:spPr>
          <a:xfrm>
            <a:off x="6932275" y="3133869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EE760E3-CDFA-1729-1F44-D9EE9860F1B5}"/>
              </a:ext>
            </a:extLst>
          </p:cNvPr>
          <p:cNvSpPr/>
          <p:nvPr/>
        </p:nvSpPr>
        <p:spPr>
          <a:xfrm>
            <a:off x="7865968" y="3133868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FB1E7C8-5673-7A0A-1D6F-8F6DDD8961A3}"/>
              </a:ext>
            </a:extLst>
          </p:cNvPr>
          <p:cNvSpPr/>
          <p:nvPr/>
        </p:nvSpPr>
        <p:spPr>
          <a:xfrm>
            <a:off x="7865968" y="3695246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27208D5-C5E5-B43F-6452-F4CE37B95A35}"/>
              </a:ext>
            </a:extLst>
          </p:cNvPr>
          <p:cNvSpPr/>
          <p:nvPr/>
        </p:nvSpPr>
        <p:spPr>
          <a:xfrm>
            <a:off x="6939032" y="3695246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9A0B8E3-D232-47B2-E7B5-AE144CB24CEB}"/>
              </a:ext>
            </a:extLst>
          </p:cNvPr>
          <p:cNvSpPr/>
          <p:nvPr/>
        </p:nvSpPr>
        <p:spPr>
          <a:xfrm>
            <a:off x="6010156" y="3695246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521D716-3342-9414-0F44-BAB471B2089B}"/>
              </a:ext>
            </a:extLst>
          </p:cNvPr>
          <p:cNvSpPr/>
          <p:nvPr/>
        </p:nvSpPr>
        <p:spPr>
          <a:xfrm>
            <a:off x="5079357" y="3695245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A623867-2A27-8A72-7B71-0DB39AE621A5}"/>
              </a:ext>
            </a:extLst>
          </p:cNvPr>
          <p:cNvSpPr/>
          <p:nvPr/>
        </p:nvSpPr>
        <p:spPr>
          <a:xfrm>
            <a:off x="4137632" y="3695244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EC7E775-6748-85A6-A9EB-1F06A05617D8}"/>
              </a:ext>
            </a:extLst>
          </p:cNvPr>
          <p:cNvSpPr/>
          <p:nvPr/>
        </p:nvSpPr>
        <p:spPr>
          <a:xfrm>
            <a:off x="3201370" y="3695244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-6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F5CCCD-922C-069E-C07A-3745E2AD1D2C}"/>
              </a:ext>
            </a:extLst>
          </p:cNvPr>
          <p:cNvSpPr txBox="1"/>
          <p:nvPr/>
        </p:nvSpPr>
        <p:spPr>
          <a:xfrm>
            <a:off x="2145887" y="333892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s = </a:t>
            </a:r>
            <a:endParaRPr lang="zh-CN" altLang="en-US" sz="20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DE2145D-2972-F3DF-3F12-645B6380016A}"/>
              </a:ext>
            </a:extLst>
          </p:cNvPr>
          <p:cNvSpPr txBox="1"/>
          <p:nvPr/>
        </p:nvSpPr>
        <p:spPr>
          <a:xfrm>
            <a:off x="3041811" y="417846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0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E7F1C7-F2BD-A535-5154-DCBA419E1B06}"/>
              </a:ext>
            </a:extLst>
          </p:cNvPr>
          <p:cNvSpPr txBox="1"/>
          <p:nvPr/>
        </p:nvSpPr>
        <p:spPr>
          <a:xfrm>
            <a:off x="2977408" y="4632295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-6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346C843-60CD-7868-6F32-892077C29021}"/>
              </a:ext>
            </a:extLst>
          </p:cNvPr>
          <p:cNvSpPr txBox="1"/>
          <p:nvPr/>
        </p:nvSpPr>
        <p:spPr>
          <a:xfrm>
            <a:off x="3926715" y="417846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1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C85AF8-FD40-7D81-5F2B-DA67BBDFCCF9}"/>
              </a:ext>
            </a:extLst>
          </p:cNvPr>
          <p:cNvSpPr txBox="1"/>
          <p:nvPr/>
        </p:nvSpPr>
        <p:spPr>
          <a:xfrm>
            <a:off x="3878801" y="463229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-5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7283DDF-B2C8-7869-363A-81856242518A}"/>
              </a:ext>
            </a:extLst>
          </p:cNvPr>
          <p:cNvSpPr txBox="1"/>
          <p:nvPr/>
        </p:nvSpPr>
        <p:spPr>
          <a:xfrm>
            <a:off x="4877952" y="4178465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2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060C889-B656-6F00-70D0-1CD2FCD6EC99}"/>
              </a:ext>
            </a:extLst>
          </p:cNvPr>
          <p:cNvSpPr txBox="1"/>
          <p:nvPr/>
        </p:nvSpPr>
        <p:spPr>
          <a:xfrm>
            <a:off x="4830038" y="4632295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-4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D9DBF09-0557-1EFB-C4A9-3DC28EF26505}"/>
              </a:ext>
            </a:extLst>
          </p:cNvPr>
          <p:cNvSpPr txBox="1"/>
          <p:nvPr/>
        </p:nvSpPr>
        <p:spPr>
          <a:xfrm>
            <a:off x="5810770" y="4174140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3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2013143-4F4F-FDC1-6C4B-6E5D6CBDD08B}"/>
              </a:ext>
            </a:extLst>
          </p:cNvPr>
          <p:cNvSpPr txBox="1"/>
          <p:nvPr/>
        </p:nvSpPr>
        <p:spPr>
          <a:xfrm>
            <a:off x="5762856" y="4627970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-3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EE85BAB-4C50-7636-B01F-5EA859CF1005}"/>
              </a:ext>
            </a:extLst>
          </p:cNvPr>
          <p:cNvSpPr txBox="1"/>
          <p:nvPr/>
        </p:nvSpPr>
        <p:spPr>
          <a:xfrm>
            <a:off x="6743588" y="4174139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4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76AFC44-F359-627C-61CD-03FB9533D0E6}"/>
              </a:ext>
            </a:extLst>
          </p:cNvPr>
          <p:cNvSpPr txBox="1"/>
          <p:nvPr/>
        </p:nvSpPr>
        <p:spPr>
          <a:xfrm>
            <a:off x="6695674" y="4627969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-2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E483559-01D0-FAA3-6E26-DB640AD9F6B4}"/>
              </a:ext>
            </a:extLst>
          </p:cNvPr>
          <p:cNvSpPr txBox="1"/>
          <p:nvPr/>
        </p:nvSpPr>
        <p:spPr>
          <a:xfrm>
            <a:off x="7715948" y="4174139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5</a:t>
            </a:r>
            <a:r>
              <a:rPr lang="en-US" altLang="zh-CN" sz="1400"/>
              <a:t>]</a:t>
            </a:r>
            <a:endParaRPr lang="zh-CN" altLang="en-US" sz="14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DF7DABC-9A25-37CE-D243-15BDDD9A310B}"/>
              </a:ext>
            </a:extLst>
          </p:cNvPr>
          <p:cNvSpPr txBox="1"/>
          <p:nvPr/>
        </p:nvSpPr>
        <p:spPr>
          <a:xfrm>
            <a:off x="7668034" y="4627969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s[</a:t>
            </a:r>
            <a:r>
              <a:rPr lang="en-US" altLang="zh-CN" sz="1400">
                <a:solidFill>
                  <a:srgbClr val="C00000"/>
                </a:solidFill>
              </a:rPr>
              <a:t>-1</a:t>
            </a:r>
            <a:r>
              <a:rPr lang="en-US" altLang="zh-CN" sz="1400"/>
              <a:t>]</a:t>
            </a:r>
            <a:endParaRPr lang="zh-CN" altLang="en-US" sz="140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9C4E742-199B-162C-55F3-C5E9A48E5F6A}"/>
              </a:ext>
            </a:extLst>
          </p:cNvPr>
          <p:cNvGrpSpPr/>
          <p:nvPr/>
        </p:nvGrpSpPr>
        <p:grpSpPr>
          <a:xfrm>
            <a:off x="864169" y="6207988"/>
            <a:ext cx="10463662" cy="348335"/>
            <a:chOff x="4685665" y="1834757"/>
            <a:chExt cx="10535544" cy="348335"/>
          </a:xfrm>
        </p:grpSpPr>
        <p:sp>
          <p:nvSpPr>
            <p:cNvPr id="39" name="ComponentBackground2">
              <a:extLst>
                <a:ext uri="{FF2B5EF4-FFF2-40B4-BE49-F238E27FC236}">
                  <a16:creationId xmlns:a16="http://schemas.microsoft.com/office/drawing/2014/main" id="{913D1A46-F760-39FD-415A-3A71FDF35FE3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从前向后（正向索引），下标从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0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开始；从后向前（反向索引），下标从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-1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开始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40" name="Shape2">
              <a:extLst>
                <a:ext uri="{FF2B5EF4-FFF2-40B4-BE49-F238E27FC236}">
                  <a16:creationId xmlns:a16="http://schemas.microsoft.com/office/drawing/2014/main" id="{3DBB9E48-7B82-639D-7C2E-1E64D9921E15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622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6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2E22-9161-B560-FF8C-0342886F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D73CF-0959-E807-6D5F-06C3561A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</a:t>
            </a:r>
            <a:r>
              <a:rPr lang="en-US" altLang="zh-CN"/>
              <a:t>-</a:t>
            </a:r>
            <a:r>
              <a:rPr lang="zh-CN" altLang="en-US"/>
              <a:t>切片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4F3819-CE55-D751-8CEB-6207986E2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520727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介绍：切片是指对操作的对象截取其中一部分的操作。字符串、列表、元组都支持切片操作。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语法：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1200"/>
              </a:spcBef>
            </a:pPr>
            <a:r>
              <a:rPr lang="zh-CN" altLang="en-US" sz="1400"/>
              <a:t>不包含结束索引位置对应的元素</a:t>
            </a:r>
            <a:r>
              <a:rPr lang="en-US" altLang="zh-CN" sz="1400"/>
              <a:t>(</a:t>
            </a:r>
            <a:r>
              <a:rPr lang="zh-CN" altLang="en-US" sz="1400"/>
              <a:t>开始索引未指定默认为</a:t>
            </a:r>
            <a:r>
              <a:rPr lang="en-US" altLang="zh-CN" sz="1400"/>
              <a:t>0</a:t>
            </a:r>
            <a:r>
              <a:rPr lang="zh-CN" altLang="en-US" sz="1400"/>
              <a:t>；结束索引未指定默认为</a:t>
            </a:r>
            <a:r>
              <a:rPr lang="en-US" altLang="zh-CN" sz="1400"/>
              <a:t>-1</a:t>
            </a:r>
            <a:r>
              <a:rPr lang="zh-CN" altLang="en-US" sz="1400"/>
              <a:t>；步长未指定默认为</a:t>
            </a:r>
            <a:r>
              <a:rPr lang="en-US" altLang="zh-CN" sz="1400"/>
              <a:t>1)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索引采用正向、反向索引都可以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步长是选取间隔，默认步长为</a:t>
            </a:r>
            <a:r>
              <a:rPr lang="en-US" altLang="zh-CN" sz="1400"/>
              <a:t>1 (</a:t>
            </a:r>
            <a:r>
              <a:rPr lang="zh-CN" altLang="en-US" sz="1400"/>
              <a:t>如果是</a:t>
            </a:r>
            <a:r>
              <a:rPr lang="en-US" altLang="zh-CN" sz="1400"/>
              <a:t>-1, </a:t>
            </a:r>
            <a:r>
              <a:rPr lang="zh-CN" altLang="en-US" sz="1400"/>
              <a:t>表示从后向前</a:t>
            </a:r>
            <a:r>
              <a:rPr lang="en-US" altLang="zh-CN" sz="1400"/>
              <a:t>)</a:t>
            </a:r>
          </a:p>
          <a:p>
            <a:pPr marL="2857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举例：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1200"/>
              </a:spcBef>
            </a:pPr>
            <a:r>
              <a:rPr lang="en-US" altLang="zh-CN" sz="1400"/>
              <a:t>s[0:5:1] </a:t>
            </a:r>
            <a:r>
              <a:rPr lang="zh-CN" altLang="en-US" sz="1400"/>
              <a:t>切片后的结果为 </a:t>
            </a:r>
            <a:r>
              <a:rPr lang="en-US" altLang="zh-CN" sz="1400"/>
              <a:t>"Pytho"</a:t>
            </a:r>
          </a:p>
          <a:p>
            <a:pPr marL="612000" lvl="1" indent="-285750">
              <a:lnSpc>
                <a:spcPct val="150000"/>
              </a:lnSpc>
              <a:spcBef>
                <a:spcPts val="1200"/>
              </a:spcBef>
            </a:pPr>
            <a:r>
              <a:rPr lang="en-US" altLang="zh-CN" sz="1400"/>
              <a:t>S[0:5:2] </a:t>
            </a:r>
            <a:r>
              <a:rPr lang="zh-CN" altLang="en-US" sz="1400"/>
              <a:t>切片后的结果为 </a:t>
            </a:r>
            <a:r>
              <a:rPr lang="en-US" altLang="zh-CN" sz="1400"/>
              <a:t>"Pto"</a:t>
            </a:r>
            <a:endParaRPr lang="zh-CN" altLang="en-US" sz="140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3A97FB2-5F3A-FD25-76FB-9551A08DFF7B}"/>
              </a:ext>
            </a:extLst>
          </p:cNvPr>
          <p:cNvSpPr/>
          <p:nvPr/>
        </p:nvSpPr>
        <p:spPr>
          <a:xfrm>
            <a:off x="1519296" y="2983019"/>
            <a:ext cx="3658447" cy="441837"/>
          </a:xfrm>
          <a:prstGeom prst="roundRect">
            <a:avLst>
              <a:gd name="adj" fmla="val 11932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序列对象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[</a:t>
            </a:r>
            <a:r>
              <a:rPr lang="zh-CN" altLang="en-US" sz="1200">
                <a:solidFill>
                  <a:srgbClr val="C00000"/>
                </a:solidFill>
              </a:rPr>
              <a:t>开始索引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:</a:t>
            </a:r>
            <a:r>
              <a:rPr lang="zh-CN" altLang="en-US" sz="1200">
                <a:solidFill>
                  <a:srgbClr val="C00000"/>
                </a:solidFill>
              </a:rPr>
              <a:t>结束索引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:</a:t>
            </a:r>
            <a:r>
              <a:rPr lang="zh-CN" altLang="en-US" sz="1200">
                <a:solidFill>
                  <a:srgbClr val="C00000"/>
                </a:solidFill>
              </a:rPr>
              <a:t>步长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]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1606451-E512-C386-D0F3-9FAE60CD7E0D}"/>
              </a:ext>
            </a:extLst>
          </p:cNvPr>
          <p:cNvSpPr/>
          <p:nvPr/>
        </p:nvSpPr>
        <p:spPr>
          <a:xfrm>
            <a:off x="2838053" y="1718890"/>
            <a:ext cx="5675125" cy="827542"/>
          </a:xfrm>
          <a:prstGeom prst="roundRect">
            <a:avLst>
              <a:gd name="adj" fmla="val 8674"/>
            </a:avLst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B0F03FC-E46C-1ED0-9B8B-20D516201BDC}"/>
              </a:ext>
            </a:extLst>
          </p:cNvPr>
          <p:cNvSpPr/>
          <p:nvPr/>
        </p:nvSpPr>
        <p:spPr>
          <a:xfrm>
            <a:off x="2957329" y="1825931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P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2BAD498-58A5-6F11-D687-ACF267528194}"/>
              </a:ext>
            </a:extLst>
          </p:cNvPr>
          <p:cNvSpPr/>
          <p:nvPr/>
        </p:nvSpPr>
        <p:spPr>
          <a:xfrm>
            <a:off x="5758405" y="1821603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h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E3B7DB1-3A6B-8995-98FB-C28C801CFBE8}"/>
              </a:ext>
            </a:extLst>
          </p:cNvPr>
          <p:cNvSpPr/>
          <p:nvPr/>
        </p:nvSpPr>
        <p:spPr>
          <a:xfrm>
            <a:off x="3891021" y="1825931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y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F813E53-F33F-FF64-BE8B-15F0A8FC8052}"/>
              </a:ext>
            </a:extLst>
          </p:cNvPr>
          <p:cNvSpPr/>
          <p:nvPr/>
        </p:nvSpPr>
        <p:spPr>
          <a:xfrm>
            <a:off x="4824713" y="1821603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7C1094F-5676-0A61-CD6C-08DB203CACB2}"/>
              </a:ext>
            </a:extLst>
          </p:cNvPr>
          <p:cNvSpPr/>
          <p:nvPr/>
        </p:nvSpPr>
        <p:spPr>
          <a:xfrm>
            <a:off x="6686311" y="1821602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o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22B214-6CA9-349D-40E8-CDB6771F8F06}"/>
              </a:ext>
            </a:extLst>
          </p:cNvPr>
          <p:cNvSpPr/>
          <p:nvPr/>
        </p:nvSpPr>
        <p:spPr>
          <a:xfrm>
            <a:off x="7614217" y="1821601"/>
            <a:ext cx="763930" cy="622115"/>
          </a:xfrm>
          <a:prstGeom prst="roundRect">
            <a:avLst>
              <a:gd name="adj" fmla="val 1108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n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058B3EA-DC31-2A40-E863-D494B9DA43CC}"/>
              </a:ext>
            </a:extLst>
          </p:cNvPr>
          <p:cNvSpPr/>
          <p:nvPr/>
        </p:nvSpPr>
        <p:spPr>
          <a:xfrm>
            <a:off x="3188825" y="1727545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0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D9CE786-1995-6714-3725-7236AC1C3A37}"/>
              </a:ext>
            </a:extLst>
          </p:cNvPr>
          <p:cNvSpPr/>
          <p:nvPr/>
        </p:nvSpPr>
        <p:spPr>
          <a:xfrm>
            <a:off x="4128302" y="1727544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DFA6B6C-5C2F-105E-1943-4641694F2CB6}"/>
              </a:ext>
            </a:extLst>
          </p:cNvPr>
          <p:cNvSpPr/>
          <p:nvPr/>
        </p:nvSpPr>
        <p:spPr>
          <a:xfrm>
            <a:off x="5061994" y="172754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3BD1916-D472-45A0-C1F9-B0992F7E7E27}"/>
              </a:ext>
            </a:extLst>
          </p:cNvPr>
          <p:cNvSpPr/>
          <p:nvPr/>
        </p:nvSpPr>
        <p:spPr>
          <a:xfrm>
            <a:off x="5992793" y="172754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7AD4954-F0E9-F66E-1B93-55CA8FF1E51D}"/>
              </a:ext>
            </a:extLst>
          </p:cNvPr>
          <p:cNvSpPr/>
          <p:nvPr/>
        </p:nvSpPr>
        <p:spPr>
          <a:xfrm>
            <a:off x="6914912" y="1727543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14763AC-D883-8EC3-3B58-51D9FE06DCA0}"/>
              </a:ext>
            </a:extLst>
          </p:cNvPr>
          <p:cNvSpPr/>
          <p:nvPr/>
        </p:nvSpPr>
        <p:spPr>
          <a:xfrm>
            <a:off x="7848605" y="1727542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A88586D-EF43-2B79-4FF6-707B2BB3E30D}"/>
              </a:ext>
            </a:extLst>
          </p:cNvPr>
          <p:cNvSpPr/>
          <p:nvPr/>
        </p:nvSpPr>
        <p:spPr>
          <a:xfrm>
            <a:off x="7848605" y="2288920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-1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EADF442-2967-7B03-99B9-7E930D2A4E29}"/>
              </a:ext>
            </a:extLst>
          </p:cNvPr>
          <p:cNvSpPr/>
          <p:nvPr/>
        </p:nvSpPr>
        <p:spPr>
          <a:xfrm>
            <a:off x="6921669" y="2288920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-2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74CC6AC-25A1-24EA-5E8D-7A605399788C}"/>
              </a:ext>
            </a:extLst>
          </p:cNvPr>
          <p:cNvSpPr/>
          <p:nvPr/>
        </p:nvSpPr>
        <p:spPr>
          <a:xfrm>
            <a:off x="5992793" y="2288920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-3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90015E6-4805-E6B9-0BBA-F8D275B06584}"/>
              </a:ext>
            </a:extLst>
          </p:cNvPr>
          <p:cNvSpPr/>
          <p:nvPr/>
        </p:nvSpPr>
        <p:spPr>
          <a:xfrm>
            <a:off x="5061994" y="2288919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-4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2D592D0-2A6E-6DED-0405-20D5544C8F39}"/>
              </a:ext>
            </a:extLst>
          </p:cNvPr>
          <p:cNvSpPr/>
          <p:nvPr/>
        </p:nvSpPr>
        <p:spPr>
          <a:xfrm>
            <a:off x="4120269" y="2288918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-5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5C96058-4667-B983-D9F2-78D460E70BBA}"/>
              </a:ext>
            </a:extLst>
          </p:cNvPr>
          <p:cNvSpPr/>
          <p:nvPr/>
        </p:nvSpPr>
        <p:spPr>
          <a:xfrm>
            <a:off x="3184007" y="2288918"/>
            <a:ext cx="295154" cy="237281"/>
          </a:xfrm>
          <a:prstGeom prst="ellipse">
            <a:avLst/>
          </a:prstGeom>
          <a:solidFill>
            <a:srgbClr val="FFF6D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-6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DA04BBF-0C9B-0D1A-9D6F-9C9923FC38EA}"/>
              </a:ext>
            </a:extLst>
          </p:cNvPr>
          <p:cNvSpPr txBox="1"/>
          <p:nvPr/>
        </p:nvSpPr>
        <p:spPr>
          <a:xfrm>
            <a:off x="2128524" y="196482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s = 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827975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87A8-F64A-8B46-4AA1-43E6A668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1E2242-AC29-3FB3-5AEF-79AF0F6202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037" y="923326"/>
            <a:ext cx="7170081" cy="461026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字符串的特点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不可变性（无法修改）、有序性、可迭代性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字符串的索引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正向索引：从</a:t>
            </a:r>
            <a:r>
              <a:rPr lang="en-US" altLang="zh-CN" sz="1400"/>
              <a:t>0</a:t>
            </a:r>
            <a:r>
              <a:rPr lang="zh-CN" altLang="en-US" sz="1400"/>
              <a:t>开始</a:t>
            </a:r>
            <a:endParaRPr lang="en-US" altLang="zh-CN" sz="1400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反向索引：从</a:t>
            </a:r>
            <a:r>
              <a:rPr lang="en-US" altLang="zh-CN" sz="1400"/>
              <a:t>-1</a:t>
            </a:r>
            <a:r>
              <a:rPr lang="zh-CN" altLang="en-US" sz="1400"/>
              <a:t>开始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字符串的切片</a:t>
            </a:r>
            <a:endParaRPr lang="en-US" altLang="zh-CN"/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语法：</a:t>
            </a:r>
            <a:r>
              <a:rPr lang="en-US" altLang="zh-CN" sz="1400"/>
              <a:t>s[start:end:step]</a:t>
            </a: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特点：</a:t>
            </a:r>
            <a:endParaRPr lang="en-US" altLang="zh-CN" sz="1400"/>
          </a:p>
          <a:p>
            <a:pPr marL="1069200" lvl="2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200"/>
              <a:t>start</a:t>
            </a:r>
            <a:r>
              <a:rPr lang="zh-CN" altLang="en-US" sz="1200"/>
              <a:t>：开始索引，不指定默认为</a:t>
            </a:r>
            <a:r>
              <a:rPr lang="en-US" altLang="zh-CN" sz="1200"/>
              <a:t>0</a:t>
            </a:r>
            <a:r>
              <a:rPr lang="zh-CN" altLang="en-US" sz="1200"/>
              <a:t>（第一个元素的索引）</a:t>
            </a:r>
            <a:endParaRPr lang="en-US" altLang="zh-CN" sz="1200"/>
          </a:p>
          <a:p>
            <a:pPr marL="1069200" lvl="2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200"/>
              <a:t>end</a:t>
            </a:r>
            <a:r>
              <a:rPr lang="zh-CN" altLang="en-US" sz="1200"/>
              <a:t>：结束索引，不指定默认为</a:t>
            </a:r>
            <a:r>
              <a:rPr lang="en-US" altLang="zh-CN" sz="1200"/>
              <a:t>-1</a:t>
            </a:r>
            <a:r>
              <a:rPr lang="zh-CN" altLang="en-US" sz="1200"/>
              <a:t>（最后一个元素的索引）</a:t>
            </a:r>
            <a:endParaRPr lang="en-US" altLang="zh-CN" sz="1200"/>
          </a:p>
          <a:p>
            <a:pPr marL="1069200" lvl="2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200"/>
              <a:t>step</a:t>
            </a:r>
            <a:r>
              <a:rPr lang="zh-CN" altLang="en-US" sz="1200"/>
              <a:t>：步长，不指定默认为</a:t>
            </a:r>
            <a:r>
              <a:rPr lang="en-US" altLang="zh-CN" sz="1200"/>
              <a:t>1 (-1</a:t>
            </a:r>
            <a:r>
              <a:rPr lang="zh-CN" altLang="en-US" sz="1200"/>
              <a:t>表示从后向前</a:t>
            </a:r>
            <a:r>
              <a:rPr lang="en-US" altLang="zh-CN" sz="1200"/>
              <a:t>)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3692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C8F8-EC65-CED1-890A-471C3C5F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36BD66-9CC4-AB17-5752-788191CDC4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字符串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0FC15F-AF17-3B93-5529-1A8E45B6F1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791857"/>
          </a:xfrm>
        </p:spPr>
        <p:txBody>
          <a:bodyPr/>
          <a:lstStyle/>
          <a:p>
            <a:r>
              <a:rPr lang="zh-CN" altLang="en-US"/>
              <a:t>基本操作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常用方法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C050776-21CE-0F39-0CA6-C810857D1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694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7CE8-E73E-8DA2-B0B5-023F91ED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97AB0-5120-444F-D3C2-361BF37C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</a:t>
            </a:r>
            <a:r>
              <a:rPr lang="en-US" altLang="zh-CN"/>
              <a:t>-</a:t>
            </a:r>
            <a:r>
              <a:rPr lang="zh-CN" altLang="en-US"/>
              <a:t>常用方法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47E3D-5C35-3AC1-2A00-C0DB07D2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字符串操作常用方法：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A745BE3-CEDA-986C-0D9B-B795B7057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785977"/>
              </p:ext>
            </p:extLst>
          </p:nvPr>
        </p:nvGraphicFramePr>
        <p:xfrm>
          <a:off x="1048792" y="1508646"/>
          <a:ext cx="10213375" cy="3564000"/>
        </p:xfrm>
        <a:graphic>
          <a:graphicData uri="http://schemas.openxmlformats.org/drawingml/2006/table">
            <a:tbl>
              <a:tblPr/>
              <a:tblGrid>
                <a:gridCol w="1699269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6152871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  <a:gridCol w="2361235">
                  <a:extLst>
                    <a:ext uri="{9D8B030D-6E8A-4147-A177-3AD203B41FA5}">
                      <a16:colId xmlns:a16="http://schemas.microsoft.com/office/drawing/2014/main" val="58880292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方法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作用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样例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find()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在字符串中查找子串，返回第一次出现的索引位置，找不到返回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-1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s.find('Python')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count()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统计子串在字符串中出现的次数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s.count('H')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upper()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将字符串中的所有字母转换为大写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s.upper()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lower()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将字符串中的所有字母转换为小写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s.lower()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split()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将字符串按指定分隔符分割成列表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s.split(' ')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strip()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去除字符串两端的空白字符或指定字符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s.strip() / s.strip('*')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642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replace()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将字符串中的指定子串替换为新的子串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s.replace('H','C')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4827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startswith()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检查字符串是否以指定子串开头，返回布尔值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s.startwith('P')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494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160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7335-A66F-0D95-3E7E-BFE7DE26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2A17886-66A4-C8A7-3474-12D0AE793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请描述如下字符串方法的作用</a:t>
            </a:r>
            <a:r>
              <a:rPr lang="en-US" altLang="zh-CN"/>
              <a:t>?</a:t>
            </a:r>
          </a:p>
          <a:p>
            <a:pPr marL="6120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CN" sz="1600"/>
              <a:t>find()</a:t>
            </a:r>
            <a:r>
              <a:rPr lang="zh-CN" altLang="en-US" sz="1600"/>
              <a:t>、</a:t>
            </a:r>
            <a:r>
              <a:rPr lang="en-US" altLang="zh-CN" sz="1600"/>
              <a:t>count()</a:t>
            </a:r>
            <a:r>
              <a:rPr lang="zh-CN" altLang="en-US" sz="1600"/>
              <a:t>、</a:t>
            </a:r>
            <a:r>
              <a:rPr lang="en-US" altLang="zh-CN" sz="1600"/>
              <a:t>upper()</a:t>
            </a:r>
            <a:r>
              <a:rPr lang="zh-CN" altLang="en-US" sz="1600"/>
              <a:t>、</a:t>
            </a:r>
            <a:r>
              <a:rPr lang="en-US" altLang="zh-CN" sz="1600"/>
              <a:t>lower()</a:t>
            </a:r>
            <a:r>
              <a:rPr lang="zh-CN" altLang="en-US" sz="1600"/>
              <a:t>、</a:t>
            </a:r>
            <a:r>
              <a:rPr lang="en-US" altLang="zh-CN" sz="1600"/>
              <a:t>split()</a:t>
            </a:r>
            <a:r>
              <a:rPr lang="zh-CN" altLang="en-US" sz="1600"/>
              <a:t>、</a:t>
            </a:r>
            <a:r>
              <a:rPr lang="en-US" altLang="zh-CN" sz="1600"/>
              <a:t>strip()</a:t>
            </a:r>
            <a:r>
              <a:rPr lang="zh-CN" altLang="en-US" sz="1600"/>
              <a:t>、</a:t>
            </a:r>
            <a:r>
              <a:rPr lang="en-US" altLang="zh-CN" sz="1600"/>
              <a:t>replace()</a:t>
            </a:r>
            <a:r>
              <a:rPr lang="zh-CN" altLang="en-US" sz="1600"/>
              <a:t>、</a:t>
            </a:r>
            <a:r>
              <a:rPr lang="en-US" altLang="zh-CN" sz="1600"/>
              <a:t>startswith()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10557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7894-99E4-D977-BF06-6206C535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977CF8-EFCC-CBD4-940F-AE3602BEC6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字符串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D9DE78-30AD-9471-958E-20BB7328D4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791857"/>
          </a:xfrm>
        </p:spPr>
        <p:txBody>
          <a:bodyPr/>
          <a:lstStyle/>
          <a:p>
            <a:r>
              <a:rPr lang="zh-CN" altLang="en-US"/>
              <a:t>基本操作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常用方法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EA1CCC6-3D5F-AB3E-8CCF-1C73509184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39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552E-F069-A233-E421-4F7BDFE5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90EDB-FCE7-1352-6F9C-489F9DB9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DCD11-FC58-A46B-ED96-7D4907263F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89663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邮箱格式验证：用户输入一个邮箱</a:t>
            </a:r>
            <a:r>
              <a:rPr lang="en-US" altLang="zh-CN"/>
              <a:t>, </a:t>
            </a:r>
            <a:r>
              <a:rPr lang="zh-CN" altLang="en-US"/>
              <a:t>验证邮箱格式是否正确</a:t>
            </a:r>
            <a:r>
              <a:rPr lang="en-US" altLang="zh-CN"/>
              <a:t>(</a:t>
            </a:r>
            <a:r>
              <a:rPr lang="zh-CN" altLang="en-US"/>
              <a:t>包含一个</a:t>
            </a:r>
            <a:r>
              <a:rPr lang="en-US" altLang="zh-CN"/>
              <a:t>@</a:t>
            </a:r>
            <a:r>
              <a:rPr lang="zh-CN" altLang="en-US"/>
              <a:t>和至少一个</a:t>
            </a:r>
            <a:r>
              <a:rPr lang="en-US" altLang="zh-CN"/>
              <a:t>.), </a:t>
            </a:r>
            <a:r>
              <a:rPr lang="zh-CN" altLang="en-US"/>
              <a:t>如果输入正确</a:t>
            </a:r>
            <a:r>
              <a:rPr lang="en-US" altLang="zh-CN"/>
              <a:t>, </a:t>
            </a:r>
            <a:r>
              <a:rPr lang="zh-CN" altLang="en-US"/>
              <a:t>输出</a:t>
            </a:r>
            <a:r>
              <a:rPr lang="en-US" altLang="zh-CN"/>
              <a:t>"</a:t>
            </a:r>
            <a:r>
              <a:rPr lang="zh-CN" altLang="en-US"/>
              <a:t>邮箱格式正确</a:t>
            </a:r>
            <a:r>
              <a:rPr lang="en-US" altLang="zh-CN"/>
              <a:t>", </a:t>
            </a:r>
            <a:r>
              <a:rPr lang="zh-CN" altLang="en-US"/>
              <a:t>否则输出</a:t>
            </a:r>
            <a:r>
              <a:rPr lang="en-US" altLang="zh-CN"/>
              <a:t>"</a:t>
            </a:r>
            <a:r>
              <a:rPr lang="zh-CN" altLang="en-US"/>
              <a:t>邮箱格式错误</a:t>
            </a:r>
            <a:r>
              <a:rPr lang="en-US" altLang="zh-CN"/>
              <a:t>"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A6F0E6-E6D1-B5A0-3B26-1699853E47DF}"/>
              </a:ext>
            </a:extLst>
          </p:cNvPr>
          <p:cNvSpPr txBox="1"/>
          <p:nvPr/>
        </p:nvSpPr>
        <p:spPr>
          <a:xfrm>
            <a:off x="6838122" y="2683565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itheima@163.com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29CCFE-52F3-2D19-928B-33D4835C0440}"/>
              </a:ext>
            </a:extLst>
          </p:cNvPr>
          <p:cNvSpPr txBox="1"/>
          <p:nvPr/>
        </p:nvSpPr>
        <p:spPr>
          <a:xfrm>
            <a:off x="6838122" y="3244334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itheima@mail.itcast.cn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67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CBCA-5108-1CC1-737F-4744D88E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022B163-B72C-B501-300E-250ACE4064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31433" y="2029416"/>
            <a:ext cx="7170081" cy="243656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如何判断指定的子字符串是否出现在字符串之中？</a:t>
            </a:r>
            <a:endParaRPr lang="en-US" altLang="zh-CN"/>
          </a:p>
          <a:p>
            <a:pPr marL="684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in</a:t>
            </a:r>
            <a:r>
              <a:rPr lang="zh-CN" altLang="en-US" sz="1600"/>
              <a:t>运算符，返回</a:t>
            </a:r>
            <a:r>
              <a:rPr lang="en-US" altLang="zh-CN" sz="1600"/>
              <a:t>bool</a:t>
            </a:r>
            <a:r>
              <a:rPr lang="zh-CN" altLang="en-US" sz="1600"/>
              <a:t>值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273429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1133-533D-BC0C-FDFC-53FA1623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A0DE7-F28D-E59C-E580-3E8B74E7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820AD9-DCE6-B086-C75C-E850A591C1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10246744" cy="212245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输入一个字符串</a:t>
            </a:r>
            <a:r>
              <a:rPr lang="en-US" altLang="zh-CN"/>
              <a:t>, </a:t>
            </a:r>
            <a:r>
              <a:rPr lang="zh-CN" altLang="en-US"/>
              <a:t>判断该字符串是否是回文</a:t>
            </a:r>
            <a:r>
              <a:rPr lang="en-US" altLang="zh-CN"/>
              <a:t>(</a:t>
            </a:r>
            <a:r>
              <a:rPr lang="zh-CN" altLang="en-US"/>
              <a:t>两边对称</a:t>
            </a:r>
            <a:r>
              <a:rPr lang="en-US" altLang="zh-CN"/>
              <a:t>)</a:t>
            </a:r>
            <a:r>
              <a:rPr lang="zh-CN" altLang="en-US"/>
              <a:t> 。</a:t>
            </a:r>
            <a:endParaRPr lang="en-US" altLang="zh-CN"/>
          </a:p>
          <a:p>
            <a:pPr marL="648000" lvl="1" indent="-342900">
              <a:lnSpc>
                <a:spcPct val="200000"/>
              </a:lnSpc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</a:rPr>
              <a:t>黄山落叶松叶落山黄</a:t>
            </a:r>
          </a:p>
          <a:p>
            <a:pPr marL="648000" lvl="1" indent="-342900">
              <a:lnSpc>
                <a:spcPct val="200000"/>
              </a:lnSpc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</a:rPr>
              <a:t>上海自来水来自海上</a:t>
            </a:r>
            <a:endParaRPr lang="en-US" altLang="zh-CN" sz="140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将用户输入的</a:t>
            </a:r>
            <a:r>
              <a:rPr lang="en-US" altLang="zh-CN"/>
              <a:t>10</a:t>
            </a:r>
            <a:r>
              <a:rPr lang="zh-CN" altLang="en-US"/>
              <a:t>个字符串</a:t>
            </a:r>
            <a:r>
              <a:rPr lang="en-US" altLang="zh-CN"/>
              <a:t>, </a:t>
            </a:r>
            <a:r>
              <a:rPr lang="zh-CN" altLang="en-US"/>
              <a:t>反转后全部转换为大写</a:t>
            </a:r>
            <a:r>
              <a:rPr lang="en-US" altLang="zh-CN"/>
              <a:t>, </a:t>
            </a:r>
            <a:r>
              <a:rPr lang="zh-CN" altLang="en-US"/>
              <a:t>然后记录在列表中</a:t>
            </a:r>
            <a:r>
              <a:rPr lang="en-US" altLang="zh-CN"/>
              <a:t>, </a:t>
            </a:r>
            <a:r>
              <a:rPr lang="zh-CN" altLang="en-US"/>
              <a:t>最后将列表内容，遍历输出出来。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5082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284B9-5375-EBCC-6028-3A4E30D8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C8812A-B344-B2B1-ECED-C13322C2DD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49496" y="1297807"/>
            <a:ext cx="3692525" cy="3332065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列表（</a:t>
            </a:r>
            <a:r>
              <a:rPr lang="en-US" altLang="zh-CN">
                <a:latin typeface="+mn-lt"/>
              </a:rPr>
              <a:t>list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字符串（</a:t>
            </a:r>
            <a:r>
              <a:rPr lang="en-US" altLang="zh-CN">
                <a:latin typeface="+mn-lt"/>
              </a:rPr>
              <a:t>str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元组（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tuple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）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集合（</a:t>
            </a:r>
            <a:r>
              <a:rPr lang="en-US" altLang="zh-CN">
                <a:latin typeface="+mn-lt"/>
              </a:rPr>
              <a:t>set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字典（</a:t>
            </a:r>
            <a:r>
              <a:rPr lang="en-US" altLang="zh-CN">
                <a:latin typeface="+mn-lt"/>
              </a:rPr>
              <a:t>dict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综合案例</a:t>
            </a:r>
          </a:p>
        </p:txBody>
      </p:sp>
    </p:spTree>
    <p:extLst>
      <p:ext uri="{BB962C8B-B14F-4D97-AF65-F5344CB8AC3E}">
        <p14:creationId xmlns:p14="http://schemas.microsoft.com/office/powerpoint/2010/main" val="2231594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9DD84B4-66B5-E767-411C-CE1275539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96" y="2008972"/>
            <a:ext cx="2260419" cy="2260419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8145C458-2783-294A-61F4-9301C9C4F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为什么要用元组？</a:t>
            </a:r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9C5C2701-4835-4C6A-DC97-D96BE3976638}"/>
              </a:ext>
            </a:extLst>
          </p:cNvPr>
          <p:cNvSpPr txBox="1">
            <a:spLocks/>
          </p:cNvSpPr>
          <p:nvPr/>
        </p:nvSpPr>
        <p:spPr>
          <a:xfrm>
            <a:off x="3544129" y="1662297"/>
            <a:ext cx="8071675" cy="277080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列表有什么特点</a:t>
            </a:r>
            <a:r>
              <a:rPr lang="en-US" altLang="zh-CN"/>
              <a:t>?</a:t>
            </a:r>
          </a:p>
          <a:p>
            <a:pPr marL="612000" indent="-2857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元素可重复、有序、可以修改的</a:t>
            </a:r>
            <a:endParaRPr lang="en-US" altLang="zh-CN" sz="1400"/>
          </a:p>
          <a:p>
            <a:pPr marL="326250">
              <a:lnSpc>
                <a:spcPct val="200000"/>
              </a:lnSpc>
              <a:spcBef>
                <a:spcPts val="0"/>
              </a:spcBef>
            </a:pP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如果要要记录一些信息，而这些信息，不能被修改，只能查询呢？</a:t>
            </a:r>
            <a:endParaRPr lang="en-US" altLang="zh-CN"/>
          </a:p>
          <a:p>
            <a:pPr marL="612000" indent="-2857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列表就不适合了</a:t>
            </a:r>
            <a:endParaRPr lang="en-US" altLang="zh-CN" sz="1400"/>
          </a:p>
          <a:p>
            <a:pPr marL="612000" indent="-2857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此时就可以考虑使用元组，元组与列表最大的不同点在于：</a:t>
            </a:r>
            <a:r>
              <a:rPr lang="zh-CN" altLang="en-US" sz="1400">
                <a:solidFill>
                  <a:srgbClr val="C00000"/>
                </a:solidFill>
              </a:rPr>
              <a:t>元组一旦定义完成，不可修改</a:t>
            </a:r>
          </a:p>
        </p:txBody>
      </p:sp>
    </p:spTree>
    <p:extLst>
      <p:ext uri="{BB962C8B-B14F-4D97-AF65-F5344CB8AC3E}">
        <p14:creationId xmlns:p14="http://schemas.microsoft.com/office/powerpoint/2010/main" val="143970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2665F-0E2F-8550-1907-794C176A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3291FF-5BDA-17F7-5128-1088FD0B5F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元组</a:t>
            </a:r>
            <a:r>
              <a:rPr lang="en-US" altLang="zh-CN"/>
              <a:t>(tuple)</a:t>
            </a:r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D9A491-6A0E-AED8-E15B-0E99231DF8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060909"/>
          </a:xfrm>
        </p:spPr>
        <p:txBody>
          <a:bodyPr/>
          <a:lstStyle/>
          <a:p>
            <a:r>
              <a:rPr lang="zh-CN" altLang="en-US"/>
              <a:t>基本操作</a:t>
            </a:r>
            <a:endParaRPr lang="en-US" altLang="zh-CN"/>
          </a:p>
          <a:p>
            <a:r>
              <a:rPr lang="zh-CN" altLang="en-US"/>
              <a:t>组包与解包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0369B3-4051-109A-7B42-801F31CC74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61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3CCC-CE6A-81CD-A82F-0B8399D8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83D4F3-C6CB-2DC6-8FD3-1BC1BD88C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238305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介绍：元组是</a:t>
            </a:r>
            <a:r>
              <a:rPr lang="zh-CN" altLang="en-US">
                <a:solidFill>
                  <a:srgbClr val="C00000"/>
                </a:solidFill>
              </a:rPr>
              <a:t>不可变</a:t>
            </a:r>
            <a:r>
              <a:rPr lang="zh-CN" altLang="en-US"/>
              <a:t>的序列，类似于列表，但创建后不能修改。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特点：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可以存储不同类型的元素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元素可以重复、有序、</a:t>
            </a:r>
            <a:r>
              <a:rPr lang="zh-CN" altLang="en-US" sz="1400">
                <a:solidFill>
                  <a:srgbClr val="C00000"/>
                </a:solidFill>
              </a:rPr>
              <a:t>不可以修改 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支持索引访问、切片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)</a:t>
            </a:r>
          </a:p>
          <a:p>
            <a:pPr marL="2857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定义：</a:t>
            </a:r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1B81635-BD3E-7EB4-D6C3-78E7996C6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元组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7DCF3EE-53CA-A953-17B9-77295175F02C}"/>
              </a:ext>
            </a:extLst>
          </p:cNvPr>
          <p:cNvGrpSpPr/>
          <p:nvPr/>
        </p:nvGrpSpPr>
        <p:grpSpPr>
          <a:xfrm>
            <a:off x="934285" y="3229336"/>
            <a:ext cx="3840272" cy="2002420"/>
            <a:chOff x="2297720" y="3660322"/>
            <a:chExt cx="4231266" cy="200253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811E1F7F-0F66-C0A8-2783-71549212C196}"/>
                </a:ext>
              </a:extLst>
            </p:cNvPr>
            <p:cNvSpPr/>
            <p:nvPr/>
          </p:nvSpPr>
          <p:spPr>
            <a:xfrm>
              <a:off x="2297728" y="3660322"/>
              <a:ext cx="4231258" cy="2002539"/>
            </a:xfrm>
            <a:prstGeom prst="roundRect">
              <a:avLst>
                <a:gd name="adj" fmla="val 291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定义元组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元组名称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= (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元素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1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，元素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2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，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...)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定义空元组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元组名称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= ()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元组名称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= tuple()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A8E72E4F-D125-89AB-E7EE-605FFBEE5570}"/>
                </a:ext>
              </a:extLst>
            </p:cNvPr>
            <p:cNvSpPr/>
            <p:nvPr/>
          </p:nvSpPr>
          <p:spPr>
            <a:xfrm>
              <a:off x="2297720" y="3660322"/>
              <a:ext cx="423125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E77A002-A53A-D959-EDD5-C3AC3D5F184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2FE5BBB-A63E-7F31-3812-11A8CE424C0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6F648A8-519E-3695-4447-77CB6B19091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内容占位符 5">
            <a:extLst>
              <a:ext uri="{FF2B5EF4-FFF2-40B4-BE49-F238E27FC236}">
                <a16:creationId xmlns:a16="http://schemas.microsoft.com/office/drawing/2014/main" id="{75A76838-8F49-7B7F-48AB-E5CD2A42F12A}"/>
              </a:ext>
            </a:extLst>
          </p:cNvPr>
          <p:cNvSpPr txBox="1">
            <a:spLocks/>
          </p:cNvSpPr>
          <p:nvPr/>
        </p:nvSpPr>
        <p:spPr>
          <a:xfrm>
            <a:off x="576196" y="5284530"/>
            <a:ext cx="10906245" cy="12873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方法：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count()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：统计某元素在元组中出现的次数</a:t>
            </a:r>
            <a:endParaRPr lang="en-US" altLang="zh-CN" sz="1400">
              <a:solidFill>
                <a:schemeClr val="tx1">
                  <a:lumMod val="75000"/>
                </a:schemeClr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index()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：查找某个元素在元组中的索引位置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第一次出现的位置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)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B727E-CCF0-A3EE-2986-5C85E1998607}"/>
              </a:ext>
            </a:extLst>
          </p:cNvPr>
          <p:cNvGrpSpPr/>
          <p:nvPr/>
        </p:nvGrpSpPr>
        <p:grpSpPr>
          <a:xfrm>
            <a:off x="5296178" y="3229336"/>
            <a:ext cx="6166410" cy="2002420"/>
            <a:chOff x="2297720" y="3660322"/>
            <a:chExt cx="6794238" cy="2002539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B4FDC9E8-1785-041A-12E8-8FB01814042A}"/>
                </a:ext>
              </a:extLst>
            </p:cNvPr>
            <p:cNvSpPr/>
            <p:nvPr/>
          </p:nvSpPr>
          <p:spPr>
            <a:xfrm>
              <a:off x="2297728" y="3660322"/>
              <a:ext cx="6794230" cy="2002539"/>
            </a:xfrm>
            <a:prstGeom prst="roundRect">
              <a:avLst>
                <a:gd name="adj" fmla="val 291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定义元组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t1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= (5,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7,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9, 1, 2, 3, 10, 6, 4, 8 ,12, 7, 5)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定义空元组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t2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= ()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t3 = tuple()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739D364C-E51D-8EAF-9069-AF02ACAAC265}"/>
                </a:ext>
              </a:extLst>
            </p:cNvPr>
            <p:cNvSpPr/>
            <p:nvPr/>
          </p:nvSpPr>
          <p:spPr>
            <a:xfrm>
              <a:off x="2297720" y="3660322"/>
              <a:ext cx="679422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4488408-EF3E-B985-C72F-723C5F4C7FA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8C506E7-7162-5A3A-97A7-5F121AC8356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C293BE6-5B25-EAF1-1845-F6AE800F309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589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5A84-045F-6A4E-6E6E-E1B79C40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E45D58E-28FF-6B46-6E53-F235BC06B1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836" y="1141564"/>
            <a:ext cx="7170081" cy="420915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元组有什么特点？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元素可以重复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有序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不可修改（只读）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元组的两个查询方法？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count()</a:t>
            </a:r>
            <a:r>
              <a:rPr lang="zh-CN" altLang="en-US" sz="1400"/>
              <a:t>：统计指定元素的数量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index()</a:t>
            </a:r>
            <a:r>
              <a:rPr lang="zh-CN" altLang="en-US" sz="1400"/>
              <a:t>：获取指定元素的索引，如果该元素不存在将报错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元组使用注意事项？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定义单元素元组时，需要在结尾加上逗号，比如 （</a:t>
            </a:r>
            <a:r>
              <a:rPr lang="en-US" altLang="zh-CN" sz="1400"/>
              <a:t>'A',</a:t>
            </a:r>
            <a:r>
              <a:rPr lang="zh-CN" altLang="en-US" sz="1400"/>
              <a:t>）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970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7957F-D81B-3BA3-6C54-4E5FF9A2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22DA13-9811-6DB7-2DE6-F49A0D6218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元组</a:t>
            </a:r>
            <a:r>
              <a:rPr lang="en-US" altLang="zh-CN"/>
              <a:t>(tuple)</a:t>
            </a:r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D66B911-077A-7E18-540F-0DFF51D9F9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060909"/>
          </a:xfrm>
        </p:spPr>
        <p:txBody>
          <a:bodyPr/>
          <a:lstStyle/>
          <a:p>
            <a:r>
              <a:rPr lang="zh-CN" altLang="en-US"/>
              <a:t>基本操作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组包与解包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0C16E7-22ED-31C8-7BCA-EFB129597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042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AE9F6-E383-AFCE-FBBE-C403E2D4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ADF90-DD31-57C0-BCB4-78988A6A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元组</a:t>
            </a:r>
            <a:r>
              <a:rPr lang="en-US" altLang="zh-CN"/>
              <a:t>-</a:t>
            </a:r>
            <a:r>
              <a:rPr lang="zh-CN" altLang="en-US"/>
              <a:t>组包与解包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CE4473-5C65-11F6-98DB-7B0366C9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53385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组包（</a:t>
            </a:r>
            <a:r>
              <a:rPr lang="en-US" altLang="zh-CN"/>
              <a:t>Packing</a:t>
            </a:r>
            <a:r>
              <a:rPr lang="zh-CN" altLang="en-US"/>
              <a:t>）：将多个值合并到一个容器（元组、列表）中。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解包（</a:t>
            </a:r>
            <a:r>
              <a:rPr lang="en-US" altLang="zh-CN"/>
              <a:t>Unpacking</a:t>
            </a:r>
            <a:r>
              <a:rPr lang="zh-CN" altLang="en-US"/>
              <a:t>）：将容器</a:t>
            </a:r>
            <a:r>
              <a:rPr lang="en-US" altLang="zh-CN"/>
              <a:t>(</a:t>
            </a:r>
            <a:r>
              <a:rPr lang="zh-CN" altLang="en-US"/>
              <a:t>元组、列表</a:t>
            </a:r>
            <a:r>
              <a:rPr lang="en-US" altLang="zh-CN"/>
              <a:t>)</a:t>
            </a:r>
            <a:r>
              <a:rPr lang="zh-CN" altLang="en-US"/>
              <a:t>解开成独立的元素，分别赋值给多个变量。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2BA4793-099B-1079-C353-044B1F8365E3}"/>
              </a:ext>
            </a:extLst>
          </p:cNvPr>
          <p:cNvGrpSpPr/>
          <p:nvPr/>
        </p:nvGrpSpPr>
        <p:grpSpPr>
          <a:xfrm>
            <a:off x="903585" y="1961908"/>
            <a:ext cx="6166403" cy="3634451"/>
            <a:chOff x="2297719" y="3660321"/>
            <a:chExt cx="6794230" cy="363466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4C7A8FB-7A93-E6EF-5D99-23F08A5B1759}"/>
                </a:ext>
              </a:extLst>
            </p:cNvPr>
            <p:cNvSpPr/>
            <p:nvPr/>
          </p:nvSpPr>
          <p:spPr>
            <a:xfrm>
              <a:off x="2297719" y="3660321"/>
              <a:ext cx="6794230" cy="3634667"/>
            </a:xfrm>
            <a:prstGeom prst="roundRect">
              <a:avLst>
                <a:gd name="adj" fmla="val 193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67D17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067D17"/>
                  </a:solidFill>
                </a:rPr>
                <a:t>定义元组</a:t>
              </a:r>
              <a:r>
                <a:rPr lang="en-US" altLang="zh-CN" sz="1200">
                  <a:solidFill>
                    <a:srgbClr val="067D17"/>
                  </a:solidFill>
                </a:rPr>
                <a:t>, </a:t>
              </a:r>
              <a:r>
                <a:rPr lang="zh-CN" altLang="en-US" sz="1200">
                  <a:solidFill>
                    <a:srgbClr val="067D17"/>
                  </a:solidFill>
                </a:rPr>
                <a:t>组包</a:t>
              </a:r>
              <a:endParaRPr lang="en-US" altLang="zh-CN" sz="1200">
                <a:solidFill>
                  <a:srgbClr val="067D17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t1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= (5,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7,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9, 1)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67D17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067D17"/>
                  </a:solidFill>
                  <a:effectLst/>
                </a:rPr>
                <a:t>定义元组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, </a:t>
              </a:r>
              <a:r>
                <a:rPr lang="zh-CN" altLang="en-US" sz="1200">
                  <a:solidFill>
                    <a:srgbClr val="067D17"/>
                  </a:solidFill>
                  <a:effectLst/>
                </a:rPr>
                <a:t>组包</a:t>
              </a:r>
              <a:endParaRPr lang="en-US" altLang="zh-CN" sz="1200">
                <a:solidFill>
                  <a:srgbClr val="067D17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t2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= 5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, 7, 9, 1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67D17"/>
                  </a:solidFill>
                </a:rPr>
                <a:t># </a:t>
              </a:r>
              <a:r>
                <a:rPr lang="zh-CN" altLang="en-US" sz="1200">
                  <a:solidFill>
                    <a:srgbClr val="067D17"/>
                  </a:solidFill>
                </a:rPr>
                <a:t>基础解包</a:t>
              </a:r>
              <a:endParaRPr lang="en-US" altLang="zh-CN" sz="1200">
                <a:solidFill>
                  <a:srgbClr val="067D17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</a:rPr>
                <a:t>a, b, c, d = t1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67D17"/>
                  </a:solidFill>
                  <a:effectLst/>
                </a:rPr>
                <a:t># (*)</a:t>
              </a:r>
              <a:r>
                <a:rPr lang="zh-CN" altLang="en-US" sz="1200">
                  <a:solidFill>
                    <a:srgbClr val="067D17"/>
                  </a:solidFill>
                  <a:effectLst/>
                </a:rPr>
                <a:t>扩展解包</a:t>
              </a:r>
              <a:endParaRPr lang="en-US" altLang="zh-CN" sz="1200">
                <a:solidFill>
                  <a:srgbClr val="067D17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x, *y, z = t2  </a:t>
              </a:r>
              <a:r>
                <a:rPr lang="en-US" altLang="zh-CN" sz="1200">
                  <a:solidFill>
                    <a:srgbClr val="067D17"/>
                  </a:solidFill>
                </a:rPr>
                <a:t># x</a:t>
              </a:r>
              <a:r>
                <a:rPr lang="zh-CN" altLang="en-US" sz="1200">
                  <a:solidFill>
                    <a:srgbClr val="067D17"/>
                  </a:solidFill>
                </a:rPr>
                <a:t>为</a:t>
              </a:r>
              <a:r>
                <a:rPr lang="en-US" altLang="zh-CN" sz="1200">
                  <a:solidFill>
                    <a:srgbClr val="067D17"/>
                  </a:solidFill>
                </a:rPr>
                <a:t>5</a:t>
              </a:r>
              <a:r>
                <a:rPr lang="zh-CN" altLang="en-US" sz="1200">
                  <a:solidFill>
                    <a:srgbClr val="067D17"/>
                  </a:solidFill>
                </a:rPr>
                <a:t>，</a:t>
              </a:r>
              <a:r>
                <a:rPr lang="en-US" altLang="zh-CN" sz="1200">
                  <a:solidFill>
                    <a:srgbClr val="067D17"/>
                  </a:solidFill>
                </a:rPr>
                <a:t>y</a:t>
              </a:r>
              <a:r>
                <a:rPr lang="zh-CN" altLang="en-US" sz="1200">
                  <a:solidFill>
                    <a:srgbClr val="067D17"/>
                  </a:solidFill>
                </a:rPr>
                <a:t>为</a:t>
              </a:r>
              <a:r>
                <a:rPr lang="en-US" altLang="zh-CN" sz="1200">
                  <a:solidFill>
                    <a:srgbClr val="067D17"/>
                  </a:solidFill>
                </a:rPr>
                <a:t>[7, 9]</a:t>
              </a:r>
              <a:r>
                <a:rPr lang="zh-CN" altLang="en-US" sz="1200">
                  <a:solidFill>
                    <a:srgbClr val="067D17"/>
                  </a:solidFill>
                </a:rPr>
                <a:t>，</a:t>
              </a:r>
              <a:r>
                <a:rPr lang="en-US" altLang="zh-CN" sz="1200">
                  <a:solidFill>
                    <a:srgbClr val="067D17"/>
                  </a:solidFill>
                </a:rPr>
                <a:t>z</a:t>
              </a:r>
              <a:r>
                <a:rPr lang="zh-CN" altLang="en-US" sz="1200">
                  <a:solidFill>
                    <a:srgbClr val="067D17"/>
                  </a:solidFill>
                </a:rPr>
                <a:t>为</a:t>
              </a:r>
              <a:r>
                <a:rPr lang="en-US" altLang="zh-CN" sz="1200">
                  <a:solidFill>
                    <a:srgbClr val="067D17"/>
                  </a:solidFill>
                </a:rPr>
                <a:t>1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</a:rPr>
                <a:t>s, *o = t2 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# s</a:t>
              </a:r>
              <a:r>
                <a:rPr lang="zh-CN" altLang="en-US" sz="1200">
                  <a:solidFill>
                    <a:srgbClr val="067D17"/>
                  </a:solidFill>
                  <a:effectLst/>
                </a:rPr>
                <a:t>为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5</a:t>
              </a:r>
              <a:r>
                <a:rPr lang="zh-CN" altLang="en-US" sz="1200">
                  <a:solidFill>
                    <a:srgbClr val="067D17"/>
                  </a:solidFill>
                  <a:effectLst/>
                </a:rPr>
                <a:t>，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o</a:t>
              </a:r>
              <a:r>
                <a:rPr lang="zh-CN" altLang="en-US" sz="1200">
                  <a:solidFill>
                    <a:srgbClr val="067D17"/>
                  </a:solidFill>
                  <a:effectLst/>
                </a:rPr>
                <a:t>为</a:t>
              </a:r>
              <a:r>
                <a:rPr lang="en-US" altLang="zh-CN" sz="1200">
                  <a:solidFill>
                    <a:srgbClr val="067D17"/>
                  </a:solidFill>
                </a:rPr>
                <a:t>[7, 9, 1]</a:t>
              </a:r>
              <a:endParaRPr lang="en-US" altLang="zh-CN" sz="1200">
                <a:solidFill>
                  <a:srgbClr val="067D17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*o, e = t2  </a:t>
              </a:r>
              <a:r>
                <a:rPr lang="en-US" altLang="zh-CN" sz="1200">
                  <a:solidFill>
                    <a:srgbClr val="067D17"/>
                  </a:solidFill>
                </a:rPr>
                <a:t># o</a:t>
              </a:r>
              <a:r>
                <a:rPr lang="zh-CN" altLang="en-US" sz="1200">
                  <a:solidFill>
                    <a:srgbClr val="067D17"/>
                  </a:solidFill>
                </a:rPr>
                <a:t>为</a:t>
              </a:r>
              <a:r>
                <a:rPr lang="en-US" altLang="zh-CN" sz="1200">
                  <a:solidFill>
                    <a:srgbClr val="067D17"/>
                  </a:solidFill>
                </a:rPr>
                <a:t>[5, 7, 9]</a:t>
              </a:r>
              <a:r>
                <a:rPr lang="zh-CN" altLang="en-US" sz="1200">
                  <a:solidFill>
                    <a:srgbClr val="067D17"/>
                  </a:solidFill>
                </a:rPr>
                <a:t>，</a:t>
              </a:r>
              <a:r>
                <a:rPr lang="en-US" altLang="zh-CN" sz="1200">
                  <a:solidFill>
                    <a:srgbClr val="067D17"/>
                  </a:solidFill>
                </a:rPr>
                <a:t>e</a:t>
              </a:r>
              <a:r>
                <a:rPr lang="zh-CN" altLang="en-US" sz="1200">
                  <a:solidFill>
                    <a:srgbClr val="067D17"/>
                  </a:solidFill>
                </a:rPr>
                <a:t>为</a:t>
              </a:r>
              <a:r>
                <a:rPr lang="en-US" altLang="zh-CN" sz="1200">
                  <a:solidFill>
                    <a:srgbClr val="067D17"/>
                  </a:solidFill>
                </a:rPr>
                <a:t>1</a:t>
              </a:r>
              <a:endParaRPr lang="en-US" altLang="zh-CN" sz="1200">
                <a:solidFill>
                  <a:srgbClr val="067D17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4AE0D7A9-2E8B-FD42-34DB-1C2997083410}"/>
                </a:ext>
              </a:extLst>
            </p:cNvPr>
            <p:cNvSpPr/>
            <p:nvPr/>
          </p:nvSpPr>
          <p:spPr>
            <a:xfrm>
              <a:off x="2297720" y="3660322"/>
              <a:ext cx="679422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4ED8155-A083-D019-399D-2B052824E61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8593DB5-F480-468D-74D2-A2B81B623B8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CEC1D3A-A571-8D9A-4A9A-EEA0712702D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35A02AD-DF50-5035-2C30-E1C735C2C2A1}"/>
              </a:ext>
            </a:extLst>
          </p:cNvPr>
          <p:cNvGrpSpPr/>
          <p:nvPr/>
        </p:nvGrpSpPr>
        <p:grpSpPr>
          <a:xfrm>
            <a:off x="864170" y="6239537"/>
            <a:ext cx="10938499" cy="348335"/>
            <a:chOff x="4685665" y="1834757"/>
            <a:chExt cx="10535544" cy="348335"/>
          </a:xfrm>
        </p:grpSpPr>
        <p:sp>
          <p:nvSpPr>
            <p:cNvPr id="11" name="ComponentBackground2">
              <a:extLst>
                <a:ext uri="{FF2B5EF4-FFF2-40B4-BE49-F238E27FC236}">
                  <a16:creationId xmlns:a16="http://schemas.microsoft.com/office/drawing/2014/main" id="{F4506578-DA33-3377-2136-A1820309EEC9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说明：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在元组解包时，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*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表示收集剩余的所有元素，允许我们处理不确定数量的元素（生成列表，以便于可以进行进一步的处理）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2" name="Shape2">
              <a:extLst>
                <a:ext uri="{FF2B5EF4-FFF2-40B4-BE49-F238E27FC236}">
                  <a16:creationId xmlns:a16="http://schemas.microsoft.com/office/drawing/2014/main" id="{F8FDC607-2BCC-247B-946A-F1C24D86A749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A0955C5-1DB1-089B-CF3E-67544790A5C8}"/>
              </a:ext>
            </a:extLst>
          </p:cNvPr>
          <p:cNvSpPr/>
          <p:nvPr/>
        </p:nvSpPr>
        <p:spPr>
          <a:xfrm>
            <a:off x="7783507" y="2578128"/>
            <a:ext cx="3287678" cy="722049"/>
          </a:xfrm>
          <a:prstGeom prst="roundRect">
            <a:avLst>
              <a:gd name="adj" fmla="val 7131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B70C8CC-EBE5-1B0F-BC9A-25F13BADAE8A}"/>
              </a:ext>
            </a:extLst>
          </p:cNvPr>
          <p:cNvSpPr/>
          <p:nvPr/>
        </p:nvSpPr>
        <p:spPr>
          <a:xfrm>
            <a:off x="7893934" y="2674653"/>
            <a:ext cx="694481" cy="54401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5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2D60F44-B250-0700-ADF7-C953CB66F636}"/>
              </a:ext>
            </a:extLst>
          </p:cNvPr>
          <p:cNvSpPr/>
          <p:nvPr/>
        </p:nvSpPr>
        <p:spPr>
          <a:xfrm>
            <a:off x="8687267" y="2671566"/>
            <a:ext cx="694481" cy="54401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7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F28371C-1172-933E-5606-9394921EC7ED}"/>
              </a:ext>
            </a:extLst>
          </p:cNvPr>
          <p:cNvSpPr/>
          <p:nvPr/>
        </p:nvSpPr>
        <p:spPr>
          <a:xfrm>
            <a:off x="10273933" y="2667148"/>
            <a:ext cx="694481" cy="54401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1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57F4A2C-CDF2-C181-E309-A17B8E996ECD}"/>
              </a:ext>
            </a:extLst>
          </p:cNvPr>
          <p:cNvSpPr/>
          <p:nvPr/>
        </p:nvSpPr>
        <p:spPr>
          <a:xfrm>
            <a:off x="9480600" y="2671566"/>
            <a:ext cx="694481" cy="54401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9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B4860081-F019-7520-CBE5-DE8722A67C83}"/>
              </a:ext>
            </a:extLst>
          </p:cNvPr>
          <p:cNvSpPr/>
          <p:nvPr/>
        </p:nvSpPr>
        <p:spPr>
          <a:xfrm>
            <a:off x="8015440" y="3360616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a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2ECD5460-57FF-9724-C52D-1EACE5F11D4C}"/>
              </a:ext>
            </a:extLst>
          </p:cNvPr>
          <p:cNvSpPr/>
          <p:nvPr/>
        </p:nvSpPr>
        <p:spPr>
          <a:xfrm>
            <a:off x="8805777" y="3360616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b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A303B7F3-9893-9175-741A-26608C9C2546}"/>
              </a:ext>
            </a:extLst>
          </p:cNvPr>
          <p:cNvSpPr/>
          <p:nvPr/>
        </p:nvSpPr>
        <p:spPr>
          <a:xfrm>
            <a:off x="9602106" y="3360616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c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3" name="流程图: 接点 22">
            <a:extLst>
              <a:ext uri="{FF2B5EF4-FFF2-40B4-BE49-F238E27FC236}">
                <a16:creationId xmlns:a16="http://schemas.microsoft.com/office/drawing/2014/main" id="{FB4C7852-F98C-9E51-A53F-3CBC6FF90A6C}"/>
              </a:ext>
            </a:extLst>
          </p:cNvPr>
          <p:cNvSpPr/>
          <p:nvPr/>
        </p:nvSpPr>
        <p:spPr>
          <a:xfrm>
            <a:off x="10398435" y="3360616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d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4" name="流程图: 接点 23">
            <a:extLst>
              <a:ext uri="{FF2B5EF4-FFF2-40B4-BE49-F238E27FC236}">
                <a16:creationId xmlns:a16="http://schemas.microsoft.com/office/drawing/2014/main" id="{B86EE825-01BD-112B-3302-5C0B3E8B9ACA}"/>
              </a:ext>
            </a:extLst>
          </p:cNvPr>
          <p:cNvSpPr/>
          <p:nvPr/>
        </p:nvSpPr>
        <p:spPr>
          <a:xfrm>
            <a:off x="8015440" y="3899228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x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0B9ABB54-97BA-77B4-7B06-396B0F1BFB59}"/>
              </a:ext>
            </a:extLst>
          </p:cNvPr>
          <p:cNvSpPr/>
          <p:nvPr/>
        </p:nvSpPr>
        <p:spPr>
          <a:xfrm>
            <a:off x="8805777" y="3899227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y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9AF2C1E5-4E5C-0E81-3C15-BE8C4732A6B6}"/>
              </a:ext>
            </a:extLst>
          </p:cNvPr>
          <p:cNvSpPr/>
          <p:nvPr/>
        </p:nvSpPr>
        <p:spPr>
          <a:xfrm>
            <a:off x="10398435" y="3899228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z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A5730BD6-838D-7984-71B7-C93E9FBA292D}"/>
              </a:ext>
            </a:extLst>
          </p:cNvPr>
          <p:cNvSpPr/>
          <p:nvPr/>
        </p:nvSpPr>
        <p:spPr>
          <a:xfrm>
            <a:off x="8015440" y="4455733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D5173345-4D27-0C35-8B8D-A9EC917F1729}"/>
              </a:ext>
            </a:extLst>
          </p:cNvPr>
          <p:cNvSpPr/>
          <p:nvPr/>
        </p:nvSpPr>
        <p:spPr>
          <a:xfrm>
            <a:off x="8806683" y="4455732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o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722640D0-74E3-259B-E541-86A95058049F}"/>
              </a:ext>
            </a:extLst>
          </p:cNvPr>
          <p:cNvSpPr/>
          <p:nvPr/>
        </p:nvSpPr>
        <p:spPr>
          <a:xfrm>
            <a:off x="8015440" y="4988031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o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A42CECDE-521B-A368-4FAE-60C673255A12}"/>
              </a:ext>
            </a:extLst>
          </p:cNvPr>
          <p:cNvSpPr/>
          <p:nvPr/>
        </p:nvSpPr>
        <p:spPr>
          <a:xfrm>
            <a:off x="10398435" y="4988031"/>
            <a:ext cx="451468" cy="420301"/>
          </a:xfrm>
          <a:prstGeom prst="flowChartConnector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e</a:t>
            </a:r>
            <a:endParaRPr lang="zh-CN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72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30D6-E26D-BD87-5F06-383F3118C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27404A9-9381-ADF2-E7BD-B4A2A62C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9B6D64-13A7-AE8A-D137-01786AEC5C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132472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现有两个变量，分别为：</a:t>
            </a:r>
            <a:r>
              <a:rPr lang="en-US" altLang="zh-CN"/>
              <a:t>a = 10</a:t>
            </a:r>
            <a:r>
              <a:rPr lang="zh-CN" altLang="en-US"/>
              <a:t>， </a:t>
            </a:r>
            <a:r>
              <a:rPr lang="en-US" altLang="zh-CN"/>
              <a:t>b = 20</a:t>
            </a:r>
            <a:r>
              <a:rPr lang="zh-CN" altLang="en-US"/>
              <a:t>，现需要将这两个变量值交换，然后输出到控制台。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现有三个变量，分别为：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=</a:t>
            </a:r>
            <a:r>
              <a:rPr lang="zh-CN" altLang="en-US"/>
              <a:t> </a:t>
            </a:r>
            <a:r>
              <a:rPr lang="en-US" altLang="zh-CN"/>
              <a:t>100</a:t>
            </a:r>
            <a:r>
              <a:rPr lang="zh-CN" altLang="en-US"/>
              <a:t>，</a:t>
            </a:r>
            <a:r>
              <a:rPr lang="en-US" altLang="zh-CN"/>
              <a:t>b = 200</a:t>
            </a:r>
            <a:r>
              <a:rPr lang="zh-CN" altLang="en-US"/>
              <a:t>，</a:t>
            </a:r>
            <a:r>
              <a:rPr lang="en-US" altLang="zh-CN"/>
              <a:t>c = 300</a:t>
            </a:r>
            <a:r>
              <a:rPr lang="zh-CN" altLang="en-US"/>
              <a:t>，现需要将这三个变量值进行交换，将</a:t>
            </a:r>
            <a:r>
              <a:rPr lang="en-US" altLang="zh-CN"/>
              <a:t>a,b,c</a:t>
            </a:r>
            <a:r>
              <a:rPr lang="zh-CN" altLang="en-US"/>
              <a:t>的值分别赋值给</a:t>
            </a:r>
            <a:r>
              <a:rPr lang="en-US" altLang="zh-CN"/>
              <a:t>c,a,b</a:t>
            </a:r>
            <a:r>
              <a:rPr lang="zh-CN" altLang="en-US"/>
              <a:t>，并将其输出到控制台。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812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954409-8BB7-D78B-1942-76E7C9057B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793952" cy="39623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组包与解包</a:t>
            </a:r>
            <a:r>
              <a:rPr lang="en-US" altLang="zh-CN"/>
              <a:t>?</a:t>
            </a:r>
          </a:p>
          <a:p>
            <a:pPr marL="648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组包（</a:t>
            </a:r>
            <a:r>
              <a:rPr lang="en-US" altLang="zh-CN" sz="1400"/>
              <a:t>Packing</a:t>
            </a:r>
            <a:r>
              <a:rPr lang="zh-CN" altLang="en-US" sz="1400"/>
              <a:t>）：将多个值合并到一个容器（元组、列表）中。</a:t>
            </a:r>
            <a:endParaRPr lang="en-US" altLang="zh-CN" sz="1400"/>
          </a:p>
          <a:p>
            <a:pPr marL="648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解包（</a:t>
            </a:r>
            <a:r>
              <a:rPr lang="en-US" altLang="zh-CN" sz="1400"/>
              <a:t>Unpacking</a:t>
            </a:r>
            <a:r>
              <a:rPr lang="zh-CN" altLang="en-US" sz="1400"/>
              <a:t>）：将容器中的元素分别赋值给多个变量。</a:t>
            </a:r>
            <a:endParaRPr lang="en-US" altLang="zh-CN" sz="1400"/>
          </a:p>
          <a:p>
            <a:pPr marL="1008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在元组解包时，</a:t>
            </a:r>
            <a:r>
              <a:rPr lang="en-US" altLang="zh-CN" sz="1400">
                <a:solidFill>
                  <a:srgbClr val="C00000"/>
                </a:solidFill>
              </a:rPr>
              <a:t>* </a:t>
            </a:r>
            <a:r>
              <a:rPr lang="zh-CN" altLang="en-US" sz="1400">
                <a:solidFill>
                  <a:srgbClr val="C00000"/>
                </a:solidFill>
              </a:rPr>
              <a:t>表示收集剩余的所有元素，允许我们处理不确定数量的元素</a:t>
            </a:r>
          </a:p>
        </p:txBody>
      </p:sp>
    </p:spTree>
    <p:extLst>
      <p:ext uri="{BB962C8B-B14F-4D97-AF65-F5344CB8AC3E}">
        <p14:creationId xmlns:p14="http://schemas.microsoft.com/office/powerpoint/2010/main" val="364993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4073-84EB-F867-3104-852ED08A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E4220-39FA-181B-EA24-9C896DBD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基于已学习的数据容器完成如下需求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ED26CD-0F12-758D-4B3F-5131F81D66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9798435" cy="202969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根据提供的学生成绩单，完成如下需求：</a:t>
            </a:r>
            <a:endParaRPr lang="en-US" altLang="zh-CN"/>
          </a:p>
          <a:p>
            <a:pPr marL="648000" indent="-342900">
              <a:buFont typeface="+mj-lt"/>
              <a:buAutoNum type="arabicPeriod"/>
            </a:pPr>
            <a:r>
              <a:rPr lang="zh-CN" altLang="en-US" sz="1400"/>
              <a:t>计算每个学生的总分、各科平均分，然后一并输出出来。</a:t>
            </a:r>
            <a:endParaRPr lang="en-US" altLang="zh-CN" sz="1400"/>
          </a:p>
          <a:p>
            <a:pPr marL="648000" indent="-342900">
              <a:buFont typeface="+mj-lt"/>
              <a:buAutoNum type="arabicPeriod"/>
            </a:pPr>
            <a:r>
              <a:rPr lang="zh-CN" altLang="en-US" sz="1400"/>
              <a:t>统计各科成绩的最低分、最高分、平均分，并输出。</a:t>
            </a:r>
            <a:endParaRPr lang="en-US" altLang="zh-CN" sz="1400"/>
          </a:p>
          <a:p>
            <a:pPr marL="648000" indent="-342900">
              <a:buFont typeface="+mj-lt"/>
              <a:buAutoNum type="arabicPeriod"/>
            </a:pPr>
            <a:r>
              <a:rPr lang="zh-CN" altLang="en-US" sz="1400"/>
              <a:t>查找成绩优秀（平均分大于</a:t>
            </a:r>
            <a:r>
              <a:rPr lang="en-US" altLang="zh-CN" sz="1400"/>
              <a:t>90</a:t>
            </a:r>
            <a:r>
              <a:rPr lang="zh-CN" altLang="en-US" sz="1400"/>
              <a:t>）的学生，并输出。</a:t>
            </a:r>
            <a:endParaRPr lang="en-US" altLang="zh-CN" sz="14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BF29DC-A666-0DB1-D9EA-7C4AD5AE9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886" y="1175398"/>
            <a:ext cx="4385225" cy="34827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408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DBB2-1AC8-7C9A-3EC5-E85FFF38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8D5B83-5D1F-3890-41D5-15DE25B40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49496" y="1297807"/>
            <a:ext cx="3692525" cy="3332065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列表（</a:t>
            </a:r>
            <a:r>
              <a:rPr lang="en-US" altLang="zh-CN">
                <a:latin typeface="+mn-lt"/>
              </a:rPr>
              <a:t>list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字符串（</a:t>
            </a:r>
            <a:r>
              <a:rPr lang="en-US" altLang="zh-CN">
                <a:latin typeface="+mn-lt"/>
              </a:rPr>
              <a:t>str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元组（</a:t>
            </a:r>
            <a:r>
              <a:rPr lang="en-US" altLang="zh-CN">
                <a:latin typeface="+mn-lt"/>
              </a:rPr>
              <a:t>tuple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集合（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set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）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字典（</a:t>
            </a:r>
            <a:r>
              <a:rPr lang="en-US" altLang="zh-CN">
                <a:latin typeface="+mn-lt"/>
              </a:rPr>
              <a:t>dict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综合案例</a:t>
            </a:r>
          </a:p>
        </p:txBody>
      </p:sp>
    </p:spTree>
    <p:extLst>
      <p:ext uri="{BB962C8B-B14F-4D97-AF65-F5344CB8AC3E}">
        <p14:creationId xmlns:p14="http://schemas.microsoft.com/office/powerpoint/2010/main" val="3727083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50EDA-972C-0E9C-FF7D-9C5E3A25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40087C6D-F1ED-AB6D-40A4-FC4F40018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405" y="2239701"/>
            <a:ext cx="8164273" cy="166096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场景：在业务中，需要定义一个变量，来批量存储用户的手机号（唯一的）？</a:t>
            </a:r>
            <a:endParaRPr lang="en-US" altLang="zh-CN"/>
          </a:p>
          <a:p>
            <a:pPr marL="61200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列表</a:t>
            </a:r>
            <a:r>
              <a:rPr lang="en-US" altLang="zh-CN" sz="1400"/>
              <a:t>list</a:t>
            </a:r>
            <a:r>
              <a:rPr lang="zh-CN" altLang="en-US" sz="1400"/>
              <a:t>、元组</a:t>
            </a:r>
            <a:r>
              <a:rPr lang="en-US" altLang="zh-CN" sz="1400"/>
              <a:t>tuple</a:t>
            </a:r>
            <a:r>
              <a:rPr lang="zh-CN" altLang="en-US" sz="1400"/>
              <a:t>可以存吗？ </a:t>
            </a:r>
            <a:endParaRPr lang="en-US" altLang="zh-CN" sz="1400"/>
          </a:p>
          <a:p>
            <a:pPr marL="61200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此时就可以使用集合</a:t>
            </a:r>
            <a:r>
              <a:rPr lang="en-US" altLang="zh-CN" sz="1400"/>
              <a:t>set</a:t>
            </a:r>
            <a:r>
              <a:rPr lang="zh-CN" altLang="en-US" sz="1400"/>
              <a:t>来存储，</a:t>
            </a:r>
            <a:r>
              <a:rPr lang="en-US" altLang="zh-CN" sz="1400">
                <a:solidFill>
                  <a:srgbClr val="067D17"/>
                </a:solidFill>
              </a:rPr>
              <a:t>set</a:t>
            </a:r>
            <a:r>
              <a:rPr lang="zh-CN" altLang="en-US" sz="1400">
                <a:solidFill>
                  <a:srgbClr val="067D17"/>
                </a:solidFill>
              </a:rPr>
              <a:t>会自动去重，存储不重复的元素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3DD2DAE-609C-5271-FB71-3EFD075A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为什么要用集合</a:t>
            </a:r>
            <a:r>
              <a:rPr lang="en-US" altLang="zh-CN"/>
              <a:t>?</a:t>
            </a:r>
            <a:endParaRPr lang="zh-CN" altLang="en-US"/>
          </a:p>
        </p:txBody>
      </p:sp>
      <p:pic>
        <p:nvPicPr>
          <p:cNvPr id="14" name="内容占位符 5">
            <a:extLst>
              <a:ext uri="{FF2B5EF4-FFF2-40B4-BE49-F238E27FC236}">
                <a16:creationId xmlns:a16="http://schemas.microsoft.com/office/drawing/2014/main" id="{A15B1C35-256E-A56E-2E35-CEB066643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96" y="2008972"/>
            <a:ext cx="2260419" cy="226041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B60925E-44F6-B534-FCBD-5968ED1854BF}"/>
              </a:ext>
            </a:extLst>
          </p:cNvPr>
          <p:cNvSpPr txBox="1"/>
          <p:nvPr/>
        </p:nvSpPr>
        <p:spPr>
          <a:xfrm>
            <a:off x="6967960" y="2831404"/>
            <a:ext cx="3887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不可以，因为这两种类型是可以存储重复元素的</a:t>
            </a:r>
          </a:p>
        </p:txBody>
      </p:sp>
    </p:spTree>
    <p:extLst>
      <p:ext uri="{BB962C8B-B14F-4D97-AF65-F5344CB8AC3E}">
        <p14:creationId xmlns:p14="http://schemas.microsoft.com/office/powerpoint/2010/main" val="423551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E344-9D7D-B848-0944-9EC8E558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D857BA-E8BD-6F7F-A5C1-C84ACD69B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集合</a:t>
            </a:r>
            <a:r>
              <a:rPr lang="en-US" altLang="zh-CN"/>
              <a:t>(set)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C45CB0-36A7-02CB-3AA0-9B1A9108C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基本操作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547800E-0651-609A-D3F9-69EB4F2988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74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E7E0B-D517-CBEC-768F-20166CCA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77621-2900-3E7E-B048-900F8055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集合</a:t>
            </a:r>
            <a:r>
              <a:rPr lang="en-US" altLang="zh-CN"/>
              <a:t>(set)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DD71B-6F9E-4DA3-D98F-B5034C60D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00566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介绍：集合</a:t>
            </a:r>
            <a:r>
              <a:rPr lang="en-US" altLang="zh-CN"/>
              <a:t>(set)</a:t>
            </a:r>
            <a:r>
              <a:rPr lang="zh-CN" altLang="en-US"/>
              <a:t>是一种无序的、不可重复、可修改的数据容器。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定义：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E72FA747-CF22-72AF-F0B1-73437D932294}"/>
              </a:ext>
            </a:extLst>
          </p:cNvPr>
          <p:cNvGrpSpPr/>
          <p:nvPr/>
        </p:nvGrpSpPr>
        <p:grpSpPr>
          <a:xfrm>
            <a:off x="940061" y="1961910"/>
            <a:ext cx="4408718" cy="1713053"/>
            <a:chOff x="2297719" y="3660322"/>
            <a:chExt cx="4857588" cy="171315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D80CE20-C666-9D02-A1F7-246866183949}"/>
                </a:ext>
              </a:extLst>
            </p:cNvPr>
            <p:cNvSpPr/>
            <p:nvPr/>
          </p:nvSpPr>
          <p:spPr>
            <a:xfrm>
              <a:off x="2297728" y="3660323"/>
              <a:ext cx="4857579" cy="1713154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定义集合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s1 = {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C"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D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X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T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O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U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latin typeface="Courier New" panose="02070309020205020404" pitchFamily="49" charset="0"/>
                </a:rPr>
                <a:t>定义空集合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s2 = set()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C2D1473D-59D5-7CC8-8102-785AB29FA8CD}"/>
                </a:ext>
              </a:extLst>
            </p:cNvPr>
            <p:cNvSpPr/>
            <p:nvPr/>
          </p:nvSpPr>
          <p:spPr>
            <a:xfrm>
              <a:off x="2297719" y="3660322"/>
              <a:ext cx="485757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set</a:t>
              </a:r>
              <a:r>
                <a:rPr lang="zh-CN" altLang="en-US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集合定义</a:t>
              </a:r>
              <a:endPara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FCD17EC-AC12-4E72-862A-AD99FB1EE4A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30A2377-3DFA-1261-7281-4DE16F5635F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AA7F6B2-0CD1-AA1E-BA49-9EA425289C1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812C0FD-B6D2-5B0B-A46F-1C0FF8A1D781}"/>
              </a:ext>
            </a:extLst>
          </p:cNvPr>
          <p:cNvGrpSpPr/>
          <p:nvPr/>
        </p:nvGrpSpPr>
        <p:grpSpPr>
          <a:xfrm>
            <a:off x="864170" y="6239537"/>
            <a:ext cx="10938499" cy="348335"/>
            <a:chOff x="4685665" y="1834757"/>
            <a:chExt cx="10535544" cy="348335"/>
          </a:xfrm>
        </p:grpSpPr>
        <p:sp>
          <p:nvSpPr>
            <p:cNvPr id="11" name="ComponentBackground2">
              <a:extLst>
                <a:ext uri="{FF2B5EF4-FFF2-40B4-BE49-F238E27FC236}">
                  <a16:creationId xmlns:a16="http://schemas.microsoft.com/office/drawing/2014/main" id="{95CE51A1-F084-3994-E9CE-F6481E5C68E2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空集合的定义不可以使用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{}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，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{}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表示的是空字典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；由于集合是无序的，因此是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不支持下标索引访问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的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2" name="Shape2">
              <a:extLst>
                <a:ext uri="{FF2B5EF4-FFF2-40B4-BE49-F238E27FC236}">
                  <a16:creationId xmlns:a16="http://schemas.microsoft.com/office/drawing/2014/main" id="{169A1845-7114-3F19-215D-A1153008FD5E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96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CB35-8D45-CEA7-E962-A6FD53AF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6ECED-ED65-9D85-CA6E-672B0DDD7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集合</a:t>
            </a:r>
            <a:r>
              <a:rPr lang="en-US" altLang="zh-CN"/>
              <a:t>(set)-</a:t>
            </a:r>
            <a:r>
              <a:rPr lang="zh-CN" altLang="en-US"/>
              <a:t>常见操作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8F67A-1942-25DB-D22B-D8672EDC8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集合（</a:t>
            </a:r>
            <a:r>
              <a:rPr lang="en-US" altLang="zh-CN"/>
              <a:t>set</a:t>
            </a:r>
            <a:r>
              <a:rPr lang="zh-CN" altLang="en-US"/>
              <a:t>）中的常见方法：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9896674-3972-C43D-FEAA-0E751210C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404488"/>
              </p:ext>
            </p:extLst>
          </p:nvPr>
        </p:nvGraphicFramePr>
        <p:xfrm>
          <a:off x="977414" y="1495142"/>
          <a:ext cx="10406287" cy="3168000"/>
        </p:xfrm>
        <a:graphic>
          <a:graphicData uri="http://schemas.openxmlformats.org/drawingml/2006/table">
            <a:tbl>
              <a:tblPr/>
              <a:tblGrid>
                <a:gridCol w="1731365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5810188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  <a:gridCol w="2864734">
                  <a:extLst>
                    <a:ext uri="{9D8B030D-6E8A-4147-A177-3AD203B41FA5}">
                      <a16:colId xmlns:a16="http://schemas.microsoft.com/office/drawing/2014/main" val="372411911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操作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含义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样例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add(..)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添加元素到集合中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s1.add('t')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remove(..)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移除集合中的指定元素（指定元素不存在将报错）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s1.remove('t')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pop()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随机删除集合中的元素并返回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e = s1.pop()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clear()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清空集合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s1.clear()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difference()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求取两个集合的差集（包含在第一个集合但不包含在第二个集合的元素）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s1.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difference(s2)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union()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求取两个集合的并集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s1.union(s2)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642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intersection()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求取两个集合的交集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s1.intersection(s2)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41606"/>
                  </a:ext>
                </a:extLst>
              </a:tr>
            </a:tbl>
          </a:graphicData>
        </a:graphic>
      </p:graphicFrame>
      <p:sp>
        <p:nvSpPr>
          <p:cNvPr id="17" name="椭圆 16">
            <a:extLst>
              <a:ext uri="{FF2B5EF4-FFF2-40B4-BE49-F238E27FC236}">
                <a16:creationId xmlns:a16="http://schemas.microsoft.com/office/drawing/2014/main" id="{B408B530-92A1-F44B-4159-9C8CE148887C}"/>
              </a:ext>
            </a:extLst>
          </p:cNvPr>
          <p:cNvSpPr/>
          <p:nvPr/>
        </p:nvSpPr>
        <p:spPr>
          <a:xfrm>
            <a:off x="4073462" y="5325361"/>
            <a:ext cx="1954695" cy="97403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3C90871-0968-505A-DA48-6BA19E5834FF}"/>
              </a:ext>
            </a:extLst>
          </p:cNvPr>
          <p:cNvSpPr/>
          <p:nvPr/>
        </p:nvSpPr>
        <p:spPr>
          <a:xfrm>
            <a:off x="5203209" y="5325361"/>
            <a:ext cx="1954695" cy="97403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5C91A1AC-EEF5-FDF3-56C7-073E96BCAD90}"/>
              </a:ext>
            </a:extLst>
          </p:cNvPr>
          <p:cNvSpPr/>
          <p:nvPr/>
        </p:nvSpPr>
        <p:spPr>
          <a:xfrm>
            <a:off x="5203208" y="5416112"/>
            <a:ext cx="824949" cy="792532"/>
          </a:xfrm>
          <a:custGeom>
            <a:avLst/>
            <a:gdLst>
              <a:gd name="connsiteX0" fmla="*/ 412475 w 824949"/>
              <a:gd name="connsiteY0" fmla="*/ 0 h 792532"/>
              <a:gd name="connsiteX1" fmla="*/ 538690 w 824949"/>
              <a:gd name="connsiteY1" fmla="*/ 51892 h 792532"/>
              <a:gd name="connsiteX2" fmla="*/ 824949 w 824949"/>
              <a:gd name="connsiteY2" fmla="*/ 396266 h 792532"/>
              <a:gd name="connsiteX3" fmla="*/ 538690 w 824949"/>
              <a:gd name="connsiteY3" fmla="*/ 740640 h 792532"/>
              <a:gd name="connsiteX4" fmla="*/ 412475 w 824949"/>
              <a:gd name="connsiteY4" fmla="*/ 792532 h 792532"/>
              <a:gd name="connsiteX5" fmla="*/ 286259 w 824949"/>
              <a:gd name="connsiteY5" fmla="*/ 740640 h 792532"/>
              <a:gd name="connsiteX6" fmla="*/ 0 w 824949"/>
              <a:gd name="connsiteY6" fmla="*/ 396266 h 792532"/>
              <a:gd name="connsiteX7" fmla="*/ 286259 w 824949"/>
              <a:gd name="connsiteY7" fmla="*/ 51892 h 79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4949" h="792532">
                <a:moveTo>
                  <a:pt x="412475" y="0"/>
                </a:moveTo>
                <a:lnTo>
                  <a:pt x="538690" y="51892"/>
                </a:lnTo>
                <a:cubicBezTo>
                  <a:pt x="715556" y="140025"/>
                  <a:pt x="824949" y="261780"/>
                  <a:pt x="824949" y="396266"/>
                </a:cubicBezTo>
                <a:cubicBezTo>
                  <a:pt x="824949" y="530753"/>
                  <a:pt x="715556" y="652507"/>
                  <a:pt x="538690" y="740640"/>
                </a:cubicBezTo>
                <a:lnTo>
                  <a:pt x="412475" y="792532"/>
                </a:lnTo>
                <a:lnTo>
                  <a:pt x="286259" y="740640"/>
                </a:lnTo>
                <a:cubicBezTo>
                  <a:pt x="109394" y="652507"/>
                  <a:pt x="0" y="530753"/>
                  <a:pt x="0" y="396266"/>
                </a:cubicBezTo>
                <a:cubicBezTo>
                  <a:pt x="0" y="261780"/>
                  <a:pt x="109394" y="140025"/>
                  <a:pt x="286259" y="5189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D18A2387-77F1-6D42-DC2D-D94506C9F3AC}"/>
              </a:ext>
            </a:extLst>
          </p:cNvPr>
          <p:cNvSpPr/>
          <p:nvPr/>
        </p:nvSpPr>
        <p:spPr>
          <a:xfrm>
            <a:off x="4073460" y="5325361"/>
            <a:ext cx="1542222" cy="974036"/>
          </a:xfrm>
          <a:custGeom>
            <a:avLst/>
            <a:gdLst>
              <a:gd name="connsiteX0" fmla="*/ 977348 w 1542222"/>
              <a:gd name="connsiteY0" fmla="*/ 0 h 974036"/>
              <a:gd name="connsiteX1" fmla="*/ 1523792 w 1542222"/>
              <a:gd name="connsiteY1" fmla="*/ 83175 h 974036"/>
              <a:gd name="connsiteX2" fmla="*/ 1542222 w 1542222"/>
              <a:gd name="connsiteY2" fmla="*/ 90752 h 974036"/>
              <a:gd name="connsiteX3" fmla="*/ 1416006 w 1542222"/>
              <a:gd name="connsiteY3" fmla="*/ 142644 h 974036"/>
              <a:gd name="connsiteX4" fmla="*/ 1129747 w 1542222"/>
              <a:gd name="connsiteY4" fmla="*/ 487018 h 974036"/>
              <a:gd name="connsiteX5" fmla="*/ 1416006 w 1542222"/>
              <a:gd name="connsiteY5" fmla="*/ 831392 h 974036"/>
              <a:gd name="connsiteX6" fmla="*/ 1542222 w 1542222"/>
              <a:gd name="connsiteY6" fmla="*/ 883284 h 974036"/>
              <a:gd name="connsiteX7" fmla="*/ 1523792 w 1542222"/>
              <a:gd name="connsiteY7" fmla="*/ 890861 h 974036"/>
              <a:gd name="connsiteX8" fmla="*/ 977348 w 1542222"/>
              <a:gd name="connsiteY8" fmla="*/ 974036 h 974036"/>
              <a:gd name="connsiteX9" fmla="*/ 0 w 1542222"/>
              <a:gd name="connsiteY9" fmla="*/ 487018 h 974036"/>
              <a:gd name="connsiteX10" fmla="*/ 977348 w 1542222"/>
              <a:gd name="connsiteY10" fmla="*/ 0 h 97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42222" h="974036">
                <a:moveTo>
                  <a:pt x="977348" y="0"/>
                </a:moveTo>
                <a:cubicBezTo>
                  <a:pt x="1179763" y="0"/>
                  <a:pt x="1367807" y="30663"/>
                  <a:pt x="1523792" y="83175"/>
                </a:cubicBezTo>
                <a:lnTo>
                  <a:pt x="1542222" y="90752"/>
                </a:lnTo>
                <a:lnTo>
                  <a:pt x="1416006" y="142644"/>
                </a:lnTo>
                <a:cubicBezTo>
                  <a:pt x="1239141" y="230777"/>
                  <a:pt x="1129747" y="352532"/>
                  <a:pt x="1129747" y="487018"/>
                </a:cubicBezTo>
                <a:cubicBezTo>
                  <a:pt x="1129747" y="621505"/>
                  <a:pt x="1239141" y="743259"/>
                  <a:pt x="1416006" y="831392"/>
                </a:cubicBezTo>
                <a:lnTo>
                  <a:pt x="1542222" y="883284"/>
                </a:lnTo>
                <a:lnTo>
                  <a:pt x="1523792" y="890861"/>
                </a:lnTo>
                <a:cubicBezTo>
                  <a:pt x="1367807" y="943374"/>
                  <a:pt x="1179763" y="974036"/>
                  <a:pt x="977348" y="974036"/>
                </a:cubicBezTo>
                <a:cubicBezTo>
                  <a:pt x="437574" y="974036"/>
                  <a:pt x="0" y="755991"/>
                  <a:pt x="0" y="487018"/>
                </a:cubicBezTo>
                <a:cubicBezTo>
                  <a:pt x="0" y="218045"/>
                  <a:pt x="437574" y="0"/>
                  <a:pt x="977348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6CA8DF84-E073-6208-AD78-487B0BB7DA8E}"/>
              </a:ext>
            </a:extLst>
          </p:cNvPr>
          <p:cNvSpPr/>
          <p:nvPr/>
        </p:nvSpPr>
        <p:spPr>
          <a:xfrm>
            <a:off x="5615682" y="5325360"/>
            <a:ext cx="1542221" cy="974036"/>
          </a:xfrm>
          <a:custGeom>
            <a:avLst/>
            <a:gdLst>
              <a:gd name="connsiteX0" fmla="*/ 564873 w 1542221"/>
              <a:gd name="connsiteY0" fmla="*/ 0 h 974036"/>
              <a:gd name="connsiteX1" fmla="*/ 1542221 w 1542221"/>
              <a:gd name="connsiteY1" fmla="*/ 487018 h 974036"/>
              <a:gd name="connsiteX2" fmla="*/ 564873 w 1542221"/>
              <a:gd name="connsiteY2" fmla="*/ 974036 h 974036"/>
              <a:gd name="connsiteX3" fmla="*/ 18429 w 1542221"/>
              <a:gd name="connsiteY3" fmla="*/ 890861 h 974036"/>
              <a:gd name="connsiteX4" fmla="*/ 0 w 1542221"/>
              <a:gd name="connsiteY4" fmla="*/ 883284 h 974036"/>
              <a:gd name="connsiteX5" fmla="*/ 126216 w 1542221"/>
              <a:gd name="connsiteY5" fmla="*/ 831392 h 974036"/>
              <a:gd name="connsiteX6" fmla="*/ 412474 w 1542221"/>
              <a:gd name="connsiteY6" fmla="*/ 487018 h 974036"/>
              <a:gd name="connsiteX7" fmla="*/ 126216 w 1542221"/>
              <a:gd name="connsiteY7" fmla="*/ 142644 h 974036"/>
              <a:gd name="connsiteX8" fmla="*/ 0 w 1542221"/>
              <a:gd name="connsiteY8" fmla="*/ 90752 h 974036"/>
              <a:gd name="connsiteX9" fmla="*/ 18429 w 1542221"/>
              <a:gd name="connsiteY9" fmla="*/ 83175 h 974036"/>
              <a:gd name="connsiteX10" fmla="*/ 564873 w 1542221"/>
              <a:gd name="connsiteY10" fmla="*/ 0 h 97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42221" h="974036">
                <a:moveTo>
                  <a:pt x="564873" y="0"/>
                </a:moveTo>
                <a:cubicBezTo>
                  <a:pt x="1104647" y="0"/>
                  <a:pt x="1542221" y="218045"/>
                  <a:pt x="1542221" y="487018"/>
                </a:cubicBezTo>
                <a:cubicBezTo>
                  <a:pt x="1542221" y="755991"/>
                  <a:pt x="1104647" y="974036"/>
                  <a:pt x="564873" y="974036"/>
                </a:cubicBezTo>
                <a:cubicBezTo>
                  <a:pt x="362458" y="974036"/>
                  <a:pt x="174415" y="943374"/>
                  <a:pt x="18429" y="890861"/>
                </a:cubicBezTo>
                <a:lnTo>
                  <a:pt x="0" y="883284"/>
                </a:lnTo>
                <a:lnTo>
                  <a:pt x="126216" y="831392"/>
                </a:lnTo>
                <a:cubicBezTo>
                  <a:pt x="303081" y="743259"/>
                  <a:pt x="412474" y="621505"/>
                  <a:pt x="412474" y="487018"/>
                </a:cubicBezTo>
                <a:cubicBezTo>
                  <a:pt x="412474" y="352532"/>
                  <a:pt x="303081" y="230777"/>
                  <a:pt x="126216" y="142644"/>
                </a:cubicBezTo>
                <a:lnTo>
                  <a:pt x="0" y="90752"/>
                </a:lnTo>
                <a:lnTo>
                  <a:pt x="18429" y="83175"/>
                </a:lnTo>
                <a:cubicBezTo>
                  <a:pt x="174415" y="30663"/>
                  <a:pt x="362458" y="0"/>
                  <a:pt x="564873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02E4B4-5E25-AB97-4966-3F424EC381BE}"/>
              </a:ext>
            </a:extLst>
          </p:cNvPr>
          <p:cNvSpPr txBox="1"/>
          <p:nvPr/>
        </p:nvSpPr>
        <p:spPr>
          <a:xfrm>
            <a:off x="4728285" y="56277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s1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1C5BFE-2BBD-D074-89B5-156503B72EF0}"/>
              </a:ext>
            </a:extLst>
          </p:cNvPr>
          <p:cNvSpPr txBox="1"/>
          <p:nvPr/>
        </p:nvSpPr>
        <p:spPr>
          <a:xfrm>
            <a:off x="6109244" y="56277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78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15" grpId="0" animBg="1"/>
      <p:bldP spid="15" grpId="1" animBg="1"/>
      <p:bldP spid="14" grpId="0" animBg="1"/>
      <p:bldP spid="14" grpId="1" animBg="1"/>
      <p:bldP spid="20" grpId="0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869B-8744-0CC1-E83B-5AA6FD83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DFB83B-61CD-5ED3-E04B-F98E543693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849868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集合</a:t>
            </a:r>
            <a:r>
              <a:rPr lang="en-US" altLang="zh-CN"/>
              <a:t>(set)</a:t>
            </a:r>
            <a:r>
              <a:rPr lang="zh-CN" altLang="en-US"/>
              <a:t>的特点</a:t>
            </a:r>
            <a:r>
              <a:rPr lang="en-US" altLang="zh-CN"/>
              <a:t>?</a:t>
            </a: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无序、不可重复、可修改 </a:t>
            </a:r>
            <a:r>
              <a:rPr lang="en-US" altLang="zh-CN" sz="1400"/>
              <a:t>(</a:t>
            </a:r>
            <a:r>
              <a:rPr lang="zh-CN" altLang="en-US" sz="1400"/>
              <a:t>不要依赖显示顺序</a:t>
            </a:r>
            <a:r>
              <a:rPr lang="en-US" altLang="zh-CN" sz="140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集合</a:t>
            </a:r>
            <a:r>
              <a:rPr lang="en-US" altLang="zh-CN"/>
              <a:t>(set)</a:t>
            </a:r>
            <a:r>
              <a:rPr lang="zh-CN" altLang="en-US"/>
              <a:t>的定义及常用操作</a:t>
            </a:r>
            <a:endParaRPr lang="en-US" altLang="zh-CN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定义</a:t>
            </a:r>
            <a:r>
              <a:rPr lang="en-US" altLang="zh-CN" sz="1400"/>
              <a:t>1</a:t>
            </a:r>
            <a:r>
              <a:rPr lang="zh-CN" altLang="en-US" sz="1400"/>
              <a:t>：集合名 </a:t>
            </a:r>
            <a:r>
              <a:rPr lang="en-US" altLang="zh-CN" sz="1400"/>
              <a:t>= {</a:t>
            </a:r>
            <a:r>
              <a:rPr lang="zh-CN" altLang="en-US" sz="1400"/>
              <a:t>元素</a:t>
            </a:r>
            <a:r>
              <a:rPr lang="en-US" altLang="zh-CN" sz="1400"/>
              <a:t>1,</a:t>
            </a:r>
            <a:r>
              <a:rPr lang="zh-CN" altLang="en-US" sz="1400"/>
              <a:t>元素</a:t>
            </a:r>
            <a:r>
              <a:rPr lang="en-US" altLang="zh-CN" sz="1400"/>
              <a:t>2,</a:t>
            </a:r>
            <a:r>
              <a:rPr lang="zh-CN" altLang="en-US" sz="1400"/>
              <a:t>元素</a:t>
            </a:r>
            <a:r>
              <a:rPr lang="en-US" altLang="zh-CN" sz="1400"/>
              <a:t>3...}</a:t>
            </a: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定义</a:t>
            </a:r>
            <a:r>
              <a:rPr lang="en-US" altLang="zh-CN" sz="1400"/>
              <a:t>2</a:t>
            </a:r>
            <a:r>
              <a:rPr lang="zh-CN" altLang="en-US" sz="1400"/>
              <a:t>：集合名 </a:t>
            </a:r>
            <a:r>
              <a:rPr lang="en-US" altLang="zh-CN" sz="1400"/>
              <a:t>= set()</a:t>
            </a: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常用操作：</a:t>
            </a:r>
            <a:endParaRPr lang="en-US" altLang="zh-CN" sz="1400"/>
          </a:p>
          <a:p>
            <a:pPr marL="1069200" lvl="2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/>
              <a:t>添加：</a:t>
            </a:r>
            <a:r>
              <a:rPr lang="en-US" altLang="zh-CN" sz="1200"/>
              <a:t>s1.add(..)</a:t>
            </a:r>
          </a:p>
          <a:p>
            <a:pPr marL="1069200" lvl="2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/>
              <a:t>删除：</a:t>
            </a:r>
            <a:r>
              <a:rPr lang="en-US" altLang="zh-CN" sz="1200"/>
              <a:t>s1.remove(..) / s1.pop() / s1.clear()</a:t>
            </a:r>
          </a:p>
          <a:p>
            <a:pPr marL="1069200" lvl="2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/>
              <a:t>交、并、差集：</a:t>
            </a:r>
            <a:r>
              <a:rPr lang="en-US" altLang="zh-CN" sz="1200"/>
              <a:t>s1.intersection(s2) / s1.union(s2) / s1.difference(s2)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07689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090E-9723-9B3C-6873-213242F3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406831-A119-CBC1-2006-79B665CC74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集合</a:t>
            </a:r>
            <a:r>
              <a:rPr lang="en-US" altLang="zh-CN"/>
              <a:t>(set)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E16BBA-CECD-355F-8665-F01E7D74F1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基本操作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DCA3643-329D-9200-AA50-2B3E281F30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3573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357E-D6A7-F16D-FAE6-CED97B0F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5BB81D5-1FDE-3BDC-6038-E7F39EED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F55781-A330-9BC5-D658-3CD767B53A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235326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根据提供的班级学生的选课情况，完成如下需求：</a:t>
            </a:r>
            <a:endParaRPr lang="en-US" altLang="zh-CN"/>
          </a:p>
          <a:p>
            <a:pPr marL="648000" indent="-342900">
              <a:buFont typeface="+mj-lt"/>
              <a:buAutoNum type="arabicPeriod"/>
            </a:pPr>
            <a:r>
              <a:rPr lang="zh-CN" altLang="en-US" sz="1400"/>
              <a:t>找出同时选修了法语和艺术的学生</a:t>
            </a:r>
          </a:p>
          <a:p>
            <a:pPr marL="648000" indent="-342900">
              <a:buFont typeface="+mj-lt"/>
              <a:buAutoNum type="arabicPeriod"/>
            </a:pPr>
            <a:r>
              <a:rPr lang="zh-CN" altLang="en-US" sz="1400"/>
              <a:t>找出同时选修了所有四门课程的学生</a:t>
            </a:r>
          </a:p>
          <a:p>
            <a:pPr marL="648000" indent="-342900">
              <a:buFont typeface="+mj-lt"/>
              <a:buAutoNum type="arabicPeriod"/>
            </a:pPr>
            <a:r>
              <a:rPr lang="zh-CN" altLang="en-US" sz="1400"/>
              <a:t>找出选修了足球</a:t>
            </a:r>
            <a:r>
              <a:rPr lang="en-US" altLang="zh-CN" sz="1400"/>
              <a:t>, </a:t>
            </a:r>
            <a:r>
              <a:rPr lang="zh-CN" altLang="en-US" sz="1400"/>
              <a:t>但是没有选修篮球的学生</a:t>
            </a:r>
          </a:p>
          <a:p>
            <a:pPr marL="648000" indent="-342900">
              <a:buFont typeface="+mj-lt"/>
              <a:buAutoNum type="arabicPeriod"/>
            </a:pPr>
            <a:r>
              <a:rPr lang="zh-CN" altLang="en-US" sz="1400"/>
              <a:t>统计每一个学生选修的课程数量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4A33F854-2420-9BA3-B871-B74B406E388B}"/>
              </a:ext>
            </a:extLst>
          </p:cNvPr>
          <p:cNvGrpSpPr/>
          <p:nvPr/>
        </p:nvGrpSpPr>
        <p:grpSpPr>
          <a:xfrm>
            <a:off x="2366765" y="3429000"/>
            <a:ext cx="9122301" cy="2268790"/>
            <a:chOff x="2297719" y="3660322"/>
            <a:chExt cx="10051079" cy="226892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CF1726F-8B7A-812F-AE01-265E86B014BF}"/>
                </a:ext>
              </a:extLst>
            </p:cNvPr>
            <p:cNvSpPr/>
            <p:nvPr/>
          </p:nvSpPr>
          <p:spPr>
            <a:xfrm>
              <a:off x="2297727" y="3660323"/>
              <a:ext cx="10051071" cy="2268924"/>
            </a:xfrm>
            <a:prstGeom prst="roundRect">
              <a:avLst>
                <a:gd name="adj" fmla="val 303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选修足球学生名单</a:t>
              </a:r>
              <a:br>
                <a:rPr lang="zh-CN" altLang="en-US" sz="105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football_set = {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王林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曾牛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徐立国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遁天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天运子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韩立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厉飞雨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乌丑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紫灵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选修篮球学生名单</a:t>
              </a:r>
              <a:br>
                <a:rPr lang="zh-CN" altLang="en-US" sz="105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basketball_set = {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张铁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墨居仁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王林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姜老道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曾牛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王蝉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韩立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天运子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李化元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厉飞雨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云露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选修法语学生名单</a:t>
              </a:r>
              <a:br>
                <a:rPr lang="zh-CN" altLang="en-US" sz="105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french_set = {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许木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王卓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十三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虎咆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姜老道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天运子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红蝶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厉飞雨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韩立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曾牛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b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5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5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选修艺术学生名单</a:t>
              </a:r>
              <a:br>
                <a:rPr lang="zh-CN" altLang="en-US" sz="105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art_set = {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遁天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天运子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韩立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虎咆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姜老道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5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紫灵</a:t>
              </a:r>
              <a:r>
                <a:rPr lang="en-US" altLang="zh-CN" sz="105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5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24BEEBDB-4A8A-D939-2997-FC133CBAB316}"/>
                </a:ext>
              </a:extLst>
            </p:cNvPr>
            <p:cNvSpPr/>
            <p:nvPr/>
          </p:nvSpPr>
          <p:spPr>
            <a:xfrm>
              <a:off x="2297719" y="3660322"/>
              <a:ext cx="1005107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A6E38A6-A3D3-4E9F-7900-B7C466B6B9E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83BD289-5EC4-1615-B01D-C5007981012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4E4D8AF-56F8-88C8-70F4-BD4F6E96A9D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75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B51AA-ADA5-4733-57E0-485397F3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>
            <a:extLst>
              <a:ext uri="{FF2B5EF4-FFF2-40B4-BE49-F238E27FC236}">
                <a16:creationId xmlns:a16="http://schemas.microsoft.com/office/drawing/2014/main" id="{7124465F-C9B5-2B40-D229-3920475495EB}"/>
              </a:ext>
            </a:extLst>
          </p:cNvPr>
          <p:cNvSpPr txBox="1">
            <a:spLocks/>
          </p:cNvSpPr>
          <p:nvPr/>
        </p:nvSpPr>
        <p:spPr>
          <a:xfrm>
            <a:off x="3978672" y="1761308"/>
            <a:ext cx="7170081" cy="321074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/>
              <a:t>集合</a:t>
            </a:r>
            <a:r>
              <a:rPr lang="en-US" altLang="zh-CN"/>
              <a:t>set</a:t>
            </a:r>
            <a:r>
              <a:rPr lang="zh-CN" altLang="en-US"/>
              <a:t>操作的运算符 </a:t>
            </a:r>
            <a:r>
              <a:rPr lang="en-US" altLang="zh-CN"/>
              <a:t>&amp; | -</a:t>
            </a:r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400"/>
              <a:t>&amp;</a:t>
            </a:r>
            <a:r>
              <a:rPr lang="zh-CN" altLang="en-US" sz="1400"/>
              <a:t>：交集</a:t>
            </a:r>
            <a:endParaRPr lang="en-US" altLang="zh-CN" sz="1400"/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400"/>
              <a:t>|</a:t>
            </a:r>
            <a:r>
              <a:rPr lang="zh-CN" altLang="en-US" sz="1400"/>
              <a:t>：并集</a:t>
            </a:r>
            <a:endParaRPr lang="en-US" altLang="zh-CN" sz="1400"/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400"/>
              <a:t>-</a:t>
            </a:r>
            <a:r>
              <a:rPr lang="zh-CN" altLang="en-US" sz="1400"/>
              <a:t>：差集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集合推导式的写法</a:t>
            </a:r>
            <a:endParaRPr lang="en-US" altLang="zh-CN"/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变量名称</a:t>
            </a:r>
            <a:r>
              <a:rPr lang="en-US" altLang="zh-CN" sz="1400"/>
              <a:t>={i</a:t>
            </a:r>
            <a:r>
              <a:rPr lang="zh-CN" altLang="en-US" sz="1400"/>
              <a:t>表达式 </a:t>
            </a:r>
            <a:r>
              <a:rPr lang="en-US" altLang="zh-CN" sz="1400"/>
              <a:t>for i in </a:t>
            </a:r>
            <a:r>
              <a:rPr lang="zh-CN" altLang="en-US" sz="1400"/>
              <a:t>列表</a:t>
            </a:r>
            <a:r>
              <a:rPr lang="en-US" altLang="zh-CN" sz="1400"/>
              <a:t>}</a:t>
            </a:r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变量名称</a:t>
            </a:r>
            <a:r>
              <a:rPr lang="en-US" altLang="zh-CN" sz="1400"/>
              <a:t>={i</a:t>
            </a:r>
            <a:r>
              <a:rPr lang="zh-CN" altLang="en-US" sz="1400"/>
              <a:t>表达式 </a:t>
            </a:r>
            <a:r>
              <a:rPr lang="en-US" altLang="zh-CN" sz="1400"/>
              <a:t>for i in </a:t>
            </a:r>
            <a:r>
              <a:rPr lang="zh-CN" altLang="en-US" sz="1400"/>
              <a:t>列表 </a:t>
            </a:r>
            <a:r>
              <a:rPr lang="en-US" altLang="zh-CN" sz="1400"/>
              <a:t>if </a:t>
            </a:r>
            <a:r>
              <a:rPr lang="zh-CN" altLang="en-US" sz="1400"/>
              <a:t>条件</a:t>
            </a:r>
            <a:r>
              <a:rPr lang="en-US" altLang="zh-CN" sz="1400"/>
              <a:t>}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43667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188C-2788-69FD-622E-179AE2ED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10B3F2-107B-9EC6-A119-B2F16202E1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49496" y="1297807"/>
            <a:ext cx="3692525" cy="3332065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列表（</a:t>
            </a:r>
            <a:r>
              <a:rPr lang="en-US" altLang="zh-CN">
                <a:latin typeface="+mn-lt"/>
              </a:rPr>
              <a:t>list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字符串（</a:t>
            </a:r>
            <a:r>
              <a:rPr lang="en-US" altLang="zh-CN">
                <a:latin typeface="+mn-lt"/>
              </a:rPr>
              <a:t>str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元组（</a:t>
            </a:r>
            <a:r>
              <a:rPr lang="en-US" altLang="zh-CN">
                <a:latin typeface="+mn-lt"/>
              </a:rPr>
              <a:t>tuple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集合（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set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字典（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dict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）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1120917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F074E-2C7E-4406-5F01-75375B62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4D951-668C-D01B-9030-22DA0FE5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什么是字典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7682FB-756C-B55E-52D7-83988920F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65" y="5799738"/>
            <a:ext cx="11331857" cy="488328"/>
          </a:xfrm>
        </p:spPr>
        <p:txBody>
          <a:bodyPr/>
          <a:lstStyle/>
          <a:p>
            <a:r>
              <a:rPr lang="en-US" altLang="zh-CN">
                <a:solidFill>
                  <a:srgbClr val="C00000"/>
                </a:solidFill>
              </a:rPr>
              <a:t>Python</a:t>
            </a:r>
            <a:r>
              <a:rPr lang="zh-CN" altLang="en-US">
                <a:solidFill>
                  <a:srgbClr val="C00000"/>
                </a:solidFill>
              </a:rPr>
              <a:t>中的字典（</a:t>
            </a:r>
            <a:r>
              <a:rPr lang="en-US" altLang="zh-CN">
                <a:solidFill>
                  <a:srgbClr val="C00000"/>
                </a:solidFill>
              </a:rPr>
              <a:t>dict</a:t>
            </a:r>
            <a:r>
              <a:rPr lang="zh-CN" altLang="en-US">
                <a:solidFill>
                  <a:srgbClr val="C00000"/>
                </a:solidFill>
              </a:rPr>
              <a:t>），里面存储的是键值对（</a:t>
            </a:r>
            <a:r>
              <a:rPr lang="en-US" altLang="zh-CN">
                <a:solidFill>
                  <a:srgbClr val="C00000"/>
                </a:solidFill>
              </a:rPr>
              <a:t>key: value</a:t>
            </a:r>
            <a:r>
              <a:rPr lang="zh-CN" altLang="en-US">
                <a:solidFill>
                  <a:srgbClr val="C00000"/>
                </a:solidFill>
              </a:rPr>
              <a:t>）类型的数据，可以根据键</a:t>
            </a:r>
            <a:r>
              <a:rPr lang="en-US" altLang="zh-CN">
                <a:solidFill>
                  <a:srgbClr val="C00000"/>
                </a:solidFill>
              </a:rPr>
              <a:t>(key)</a:t>
            </a:r>
            <a:r>
              <a:rPr lang="zh-CN" altLang="en-US">
                <a:solidFill>
                  <a:srgbClr val="C00000"/>
                </a:solidFill>
              </a:rPr>
              <a:t>找到对应的值</a:t>
            </a:r>
            <a:r>
              <a:rPr lang="en-US" altLang="zh-CN">
                <a:solidFill>
                  <a:srgbClr val="C00000"/>
                </a:solidFill>
              </a:rPr>
              <a:t>(value)</a:t>
            </a:r>
            <a:r>
              <a:rPr lang="zh-CN" altLang="en-US">
                <a:solidFill>
                  <a:srgbClr val="C00000"/>
                </a:solidFill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F7C254-B615-FDCD-CAD6-A245F3A5FC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05"/>
          <a:stretch>
            <a:fillRect/>
          </a:stretch>
        </p:blipFill>
        <p:spPr>
          <a:xfrm>
            <a:off x="636366" y="1058262"/>
            <a:ext cx="2673993" cy="3390438"/>
          </a:xfrm>
          <a:prstGeom prst="roundRect">
            <a:avLst>
              <a:gd name="adj" fmla="val 3681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69F88B3-356E-EB0F-20F0-645D82193153}"/>
              </a:ext>
            </a:extLst>
          </p:cNvPr>
          <p:cNvSpPr/>
          <p:nvPr/>
        </p:nvSpPr>
        <p:spPr>
          <a:xfrm rot="419272">
            <a:off x="1832220" y="1791981"/>
            <a:ext cx="158879" cy="114950"/>
          </a:xfrm>
          <a:prstGeom prst="roundRect">
            <a:avLst/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CCC6104-DCD8-B171-083F-E92C876BD131}"/>
              </a:ext>
            </a:extLst>
          </p:cNvPr>
          <p:cNvGrpSpPr/>
          <p:nvPr/>
        </p:nvGrpSpPr>
        <p:grpSpPr>
          <a:xfrm>
            <a:off x="1804988" y="1803821"/>
            <a:ext cx="1039812" cy="393703"/>
            <a:chOff x="1804988" y="1693862"/>
            <a:chExt cx="1039812" cy="393703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6BF67AC-3DBA-E443-0091-C6194D90E2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5320" y="1693862"/>
              <a:ext cx="22393" cy="131763"/>
            </a:xfrm>
            <a:prstGeom prst="line">
              <a:avLst/>
            </a:prstGeom>
            <a:ln w="95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BBAC517-35E5-95C5-581F-7B5AF8C95978}"/>
                </a:ext>
              </a:extLst>
            </p:cNvPr>
            <p:cNvGrpSpPr/>
            <p:nvPr/>
          </p:nvGrpSpPr>
          <p:grpSpPr>
            <a:xfrm>
              <a:off x="1804988" y="1697038"/>
              <a:ext cx="1039812" cy="390527"/>
              <a:chOff x="1804988" y="1697038"/>
              <a:chExt cx="1039812" cy="390527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217A7C17-C16B-ED8E-20F0-1A2BD99504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17713" y="1697038"/>
                <a:ext cx="827087" cy="36512"/>
              </a:xfrm>
              <a:prstGeom prst="line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1DBF0FEE-D7A6-8603-3851-AFBF5EF200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2407" y="1730374"/>
                <a:ext cx="22393" cy="357191"/>
              </a:xfrm>
              <a:prstGeom prst="line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BD3B204-6A99-23CF-CD30-A9834F3EE6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04988" y="2010267"/>
                <a:ext cx="1019007" cy="77298"/>
              </a:xfrm>
              <a:prstGeom prst="line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E95E66E-A4EC-1B66-E917-2189F69C7F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8164" y="1805924"/>
                <a:ext cx="33336" cy="201169"/>
              </a:xfrm>
              <a:prstGeom prst="line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C2E0537-2445-4D82-99D0-672A29E667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1500" y="1809100"/>
                <a:ext cx="153820" cy="16525"/>
              </a:xfrm>
              <a:prstGeom prst="line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615CA9DD-606E-F86D-8398-EEAAD02F0772}"/>
              </a:ext>
            </a:extLst>
          </p:cNvPr>
          <p:cNvSpPr txBox="1"/>
          <p:nvPr/>
        </p:nvSpPr>
        <p:spPr>
          <a:xfrm>
            <a:off x="3611301" y="2197524"/>
            <a:ext cx="5163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</a:t>
            </a:r>
            <a:r>
              <a:rPr lang="en-US" altLang="zh-CN"/>
              <a:t>【</a:t>
            </a:r>
            <a:r>
              <a:rPr lang="zh-CN" altLang="en-US"/>
              <a:t>字</a:t>
            </a:r>
            <a:r>
              <a:rPr lang="en-US" altLang="zh-CN"/>
              <a:t>/</a:t>
            </a:r>
            <a:r>
              <a:rPr lang="zh-CN" altLang="en-US"/>
              <a:t>词语</a:t>
            </a:r>
            <a:r>
              <a:rPr lang="en-US" altLang="zh-CN"/>
              <a:t>】</a:t>
            </a:r>
            <a:r>
              <a:rPr lang="zh-CN" altLang="en-US"/>
              <a:t>，找到该字对应的</a:t>
            </a:r>
            <a:r>
              <a:rPr lang="en-US" altLang="zh-CN"/>
              <a:t>【</a:t>
            </a:r>
            <a:r>
              <a:rPr lang="zh-CN" altLang="en-US"/>
              <a:t>解释</a:t>
            </a:r>
            <a:r>
              <a:rPr lang="en-US" altLang="zh-CN"/>
              <a:t>】</a:t>
            </a:r>
            <a:r>
              <a:rPr lang="zh-CN" altLang="en-US"/>
              <a:t>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9BFDD6A-9D6C-68C8-BF2D-33388FFD264D}"/>
              </a:ext>
            </a:extLst>
          </p:cNvPr>
          <p:cNvSpPr txBox="1"/>
          <p:nvPr/>
        </p:nvSpPr>
        <p:spPr>
          <a:xfrm>
            <a:off x="3611301" y="2799654"/>
            <a:ext cx="666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每个</a:t>
            </a:r>
            <a:r>
              <a:rPr lang="en-US" altLang="zh-CN"/>
              <a:t>【</a:t>
            </a:r>
            <a:r>
              <a:rPr lang="zh-CN" altLang="en-US"/>
              <a:t>字</a:t>
            </a:r>
            <a:r>
              <a:rPr lang="en-US" altLang="zh-CN"/>
              <a:t>/</a:t>
            </a:r>
            <a:r>
              <a:rPr lang="zh-CN" altLang="en-US"/>
              <a:t>词语</a:t>
            </a:r>
            <a:r>
              <a:rPr lang="en-US" altLang="zh-CN"/>
              <a:t>】</a:t>
            </a:r>
            <a:r>
              <a:rPr lang="zh-CN" altLang="en-US"/>
              <a:t>对应一个解释，</a:t>
            </a:r>
            <a:r>
              <a:rPr lang="en-US" altLang="zh-CN"/>
              <a:t>【</a:t>
            </a:r>
            <a:r>
              <a:rPr lang="zh-CN" altLang="en-US"/>
              <a:t>字</a:t>
            </a:r>
            <a:r>
              <a:rPr lang="en-US" altLang="zh-CN"/>
              <a:t>/</a:t>
            </a:r>
            <a:r>
              <a:rPr lang="zh-CN" altLang="en-US"/>
              <a:t>词语</a:t>
            </a:r>
            <a:r>
              <a:rPr lang="en-US" altLang="zh-CN"/>
              <a:t>】</a:t>
            </a:r>
            <a:r>
              <a:rPr lang="zh-CN" altLang="en-US"/>
              <a:t>是不能重复的。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98AD4FC-5094-099B-6109-06107A350413}"/>
              </a:ext>
            </a:extLst>
          </p:cNvPr>
          <p:cNvSpPr/>
          <p:nvPr/>
        </p:nvSpPr>
        <p:spPr>
          <a:xfrm>
            <a:off x="2106593" y="5395523"/>
            <a:ext cx="1203766" cy="36933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映射（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map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）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C9216E2-7172-2587-9B0E-8A9D3C48B15D}"/>
              </a:ext>
            </a:extLst>
          </p:cNvPr>
          <p:cNvSpPr/>
          <p:nvPr/>
        </p:nvSpPr>
        <p:spPr>
          <a:xfrm>
            <a:off x="2106592" y="4891725"/>
            <a:ext cx="1203766" cy="36933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哈希表（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hash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719DDB-1EFB-1A47-1635-132ED7735F76}"/>
              </a:ext>
            </a:extLst>
          </p:cNvPr>
          <p:cNvSpPr txBox="1"/>
          <p:nvPr/>
        </p:nvSpPr>
        <p:spPr>
          <a:xfrm>
            <a:off x="1108155" y="4448700"/>
            <a:ext cx="1568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224214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35" grpId="0"/>
      <p:bldP spid="36" grpId="0"/>
      <p:bldP spid="37" grpId="0" animBg="1"/>
      <p:bldP spid="38" grpId="0" animBg="1"/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7153-481A-A3B5-AE90-43E01C53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B551D-0D45-FBF1-ED42-C24A45BC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为什么要使用字典呢？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69EF3-F8E7-08CF-0EB5-652B5FB8B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495153" cy="85994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现需要存储班级学员高考成绩，其中包含 王林</a:t>
            </a:r>
            <a:r>
              <a:rPr lang="en-US" altLang="zh-CN"/>
              <a:t>(670)</a:t>
            </a:r>
            <a:r>
              <a:rPr lang="zh-CN" altLang="en-US"/>
              <a:t>，韩立（</a:t>
            </a:r>
            <a:r>
              <a:rPr lang="en-US" altLang="zh-CN"/>
              <a:t>556</a:t>
            </a:r>
            <a:r>
              <a:rPr lang="zh-CN" altLang="en-US"/>
              <a:t>），李慕婉（</a:t>
            </a:r>
            <a:r>
              <a:rPr lang="en-US" altLang="zh-CN"/>
              <a:t>582</a:t>
            </a:r>
            <a:r>
              <a:rPr lang="zh-CN" altLang="en-US"/>
              <a:t>），紫灵（</a:t>
            </a:r>
            <a:r>
              <a:rPr lang="en-US" altLang="zh-CN"/>
              <a:t>435</a:t>
            </a:r>
            <a:r>
              <a:rPr lang="zh-CN" altLang="en-US"/>
              <a:t>），许立国（</a:t>
            </a:r>
            <a:r>
              <a:rPr lang="en-US" altLang="zh-CN"/>
              <a:t>608</a:t>
            </a:r>
            <a:r>
              <a:rPr lang="zh-CN" altLang="en-US"/>
              <a:t>）</a:t>
            </a:r>
            <a:r>
              <a:rPr lang="en-US" altLang="zh-CN"/>
              <a:t>…</a:t>
            </a:r>
            <a:r>
              <a:rPr lang="zh-CN" altLang="en-US"/>
              <a:t>，该如何存储呢？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38F5A890-F618-3C95-050F-A3C2D3898D58}"/>
              </a:ext>
            </a:extLst>
          </p:cNvPr>
          <p:cNvGrpSpPr/>
          <p:nvPr/>
        </p:nvGrpSpPr>
        <p:grpSpPr>
          <a:xfrm>
            <a:off x="940061" y="1961615"/>
            <a:ext cx="10165169" cy="1544342"/>
            <a:chOff x="2297719" y="3660322"/>
            <a:chExt cx="11200127" cy="154443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E867ABB-18C4-0088-1D75-E1156C63D4DE}"/>
                </a:ext>
              </a:extLst>
            </p:cNvPr>
            <p:cNvSpPr/>
            <p:nvPr/>
          </p:nvSpPr>
          <p:spPr>
            <a:xfrm>
              <a:off x="2297727" y="3660323"/>
              <a:ext cx="11200119" cy="1544433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</a:t>
              </a:r>
              <a:r>
                <a:rPr lang="zh-CN" altLang="en-US" sz="1200">
                  <a:solidFill>
                    <a:srgbClr val="8C8C8C"/>
                  </a:solidFill>
                  <a:latin typeface="Courier New" panose="02070309020205020404" pitchFamily="49" charset="0"/>
                </a:rPr>
                <a:t>列表存储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name_list = [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王林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韩立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李慕婉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紫灵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许立国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王政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张紫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score_list = [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670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556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582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435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608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512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678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8F46D600-FDA2-7966-3603-89467E178629}"/>
                </a:ext>
              </a:extLst>
            </p:cNvPr>
            <p:cNvSpPr/>
            <p:nvPr/>
          </p:nvSpPr>
          <p:spPr>
            <a:xfrm>
              <a:off x="2297719" y="3660322"/>
              <a:ext cx="1120011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59E43C0-5EA1-2345-CFC7-C2EB4DE527A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5B743F6-D5EE-652C-EDC6-DE7E08A60E8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20D97B9-FA4E-65CE-AB29-D8A05463BEE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08A05FB5-29DD-D8C7-DEA7-13366F02BA51}"/>
              </a:ext>
            </a:extLst>
          </p:cNvPr>
          <p:cNvSpPr txBox="1"/>
          <p:nvPr/>
        </p:nvSpPr>
        <p:spPr>
          <a:xfrm>
            <a:off x="9415167" y="297022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繁琐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2C3A7A-3F19-F878-4945-4B373CC9DBE4}"/>
              </a:ext>
            </a:extLst>
          </p:cNvPr>
          <p:cNvSpPr txBox="1"/>
          <p:nvPr/>
        </p:nvSpPr>
        <p:spPr>
          <a:xfrm>
            <a:off x="10260198" y="297022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低效</a:t>
            </a:r>
          </a:p>
        </p:txBody>
      </p:sp>
      <p:grpSp>
        <p:nvGrpSpPr>
          <p:cNvPr id="12" name="组合 2">
            <a:extLst>
              <a:ext uri="{FF2B5EF4-FFF2-40B4-BE49-F238E27FC236}">
                <a16:creationId xmlns:a16="http://schemas.microsoft.com/office/drawing/2014/main" id="{563F577E-37A7-C8AF-15B4-C95132FC221F}"/>
              </a:ext>
            </a:extLst>
          </p:cNvPr>
          <p:cNvGrpSpPr/>
          <p:nvPr/>
        </p:nvGrpSpPr>
        <p:grpSpPr>
          <a:xfrm>
            <a:off x="940054" y="3854041"/>
            <a:ext cx="10165169" cy="1140476"/>
            <a:chOff x="2297719" y="3660322"/>
            <a:chExt cx="11200127" cy="1140544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7D2E155-2ADE-9F42-65DA-0483EBA421C7}"/>
                </a:ext>
              </a:extLst>
            </p:cNvPr>
            <p:cNvSpPr/>
            <p:nvPr/>
          </p:nvSpPr>
          <p:spPr>
            <a:xfrm>
              <a:off x="2297727" y="3660324"/>
              <a:ext cx="11200119" cy="1140542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</a:t>
              </a:r>
              <a:r>
                <a:rPr lang="zh-CN" altLang="en-US" sz="1200">
                  <a:solidFill>
                    <a:srgbClr val="8C8C8C"/>
                  </a:solidFill>
                  <a:latin typeface="Courier New" panose="02070309020205020404" pitchFamily="49" charset="0"/>
                </a:rPr>
                <a:t>字典存储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dict1 = {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王林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670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韩立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556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李慕婉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582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紫灵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435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许立国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608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王政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512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张紫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678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D282A008-160E-F7B6-954F-337A9C91388C}"/>
                </a:ext>
              </a:extLst>
            </p:cNvPr>
            <p:cNvSpPr/>
            <p:nvPr/>
          </p:nvSpPr>
          <p:spPr>
            <a:xfrm>
              <a:off x="2297719" y="3660322"/>
              <a:ext cx="1120011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41B7796-FEEF-1CCE-7407-0E5A9C29D30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374CADA-36BC-34C1-3FE2-881784ADEBA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064007B-ED96-8F8E-8030-D9D18B46273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643380A-1470-6E89-7F48-0C20405D8821}"/>
              </a:ext>
            </a:extLst>
          </p:cNvPr>
          <p:cNvSpPr txBox="1"/>
          <p:nvPr/>
        </p:nvSpPr>
        <p:spPr>
          <a:xfrm>
            <a:off x="10304997" y="417032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高效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C1197C7-A08F-639B-D515-340BBBFD86DD}"/>
              </a:ext>
            </a:extLst>
          </p:cNvPr>
          <p:cNvSpPr txBox="1"/>
          <p:nvPr/>
        </p:nvSpPr>
        <p:spPr>
          <a:xfrm>
            <a:off x="9657752" y="417032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优雅</a:t>
            </a:r>
          </a:p>
        </p:txBody>
      </p:sp>
    </p:spTree>
    <p:extLst>
      <p:ext uri="{BB962C8B-B14F-4D97-AF65-F5344CB8AC3E}">
        <p14:creationId xmlns:p14="http://schemas.microsoft.com/office/powerpoint/2010/main" val="85991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B416F-F977-4F1B-13D8-675823E8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3F5E0D-4F1E-6862-225D-2EB2DF74B0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字典</a:t>
            </a:r>
            <a:r>
              <a:rPr lang="en-US" altLang="zh-CN"/>
              <a:t>(dict)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E47ACE-CA3D-1A65-003C-36073666CF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字典定义</a:t>
            </a:r>
            <a:endParaRPr lang="en-US" altLang="zh-CN"/>
          </a:p>
          <a:p>
            <a:r>
              <a:rPr lang="zh-CN" altLang="en-US"/>
              <a:t>常用操作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56879DC-BF0E-A747-A26E-923DFAD5B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63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4B5ED-F592-F4DC-E1E2-EA48257E0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9A88A-EBFB-54FF-6888-1D50D45F9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A4E5D-08EB-E31C-A58E-C9CB5D66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468658" cy="147164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字典：使用键值对（</a:t>
            </a:r>
            <a:r>
              <a:rPr lang="en-US" altLang="zh-CN"/>
              <a:t>key</a:t>
            </a:r>
            <a:r>
              <a:rPr lang="zh-CN" altLang="en-US"/>
              <a:t>：</a:t>
            </a:r>
            <a:r>
              <a:rPr lang="en-US" altLang="zh-CN"/>
              <a:t>value</a:t>
            </a:r>
            <a:r>
              <a:rPr lang="zh-CN" altLang="en-US"/>
              <a:t>）来存储数据，每一个键都对应一个值，通过键（</a:t>
            </a:r>
            <a:r>
              <a:rPr lang="en-US" altLang="zh-CN"/>
              <a:t>key</a:t>
            </a:r>
            <a:r>
              <a:rPr lang="zh-CN" altLang="en-US"/>
              <a:t>）可以快速找到对应的值（</a:t>
            </a:r>
            <a:r>
              <a:rPr lang="en-US" altLang="zh-CN"/>
              <a:t>value</a:t>
            </a:r>
            <a:r>
              <a:rPr lang="zh-CN" altLang="en-US"/>
              <a:t>）。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特点：键值对（</a:t>
            </a:r>
            <a:r>
              <a:rPr lang="en-US" altLang="zh-CN"/>
              <a:t>key</a:t>
            </a:r>
            <a:r>
              <a:rPr lang="zh-CN" altLang="en-US"/>
              <a:t>：</a:t>
            </a:r>
            <a:r>
              <a:rPr lang="en-US" altLang="zh-CN"/>
              <a:t>value</a:t>
            </a:r>
            <a:r>
              <a:rPr lang="zh-CN" altLang="en-US"/>
              <a:t>）存储、键（</a:t>
            </a:r>
            <a:r>
              <a:rPr lang="en-US" altLang="zh-CN"/>
              <a:t>key</a:t>
            </a:r>
            <a:r>
              <a:rPr lang="zh-CN" altLang="en-US"/>
              <a:t>）不能重复、可修改。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定义：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AC2BA13F-D01A-9653-B735-33F513F99E10}"/>
              </a:ext>
            </a:extLst>
          </p:cNvPr>
          <p:cNvGrpSpPr/>
          <p:nvPr/>
        </p:nvGrpSpPr>
        <p:grpSpPr>
          <a:xfrm>
            <a:off x="933754" y="2573317"/>
            <a:ext cx="4697688" cy="3001370"/>
            <a:chOff x="2297719" y="3660322"/>
            <a:chExt cx="5175979" cy="295773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C460D40-733C-D723-4B95-B97C02648BA1}"/>
                </a:ext>
              </a:extLst>
            </p:cNvPr>
            <p:cNvSpPr/>
            <p:nvPr/>
          </p:nvSpPr>
          <p:spPr>
            <a:xfrm>
              <a:off x="2297727" y="3660323"/>
              <a:ext cx="5175971" cy="2957733"/>
            </a:xfrm>
            <a:prstGeom prst="roundRect">
              <a:avLst>
                <a:gd name="adj" fmla="val 20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定义字典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  <a:latin typeface="Courier New" panose="02070309020205020404" pitchFamily="49" charset="0"/>
                </a:rPr>
                <a:t>字典名称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 = {key: value, key:value, key:value …}</a:t>
              </a: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定义空字典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latin typeface="Courier New" panose="02070309020205020404" pitchFamily="49" charset="0"/>
                </a:rPr>
                <a:t>字典名称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 = {}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字典名称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= dict()</a:t>
              </a:r>
            </a:p>
            <a:p>
              <a:pPr>
                <a:lnSpc>
                  <a:spcPct val="200000"/>
                </a:lnSpc>
                <a:buNone/>
              </a:pPr>
              <a:endParaRPr lang="en-US" altLang="zh-CN" sz="11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根据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key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获取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value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值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=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字典名称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[key]</a:t>
              </a:r>
              <a:endParaRPr lang="en-US" altLang="zh-CN" sz="1100">
                <a:solidFill>
                  <a:schemeClr val="tx1">
                    <a:lumMod val="75000"/>
                  </a:schemeClr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D051B7F3-195E-3B9B-5CF8-15EA38F7B656}"/>
                </a:ext>
              </a:extLst>
            </p:cNvPr>
            <p:cNvSpPr/>
            <p:nvPr/>
          </p:nvSpPr>
          <p:spPr>
            <a:xfrm>
              <a:off x="2297719" y="3660322"/>
              <a:ext cx="517597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49C74F9-80F6-F988-62A3-896B7268670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8A4DD49-9C0C-EA16-E85D-2004C7E366E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5203496-2A37-71AA-38EB-51BD09F52C4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3359BE30-93E4-B69A-C8EE-6CB94B15B169}"/>
              </a:ext>
            </a:extLst>
          </p:cNvPr>
          <p:cNvGrpSpPr/>
          <p:nvPr/>
        </p:nvGrpSpPr>
        <p:grpSpPr>
          <a:xfrm>
            <a:off x="6004996" y="2573318"/>
            <a:ext cx="5318697" cy="3001370"/>
            <a:chOff x="2297719" y="3660322"/>
            <a:chExt cx="5860215" cy="300154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AAEACBBB-0190-915F-0F0C-7D658C9A91C5}"/>
                </a:ext>
              </a:extLst>
            </p:cNvPr>
            <p:cNvSpPr/>
            <p:nvPr/>
          </p:nvSpPr>
          <p:spPr>
            <a:xfrm>
              <a:off x="2297727" y="3660323"/>
              <a:ext cx="5860207" cy="3001547"/>
            </a:xfrm>
            <a:prstGeom prst="roundRect">
              <a:avLst>
                <a:gd name="adj" fmla="val 20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定义字典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dict1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= {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Fira Code" panose="020B0809050000020004" pitchFamily="49" charset="0"/>
                </a:rPr>
                <a:t>王林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675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Fira Code" panose="020B0809050000020004" pitchFamily="49" charset="0"/>
                </a:rPr>
                <a:t>李慕婉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608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Fira Code" panose="020B0809050000020004" pitchFamily="49" charset="0"/>
                </a:rPr>
                <a:t>许立国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478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…}</a:t>
              </a: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定义空字典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dict2 = {}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dict3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= dict()</a:t>
              </a:r>
            </a:p>
            <a:p>
              <a:pPr>
                <a:lnSpc>
                  <a:spcPct val="200000"/>
                </a:lnSpc>
                <a:buNone/>
              </a:pPr>
              <a:endParaRPr lang="en-US" altLang="zh-CN" sz="1100">
                <a:solidFill>
                  <a:schemeClr val="tx1">
                    <a:lumMod val="75000"/>
                  </a:schemeClr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根据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key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获取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value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score</a:t>
              </a:r>
              <a:r>
                <a:rPr lang="zh-CN" altLang="en-US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= dict1[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Fira Code" panose="020B0809050000020004" pitchFamily="49" charset="0"/>
                </a:rPr>
                <a:t>李思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]</a:t>
              </a: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7998DF91-C40F-8AD9-B7AB-6A71526954EC}"/>
                </a:ext>
              </a:extLst>
            </p:cNvPr>
            <p:cNvSpPr/>
            <p:nvPr/>
          </p:nvSpPr>
          <p:spPr>
            <a:xfrm>
              <a:off x="2297719" y="3660322"/>
              <a:ext cx="5860207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F04BE51-766F-1992-57A3-ABFBEE9E0D9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41DDC49-FE11-1521-D3AA-8BD9AA900CD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D47F9B9-5CAA-6D72-DD54-617EF25A715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A82F6FE-CF43-54BA-7EE1-575ACEE9D7F7}"/>
              </a:ext>
            </a:extLst>
          </p:cNvPr>
          <p:cNvGrpSpPr/>
          <p:nvPr/>
        </p:nvGrpSpPr>
        <p:grpSpPr>
          <a:xfrm>
            <a:off x="864170" y="6239537"/>
            <a:ext cx="10938499" cy="348335"/>
            <a:chOff x="4685665" y="1834757"/>
            <a:chExt cx="10535544" cy="348335"/>
          </a:xfrm>
        </p:grpSpPr>
        <p:sp>
          <p:nvSpPr>
            <p:cNvPr id="17" name="ComponentBackground2">
              <a:extLst>
                <a:ext uri="{FF2B5EF4-FFF2-40B4-BE49-F238E27FC236}">
                  <a16:creationId xmlns:a16="http://schemas.microsoft.com/office/drawing/2014/main" id="{8596C931-6328-334D-E987-8F93E0925136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字典（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dict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）中的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value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可以是任何类型的数据，而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key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不能为可变类型（如：不能为 列表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list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、集合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set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、字典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dict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）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8" name="Shape2">
              <a:extLst>
                <a:ext uri="{FF2B5EF4-FFF2-40B4-BE49-F238E27FC236}">
                  <a16:creationId xmlns:a16="http://schemas.microsoft.com/office/drawing/2014/main" id="{E332071D-2382-FDA0-37FE-80BA8993D1C7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260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AA883-020D-C566-2843-10D19E209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AEF1EF-6F54-58FD-F53A-F62FCFC6A4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0137" y="1106205"/>
            <a:ext cx="7170081" cy="482854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字典的存储形式及特点</a:t>
            </a:r>
            <a:r>
              <a:rPr lang="en-US" altLang="zh-CN"/>
              <a:t>?</a:t>
            </a:r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</a:pPr>
            <a:r>
              <a:rPr lang="zh-CN" altLang="en-US" sz="1400"/>
              <a:t>字典</a:t>
            </a:r>
            <a:r>
              <a:rPr lang="en-US" altLang="zh-CN" sz="1400"/>
              <a:t>(dict)</a:t>
            </a:r>
            <a:r>
              <a:rPr lang="zh-CN" altLang="en-US" sz="1400"/>
              <a:t>存储的是键值对</a:t>
            </a:r>
            <a:r>
              <a:rPr lang="en-US" altLang="zh-CN" sz="1400"/>
              <a:t>(key:value)</a:t>
            </a:r>
            <a:r>
              <a:rPr lang="zh-CN" altLang="en-US" sz="1400"/>
              <a:t>形式的数据</a:t>
            </a:r>
            <a:endParaRPr lang="en-US" altLang="zh-CN" sz="1400"/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</a:pPr>
            <a:r>
              <a:rPr lang="zh-CN" altLang="en-US" sz="1400"/>
              <a:t>特点：键值对、</a:t>
            </a:r>
            <a:r>
              <a:rPr lang="en-US" altLang="zh-CN" sz="1400"/>
              <a:t>key</a:t>
            </a:r>
            <a:r>
              <a:rPr lang="zh-CN" altLang="en-US" sz="1400"/>
              <a:t>是唯一的、可修改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字典定义的语法</a:t>
            </a:r>
            <a:r>
              <a:rPr lang="en-US" altLang="zh-CN"/>
              <a:t>?</a:t>
            </a:r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</a:pPr>
            <a:r>
              <a:rPr lang="zh-CN" altLang="en-US" sz="1400"/>
              <a:t>定义：</a:t>
            </a:r>
            <a:r>
              <a:rPr lang="en-US" altLang="zh-CN" sz="1400"/>
              <a:t>dict1 = {"</a:t>
            </a:r>
            <a:r>
              <a:rPr lang="zh-CN" altLang="en-US" sz="1400"/>
              <a:t>王林</a:t>
            </a:r>
            <a:r>
              <a:rPr lang="en-US" altLang="zh-CN" sz="1400"/>
              <a:t>": 675, "</a:t>
            </a:r>
            <a:r>
              <a:rPr lang="zh-CN" altLang="en-US" sz="1400"/>
              <a:t>李慕婉</a:t>
            </a:r>
            <a:r>
              <a:rPr lang="en-US" altLang="zh-CN" sz="1400"/>
              <a:t>": 608, "</a:t>
            </a:r>
            <a:r>
              <a:rPr lang="zh-CN" altLang="en-US" sz="1400"/>
              <a:t>许立国</a:t>
            </a:r>
            <a:r>
              <a:rPr lang="en-US" altLang="zh-CN" sz="1400"/>
              <a:t>": 478, …}</a:t>
            </a:r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</a:pPr>
            <a:r>
              <a:rPr lang="zh-CN" altLang="en-US" sz="1400"/>
              <a:t>获取：</a:t>
            </a:r>
            <a:r>
              <a:rPr lang="en-US" altLang="zh-CN" sz="1400"/>
              <a:t>v = dict1["</a:t>
            </a:r>
            <a:r>
              <a:rPr lang="zh-CN" altLang="en-US" sz="1400"/>
              <a:t>王林</a:t>
            </a:r>
            <a:r>
              <a:rPr lang="en-US" altLang="zh-CN" sz="1400"/>
              <a:t>"]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C00000"/>
                </a:solidFill>
              </a:rPr>
              <a:t>字典的注意事项</a:t>
            </a:r>
            <a:endParaRPr lang="en-US" altLang="zh-CN">
              <a:solidFill>
                <a:srgbClr val="C00000"/>
              </a:solidFill>
            </a:endParaRPr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</a:pPr>
            <a:r>
              <a:rPr lang="en-US" altLang="zh-CN" sz="1400">
                <a:solidFill>
                  <a:srgbClr val="C00000"/>
                </a:solidFill>
              </a:rPr>
              <a:t>value</a:t>
            </a:r>
            <a:r>
              <a:rPr lang="zh-CN" altLang="en-US" sz="1400">
                <a:solidFill>
                  <a:srgbClr val="C00000"/>
                </a:solidFill>
              </a:rPr>
              <a:t>可以是任意类型，而</a:t>
            </a:r>
            <a:r>
              <a:rPr lang="en-US" altLang="zh-CN" sz="1400">
                <a:solidFill>
                  <a:srgbClr val="C00000"/>
                </a:solidFill>
              </a:rPr>
              <a:t>key</a:t>
            </a:r>
            <a:r>
              <a:rPr lang="zh-CN" altLang="en-US" sz="1400">
                <a:solidFill>
                  <a:srgbClr val="C00000"/>
                </a:solidFill>
              </a:rPr>
              <a:t>必须是不可变类型（不能为</a:t>
            </a:r>
            <a:r>
              <a:rPr lang="en-US" altLang="zh-CN" sz="1400">
                <a:solidFill>
                  <a:srgbClr val="C00000"/>
                </a:solidFill>
              </a:rPr>
              <a:t>list</a:t>
            </a:r>
            <a:r>
              <a:rPr lang="zh-CN" altLang="en-US" sz="1400">
                <a:solidFill>
                  <a:srgbClr val="C00000"/>
                </a:solidFill>
              </a:rPr>
              <a:t>、</a:t>
            </a:r>
            <a:r>
              <a:rPr lang="en-US" altLang="zh-CN" sz="1400">
                <a:solidFill>
                  <a:srgbClr val="C00000"/>
                </a:solidFill>
              </a:rPr>
              <a:t>set</a:t>
            </a:r>
            <a:r>
              <a:rPr lang="zh-CN" altLang="en-US" sz="1400">
                <a:solidFill>
                  <a:srgbClr val="C00000"/>
                </a:solidFill>
              </a:rPr>
              <a:t>、</a:t>
            </a:r>
            <a:r>
              <a:rPr lang="en-US" altLang="zh-CN" sz="1400">
                <a:solidFill>
                  <a:srgbClr val="C00000"/>
                </a:solidFill>
              </a:rPr>
              <a:t>dict</a:t>
            </a:r>
            <a:r>
              <a:rPr lang="zh-CN" altLang="en-US" sz="1400">
                <a:solidFill>
                  <a:srgbClr val="C00000"/>
                </a:solidFill>
              </a:rPr>
              <a:t>）</a:t>
            </a:r>
            <a:endParaRPr lang="en-US" altLang="zh-CN" sz="1400">
              <a:solidFill>
                <a:srgbClr val="C00000"/>
              </a:solidFill>
            </a:endParaRPr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字典内的</a:t>
            </a:r>
            <a:r>
              <a:rPr lang="en-US" altLang="zh-CN" sz="1400">
                <a:solidFill>
                  <a:srgbClr val="C00000"/>
                </a:solidFill>
              </a:rPr>
              <a:t>key</a:t>
            </a:r>
            <a:r>
              <a:rPr lang="zh-CN" altLang="en-US" sz="1400">
                <a:solidFill>
                  <a:srgbClr val="C00000"/>
                </a:solidFill>
              </a:rPr>
              <a:t>不允许重复，如果重复定义，后面的覆盖前面的</a:t>
            </a:r>
            <a:endParaRPr lang="en-US" altLang="zh-CN" sz="1400">
              <a:solidFill>
                <a:srgbClr val="C00000"/>
              </a:solidFill>
            </a:endParaRPr>
          </a:p>
          <a:p>
            <a:pPr marL="612000" lvl="1" indent="-342900">
              <a:lnSpc>
                <a:spcPct val="150000"/>
              </a:lnSpc>
              <a:spcBef>
                <a:spcPts val="12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字典是没有索引下标的，不能根据索引获取值，只可以根据</a:t>
            </a:r>
            <a:r>
              <a:rPr lang="en-US" altLang="zh-CN" sz="1400">
                <a:solidFill>
                  <a:srgbClr val="C00000"/>
                </a:solidFill>
              </a:rPr>
              <a:t>key</a:t>
            </a:r>
            <a:r>
              <a:rPr lang="zh-CN" altLang="en-US" sz="1400">
                <a:solidFill>
                  <a:srgbClr val="C00000"/>
                </a:solidFill>
              </a:rPr>
              <a:t>获取</a:t>
            </a:r>
            <a:r>
              <a:rPr lang="en-US" altLang="zh-CN" sz="1400">
                <a:solidFill>
                  <a:srgbClr val="C00000"/>
                </a:solidFill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98891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2162-1AAC-1664-2201-5D11324F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764A95-5674-EE2D-FD4F-D03D7C5975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字典</a:t>
            </a:r>
            <a:r>
              <a:rPr lang="en-US" altLang="zh-CN"/>
              <a:t>(dict)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7A1384-5B96-2059-D863-3E8F25AD89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字典定义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常用操作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905F1AD-D2FF-F664-B05A-0F3FA09829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0540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7402-6352-2D70-9639-42CB8317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03C08-45AC-AD3D-DF52-7841F0BC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常用操作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9F4499-A98C-CEEC-80E7-39473F65A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字典的增删改查操作方式如下：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2FEAFA6-7DF7-0D60-59D7-2B7AD480D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549911"/>
              </p:ext>
            </p:extLst>
          </p:nvPr>
        </p:nvGraphicFramePr>
        <p:xfrm>
          <a:off x="977414" y="1495142"/>
          <a:ext cx="10406287" cy="4608000"/>
        </p:xfrm>
        <a:graphic>
          <a:graphicData uri="http://schemas.openxmlformats.org/drawingml/2006/table">
            <a:tbl>
              <a:tblPr/>
              <a:tblGrid>
                <a:gridCol w="1122025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2604991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  <a:gridCol w="3739581">
                  <a:extLst>
                    <a:ext uri="{9D8B030D-6E8A-4147-A177-3AD203B41FA5}">
                      <a16:colId xmlns:a16="http://schemas.microsoft.com/office/drawing/2014/main" val="3724119119"/>
                    </a:ext>
                  </a:extLst>
                </a:gridCol>
                <a:gridCol w="2939690">
                  <a:extLst>
                    <a:ext uri="{9D8B030D-6E8A-4147-A177-3AD203B41FA5}">
                      <a16:colId xmlns:a16="http://schemas.microsoft.com/office/drawing/2014/main" val="384060922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操作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含义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样例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添加</a:t>
                      </a:r>
                      <a:endParaRPr kumimoji="0" lang="zh-CN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[key] = value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往指定字典中添加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key-value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键值对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dict1["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涛哥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"] = 688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468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删除</a:t>
                      </a:r>
                      <a:endParaRPr kumimoji="0" lang="zh-CN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.pop(key)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删除字典中指定的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key, 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并返回该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key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对应的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value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score = dict1.pop("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涛哥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")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46800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del 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[key]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删除字典中指定的键值对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del 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dict1["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涛哥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"]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修改</a:t>
                      </a:r>
                      <a:endParaRPr kumimoji="0" lang="zh-CN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[key] = value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修改字典中指定的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key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对应的值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dict1["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小智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"] = 658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46800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查询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[key]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根据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key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获取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value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dict1["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涛哥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"]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.get(key)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根据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key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获取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value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dict1.get("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涛哥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")</a:t>
                      </a:r>
                      <a:endParaRPr kumimoji="0" lang="zh-CN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64237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.keys()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获取所有的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key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dict1.keys()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72158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.values()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获取所有的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value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dict1.values()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7355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字典名称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.items()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获取所有的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key-value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键值对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dict1.items()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41606"/>
                  </a:ext>
                </a:extLst>
              </a:tr>
            </a:tbl>
          </a:graphicData>
        </a:graphic>
      </p:graphicFrame>
      <p:grpSp>
        <p:nvGrpSpPr>
          <p:cNvPr id="5" name="组合 2">
            <a:extLst>
              <a:ext uri="{FF2B5EF4-FFF2-40B4-BE49-F238E27FC236}">
                <a16:creationId xmlns:a16="http://schemas.microsoft.com/office/drawing/2014/main" id="{F3A1E2C7-E6D6-A693-EABB-EA7F035CADF8}"/>
              </a:ext>
            </a:extLst>
          </p:cNvPr>
          <p:cNvGrpSpPr/>
          <p:nvPr/>
        </p:nvGrpSpPr>
        <p:grpSpPr>
          <a:xfrm>
            <a:off x="3819993" y="738365"/>
            <a:ext cx="7563708" cy="664493"/>
            <a:chOff x="2297719" y="3660322"/>
            <a:chExt cx="8333799" cy="66453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E17F6C5-1815-D2E1-66B6-10FD7AD667C9}"/>
                </a:ext>
              </a:extLst>
            </p:cNvPr>
            <p:cNvSpPr/>
            <p:nvPr/>
          </p:nvSpPr>
          <p:spPr>
            <a:xfrm>
              <a:off x="2297726" y="3660323"/>
              <a:ext cx="8333792" cy="664532"/>
            </a:xfrm>
            <a:prstGeom prst="roundRect">
              <a:avLst>
                <a:gd name="adj" fmla="val 774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dict1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小智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675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李思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608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李琪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478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小黑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545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latin typeface="Fira Code" panose="020B0809050000020004" pitchFamily="49" charset="0"/>
                </a:rPr>
                <a:t>温韬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429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9D8BC04C-5ECF-DEBA-187D-D37F16768A15}"/>
                </a:ext>
              </a:extLst>
            </p:cNvPr>
            <p:cNvSpPr/>
            <p:nvPr/>
          </p:nvSpPr>
          <p:spPr>
            <a:xfrm>
              <a:off x="2297719" y="3660322"/>
              <a:ext cx="8333792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275AE4D-5BC5-CB85-9691-C1F81CB8A9C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88A4181-8082-C1A7-A607-A6D8F83D298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63B40AF-5F11-435C-6565-C6F1E04DB94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3668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E965-7705-4854-421A-3F6D683B8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993F9C-542C-790B-80C7-32C74B37F6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79013" y="1607528"/>
            <a:ext cx="8420888" cy="348959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字典的常用操作</a:t>
            </a:r>
            <a:r>
              <a:rPr lang="en-US" altLang="zh-CN"/>
              <a:t>?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添加：字典</a:t>
            </a:r>
            <a:r>
              <a:rPr lang="en-US" altLang="zh-CN" sz="1400"/>
              <a:t>[key] = value   (key</a:t>
            </a:r>
            <a:r>
              <a:rPr lang="zh-CN" altLang="en-US" sz="1400"/>
              <a:t>不存在，就会执行新增</a:t>
            </a:r>
            <a:r>
              <a:rPr lang="en-US" altLang="zh-CN" sz="1400"/>
              <a:t>)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删除：</a:t>
            </a:r>
            <a:r>
              <a:rPr lang="en-US" altLang="zh-CN" sz="1400"/>
              <a:t>del </a:t>
            </a:r>
            <a:r>
              <a:rPr lang="zh-CN" altLang="en-US" sz="1400"/>
              <a:t>字典</a:t>
            </a:r>
            <a:r>
              <a:rPr lang="en-US" altLang="zh-CN" sz="1400"/>
              <a:t>[key] / value = </a:t>
            </a:r>
            <a:r>
              <a:rPr lang="zh-CN" altLang="en-US" sz="1400"/>
              <a:t>字典</a:t>
            </a:r>
            <a:r>
              <a:rPr lang="en-US" altLang="zh-CN" sz="1400"/>
              <a:t>.pop(key)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修改：字典</a:t>
            </a:r>
            <a:r>
              <a:rPr lang="en-US" altLang="zh-CN" sz="1400"/>
              <a:t>[key] = value   (key</a:t>
            </a:r>
            <a:r>
              <a:rPr lang="zh-CN" altLang="en-US" sz="1400"/>
              <a:t>存在，就会执行修改</a:t>
            </a:r>
            <a:r>
              <a:rPr lang="en-US" altLang="zh-CN" sz="1400"/>
              <a:t>)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查询：字典</a:t>
            </a:r>
            <a:r>
              <a:rPr lang="en-US" altLang="zh-CN" sz="1400"/>
              <a:t>[key] / </a:t>
            </a:r>
            <a:r>
              <a:rPr lang="zh-CN" altLang="en-US" sz="1400"/>
              <a:t>字典</a:t>
            </a:r>
            <a:r>
              <a:rPr lang="en-US" altLang="zh-CN" sz="1400"/>
              <a:t>.get(key) ; </a:t>
            </a:r>
            <a:r>
              <a:rPr lang="zh-CN" altLang="en-US" sz="1400"/>
              <a:t>字典</a:t>
            </a:r>
            <a:r>
              <a:rPr lang="en-US" altLang="zh-CN" sz="1400"/>
              <a:t>.keys() / </a:t>
            </a:r>
            <a:r>
              <a:rPr lang="zh-CN" altLang="en-US" sz="1400"/>
              <a:t>字典</a:t>
            </a:r>
            <a:r>
              <a:rPr lang="en-US" altLang="zh-CN" sz="1400"/>
              <a:t>.values() / </a:t>
            </a:r>
            <a:r>
              <a:rPr lang="zh-CN" altLang="en-US" sz="1400"/>
              <a:t>字典</a:t>
            </a:r>
            <a:r>
              <a:rPr lang="en-US" altLang="zh-CN" sz="1400"/>
              <a:t>.items()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字典的遍历</a:t>
            </a:r>
            <a:r>
              <a:rPr lang="en-US" altLang="zh-CN"/>
              <a:t>?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字典支持</a:t>
            </a:r>
            <a:r>
              <a:rPr lang="en-US" altLang="zh-CN" sz="1400"/>
              <a:t>for</a:t>
            </a:r>
            <a:r>
              <a:rPr lang="zh-CN" altLang="en-US" sz="1400"/>
              <a:t>循环遍历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通过</a:t>
            </a:r>
            <a:r>
              <a:rPr lang="en-US" altLang="zh-CN" sz="1400"/>
              <a:t>keys()</a:t>
            </a:r>
            <a:r>
              <a:rPr lang="zh-CN" altLang="en-US" sz="1400"/>
              <a:t>、</a:t>
            </a:r>
            <a:r>
              <a:rPr lang="en-US" altLang="zh-CN" sz="1400"/>
              <a:t>values()</a:t>
            </a:r>
            <a:r>
              <a:rPr lang="zh-CN" altLang="en-US" sz="1400"/>
              <a:t>、</a:t>
            </a:r>
            <a:r>
              <a:rPr lang="en-US" altLang="zh-CN" sz="1400"/>
              <a:t>items() </a:t>
            </a:r>
            <a:r>
              <a:rPr lang="zh-CN" altLang="en-US" sz="1400"/>
              <a:t>进行循环遍历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40526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0001-763E-DBFF-A241-DBF5652B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6BD39A-C9AB-E752-7C00-5978A6412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字典</a:t>
            </a:r>
            <a:r>
              <a:rPr lang="en-US" altLang="zh-CN"/>
              <a:t>(dict)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784502-3CE9-FB1B-DCED-CD92C8AB13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字典定义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常用操作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6B82ACE-67C8-1D07-0DAC-4302C4A57B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6601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7AE9-15BE-80B7-617D-295F92BE5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55D37E7-7A0D-3EE4-C151-68C3E74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73A164-78AD-6524-5ACB-D06F7DA74A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1"/>
            <a:ext cx="10128314" cy="36359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开发一个购物车管理系统，实现商品信息的添加、修改、删除、查询功能。系统使用字典结构存储商品数据，通过控制台菜单与用户交互。具体功能如下：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添加购物车：用户根据提示录入商品名称、以及该商品的价格、数量，保存该商品信息到购物车。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修改购物车：要求用户输入要修改的购物车商品名称，然后再提示输入该商品的价格、数量，输入完成后修改该商品信息。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删除购物车：要求用户输入要删除的购物车名称，根据名称删除购物车中的商品。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查询购物车：将购物车中的商品信息展示出来，格式为：</a:t>
            </a:r>
            <a:r>
              <a:rPr lang="en-US" altLang="zh-CN" sz="1400"/>
              <a:t>"</a:t>
            </a:r>
            <a:r>
              <a:rPr lang="zh-CN" altLang="en-US" sz="1400"/>
              <a:t>商品名称</a:t>
            </a:r>
            <a:r>
              <a:rPr lang="en-US" altLang="zh-CN" sz="1400"/>
              <a:t>: xxx, </a:t>
            </a:r>
            <a:r>
              <a:rPr lang="zh-CN" altLang="en-US" sz="1400"/>
              <a:t>商品价格</a:t>
            </a:r>
            <a:r>
              <a:rPr lang="en-US" altLang="zh-CN" sz="1400"/>
              <a:t>: xxx, </a:t>
            </a:r>
            <a:r>
              <a:rPr lang="zh-CN" altLang="en-US" sz="1400"/>
              <a:t>商品数量</a:t>
            </a:r>
            <a:r>
              <a:rPr lang="en-US" altLang="zh-CN" sz="1400"/>
              <a:t>: xxx"</a:t>
            </a:r>
            <a:r>
              <a:rPr lang="zh-CN" altLang="en-US" sz="1400"/>
              <a:t>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退出购物车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F7DFDD-2CFB-A078-92CB-73ECE0C1A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35"/>
          <a:stretch>
            <a:fillRect/>
          </a:stretch>
        </p:blipFill>
        <p:spPr>
          <a:xfrm>
            <a:off x="9080500" y="3669646"/>
            <a:ext cx="3111500" cy="31951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6" name="组合 2">
            <a:extLst>
              <a:ext uri="{FF2B5EF4-FFF2-40B4-BE49-F238E27FC236}">
                <a16:creationId xmlns:a16="http://schemas.microsoft.com/office/drawing/2014/main" id="{50A8C59D-E31D-B69A-F7FF-D430ADCB8DDC}"/>
              </a:ext>
            </a:extLst>
          </p:cNvPr>
          <p:cNvGrpSpPr/>
          <p:nvPr/>
        </p:nvGrpSpPr>
        <p:grpSpPr>
          <a:xfrm>
            <a:off x="2109460" y="4235912"/>
            <a:ext cx="6856741" cy="1810119"/>
            <a:chOff x="2297719" y="3660322"/>
            <a:chExt cx="7554852" cy="1810228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1A50415-24B8-48C9-25E6-620D458F0369}"/>
                </a:ext>
              </a:extLst>
            </p:cNvPr>
            <p:cNvSpPr/>
            <p:nvPr/>
          </p:nvSpPr>
          <p:spPr>
            <a:xfrm>
              <a:off x="2297726" y="3660322"/>
              <a:ext cx="7554845" cy="1810228"/>
            </a:xfrm>
            <a:prstGeom prst="roundRect">
              <a:avLst>
                <a:gd name="adj" fmla="val 302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</a:rPr>
                <a:t>购物车列表数据</a:t>
              </a:r>
              <a:endParaRPr lang="en-US" altLang="zh-CN" sz="1200">
                <a:solidFill>
                  <a:schemeClr val="bg1">
                    <a:lumMod val="50000"/>
                  </a:schemeClr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shopping_cart 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"name"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"Meta80"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price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6999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"num"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2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shopping_cart = [{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"name"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"Meta80"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"price"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6999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"num"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2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}, {...}]</a:t>
              </a:r>
              <a:endParaRPr lang="en-US" altLang="zh-CN" sz="1200">
                <a:solidFill>
                  <a:srgbClr val="080808"/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shopping_cart 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"Meta80"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"price"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6999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"num"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2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},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latin typeface="Fira Code" panose="020B0809050000020004" pitchFamily="49" charset="0"/>
                </a:rPr>
                <a:t>鼠标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/>
                  </a:solidFill>
                  <a:latin typeface="Fira Code" panose="020B0809050000020004" pitchFamily="49" charset="0"/>
                </a:rPr>
                <a:t>: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  <a:latin typeface="Fira Code" panose="020B0809050000020004" pitchFamily="49" charset="0"/>
                </a:rPr>
                <a:t>{...}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D74D0A5E-0E86-1B4F-7DF3-EDC8D82D6848}"/>
                </a:ext>
              </a:extLst>
            </p:cNvPr>
            <p:cNvSpPr/>
            <p:nvPr/>
          </p:nvSpPr>
          <p:spPr>
            <a:xfrm>
              <a:off x="2297719" y="3660322"/>
              <a:ext cx="7554844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87F5E33-80C5-6138-4E7E-AC47C51ECE5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A23208C-53B5-3643-5BED-E40EAA748B3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90D0DBB-4A03-EFC5-5F34-89F33A65957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BE04AEE1-42D5-60AA-7BD6-A53FD9ED6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401" y="5337768"/>
            <a:ext cx="6447449" cy="2701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3ABFC85-7AAA-0A3C-D042-1D6FA6B00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401" y="5680092"/>
            <a:ext cx="6447449" cy="2701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7F02C64-BDD3-EDD1-08D7-0FAEC2DE2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941710"/>
            <a:ext cx="323909" cy="32390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0FFE03B-20B4-2EED-C341-E5D1A7AB3C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173" y="5265619"/>
            <a:ext cx="323909" cy="32390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ADB5DF7-B258-CC60-E078-0FC1C4775D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414" y="5607943"/>
            <a:ext cx="450850" cy="4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DFDC-D315-75A0-E313-AC8DEEFC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42CB03-763E-C4EF-145D-6CB8B7144E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49496" y="1297807"/>
            <a:ext cx="3692525" cy="3332065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列表（</a:t>
            </a:r>
            <a:r>
              <a:rPr lang="en-US" altLang="zh-CN">
                <a:latin typeface="+mn-lt"/>
              </a:rPr>
              <a:t>list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字符串（</a:t>
            </a:r>
            <a:r>
              <a:rPr lang="en-US" altLang="zh-CN">
                <a:latin typeface="+mn-lt"/>
              </a:rPr>
              <a:t>str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元组（</a:t>
            </a:r>
            <a:r>
              <a:rPr lang="en-US" altLang="zh-CN">
                <a:latin typeface="+mn-lt"/>
              </a:rPr>
              <a:t>tuple</a:t>
            </a:r>
            <a:r>
              <a:rPr lang="zh-CN" altLang="en-US">
                <a:latin typeface="+mn-lt"/>
              </a:rPr>
              <a:t>）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集合（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set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字典（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dict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）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1262166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2B27-DBCF-4704-ABC0-9264BDE3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2A6B0-1AEE-3E13-48C2-BCB7D883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数据容器总结与对比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C8173A4-73CA-81B0-3CF3-A7AECCA24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525254"/>
              </p:ext>
            </p:extLst>
          </p:nvPr>
        </p:nvGraphicFramePr>
        <p:xfrm>
          <a:off x="691984" y="997429"/>
          <a:ext cx="10828472" cy="3760221"/>
        </p:xfrm>
        <a:graphic>
          <a:graphicData uri="http://schemas.openxmlformats.org/drawingml/2006/table">
            <a:tbl>
              <a:tblPr/>
              <a:tblGrid>
                <a:gridCol w="928472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724119119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840609227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21113234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016621261"/>
                    </a:ext>
                  </a:extLst>
                </a:gridCol>
              </a:tblGrid>
              <a:tr h="520221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特性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字符串（</a:t>
                      </a:r>
                      <a:r>
                        <a:rPr kumimoji="1" lang="en-US" altLang="zh-CN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列表（</a:t>
                      </a:r>
                      <a:r>
                        <a:rPr kumimoji="1" lang="en-US" altLang="zh-CN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元组（</a:t>
                      </a:r>
                      <a:r>
                        <a:rPr kumimoji="1" lang="en-US" altLang="zh-CN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tuple</a:t>
                      </a: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集合（</a:t>
                      </a:r>
                      <a:r>
                        <a:rPr kumimoji="1" lang="en-US" altLang="zh-CN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字典（</a:t>
                      </a:r>
                      <a:r>
                        <a:rPr kumimoji="1" lang="en-US" altLang="zh-CN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dict</a:t>
                      </a:r>
                      <a:r>
                        <a:rPr kumimoji="1" lang="zh-CN" alt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5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有序性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有序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有序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有序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无序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有序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(3.7+)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5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重复元素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允许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允许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允许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不允许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key</a:t>
                      </a: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不允许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可变性</a:t>
                      </a:r>
                      <a:endParaRPr kumimoji="0" lang="zh-CN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不可变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可变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不可变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可变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可变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54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索引访问</a:t>
                      </a:r>
                      <a:endParaRPr kumimoji="0" lang="zh-CN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支持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支持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支持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不支持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不支持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切片操作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支持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支持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支持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不支持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不支持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使用场景</a:t>
                      </a:r>
                      <a:endParaRPr lang="en-US" altLang="zh-CN" sz="11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文本处理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有序可重复数据集合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固定数据记录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去重数据集合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键值对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7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7373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B033-D416-47D0-F39F-33BC479D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27F1AD8-511B-B714-D842-3C5F0BE56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基于现有知识开发一个教务管理系统</a:t>
            </a:r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AA02113D-423E-B740-5DB5-B9A77C53348F}"/>
              </a:ext>
            </a:extLst>
          </p:cNvPr>
          <p:cNvSpPr txBox="1">
            <a:spLocks/>
          </p:cNvSpPr>
          <p:nvPr/>
        </p:nvSpPr>
        <p:spPr>
          <a:xfrm>
            <a:off x="1753099" y="1024930"/>
            <a:ext cx="10128314" cy="413737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开发一个教务管理系统，在该系统中可以维护和管理学员的成绩信息，具体需求如下：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添加学生信息：根据提示录入学生姓名、语文、数学、英语成绩，录入完成保存到系统中。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修改学生信息：要求输入要修改的学生姓名，然后再提示输入语文、数学、英语成绩，输入完成后修改学员信息。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删除学生信息：要求输入要删除的学生姓名，根据姓名删除学生信息。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查询学生信息：要求输入要查询的学生姓名，根据姓名查询学生信息并输出。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列出所有学生：遍历所有学生信息并输出。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统计班级成绩：统计班级语文、数学、英语成绩的最高分、最低分、平均分，以及语文、数学、英语最高分和最低分的学员姓名。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退出系统。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D67ED8-2456-AC7C-6123-146EFAD78F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E1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DF3955B-CF34-AD72-D968-8F75115EEC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520"/>
          <a:stretch>
            <a:fillRect/>
          </a:stretch>
        </p:blipFill>
        <p:spPr>
          <a:xfrm>
            <a:off x="2633243" y="1494092"/>
            <a:ext cx="7805658" cy="3869815"/>
          </a:xfrm>
          <a:prstGeom prst="roundRect">
            <a:avLst>
              <a:gd name="adj" fmla="val 1510"/>
            </a:avLst>
          </a:prstGeom>
        </p:spPr>
      </p:pic>
    </p:spTree>
    <p:extLst>
      <p:ext uri="{BB962C8B-B14F-4D97-AF65-F5344CB8AC3E}">
        <p14:creationId xmlns:p14="http://schemas.microsoft.com/office/powerpoint/2010/main" val="274709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541AE-4E98-613A-A413-C9B1890D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14005</TotalTime>
  <Words>7646</Words>
  <Application>Microsoft Office PowerPoint</Application>
  <PresentationFormat>宽屏</PresentationFormat>
  <Paragraphs>809</Paragraphs>
  <Slides>69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69</vt:i4>
      </vt:variant>
    </vt:vector>
  </HeadingPairs>
  <TitlesOfParts>
    <vt:vector size="89" baseType="lpstr">
      <vt:lpstr>Alibaba PuHuiTi B</vt:lpstr>
      <vt:lpstr>阿里巴巴普惠体 Heavy</vt:lpstr>
      <vt:lpstr>阿里巴巴普惠体 Medium</vt:lpstr>
      <vt:lpstr>等线</vt:lpstr>
      <vt:lpstr>汉仪尚巍流云体简</vt:lpstr>
      <vt:lpstr>荆南波波黑</vt:lpstr>
      <vt:lpstr>楷体</vt:lpstr>
      <vt:lpstr>微软雅黑</vt:lpstr>
      <vt:lpstr>Arial</vt:lpstr>
      <vt:lpstr>Calisto MT</vt:lpstr>
      <vt:lpstr>Courier New</vt:lpstr>
      <vt:lpstr>Fira Code</vt:lpstr>
      <vt:lpstr>Lato Black</vt:lpstr>
      <vt:lpstr>Source Code Pro</vt:lpstr>
      <vt:lpstr>Source Code Pro Black</vt:lpstr>
      <vt:lpstr>Wingdings</vt:lpstr>
      <vt:lpstr>内容模板</vt:lpstr>
      <vt:lpstr>封面</vt:lpstr>
      <vt:lpstr>章节目录模板</vt:lpstr>
      <vt:lpstr>小结思考模板2</vt:lpstr>
      <vt:lpstr>Python核心语法</vt:lpstr>
      <vt:lpstr>Python核心语法</vt:lpstr>
      <vt:lpstr>Python核心语法</vt:lpstr>
      <vt:lpstr>PowerPoint 演示文稿</vt:lpstr>
      <vt:lpstr>PowerPoint 演示文稿</vt:lpstr>
      <vt:lpstr>数据容器</vt:lpstr>
      <vt:lpstr>PowerPoint 演示文稿</vt:lpstr>
      <vt:lpstr>PowerPoint 演示文稿</vt:lpstr>
      <vt:lpstr>列表-介绍</vt:lpstr>
      <vt:lpstr>PowerPoint 演示文稿</vt:lpstr>
      <vt:lpstr>列表-切片</vt:lpstr>
      <vt:lpstr>PowerPoint 演示文稿</vt:lpstr>
      <vt:lpstr>PowerPoint 演示文稿</vt:lpstr>
      <vt:lpstr>什么是方法?</vt:lpstr>
      <vt:lpstr>列表-常见方法</vt:lpstr>
      <vt:lpstr>PowerPoint 演示文稿</vt:lpstr>
      <vt:lpstr>完成如下需求</vt:lpstr>
      <vt:lpstr>PowerPoint 演示文稿</vt:lpstr>
      <vt:lpstr>完成如下需求</vt:lpstr>
      <vt:lpstr>PowerPoint 演示文稿</vt:lpstr>
      <vt:lpstr>完成如下需求</vt:lpstr>
      <vt:lpstr>PowerPoint 演示文稿</vt:lpstr>
      <vt:lpstr>完成如下需求</vt:lpstr>
      <vt:lpstr>PowerPoint 演示文稿</vt:lpstr>
      <vt:lpstr>PowerPoint 演示文稿</vt:lpstr>
      <vt:lpstr>字符串</vt:lpstr>
      <vt:lpstr>字符串-切片</vt:lpstr>
      <vt:lpstr>PowerPoint 演示文稿</vt:lpstr>
      <vt:lpstr>PowerPoint 演示文稿</vt:lpstr>
      <vt:lpstr>字符串-常用方法</vt:lpstr>
      <vt:lpstr>PowerPoint 演示文稿</vt:lpstr>
      <vt:lpstr>PowerPoint 演示文稿</vt:lpstr>
      <vt:lpstr>完成如下需求</vt:lpstr>
      <vt:lpstr>PowerPoint 演示文稿</vt:lpstr>
      <vt:lpstr>完成如下需求</vt:lpstr>
      <vt:lpstr>PowerPoint 演示文稿</vt:lpstr>
      <vt:lpstr>为什么要用元组？</vt:lpstr>
      <vt:lpstr>PowerPoint 演示文稿</vt:lpstr>
      <vt:lpstr>元组</vt:lpstr>
      <vt:lpstr>PowerPoint 演示文稿</vt:lpstr>
      <vt:lpstr>PowerPoint 演示文稿</vt:lpstr>
      <vt:lpstr>元组-组包与解包</vt:lpstr>
      <vt:lpstr>完成如下案例</vt:lpstr>
      <vt:lpstr>PowerPoint 演示文稿</vt:lpstr>
      <vt:lpstr>基于已学习的数据容器完成如下需求</vt:lpstr>
      <vt:lpstr>PowerPoint 演示文稿</vt:lpstr>
      <vt:lpstr>为什么要用集合?</vt:lpstr>
      <vt:lpstr>PowerPoint 演示文稿</vt:lpstr>
      <vt:lpstr>集合(set)</vt:lpstr>
      <vt:lpstr>集合(set)-常见操作</vt:lpstr>
      <vt:lpstr>PowerPoint 演示文稿</vt:lpstr>
      <vt:lpstr>PowerPoint 演示文稿</vt:lpstr>
      <vt:lpstr>完成如下需求</vt:lpstr>
      <vt:lpstr>PowerPoint 演示文稿</vt:lpstr>
      <vt:lpstr>PowerPoint 演示文稿</vt:lpstr>
      <vt:lpstr>什么是字典?</vt:lpstr>
      <vt:lpstr>为什么要使用字典呢？</vt:lpstr>
      <vt:lpstr>PowerPoint 演示文稿</vt:lpstr>
      <vt:lpstr>字典</vt:lpstr>
      <vt:lpstr>PowerPoint 演示文稿</vt:lpstr>
      <vt:lpstr>PowerPoint 演示文稿</vt:lpstr>
      <vt:lpstr>常用操作</vt:lpstr>
      <vt:lpstr>PowerPoint 演示文稿</vt:lpstr>
      <vt:lpstr>PowerPoint 演示文稿</vt:lpstr>
      <vt:lpstr>完成如下需求</vt:lpstr>
      <vt:lpstr>PowerPoint 演示文稿</vt:lpstr>
      <vt:lpstr>数据容器总结与对比</vt:lpstr>
      <vt:lpstr>基于现有知识开发一个教务管理系统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1580</cp:revision>
  <cp:lastPrinted>2022-05-29T16:00:00Z</cp:lastPrinted>
  <dcterms:created xsi:type="dcterms:W3CDTF">2022-05-29T16:00:00Z</dcterms:created>
  <dcterms:modified xsi:type="dcterms:W3CDTF">2026-01-15T08:28:03Z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