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68"/>
  </p:notesMasterIdLst>
  <p:handoutMasterIdLst>
    <p:handoutMasterId r:id="rId69"/>
  </p:handoutMasterIdLst>
  <p:sldIdLst>
    <p:sldId id="280" r:id="rId5"/>
    <p:sldId id="341" r:id="rId6"/>
    <p:sldId id="541" r:id="rId7"/>
    <p:sldId id="332" r:id="rId8"/>
    <p:sldId id="356" r:id="rId9"/>
    <p:sldId id="357" r:id="rId10"/>
    <p:sldId id="358" r:id="rId11"/>
    <p:sldId id="498" r:id="rId12"/>
    <p:sldId id="497" r:id="rId13"/>
    <p:sldId id="360" r:id="rId14"/>
    <p:sldId id="499" r:id="rId15"/>
    <p:sldId id="500" r:id="rId16"/>
    <p:sldId id="501" r:id="rId17"/>
    <p:sldId id="502" r:id="rId18"/>
    <p:sldId id="503" r:id="rId19"/>
    <p:sldId id="361" r:id="rId20"/>
    <p:sldId id="362" r:id="rId21"/>
    <p:sldId id="545" r:id="rId22"/>
    <p:sldId id="536" r:id="rId23"/>
    <p:sldId id="537" r:id="rId24"/>
    <p:sldId id="538" r:id="rId25"/>
    <p:sldId id="542" r:id="rId26"/>
    <p:sldId id="546" r:id="rId27"/>
    <p:sldId id="504" r:id="rId28"/>
    <p:sldId id="493" r:id="rId29"/>
    <p:sldId id="494" r:id="rId30"/>
    <p:sldId id="495" r:id="rId31"/>
    <p:sldId id="514" r:id="rId32"/>
    <p:sldId id="543" r:id="rId33"/>
    <p:sldId id="544" r:id="rId34"/>
    <p:sldId id="518" r:id="rId35"/>
    <p:sldId id="521" r:id="rId36"/>
    <p:sldId id="519" r:id="rId37"/>
    <p:sldId id="520" r:id="rId38"/>
    <p:sldId id="522" r:id="rId39"/>
    <p:sldId id="516" r:id="rId40"/>
    <p:sldId id="515" r:id="rId41"/>
    <p:sldId id="547" r:id="rId42"/>
    <p:sldId id="496" r:id="rId43"/>
    <p:sldId id="505" r:id="rId44"/>
    <p:sldId id="517" r:id="rId45"/>
    <p:sldId id="540" r:id="rId46"/>
    <p:sldId id="523" r:id="rId47"/>
    <p:sldId id="506" r:id="rId48"/>
    <p:sldId id="524" r:id="rId49"/>
    <p:sldId id="507" r:id="rId50"/>
    <p:sldId id="508" r:id="rId51"/>
    <p:sldId id="549" r:id="rId52"/>
    <p:sldId id="548" r:id="rId53"/>
    <p:sldId id="525" r:id="rId54"/>
    <p:sldId id="509" r:id="rId55"/>
    <p:sldId id="531" r:id="rId56"/>
    <p:sldId id="510" r:id="rId57"/>
    <p:sldId id="532" r:id="rId58"/>
    <p:sldId id="533" r:id="rId59"/>
    <p:sldId id="511" r:id="rId60"/>
    <p:sldId id="512" r:id="rId61"/>
    <p:sldId id="550" r:id="rId62"/>
    <p:sldId id="513" r:id="rId63"/>
    <p:sldId id="526" r:id="rId64"/>
    <p:sldId id="534" r:id="rId65"/>
    <p:sldId id="527" r:id="rId66"/>
    <p:sldId id="288" r:id="rId67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67D17"/>
    <a:srgbClr val="E5F7FD"/>
    <a:srgbClr val="8C8C8C"/>
    <a:srgbClr val="D5F4FF"/>
    <a:srgbClr val="000080"/>
    <a:srgbClr val="FFFFFF"/>
    <a:srgbClr val="C00000"/>
    <a:srgbClr val="AD2B2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8" autoAdjust="0"/>
    <p:restoredTop sz="96233" autoAdjust="0"/>
  </p:normalViewPr>
  <p:slideViewPr>
    <p:cSldViewPr snapToGrid="0" showGuides="1">
      <p:cViewPr varScale="1">
        <p:scale>
          <a:sx n="65" d="100"/>
          <a:sy n="65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F5794D4-FA2F-5D70-8C82-C77264384343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A6D718-B2F5-011A-6A8E-C77F8EB2F6BA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A4E47F-7AF1-471D-77F4-E0F4B87D856F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848053D3-BF1A-843E-ACC1-C4F1B93856DF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4508D8-A3A3-1D89-14A6-DE23CD7390D9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FF2EE05-CEF0-7E33-51A1-6B0DE4571879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CCE7E541-D9BB-B1BC-DB0A-1C54325CE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7257DE16-877D-4B2C-17E7-EFC442FDEB5E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24323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686F182-486D-AD5A-C17A-285EEECAB314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C989A5C-0847-F99A-4EC2-357164960CA5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A2720-5447-01A7-1012-EA306D120594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AB6814-505A-F055-61BF-7597DF909C50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D82B4AB2-EBEA-DEB1-BFCB-FA5476AEC2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0E729E-B709-9F89-82B6-3EF7948A3144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EDE311D-D316-CB83-15A8-67AD284BFB69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282EDF7-431D-EE04-67F8-405C5B296158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F5643EB-9BC4-46A9-0C3B-60E7A8ED5E1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A5364520-2746-8A8B-7E0D-A337E0BFFC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F7D29A8-D2E3-8380-AE42-953F7BCBECFE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AE127DF-6A86-1244-A06D-782065C66685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683EE4-9B02-F80E-8CBC-CEA4C8E3A0E7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F98E2A-A331-123A-9438-7C0E15F6260F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05FBF11-224F-BB09-A452-43802F4878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09CE27-0AC9-B230-0E7D-B8C5E3FF1211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9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3802-7092-3875-40EB-5FF57F7F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0D3F1-4E92-84EF-3797-8D22932751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6A95F-66CC-CB1F-4AF9-A334389A0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—— </a:t>
            </a:r>
            <a:r>
              <a:rPr lang="zh-CN" altLang="en-US"/>
              <a:t>数据存储与运算 </a:t>
            </a:r>
            <a:r>
              <a:rPr lang="en-US" altLang="zh-CN"/>
              <a:t>——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68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454DD9-FA07-016C-D6A3-B702DD5A1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  <a:endParaRPr lang="en-US" altLang="zh-CN"/>
          </a:p>
          <a:p>
            <a:r>
              <a:rPr lang="zh-CN" altLang="en-US"/>
              <a:t>常见数据类型</a:t>
            </a:r>
            <a:endParaRPr lang="en-US" altLang="zh-CN"/>
          </a:p>
          <a:p>
            <a:r>
              <a:rPr lang="zh-CN" altLang="en-US"/>
              <a:t>输入与输出</a:t>
            </a:r>
            <a:endParaRPr lang="en-US" altLang="zh-CN"/>
          </a:p>
          <a:p>
            <a:r>
              <a:rPr lang="zh-CN" altLang="en-US"/>
              <a:t>运算符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70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32A152-E8AD-3EB2-CF9A-A74D9D617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</a:t>
            </a:r>
            <a:endParaRPr lang="en-US" altLang="zh-CN"/>
          </a:p>
          <a:p>
            <a:r>
              <a:rPr lang="zh-CN" altLang="en-US"/>
              <a:t>变量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BE9A40-59B3-5CF9-93E1-477DF74D7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CECB68-C659-1BCC-F510-2791F5DA36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hape4">
            <a:extLst>
              <a:ext uri="{FF2B5EF4-FFF2-40B4-BE49-F238E27FC236}">
                <a16:creationId xmlns:a16="http://schemas.microsoft.com/office/drawing/2014/main" id="{E6E91F60-4448-0B23-0221-BA506777734B}"/>
              </a:ext>
            </a:extLst>
          </p:cNvPr>
          <p:cNvSpPr/>
          <p:nvPr/>
        </p:nvSpPr>
        <p:spPr>
          <a:xfrm>
            <a:off x="7892331" y="3086542"/>
            <a:ext cx="950727" cy="246966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怎么写？</a:t>
            </a:r>
          </a:p>
        </p:txBody>
      </p:sp>
      <p:sp>
        <p:nvSpPr>
          <p:cNvPr id="7" name="Shape4">
            <a:extLst>
              <a:ext uri="{FF2B5EF4-FFF2-40B4-BE49-F238E27FC236}">
                <a16:creationId xmlns:a16="http://schemas.microsoft.com/office/drawing/2014/main" id="{A8224415-2D57-850A-70E6-CC0D63A43FEF}"/>
              </a:ext>
            </a:extLst>
          </p:cNvPr>
          <p:cNvSpPr/>
          <p:nvPr/>
        </p:nvSpPr>
        <p:spPr>
          <a:xfrm>
            <a:off x="7892331" y="3591970"/>
            <a:ext cx="950727" cy="246966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怎么存？</a:t>
            </a:r>
          </a:p>
        </p:txBody>
      </p:sp>
    </p:spTree>
    <p:extLst>
      <p:ext uri="{BB962C8B-B14F-4D97-AF65-F5344CB8AC3E}">
        <p14:creationId xmlns:p14="http://schemas.microsoft.com/office/powerpoint/2010/main" val="238580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7E4F-135D-96BF-0937-1D4C279E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270636B-466A-68ED-62BE-72DD33F62560}"/>
              </a:ext>
            </a:extLst>
          </p:cNvPr>
          <p:cNvSpPr/>
          <p:nvPr/>
        </p:nvSpPr>
        <p:spPr>
          <a:xfrm>
            <a:off x="8040415" y="0"/>
            <a:ext cx="4151586" cy="6858000"/>
          </a:xfrm>
          <a:prstGeom prst="rect">
            <a:avLst/>
          </a:prstGeom>
          <a:solidFill>
            <a:srgbClr val="1B1E1D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6CF4A2-C0DC-C0AE-8939-0A4231D3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字面量：指程序中，直接书写的固定值（数据），就称为字面量。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FE4882-082D-9DD2-2FFA-C6B68E12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字面量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25FA6BF-42C8-3A65-0C90-08E650C5D78B}"/>
              </a:ext>
            </a:extLst>
          </p:cNvPr>
          <p:cNvSpPr/>
          <p:nvPr/>
        </p:nvSpPr>
        <p:spPr>
          <a:xfrm>
            <a:off x="2024292" y="2141682"/>
            <a:ext cx="1790963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B528C3C-3304-AADE-7EE9-A3FDDE324A58}"/>
              </a:ext>
            </a:extLst>
          </p:cNvPr>
          <p:cNvSpPr/>
          <p:nvPr/>
        </p:nvSpPr>
        <p:spPr>
          <a:xfrm>
            <a:off x="1900273" y="5198142"/>
            <a:ext cx="1790963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3.1415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98F6F9-EAE1-6385-1D55-54954879C6ED}"/>
              </a:ext>
            </a:extLst>
          </p:cNvPr>
          <p:cNvSpPr/>
          <p:nvPr/>
        </p:nvSpPr>
        <p:spPr>
          <a:xfrm>
            <a:off x="934950" y="3669912"/>
            <a:ext cx="1790963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8.5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FEB9AFB-10B9-32B7-AC0D-0D37952975FA}"/>
              </a:ext>
            </a:extLst>
          </p:cNvPr>
          <p:cNvSpPr/>
          <p:nvPr/>
        </p:nvSpPr>
        <p:spPr>
          <a:xfrm>
            <a:off x="3592200" y="4034857"/>
            <a:ext cx="1790963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-5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4E83E94-B8B9-537C-D6DC-AD25842E4443}"/>
              </a:ext>
            </a:extLst>
          </p:cNvPr>
          <p:cNvSpPr/>
          <p:nvPr/>
        </p:nvSpPr>
        <p:spPr>
          <a:xfrm>
            <a:off x="4675002" y="2677625"/>
            <a:ext cx="1790963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"Python"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D31E0DB-097C-2651-F503-AD2C71761379}"/>
              </a:ext>
            </a:extLst>
          </p:cNvPr>
          <p:cNvSpPr/>
          <p:nvPr/>
        </p:nvSpPr>
        <p:spPr>
          <a:xfrm>
            <a:off x="5387604" y="5198141"/>
            <a:ext cx="2009578" cy="47441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"Hello World"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D6F881-8CB2-C88F-5071-A731E4FD6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" t="804" r="19358"/>
          <a:stretch>
            <a:fillRect/>
          </a:stretch>
        </p:blipFill>
        <p:spPr>
          <a:xfrm>
            <a:off x="8361057" y="2413913"/>
            <a:ext cx="3510302" cy="2030174"/>
          </a:xfrm>
          <a:prstGeom prst="roundRect">
            <a:avLst>
              <a:gd name="adj" fmla="val 2378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4818F7D-4249-9101-64B8-366F11E21FA4}"/>
              </a:ext>
            </a:extLst>
          </p:cNvPr>
          <p:cNvCxnSpPr/>
          <p:nvPr/>
        </p:nvCxnSpPr>
        <p:spPr>
          <a:xfrm>
            <a:off x="9364717" y="3638081"/>
            <a:ext cx="100899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8BCBE8-854F-F90E-EDC0-53D093273A77}"/>
              </a:ext>
            </a:extLst>
          </p:cNvPr>
          <p:cNvCxnSpPr/>
          <p:nvPr/>
        </p:nvCxnSpPr>
        <p:spPr>
          <a:xfrm>
            <a:off x="9340542" y="3330127"/>
            <a:ext cx="100899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4">
            <a:extLst>
              <a:ext uri="{FF2B5EF4-FFF2-40B4-BE49-F238E27FC236}">
                <a16:creationId xmlns:a16="http://schemas.microsoft.com/office/drawing/2014/main" id="{BDEA2F98-E555-5873-DB15-F6C9E1F54751}"/>
              </a:ext>
            </a:extLst>
          </p:cNvPr>
          <p:cNvSpPr/>
          <p:nvPr/>
        </p:nvSpPr>
        <p:spPr>
          <a:xfrm>
            <a:off x="1630267" y="6114461"/>
            <a:ext cx="1642654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  字面量的种类</a:t>
            </a:r>
          </a:p>
        </p:txBody>
      </p:sp>
      <p:sp>
        <p:nvSpPr>
          <p:cNvPr id="17" name="Shape4">
            <a:extLst>
              <a:ext uri="{FF2B5EF4-FFF2-40B4-BE49-F238E27FC236}">
                <a16:creationId xmlns:a16="http://schemas.microsoft.com/office/drawing/2014/main" id="{107F7343-C125-6C7A-034F-9756A2F48D68}"/>
              </a:ext>
            </a:extLst>
          </p:cNvPr>
          <p:cNvSpPr/>
          <p:nvPr/>
        </p:nvSpPr>
        <p:spPr>
          <a:xfrm>
            <a:off x="4143290" y="6114461"/>
            <a:ext cx="1642653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字面量的书写格式</a:t>
            </a:r>
          </a:p>
        </p:txBody>
      </p:sp>
    </p:spTree>
    <p:extLst>
      <p:ext uri="{BB962C8B-B14F-4D97-AF65-F5344CB8AC3E}">
        <p14:creationId xmlns:p14="http://schemas.microsoft.com/office/powerpoint/2010/main" val="255008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D812A-0BA4-0D73-D99E-C3AF9019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DC8FA6-8F87-1AFA-3247-CC93915D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字面量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47A6DB6-A0FD-9747-DBEE-085E0A733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43500"/>
              </p:ext>
            </p:extLst>
          </p:nvPr>
        </p:nvGraphicFramePr>
        <p:xfrm>
          <a:off x="699403" y="1205237"/>
          <a:ext cx="10519339" cy="4041851"/>
        </p:xfrm>
        <a:graphic>
          <a:graphicData uri="http://schemas.openxmlformats.org/drawingml/2006/table">
            <a:tbl>
              <a:tblPr/>
              <a:tblGrid>
                <a:gridCol w="2183259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3335258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5000822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85851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字面量类型及书写格式</a:t>
                      </a:r>
                      <a:endParaRPr kumimoji="1" lang="en-US" altLang="zh-CN" sz="18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39151575"/>
                  </a:ext>
                </a:extLst>
              </a:tr>
              <a:tr h="576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数字类型</a:t>
                      </a:r>
                      <a:endParaRPr lang="zh-CN" altLang="en-US" sz="1200" b="1" dirty="0">
                        <a:solidFill>
                          <a:srgbClr val="00B0F0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整数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(int)</a:t>
                      </a:r>
                      <a:endParaRPr lang="zh-CN" alt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zh-CN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18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-5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737508"/>
                  </a:ext>
                </a:extLst>
              </a:tr>
              <a:tr h="57600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78495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浮点数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/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小数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(float)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8.5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3.14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1.0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-3.5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7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布尔</a:t>
                      </a:r>
                      <a:r>
                        <a:rPr lang="en-US" altLang="zh-CN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(bool)</a:t>
                      </a:r>
                      <a:endParaRPr lang="zh-CN" altLang="en-US" sz="1200" b="1" dirty="0">
                        <a:solidFill>
                          <a:srgbClr val="00B0F0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表达现实生活中的逻辑，真或假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False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7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字符串</a:t>
                      </a:r>
                      <a:r>
                        <a:rPr lang="en-US" altLang="zh-CN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(str)</a:t>
                      </a:r>
                      <a:endParaRPr lang="zh-CN" altLang="en-US" sz="1200" b="1" dirty="0">
                        <a:solidFill>
                          <a:srgbClr val="00B0F0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描述文本的一种数据类型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"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人生苦短，我用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Python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"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7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lvl="0" indent="0" algn="ctr" fontAlgn="auto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空值</a:t>
                      </a:r>
                      <a:r>
                        <a:rPr lang="en-US" altLang="zh-CN" sz="1200" b="1">
                          <a:solidFill>
                            <a:srgbClr val="00B0F0"/>
                          </a:solidFill>
                          <a:effectLst/>
                          <a:latin typeface="+mn-lt"/>
                        </a:rPr>
                        <a:t>(NoneType)</a:t>
                      </a:r>
                      <a:endParaRPr lang="zh-CN" altLang="en-US" sz="1200" b="1" dirty="0">
                        <a:solidFill>
                          <a:srgbClr val="00B0F0"/>
                        </a:solidFill>
                        <a:effectLst/>
                        <a:latin typeface="+mn-lt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表示空或无值，仅包含一个值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None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None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lvl="0" indent="0" algn="ctr" defTabSz="914400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kern="1200">
                          <a:solidFill>
                            <a:srgbClr val="00B0F0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数据容器</a:t>
                      </a:r>
                      <a:endParaRPr lang="zh-CN" altLang="en-US" sz="1200" b="1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存储多项数据的容器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列表</a:t>
                      </a:r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元组</a:t>
                      </a:r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集合</a:t>
                      </a:r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字典 （后面详细讲解）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2671545E-7330-8D79-AA59-74113CD51EBF}"/>
              </a:ext>
            </a:extLst>
          </p:cNvPr>
          <p:cNvGrpSpPr/>
          <p:nvPr/>
        </p:nvGrpSpPr>
        <p:grpSpPr>
          <a:xfrm>
            <a:off x="727241" y="6173266"/>
            <a:ext cx="10463662" cy="348335"/>
            <a:chOff x="4685665" y="1834757"/>
            <a:chExt cx="10535544" cy="348335"/>
          </a:xfrm>
        </p:grpSpPr>
        <p:sp>
          <p:nvSpPr>
            <p:cNvPr id="8" name="ComponentBackground2">
              <a:extLst>
                <a:ext uri="{FF2B5EF4-FFF2-40B4-BE49-F238E27FC236}">
                  <a16:creationId xmlns:a16="http://schemas.microsoft.com/office/drawing/2014/main" id="{846B18E4-676B-1F63-B175-277DB3C50382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布尔类型本质就是数字类型，在涉及到数学运算时，会自动将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True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转为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1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False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转为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0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。</a:t>
              </a:r>
              <a:endParaRPr kumimoji="1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Shape2">
              <a:extLst>
                <a:ext uri="{FF2B5EF4-FFF2-40B4-BE49-F238E27FC236}">
                  <a16:creationId xmlns:a16="http://schemas.microsoft.com/office/drawing/2014/main" id="{04E5E509-9DB1-22A9-F2F1-81BEF1BC21D3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21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DFE9BB-7715-C406-4691-99FA48AD54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6970" y="1750864"/>
            <a:ext cx="8021082" cy="290311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什么是字面量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</a:pPr>
            <a:r>
              <a:rPr lang="zh-CN" altLang="en-US" sz="1400"/>
              <a:t>程序中，直接书写的固定值（数据）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各类型字面量的书写形式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</a:pPr>
            <a:r>
              <a:rPr lang="zh-CN" altLang="en-US" sz="1400"/>
              <a:t>整数</a:t>
            </a:r>
            <a:r>
              <a:rPr lang="en-US" altLang="zh-CN" sz="1400"/>
              <a:t>(int)/</a:t>
            </a:r>
            <a:r>
              <a:rPr lang="zh-CN" altLang="en-US" sz="1400"/>
              <a:t>小数</a:t>
            </a:r>
            <a:r>
              <a:rPr lang="en-US" altLang="zh-CN" sz="1400"/>
              <a:t>(float)</a:t>
            </a:r>
            <a:r>
              <a:rPr lang="zh-CN" altLang="en-US" sz="1400"/>
              <a:t>：直接写，如 </a:t>
            </a:r>
            <a:r>
              <a:rPr lang="en-US" altLang="zh-CN" sz="1400">
                <a:solidFill>
                  <a:srgbClr val="00B050"/>
                </a:solidFill>
              </a:rPr>
              <a:t>10  3.14</a:t>
            </a:r>
          </a:p>
          <a:p>
            <a:pPr marL="645750" lvl="1" indent="-285750">
              <a:lnSpc>
                <a:spcPct val="150000"/>
              </a:lnSpc>
            </a:pPr>
            <a:r>
              <a:rPr lang="zh-CN" altLang="en-US" sz="1400"/>
              <a:t>字符串</a:t>
            </a:r>
            <a:r>
              <a:rPr lang="en-US" altLang="zh-CN" sz="1400"/>
              <a:t>(str)</a:t>
            </a:r>
            <a:r>
              <a:rPr lang="zh-CN" altLang="en-US" sz="1400"/>
              <a:t>：双引号</a:t>
            </a:r>
            <a:r>
              <a:rPr lang="en-US" altLang="zh-CN" sz="1400"/>
              <a:t>(</a:t>
            </a:r>
            <a:r>
              <a:rPr lang="en-US" altLang="zh-CN" sz="1400">
                <a:solidFill>
                  <a:srgbClr val="00B050"/>
                </a:solidFill>
              </a:rPr>
              <a:t>"</a:t>
            </a:r>
            <a:r>
              <a:rPr lang="zh-CN" altLang="en-US" sz="1400">
                <a:solidFill>
                  <a:srgbClr val="00B050"/>
                </a:solidFill>
              </a:rPr>
              <a:t>人生苦短</a:t>
            </a:r>
            <a:r>
              <a:rPr lang="en-US" altLang="zh-CN" sz="1400">
                <a:solidFill>
                  <a:srgbClr val="00B050"/>
                </a:solidFill>
              </a:rPr>
              <a:t>, </a:t>
            </a:r>
            <a:r>
              <a:rPr lang="zh-CN" altLang="en-US" sz="1400">
                <a:solidFill>
                  <a:srgbClr val="00B050"/>
                </a:solidFill>
              </a:rPr>
              <a:t>我用</a:t>
            </a:r>
            <a:r>
              <a:rPr lang="en-US" altLang="zh-CN" sz="1400">
                <a:solidFill>
                  <a:srgbClr val="00B050"/>
                </a:solidFill>
              </a:rPr>
              <a:t>Python"</a:t>
            </a:r>
            <a:r>
              <a:rPr lang="en-US" altLang="zh-CN" sz="1400"/>
              <a:t>)</a:t>
            </a:r>
          </a:p>
          <a:p>
            <a:pPr marL="645750" lvl="1" indent="-285750">
              <a:lnSpc>
                <a:spcPct val="150000"/>
              </a:lnSpc>
            </a:pPr>
            <a:r>
              <a:rPr lang="zh-CN" altLang="en-US" sz="1400"/>
              <a:t>布尔</a:t>
            </a:r>
            <a:r>
              <a:rPr lang="en-US" altLang="zh-CN" sz="1400"/>
              <a:t>(bool)</a:t>
            </a:r>
            <a:r>
              <a:rPr lang="zh-CN" altLang="en-US" sz="1400"/>
              <a:t>：</a:t>
            </a:r>
            <a:r>
              <a:rPr lang="en-US" altLang="zh-CN" sz="1400">
                <a:solidFill>
                  <a:srgbClr val="00B050"/>
                </a:solidFill>
              </a:rPr>
              <a:t>True</a:t>
            </a:r>
            <a:r>
              <a:rPr lang="zh-CN" altLang="en-US" sz="1400"/>
              <a:t>、</a:t>
            </a:r>
            <a:r>
              <a:rPr lang="en-US" altLang="zh-CN" sz="1400">
                <a:solidFill>
                  <a:srgbClr val="00B050"/>
                </a:solidFill>
              </a:rPr>
              <a:t>False</a:t>
            </a:r>
          </a:p>
          <a:p>
            <a:pPr marL="645750" lvl="1" indent="-285750">
              <a:lnSpc>
                <a:spcPct val="150000"/>
              </a:lnSpc>
            </a:pPr>
            <a:r>
              <a:rPr lang="zh-CN" altLang="en-US" sz="1400"/>
              <a:t>空值</a:t>
            </a:r>
            <a:r>
              <a:rPr lang="en-US" altLang="zh-CN" sz="1400"/>
              <a:t>(NoneType)</a:t>
            </a:r>
            <a:r>
              <a:rPr lang="zh-CN" altLang="en-US" sz="1400"/>
              <a:t>：</a:t>
            </a:r>
            <a:r>
              <a:rPr lang="en-US" altLang="zh-CN" sz="1400">
                <a:solidFill>
                  <a:srgbClr val="00B050"/>
                </a:solidFill>
              </a:rPr>
              <a:t>None</a:t>
            </a:r>
            <a:endParaRPr lang="zh-CN" altLang="en-US" sz="1400">
              <a:solidFill>
                <a:srgbClr val="00B050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420267E-EE5B-B5F0-DA64-7A14F66C91E5}"/>
              </a:ext>
            </a:extLst>
          </p:cNvPr>
          <p:cNvSpPr/>
          <p:nvPr/>
        </p:nvSpPr>
        <p:spPr>
          <a:xfrm>
            <a:off x="4430553" y="4876530"/>
            <a:ext cx="1250302" cy="494522"/>
          </a:xfrm>
          <a:prstGeom prst="round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"10010"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80177EC-C1EF-493B-AB70-789ADF990C0A}"/>
              </a:ext>
            </a:extLst>
          </p:cNvPr>
          <p:cNvSpPr/>
          <p:nvPr/>
        </p:nvSpPr>
        <p:spPr>
          <a:xfrm>
            <a:off x="4430553" y="5509929"/>
            <a:ext cx="1250302" cy="494522"/>
          </a:xfrm>
          <a:prstGeom prst="round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"True"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7C05C5-3E68-6B2D-9CA7-05C440871104}"/>
              </a:ext>
            </a:extLst>
          </p:cNvPr>
          <p:cNvSpPr/>
          <p:nvPr/>
        </p:nvSpPr>
        <p:spPr>
          <a:xfrm>
            <a:off x="5989224" y="5509929"/>
            <a:ext cx="1250302" cy="494522"/>
          </a:xfrm>
          <a:prstGeom prst="round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True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474C16-13FF-DBFB-DD1F-634CE3458222}"/>
              </a:ext>
            </a:extLst>
          </p:cNvPr>
          <p:cNvSpPr/>
          <p:nvPr/>
        </p:nvSpPr>
        <p:spPr>
          <a:xfrm>
            <a:off x="5989224" y="4873825"/>
            <a:ext cx="1250302" cy="494522"/>
          </a:xfrm>
          <a:prstGeom prst="roundRect">
            <a:avLst/>
          </a:prstGeom>
          <a:solidFill>
            <a:srgbClr val="00B0F0">
              <a:alpha val="10196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10010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5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0CA1-B271-67AD-77DD-EE4CE0B3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5EC9C1-88F2-EBCB-2EF6-F8B27114B5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7CDD07-5955-8EB4-669B-B202ADB0EC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86101F-C381-D18D-FC8C-E1AF457473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Shape4">
            <a:extLst>
              <a:ext uri="{FF2B5EF4-FFF2-40B4-BE49-F238E27FC236}">
                <a16:creationId xmlns:a16="http://schemas.microsoft.com/office/drawing/2014/main" id="{C1751C3D-B2CD-67CC-6ABE-F9CE471CBA40}"/>
              </a:ext>
            </a:extLst>
          </p:cNvPr>
          <p:cNvSpPr/>
          <p:nvPr/>
        </p:nvSpPr>
        <p:spPr>
          <a:xfrm>
            <a:off x="7892331" y="3086542"/>
            <a:ext cx="950727" cy="246966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怎么写？</a:t>
            </a:r>
          </a:p>
        </p:txBody>
      </p:sp>
      <p:sp>
        <p:nvSpPr>
          <p:cNvPr id="7" name="Shape4">
            <a:extLst>
              <a:ext uri="{FF2B5EF4-FFF2-40B4-BE49-F238E27FC236}">
                <a16:creationId xmlns:a16="http://schemas.microsoft.com/office/drawing/2014/main" id="{4078A7AD-07B2-919B-B021-0EEC8A520F95}"/>
              </a:ext>
            </a:extLst>
          </p:cNvPr>
          <p:cNvSpPr/>
          <p:nvPr/>
        </p:nvSpPr>
        <p:spPr>
          <a:xfrm>
            <a:off x="7892331" y="3591970"/>
            <a:ext cx="950727" cy="246966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怎么存？</a:t>
            </a:r>
          </a:p>
        </p:txBody>
      </p:sp>
    </p:spTree>
    <p:extLst>
      <p:ext uri="{BB962C8B-B14F-4D97-AF65-F5344CB8AC3E}">
        <p14:creationId xmlns:p14="http://schemas.microsoft.com/office/powerpoint/2010/main" val="301647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7BDE7-7346-A0BC-1A71-55BCE454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06A18-D53F-994D-B09D-53344D87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3C495CA-88AA-78A3-E455-F9327463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什么是变量</a:t>
            </a:r>
          </a:p>
        </p:txBody>
      </p:sp>
      <p:pic>
        <p:nvPicPr>
          <p:cNvPr id="9" name="!!图片 8">
            <a:extLst>
              <a:ext uri="{FF2B5EF4-FFF2-40B4-BE49-F238E27FC236}">
                <a16:creationId xmlns:a16="http://schemas.microsoft.com/office/drawing/2014/main" id="{6EB2CA98-D8FC-3663-F369-59314BAB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1" y="1437116"/>
            <a:ext cx="7251540" cy="5104756"/>
          </a:xfrm>
          <a:prstGeom prst="roundRect">
            <a:avLst>
              <a:gd name="adj" fmla="val 160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10" name="!!矩形: 圆角 9">
            <a:extLst>
              <a:ext uri="{FF2B5EF4-FFF2-40B4-BE49-F238E27FC236}">
                <a16:creationId xmlns:a16="http://schemas.microsoft.com/office/drawing/2014/main" id="{E2675BB9-3A8B-9376-90C3-E7462390F72E}"/>
              </a:ext>
            </a:extLst>
          </p:cNvPr>
          <p:cNvSpPr/>
          <p:nvPr/>
        </p:nvSpPr>
        <p:spPr>
          <a:xfrm>
            <a:off x="1357313" y="2125369"/>
            <a:ext cx="530225" cy="20233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5468AD-52D5-DD7B-A8EE-99AE13677D43}"/>
              </a:ext>
            </a:extLst>
          </p:cNvPr>
          <p:cNvSpPr/>
          <p:nvPr/>
        </p:nvSpPr>
        <p:spPr>
          <a:xfrm>
            <a:off x="1912939" y="2125368"/>
            <a:ext cx="455612" cy="20233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E6D73CB-4AED-8999-04F5-3A90A78DDFD7}"/>
              </a:ext>
            </a:extLst>
          </p:cNvPr>
          <p:cNvSpPr/>
          <p:nvPr/>
        </p:nvSpPr>
        <p:spPr>
          <a:xfrm>
            <a:off x="1394619" y="5894728"/>
            <a:ext cx="256381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F9F442C-DA50-DCB2-296F-3AF2316FE574}"/>
              </a:ext>
            </a:extLst>
          </p:cNvPr>
          <p:cNvSpPr/>
          <p:nvPr/>
        </p:nvSpPr>
        <p:spPr>
          <a:xfrm>
            <a:off x="2257030" y="5894728"/>
            <a:ext cx="232569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50E90B2-80C7-A055-25CC-86C8E97A5E3F}"/>
              </a:ext>
            </a:extLst>
          </p:cNvPr>
          <p:cNvSpPr/>
          <p:nvPr/>
        </p:nvSpPr>
        <p:spPr>
          <a:xfrm>
            <a:off x="1650205" y="6290015"/>
            <a:ext cx="273844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A26FA93-8AC9-6194-80A5-3970B1A6F2B2}"/>
              </a:ext>
            </a:extLst>
          </p:cNvPr>
          <p:cNvSpPr/>
          <p:nvPr/>
        </p:nvSpPr>
        <p:spPr>
          <a:xfrm>
            <a:off x="2377279" y="6290014"/>
            <a:ext cx="273844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05C0F3D-88D9-979C-4D9D-21F340F1D455}"/>
              </a:ext>
            </a:extLst>
          </p:cNvPr>
          <p:cNvSpPr/>
          <p:nvPr/>
        </p:nvSpPr>
        <p:spPr>
          <a:xfrm>
            <a:off x="3099589" y="6290013"/>
            <a:ext cx="273844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2311E8F-FD94-2D59-563D-0C52289128C4}"/>
              </a:ext>
            </a:extLst>
          </p:cNvPr>
          <p:cNvSpPr/>
          <p:nvPr/>
        </p:nvSpPr>
        <p:spPr>
          <a:xfrm>
            <a:off x="3798086" y="6290013"/>
            <a:ext cx="273844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45F546D-42B2-A62A-2DCD-0D2256AA3341}"/>
              </a:ext>
            </a:extLst>
          </p:cNvPr>
          <p:cNvSpPr/>
          <p:nvPr/>
        </p:nvSpPr>
        <p:spPr>
          <a:xfrm>
            <a:off x="7399806" y="6290013"/>
            <a:ext cx="443714" cy="170093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55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5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6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EEC3-8070-72CF-FB56-A240A45D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4A7BF-A379-9D7E-CF29-29D858CA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D0C741-F06A-E9D6-CA1D-E6EAFC02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什么是变量</a:t>
            </a:r>
          </a:p>
        </p:txBody>
      </p:sp>
      <p:pic>
        <p:nvPicPr>
          <p:cNvPr id="9" name="!!图片 8">
            <a:extLst>
              <a:ext uri="{FF2B5EF4-FFF2-40B4-BE49-F238E27FC236}">
                <a16:creationId xmlns:a16="http://schemas.microsoft.com/office/drawing/2014/main" id="{28F8FFEA-C9DA-3DC6-E52C-A140D1B3E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8954" b="55898"/>
          <a:stretch>
            <a:fillRect/>
          </a:stretch>
        </p:blipFill>
        <p:spPr>
          <a:xfrm>
            <a:off x="960967" y="1503728"/>
            <a:ext cx="4464877" cy="4464642"/>
          </a:xfrm>
          <a:prstGeom prst="roundRect">
            <a:avLst>
              <a:gd name="adj" fmla="val 160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4" name="!!矩形: 圆角 9">
            <a:extLst>
              <a:ext uri="{FF2B5EF4-FFF2-40B4-BE49-F238E27FC236}">
                <a16:creationId xmlns:a16="http://schemas.microsoft.com/office/drawing/2014/main" id="{5357F6FA-1A19-8F27-8C8C-AEF61B44C65B}"/>
              </a:ext>
            </a:extLst>
          </p:cNvPr>
          <p:cNvSpPr/>
          <p:nvPr/>
        </p:nvSpPr>
        <p:spPr>
          <a:xfrm>
            <a:off x="1789799" y="2928558"/>
            <a:ext cx="1015184" cy="29037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矩形: 圆角 9">
            <a:extLst>
              <a:ext uri="{FF2B5EF4-FFF2-40B4-BE49-F238E27FC236}">
                <a16:creationId xmlns:a16="http://schemas.microsoft.com/office/drawing/2014/main" id="{F619461C-5B72-DBF7-6B67-462F573152F8}"/>
              </a:ext>
            </a:extLst>
          </p:cNvPr>
          <p:cNvSpPr/>
          <p:nvPr/>
        </p:nvSpPr>
        <p:spPr>
          <a:xfrm>
            <a:off x="6931810" y="2788738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1AF699-6213-03EA-25F8-3CA5D9207BA4}"/>
              </a:ext>
            </a:extLst>
          </p:cNvPr>
          <p:cNvSpPr txBox="1"/>
          <p:nvPr/>
        </p:nvSpPr>
        <p:spPr>
          <a:xfrm>
            <a:off x="2028727" y="321893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44864A-0778-8C67-BDD3-473E2DA1EF06}"/>
              </a:ext>
            </a:extLst>
          </p:cNvPr>
          <p:cNvSpPr txBox="1"/>
          <p:nvPr/>
        </p:nvSpPr>
        <p:spPr>
          <a:xfrm>
            <a:off x="7600275" y="2316044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A8C734-5889-84EC-86B7-3C1A17CD58A6}"/>
              </a:ext>
            </a:extLst>
          </p:cNvPr>
          <p:cNvSpPr txBox="1"/>
          <p:nvPr/>
        </p:nvSpPr>
        <p:spPr>
          <a:xfrm>
            <a:off x="7030338" y="2766681"/>
            <a:ext cx="1677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1114.</a:t>
            </a:r>
            <a:endParaRPr lang="zh-CN" altLang="en-US" sz="32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C841AB-3A0E-DC84-318E-C2C628840A3E}"/>
              </a:ext>
            </a:extLst>
          </p:cNvPr>
          <p:cNvSpPr txBox="1"/>
          <p:nvPr/>
        </p:nvSpPr>
        <p:spPr>
          <a:xfrm>
            <a:off x="8211206" y="2766681"/>
            <a:ext cx="3681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1234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C395443-4606-A6F8-4DC1-EA9E53C56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223" y="3393610"/>
            <a:ext cx="1606633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41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9108-3BA7-649F-C92C-1F75BDAC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0E989-E97B-844B-A295-1A129869C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CC94F8F-93B8-5633-FA90-D80A53D7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什么是变量</a:t>
            </a:r>
          </a:p>
        </p:txBody>
      </p:sp>
      <p:pic>
        <p:nvPicPr>
          <p:cNvPr id="9" name="!!图片 8">
            <a:extLst>
              <a:ext uri="{FF2B5EF4-FFF2-40B4-BE49-F238E27FC236}">
                <a16:creationId xmlns:a16="http://schemas.microsoft.com/office/drawing/2014/main" id="{3DCF667D-FB4B-1A06-FF3E-C57637EA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8954" b="55898"/>
          <a:stretch>
            <a:fillRect/>
          </a:stretch>
        </p:blipFill>
        <p:spPr>
          <a:xfrm>
            <a:off x="960967" y="1503728"/>
            <a:ext cx="4464877" cy="4464642"/>
          </a:xfrm>
          <a:prstGeom prst="roundRect">
            <a:avLst>
              <a:gd name="adj" fmla="val 160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4" name="!!矩形: 圆角 9">
            <a:extLst>
              <a:ext uri="{FF2B5EF4-FFF2-40B4-BE49-F238E27FC236}">
                <a16:creationId xmlns:a16="http://schemas.microsoft.com/office/drawing/2014/main" id="{03102CE9-DD47-5163-8BB5-0456E6FE30ED}"/>
              </a:ext>
            </a:extLst>
          </p:cNvPr>
          <p:cNvSpPr/>
          <p:nvPr/>
        </p:nvSpPr>
        <p:spPr>
          <a:xfrm>
            <a:off x="1789799" y="2928558"/>
            <a:ext cx="1015184" cy="29037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矩形: 圆角 9">
            <a:extLst>
              <a:ext uri="{FF2B5EF4-FFF2-40B4-BE49-F238E27FC236}">
                <a16:creationId xmlns:a16="http://schemas.microsoft.com/office/drawing/2014/main" id="{E1C67FE6-4957-D31F-291A-49C67BDA6DEB}"/>
              </a:ext>
            </a:extLst>
          </p:cNvPr>
          <p:cNvSpPr/>
          <p:nvPr/>
        </p:nvSpPr>
        <p:spPr>
          <a:xfrm>
            <a:off x="6931810" y="2788738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26D8D8-BD98-7A11-16D7-EB23087E6480}"/>
              </a:ext>
            </a:extLst>
          </p:cNvPr>
          <p:cNvSpPr txBox="1"/>
          <p:nvPr/>
        </p:nvSpPr>
        <p:spPr>
          <a:xfrm>
            <a:off x="2028727" y="321893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98DF5F9-2060-8300-3F43-52A149E195F8}"/>
              </a:ext>
            </a:extLst>
          </p:cNvPr>
          <p:cNvSpPr txBox="1"/>
          <p:nvPr/>
        </p:nvSpPr>
        <p:spPr>
          <a:xfrm>
            <a:off x="7600275" y="2316044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D8AFF2-9439-6C19-2BB9-B0990A9FEBA2}"/>
              </a:ext>
            </a:extLst>
          </p:cNvPr>
          <p:cNvSpPr txBox="1"/>
          <p:nvPr/>
        </p:nvSpPr>
        <p:spPr>
          <a:xfrm>
            <a:off x="7030338" y="2766681"/>
            <a:ext cx="1677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1114.</a:t>
            </a:r>
            <a:endParaRPr lang="zh-CN" altLang="en-US" sz="32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9D55E5-9725-4675-E6F4-92E310A08C3A}"/>
              </a:ext>
            </a:extLst>
          </p:cNvPr>
          <p:cNvSpPr txBox="1"/>
          <p:nvPr/>
        </p:nvSpPr>
        <p:spPr>
          <a:xfrm>
            <a:off x="8236130" y="2289540"/>
            <a:ext cx="3681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1234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35127E2-2B57-BE07-A669-F9743EC7D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1" y="3405953"/>
            <a:ext cx="1606633" cy="14351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ADC690-11DE-F303-8352-39332662D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2" y="1364975"/>
            <a:ext cx="1606633" cy="135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1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95BE-6610-7767-533F-06FCA0BE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7E2E0-C5DA-9979-9274-9B83AB66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8082DEF-B8E6-9216-1C2D-4BD2E7D0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什么是变量</a:t>
            </a:r>
          </a:p>
        </p:txBody>
      </p:sp>
      <p:pic>
        <p:nvPicPr>
          <p:cNvPr id="9" name="!!图片 8">
            <a:extLst>
              <a:ext uri="{FF2B5EF4-FFF2-40B4-BE49-F238E27FC236}">
                <a16:creationId xmlns:a16="http://schemas.microsoft.com/office/drawing/2014/main" id="{28D9C78C-100E-21F9-A525-7C17FBCA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8954" b="55898"/>
          <a:stretch>
            <a:fillRect/>
          </a:stretch>
        </p:blipFill>
        <p:spPr>
          <a:xfrm>
            <a:off x="960967" y="1503728"/>
            <a:ext cx="4464877" cy="4464642"/>
          </a:xfrm>
          <a:prstGeom prst="roundRect">
            <a:avLst>
              <a:gd name="adj" fmla="val 160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4" name="!!矩形: 圆角 9">
            <a:extLst>
              <a:ext uri="{FF2B5EF4-FFF2-40B4-BE49-F238E27FC236}">
                <a16:creationId xmlns:a16="http://schemas.microsoft.com/office/drawing/2014/main" id="{29F06609-ABF3-6953-7B04-E084FF787773}"/>
              </a:ext>
            </a:extLst>
          </p:cNvPr>
          <p:cNvSpPr/>
          <p:nvPr/>
        </p:nvSpPr>
        <p:spPr>
          <a:xfrm>
            <a:off x="1789799" y="2928558"/>
            <a:ext cx="1015184" cy="29037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矩形: 圆角 9">
            <a:extLst>
              <a:ext uri="{FF2B5EF4-FFF2-40B4-BE49-F238E27FC236}">
                <a16:creationId xmlns:a16="http://schemas.microsoft.com/office/drawing/2014/main" id="{1025DA45-A6B1-F89D-DC1D-4502955D0E50}"/>
              </a:ext>
            </a:extLst>
          </p:cNvPr>
          <p:cNvSpPr/>
          <p:nvPr/>
        </p:nvSpPr>
        <p:spPr>
          <a:xfrm>
            <a:off x="6931810" y="2788738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8D0544-ACB3-1FF2-D5A1-219B0963EF66}"/>
              </a:ext>
            </a:extLst>
          </p:cNvPr>
          <p:cNvSpPr txBox="1"/>
          <p:nvPr/>
        </p:nvSpPr>
        <p:spPr>
          <a:xfrm>
            <a:off x="2028727" y="321893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4DFD0D-85D4-3CC3-0A28-7CFAF17A6EA3}"/>
              </a:ext>
            </a:extLst>
          </p:cNvPr>
          <p:cNvSpPr txBox="1"/>
          <p:nvPr/>
        </p:nvSpPr>
        <p:spPr>
          <a:xfrm>
            <a:off x="7600275" y="2316044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F3E8D9-2E4B-D373-A8D1-38C334D5E7D5}"/>
              </a:ext>
            </a:extLst>
          </p:cNvPr>
          <p:cNvSpPr txBox="1"/>
          <p:nvPr/>
        </p:nvSpPr>
        <p:spPr>
          <a:xfrm>
            <a:off x="7030338" y="2766681"/>
            <a:ext cx="1677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1114.</a:t>
            </a:r>
            <a:endParaRPr lang="zh-CN" altLang="en-US" sz="32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20AA97-AE39-F813-6199-A1A9401D3EF9}"/>
              </a:ext>
            </a:extLst>
          </p:cNvPr>
          <p:cNvSpPr txBox="1"/>
          <p:nvPr/>
        </p:nvSpPr>
        <p:spPr>
          <a:xfrm>
            <a:off x="8236130" y="1799209"/>
            <a:ext cx="3681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1234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A44BC47-134E-148A-282F-B6E9F1E3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1" y="3405953"/>
            <a:ext cx="1606633" cy="14351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E536EE-BAB9-02AB-47E3-1C912534E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2" y="1364975"/>
            <a:ext cx="1606633" cy="135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64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0540C-225C-F68A-B8E1-75A53AB4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BF6D0D-BBE7-A3B4-D48D-8DF128BD7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2BF9BC-3D7E-76EC-DDD3-75BE8C51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什么是变量</a:t>
            </a:r>
          </a:p>
        </p:txBody>
      </p:sp>
      <p:pic>
        <p:nvPicPr>
          <p:cNvPr id="9" name="!!图片 8">
            <a:extLst>
              <a:ext uri="{FF2B5EF4-FFF2-40B4-BE49-F238E27FC236}">
                <a16:creationId xmlns:a16="http://schemas.microsoft.com/office/drawing/2014/main" id="{E87789A7-2D71-FEDD-CD33-F2B53BC2A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68954" b="55898"/>
          <a:stretch>
            <a:fillRect/>
          </a:stretch>
        </p:blipFill>
        <p:spPr>
          <a:xfrm>
            <a:off x="960967" y="1503728"/>
            <a:ext cx="4464877" cy="4464642"/>
          </a:xfrm>
          <a:prstGeom prst="roundRect">
            <a:avLst>
              <a:gd name="adj" fmla="val 160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4" name="!!矩形: 圆角 9">
            <a:extLst>
              <a:ext uri="{FF2B5EF4-FFF2-40B4-BE49-F238E27FC236}">
                <a16:creationId xmlns:a16="http://schemas.microsoft.com/office/drawing/2014/main" id="{584E9AF4-5423-3D6B-D158-1CD44F6FFB5F}"/>
              </a:ext>
            </a:extLst>
          </p:cNvPr>
          <p:cNvSpPr/>
          <p:nvPr/>
        </p:nvSpPr>
        <p:spPr>
          <a:xfrm>
            <a:off x="1789799" y="2928558"/>
            <a:ext cx="1015184" cy="29037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!!矩形: 圆角 9">
            <a:extLst>
              <a:ext uri="{FF2B5EF4-FFF2-40B4-BE49-F238E27FC236}">
                <a16:creationId xmlns:a16="http://schemas.microsoft.com/office/drawing/2014/main" id="{E30E8882-BBC6-204C-BCBF-3A02FEC1F6C3}"/>
              </a:ext>
            </a:extLst>
          </p:cNvPr>
          <p:cNvSpPr/>
          <p:nvPr/>
        </p:nvSpPr>
        <p:spPr>
          <a:xfrm>
            <a:off x="6931810" y="2788738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3AF0C4-52D4-01A6-2CD4-68E9E6C4C694}"/>
              </a:ext>
            </a:extLst>
          </p:cNvPr>
          <p:cNvSpPr txBox="1"/>
          <p:nvPr/>
        </p:nvSpPr>
        <p:spPr>
          <a:xfrm>
            <a:off x="2028727" y="3218935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25B453-B42C-B058-AB8E-C0D195DC9D7E}"/>
              </a:ext>
            </a:extLst>
          </p:cNvPr>
          <p:cNvSpPr txBox="1"/>
          <p:nvPr/>
        </p:nvSpPr>
        <p:spPr>
          <a:xfrm>
            <a:off x="7600275" y="2316044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ADC113-E614-2570-492C-7BD236790CCD}"/>
              </a:ext>
            </a:extLst>
          </p:cNvPr>
          <p:cNvSpPr txBox="1"/>
          <p:nvPr/>
        </p:nvSpPr>
        <p:spPr>
          <a:xfrm>
            <a:off x="7030338" y="2766681"/>
            <a:ext cx="1677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1114.</a:t>
            </a:r>
            <a:endParaRPr lang="zh-CN" altLang="en-US" sz="320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14B7B3-9713-9D48-E91F-B47DF1C6D184}"/>
              </a:ext>
            </a:extLst>
          </p:cNvPr>
          <p:cNvSpPr txBox="1"/>
          <p:nvPr/>
        </p:nvSpPr>
        <p:spPr>
          <a:xfrm>
            <a:off x="8236130" y="1295629"/>
            <a:ext cx="3681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1234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CB3834-A63E-D00C-9E85-6AC8126B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602" y="1364975"/>
            <a:ext cx="1606633" cy="1358154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BBBC5A1A-6788-240C-F8CD-C7C0DA34C5AC}"/>
              </a:ext>
            </a:extLst>
          </p:cNvPr>
          <p:cNvGrpSpPr/>
          <p:nvPr/>
        </p:nvGrpSpPr>
        <p:grpSpPr>
          <a:xfrm>
            <a:off x="960967" y="6258747"/>
            <a:ext cx="10463662" cy="348335"/>
            <a:chOff x="4685665" y="1834757"/>
            <a:chExt cx="10535544" cy="348335"/>
          </a:xfrm>
        </p:grpSpPr>
        <p:sp>
          <p:nvSpPr>
            <p:cNvPr id="13" name="ComponentBackground2">
              <a:extLst>
                <a:ext uri="{FF2B5EF4-FFF2-40B4-BE49-F238E27FC236}">
                  <a16:creationId xmlns:a16="http://schemas.microsoft.com/office/drawing/2014/main" id="{6B640438-AFC0-C3FF-B6E5-924361C75E2A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变量是指存储数据的容器（空间），而不是容器里面存储的数据 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Shape2">
              <a:extLst>
                <a:ext uri="{FF2B5EF4-FFF2-40B4-BE49-F238E27FC236}">
                  <a16:creationId xmlns:a16="http://schemas.microsoft.com/office/drawing/2014/main" id="{9BFC036A-62D2-2695-B983-E0C214C45A91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705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0139-42B7-E403-F5DE-4157C12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4EAC2-F6B9-FE91-E4C0-F42A5ED4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97673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变量：程序中用来存储单个数据的容器，通常会把经常发生变化的数据存储在变量中。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定义格式：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D1B038-1250-3FED-4815-8D7F1030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变量的定义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E8BDAB9-E8FE-481D-71B3-8E8AD83D9F7A}"/>
              </a:ext>
            </a:extLst>
          </p:cNvPr>
          <p:cNvSpPr/>
          <p:nvPr/>
        </p:nvSpPr>
        <p:spPr>
          <a:xfrm>
            <a:off x="1974468" y="1444607"/>
            <a:ext cx="1850965" cy="443393"/>
          </a:xfrm>
          <a:prstGeom prst="roundRect">
            <a:avLst>
              <a:gd name="adj" fmla="val 11904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变量名 </a:t>
            </a: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= </a:t>
            </a: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变量的值</a:t>
            </a:r>
            <a:endParaRPr lang="en-US" altLang="zh-CN" sz="1400" b="1">
              <a:solidFill>
                <a:srgbClr val="080808"/>
              </a:solidFill>
              <a:latin typeface="Fira Code" panose="020B0809050000020004" pitchFamily="49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40754F2-03EE-863E-4BC9-EA135B3312B3}"/>
              </a:ext>
            </a:extLst>
          </p:cNvPr>
          <p:cNvCxnSpPr/>
          <p:nvPr/>
        </p:nvCxnSpPr>
        <p:spPr>
          <a:xfrm>
            <a:off x="2129742" y="1794076"/>
            <a:ext cx="0" cy="1684116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3E0D724-1AC0-38E6-1108-C7FDBB4B9909}"/>
              </a:ext>
            </a:extLst>
          </p:cNvPr>
          <p:cNvCxnSpPr>
            <a:cxnSpLocks/>
          </p:cNvCxnSpPr>
          <p:nvPr/>
        </p:nvCxnSpPr>
        <p:spPr>
          <a:xfrm>
            <a:off x="2768277" y="1744884"/>
            <a:ext cx="0" cy="1247172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6A4EDD-299B-FC30-A7CA-63BD7916E74A}"/>
              </a:ext>
            </a:extLst>
          </p:cNvPr>
          <p:cNvCxnSpPr>
            <a:cxnSpLocks/>
          </p:cNvCxnSpPr>
          <p:nvPr/>
        </p:nvCxnSpPr>
        <p:spPr>
          <a:xfrm>
            <a:off x="3372090" y="1794076"/>
            <a:ext cx="0" cy="711843"/>
          </a:xfrm>
          <a:prstGeom prst="straightConnector1">
            <a:avLst/>
          </a:prstGeom>
          <a:ln w="952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DBE1CE7-BEFE-9D77-CA62-C4F3641318E5}"/>
              </a:ext>
            </a:extLst>
          </p:cNvPr>
          <p:cNvSpPr txBox="1"/>
          <p:nvPr/>
        </p:nvSpPr>
        <p:spPr>
          <a:xfrm>
            <a:off x="3210828" y="2505919"/>
            <a:ext cx="3348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变量值：每一个变量都有自己存储的值（数据）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E079338-C91B-C0CE-D752-70D53503E615}"/>
              </a:ext>
            </a:extLst>
          </p:cNvPr>
          <p:cNvSpPr txBox="1"/>
          <p:nvPr/>
        </p:nvSpPr>
        <p:spPr>
          <a:xfrm>
            <a:off x="2600950" y="3015334"/>
            <a:ext cx="3198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赋值：表示将等号右侧的值，赋予左侧的变量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D9E5D93-D244-A7F6-F89B-35688C542B9B}"/>
              </a:ext>
            </a:extLst>
          </p:cNvPr>
          <p:cNvSpPr txBox="1"/>
          <p:nvPr/>
        </p:nvSpPr>
        <p:spPr>
          <a:xfrm>
            <a:off x="1974468" y="3524749"/>
            <a:ext cx="2480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变量名：每一个容器</a:t>
            </a:r>
            <a:r>
              <a:rPr lang="en-US" altLang="zh-CN" sz="1200"/>
              <a:t>(</a:t>
            </a:r>
            <a:r>
              <a:rPr lang="zh-CN" altLang="en-US" sz="1200"/>
              <a:t>空间</a:t>
            </a:r>
            <a:r>
              <a:rPr lang="en-US" altLang="zh-CN" sz="1200"/>
              <a:t>)</a:t>
            </a:r>
            <a:r>
              <a:rPr lang="zh-CN" altLang="en-US" sz="1200"/>
              <a:t>的名字</a:t>
            </a:r>
          </a:p>
        </p:txBody>
      </p:sp>
      <p:sp>
        <p:nvSpPr>
          <p:cNvPr id="35" name="!!矩形: 圆角 9">
            <a:extLst>
              <a:ext uri="{FF2B5EF4-FFF2-40B4-BE49-F238E27FC236}">
                <a16:creationId xmlns:a16="http://schemas.microsoft.com/office/drawing/2014/main" id="{7935D920-E002-31CE-388B-C757A77C890C}"/>
              </a:ext>
            </a:extLst>
          </p:cNvPr>
          <p:cNvSpPr/>
          <p:nvPr/>
        </p:nvSpPr>
        <p:spPr>
          <a:xfrm>
            <a:off x="7440240" y="2145163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FC488AC-26BA-C192-5093-25AF28F9E816}"/>
              </a:ext>
            </a:extLst>
          </p:cNvPr>
          <p:cNvSpPr txBox="1"/>
          <p:nvPr/>
        </p:nvSpPr>
        <p:spPr>
          <a:xfrm>
            <a:off x="7538768" y="2123106"/>
            <a:ext cx="1677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chemeClr val="tx1">
                    <a:lumMod val="50000"/>
                  </a:schemeClr>
                </a:solidFill>
              </a:rPr>
              <a:t>1114.1</a:t>
            </a:r>
            <a:endParaRPr lang="zh-CN" altLang="en-US" sz="3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4A29C18-C491-8938-D5F5-B7728E9BEE90}"/>
              </a:ext>
            </a:extLst>
          </p:cNvPr>
          <p:cNvSpPr/>
          <p:nvPr/>
        </p:nvSpPr>
        <p:spPr>
          <a:xfrm>
            <a:off x="4098979" y="1444607"/>
            <a:ext cx="1850965" cy="443393"/>
          </a:xfrm>
          <a:prstGeom prst="roundRect">
            <a:avLst>
              <a:gd name="adj" fmla="val 11904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num</a:t>
            </a: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= 1114.1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6932F1-D861-92AE-0A01-76898C82CAA1}"/>
              </a:ext>
            </a:extLst>
          </p:cNvPr>
          <p:cNvSpPr txBox="1"/>
          <p:nvPr/>
        </p:nvSpPr>
        <p:spPr>
          <a:xfrm>
            <a:off x="7984896" y="1613489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>
                <a:solidFill>
                  <a:schemeClr val="tx1">
                    <a:lumMod val="50000"/>
                  </a:schemeClr>
                </a:solidFill>
              </a:rPr>
              <a:t>num</a:t>
            </a: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D0CB9188-0A30-B5E9-D6AB-B71DFCE528AA}"/>
              </a:ext>
            </a:extLst>
          </p:cNvPr>
          <p:cNvGrpSpPr/>
          <p:nvPr/>
        </p:nvGrpSpPr>
        <p:grpSpPr>
          <a:xfrm>
            <a:off x="727240" y="6318308"/>
            <a:ext cx="10834531" cy="348335"/>
            <a:chOff x="4685665" y="1834757"/>
            <a:chExt cx="10535544" cy="348335"/>
          </a:xfrm>
        </p:grpSpPr>
        <p:sp>
          <p:nvSpPr>
            <p:cNvPr id="46" name="ComponentBackground2">
              <a:extLst>
                <a:ext uri="{FF2B5EF4-FFF2-40B4-BE49-F238E27FC236}">
                  <a16:creationId xmlns:a16="http://schemas.microsoft.com/office/drawing/2014/main" id="{370FA561-8295-5A31-F181-51FF2AD5BDA4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说明：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是动态类型语言，在程序运行时才进行类型检查，变量的类型可以在程序运行过程中改变（一个变量可以接收不同类型的值） </a:t>
              </a:r>
              <a:r>
                <a:rPr kumimoji="1" lang="zh-CN" altLang="en-US" sz="1200" kern="0">
                  <a:solidFill>
                    <a:srgbClr val="000000"/>
                  </a:solidFill>
                  <a:latin typeface="Arial"/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47" name="Shape2">
              <a:extLst>
                <a:ext uri="{FF2B5EF4-FFF2-40B4-BE49-F238E27FC236}">
                  <a16:creationId xmlns:a16="http://schemas.microsoft.com/office/drawing/2014/main" id="{CBFF230C-C5E5-FF64-C8E1-F67A376AF13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292993E-7417-7CEA-8AB3-AE22172701F1}"/>
              </a:ext>
            </a:extLst>
          </p:cNvPr>
          <p:cNvSpPr/>
          <p:nvPr/>
        </p:nvSpPr>
        <p:spPr>
          <a:xfrm>
            <a:off x="4098978" y="1943691"/>
            <a:ext cx="1850965" cy="443393"/>
          </a:xfrm>
          <a:prstGeom prst="roundRect">
            <a:avLst>
              <a:gd name="adj" fmla="val 11904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num</a:t>
            </a: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= 1114.2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2C74C6-40CC-174E-209A-942C3D4CDD84}"/>
              </a:ext>
            </a:extLst>
          </p:cNvPr>
          <p:cNvSpPr txBox="1"/>
          <p:nvPr/>
        </p:nvSpPr>
        <p:spPr>
          <a:xfrm>
            <a:off x="8778082" y="2177323"/>
            <a:ext cx="289430" cy="492443"/>
          </a:xfrm>
          <a:prstGeom prst="rect">
            <a:avLst/>
          </a:prstGeom>
          <a:solidFill>
            <a:srgbClr val="E5F7FD"/>
          </a:solidFill>
        </p:spPr>
        <p:txBody>
          <a:bodyPr wrap="square" tIns="0" bIns="0" rtlCol="0">
            <a:spAutoFit/>
          </a:bodyPr>
          <a:lstStyle/>
          <a:p>
            <a:r>
              <a:rPr lang="en-US" altLang="zh-CN" sz="320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3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09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/>
      <p:bldP spid="33" grpId="0"/>
      <p:bldP spid="34" grpId="0"/>
      <p:bldP spid="35" grpId="0" animBg="1"/>
      <p:bldP spid="36" grpId="0"/>
      <p:bldP spid="37" grpId="0" animBg="1"/>
      <p:bldP spid="38" grpId="0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E1F39-BEBB-C827-5A51-14EAAFA0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8D795-E18D-7C20-3E01-4503B282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</a:t>
            </a:r>
            <a:r>
              <a:rPr lang="zh-CN" altLang="en-US"/>
              <a:t>站课程播放量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12688-6694-8843-F7A0-9738F0349F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课程基础播放量为：</a:t>
            </a:r>
            <a:r>
              <a:rPr lang="en-US" altLang="zh-CN"/>
              <a:t>20.7 </a:t>
            </a:r>
            <a:r>
              <a:rPr lang="zh-CN" altLang="en-US"/>
              <a:t>万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每月新增播放量为：</a:t>
            </a:r>
            <a:r>
              <a:rPr lang="en-US" altLang="zh-CN"/>
              <a:t>50 </a:t>
            </a:r>
            <a:r>
              <a:rPr lang="zh-CN" altLang="en-US"/>
              <a:t>万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请输出未来两个月每个月的播放总量？</a:t>
            </a:r>
          </a:p>
        </p:txBody>
      </p:sp>
      <p:pic>
        <p:nvPicPr>
          <p:cNvPr id="4" name="!!图片 8">
            <a:extLst>
              <a:ext uri="{FF2B5EF4-FFF2-40B4-BE49-F238E27FC236}">
                <a16:creationId xmlns:a16="http://schemas.microsoft.com/office/drawing/2014/main" id="{DD1CBEAD-E904-075A-54B6-8BD3ED2D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31" b="74059"/>
          <a:stretch>
            <a:fillRect/>
          </a:stretch>
        </p:blipFill>
        <p:spPr>
          <a:xfrm>
            <a:off x="6142247" y="1024930"/>
            <a:ext cx="5651730" cy="2020967"/>
          </a:xfrm>
          <a:prstGeom prst="roundRect">
            <a:avLst>
              <a:gd name="adj" fmla="val 3553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5" name="!!矩形: 圆角 9">
            <a:extLst>
              <a:ext uri="{FF2B5EF4-FFF2-40B4-BE49-F238E27FC236}">
                <a16:creationId xmlns:a16="http://schemas.microsoft.com/office/drawing/2014/main" id="{840A2F84-9787-62F9-62CD-E5F9D6302E2C}"/>
              </a:ext>
            </a:extLst>
          </p:cNvPr>
          <p:cNvSpPr/>
          <p:nvPr/>
        </p:nvSpPr>
        <p:spPr>
          <a:xfrm>
            <a:off x="6771703" y="2080158"/>
            <a:ext cx="808357" cy="290377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1C28FE-DC1C-456C-7BBD-C31C44BB7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" y="1024932"/>
            <a:ext cx="1597090" cy="15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4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8B13-7DBE-97D9-395C-B9414EAA2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48D60C-3A87-2148-CB4E-8C2AE5CF11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9592" y="1113490"/>
            <a:ext cx="7170081" cy="503506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什么是变量</a:t>
            </a:r>
            <a:r>
              <a:rPr lang="en-US" altLang="zh-CN"/>
              <a:t>? </a:t>
            </a:r>
            <a:r>
              <a:rPr lang="zh-CN" altLang="en-US"/>
              <a:t>如何定义</a:t>
            </a:r>
            <a:r>
              <a:rPr lang="en-US" altLang="zh-CN"/>
              <a:t>?</a:t>
            </a:r>
          </a:p>
          <a:p>
            <a:pPr marL="645750" lvl="1" indent="-285750">
              <a:lnSpc>
                <a:spcPct val="150000"/>
              </a:lnSpc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程序中用来存储单个数据的容器（</a:t>
            </a:r>
            <a:r>
              <a:rPr lang="zh-CN" altLang="en-US" sz="1400">
                <a:solidFill>
                  <a:srgbClr val="363C3B"/>
                </a:solidFill>
              </a:rPr>
              <a:t>经常会发生改变的数据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）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； 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num = 10</a:t>
            </a:r>
            <a:endParaRPr lang="en-US" altLang="zh-CN" sz="20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变量的使用</a:t>
            </a:r>
            <a:r>
              <a:rPr lang="en-US" altLang="zh-CN"/>
              <a:t>?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输出打印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 / 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参与计算 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/ 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记录数据</a:t>
            </a:r>
            <a:endParaRPr lang="en-US" altLang="zh-CN" sz="20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注意事项</a:t>
            </a:r>
            <a:r>
              <a:rPr lang="en-US" altLang="zh-CN"/>
              <a:t>?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一个变量只能存储一个值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变量定义的时候必须赋值才可以使用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一条语句可以定义多个变量，也可以连续赋值 （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a,b = 1,"Python"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）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54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33548F2-F7F6-167C-CE2A-2EBFE7ED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503" y="2150861"/>
            <a:ext cx="5620039" cy="2438525"/>
          </a:xfrm>
          <a:prstGeom prst="roundRect">
            <a:avLst>
              <a:gd name="adj" fmla="val 2570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B0394F3-A267-BB76-7915-90975CB706B5}"/>
              </a:ext>
            </a:extLst>
          </p:cNvPr>
          <p:cNvSpPr/>
          <p:nvPr/>
        </p:nvSpPr>
        <p:spPr>
          <a:xfrm>
            <a:off x="4138503" y="2150861"/>
            <a:ext cx="344120" cy="317331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DF6685F-5050-634D-830E-F6B2E064FB46}"/>
              </a:ext>
            </a:extLst>
          </p:cNvPr>
          <p:cNvSpPr/>
          <p:nvPr/>
        </p:nvSpPr>
        <p:spPr>
          <a:xfrm>
            <a:off x="4138503" y="3994557"/>
            <a:ext cx="192865" cy="317331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文本框 7">
            <a:extLst>
              <a:ext uri="{FF2B5EF4-FFF2-40B4-BE49-F238E27FC236}">
                <a16:creationId xmlns:a16="http://schemas.microsoft.com/office/drawing/2014/main" id="{ACFFE1EF-CDFC-0B12-ED87-0C8A9DB7F978}"/>
              </a:ext>
            </a:extLst>
          </p:cNvPr>
          <p:cNvSpPr txBox="1"/>
          <p:nvPr/>
        </p:nvSpPr>
        <p:spPr>
          <a:xfrm>
            <a:off x="9989189" y="31215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标识符</a:t>
            </a:r>
          </a:p>
        </p:txBody>
      </p:sp>
    </p:spTree>
    <p:extLst>
      <p:ext uri="{BB962C8B-B14F-4D97-AF65-F5344CB8AC3E}">
        <p14:creationId xmlns:p14="http://schemas.microsoft.com/office/powerpoint/2010/main" val="177316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279D7A-4A51-CFFC-BC16-5CF7C60E9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0"/>
            <a:ext cx="11060481" cy="264927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标识符</a:t>
            </a:r>
            <a:r>
              <a:rPr lang="zh-CN" altLang="en-US"/>
              <a:t> 是程序员在代码中为变量、函数、类等元素所起的</a:t>
            </a:r>
            <a:r>
              <a:rPr lang="zh-CN" altLang="en-US" b="1"/>
              <a:t>名字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命名规则（规定）</a:t>
            </a:r>
            <a:r>
              <a:rPr lang="en-US" altLang="zh-CN"/>
              <a:t>:</a:t>
            </a: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只能包含字母（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a-z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A-Z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）、数字（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0-9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）、下划线（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_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）</a:t>
            </a:r>
            <a:endParaRPr kumimoji="1" lang="en-US" altLang="zh-CN" sz="1400" kern="0">
              <a:solidFill>
                <a:schemeClr val="tx1">
                  <a:lumMod val="50000"/>
                </a:schemeClr>
              </a:solidFill>
              <a:ea typeface="微软雅黑"/>
            </a:endParaRP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不能以数字开头</a:t>
            </a:r>
            <a:endParaRPr kumimoji="1" lang="en-US" altLang="zh-CN" sz="1400" kern="0">
              <a:solidFill>
                <a:schemeClr val="tx1">
                  <a:lumMod val="50000"/>
                </a:schemeClr>
              </a:solidFill>
              <a:ea typeface="微软雅黑"/>
            </a:endParaRP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不能使用关键字：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True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False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None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and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or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if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else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elif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for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while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等</a:t>
            </a:r>
            <a:endParaRPr kumimoji="1" lang="en-US" altLang="zh-CN" sz="1400" kern="0">
              <a:solidFill>
                <a:schemeClr val="tx1">
                  <a:lumMod val="50000"/>
                </a:schemeClr>
              </a:solidFill>
              <a:ea typeface="微软雅黑"/>
            </a:endParaRPr>
          </a:p>
          <a:p>
            <a:pPr marL="612000" lvl="1" indent="-34290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严格区分大小写，比如：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是三个变量</a:t>
            </a:r>
            <a:endParaRPr lang="zh-CN" altLang="en-US" sz="1400"/>
          </a:p>
        </p:txBody>
      </p:sp>
      <p:sp>
        <p:nvSpPr>
          <p:cNvPr id="3" name="!!文本框 7">
            <a:extLst>
              <a:ext uri="{FF2B5EF4-FFF2-40B4-BE49-F238E27FC236}">
                <a16:creationId xmlns:a16="http://schemas.microsoft.com/office/drawing/2014/main" id="{378A210C-83B2-F9E3-2F76-F3F6078F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139961" cy="474415"/>
          </a:xfrm>
        </p:spPr>
        <p:txBody>
          <a:bodyPr/>
          <a:lstStyle/>
          <a:p>
            <a:r>
              <a:rPr lang="zh-CN" altLang="en-US"/>
              <a:t>标识符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8B23E9E-B2D6-7B92-C09D-98CA6F53C96E}"/>
              </a:ext>
            </a:extLst>
          </p:cNvPr>
          <p:cNvSpPr/>
          <p:nvPr/>
        </p:nvSpPr>
        <p:spPr>
          <a:xfrm>
            <a:off x="7067329" y="956240"/>
            <a:ext cx="1850965" cy="443393"/>
          </a:xfrm>
          <a:prstGeom prst="roundRect">
            <a:avLst>
              <a:gd name="adj" fmla="val 11904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/>
          <a:lstStyle/>
          <a:p>
            <a:pPr>
              <a:lnSpc>
                <a:spcPct val="150000"/>
              </a:lnSpc>
              <a:buNone/>
            </a:pP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变量名 </a:t>
            </a:r>
            <a:r>
              <a:rPr lang="en-US" altLang="zh-CN" sz="1400" b="1">
                <a:solidFill>
                  <a:srgbClr val="080808"/>
                </a:solidFill>
                <a:latin typeface="Fira Code" panose="020B0809050000020004" pitchFamily="49" charset="0"/>
              </a:rPr>
              <a:t>= </a:t>
            </a:r>
            <a:r>
              <a:rPr lang="zh-CN" altLang="en-US" sz="1400" b="1">
                <a:solidFill>
                  <a:srgbClr val="080808"/>
                </a:solidFill>
                <a:latin typeface="Fira Code" panose="020B0809050000020004" pitchFamily="49" charset="0"/>
              </a:rPr>
              <a:t>变量的值</a:t>
            </a:r>
            <a:endParaRPr lang="en-US" altLang="zh-CN" sz="1400" b="1">
              <a:solidFill>
                <a:srgbClr val="080808"/>
              </a:solidFill>
              <a:latin typeface="Fira Code" panose="020B08090500000200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1302571-4ECD-6432-11BC-06DD14474234}"/>
              </a:ext>
            </a:extLst>
          </p:cNvPr>
          <p:cNvSpPr/>
          <p:nvPr/>
        </p:nvSpPr>
        <p:spPr>
          <a:xfrm>
            <a:off x="1014664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6969422-43E7-1257-575A-93B779BA43E7}"/>
              </a:ext>
            </a:extLst>
          </p:cNvPr>
          <p:cNvSpPr/>
          <p:nvPr/>
        </p:nvSpPr>
        <p:spPr>
          <a:xfrm>
            <a:off x="4051672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_name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B7223E-14F5-4B10-CCFF-035545EF04C7}"/>
              </a:ext>
            </a:extLst>
          </p:cNvPr>
          <p:cNvSpPr/>
          <p:nvPr/>
        </p:nvSpPr>
        <p:spPr>
          <a:xfrm>
            <a:off x="1014664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and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5ED56F7-D0B1-D52E-FCF3-A8CBBCE1BC67}"/>
              </a:ext>
            </a:extLst>
          </p:cNvPr>
          <p:cNvSpPr/>
          <p:nvPr/>
        </p:nvSpPr>
        <p:spPr>
          <a:xfrm>
            <a:off x="2533168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or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7C58B7-F4DA-4C15-055D-E4839E11A8A9}"/>
              </a:ext>
            </a:extLst>
          </p:cNvPr>
          <p:cNvSpPr/>
          <p:nvPr/>
        </p:nvSpPr>
        <p:spPr>
          <a:xfrm>
            <a:off x="4051672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true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0100C8-5752-F22A-286E-A614DB33FA4A}"/>
              </a:ext>
            </a:extLst>
          </p:cNvPr>
          <p:cNvSpPr/>
          <p:nvPr/>
        </p:nvSpPr>
        <p:spPr>
          <a:xfrm>
            <a:off x="5570176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__name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1792937-0CAB-4E26-2CD0-A9399AC56C7D}"/>
              </a:ext>
            </a:extLst>
          </p:cNvPr>
          <p:cNvSpPr/>
          <p:nvPr/>
        </p:nvSpPr>
        <p:spPr>
          <a:xfrm>
            <a:off x="2533168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30823B2-32EB-3D9F-D222-BA53BCD796D0}"/>
              </a:ext>
            </a:extLst>
          </p:cNvPr>
          <p:cNvSpPr/>
          <p:nvPr/>
        </p:nvSpPr>
        <p:spPr>
          <a:xfrm>
            <a:off x="5570176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False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E215EC1-EBB4-4308-1C99-71A1711510E9}"/>
              </a:ext>
            </a:extLst>
          </p:cNvPr>
          <p:cNvSpPr/>
          <p:nvPr/>
        </p:nvSpPr>
        <p:spPr>
          <a:xfrm>
            <a:off x="7088680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6name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E8E0D00-1B17-0550-41C1-5453A5ED0E15}"/>
              </a:ext>
            </a:extLst>
          </p:cNvPr>
          <p:cNvSpPr/>
          <p:nvPr/>
        </p:nvSpPr>
        <p:spPr>
          <a:xfrm>
            <a:off x="7088680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na_me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C9B16B5-D76C-4FC7-43D5-3C2C66EBF4A1}"/>
              </a:ext>
            </a:extLst>
          </p:cNvPr>
          <p:cNvSpPr/>
          <p:nvPr/>
        </p:nvSpPr>
        <p:spPr>
          <a:xfrm>
            <a:off x="10125686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2E70B9-B0EC-0BE7-6C79-28C8D0F70562}"/>
              </a:ext>
            </a:extLst>
          </p:cNvPr>
          <p:cNvSpPr/>
          <p:nvPr/>
        </p:nvSpPr>
        <p:spPr>
          <a:xfrm>
            <a:off x="8607183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name_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0A93D2-C802-1A95-A04D-42406217A79A}"/>
              </a:ext>
            </a:extLst>
          </p:cNvPr>
          <p:cNvSpPr/>
          <p:nvPr/>
        </p:nvSpPr>
        <p:spPr>
          <a:xfrm>
            <a:off x="10125686" y="4242241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na$me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58E34E8-2B39-5613-27F9-5A7A9C616E34}"/>
              </a:ext>
            </a:extLst>
          </p:cNvPr>
          <p:cNvSpPr/>
          <p:nvPr/>
        </p:nvSpPr>
        <p:spPr>
          <a:xfrm>
            <a:off x="8607182" y="5131633"/>
            <a:ext cx="1001210" cy="422476"/>
          </a:xfrm>
          <a:prstGeom prst="roundRect">
            <a:avLst/>
          </a:prstGeom>
          <a:solidFill>
            <a:schemeClr val="bg1">
              <a:alpha val="2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name6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662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7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31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1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4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5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1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7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73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0357-5FF8-D2AB-8C9D-8EF5FAF1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0468FA-A899-2B6B-4970-6600D1404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0"/>
            <a:ext cx="11060481" cy="203920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命名规范（变量）</a:t>
            </a:r>
            <a:r>
              <a:rPr lang="en-US" altLang="zh-CN"/>
              <a:t>:</a:t>
            </a:r>
          </a:p>
          <a:p>
            <a:pPr marL="612000" lvl="1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见名知意</a:t>
            </a:r>
            <a:endParaRPr kumimoji="1" lang="en-US" altLang="zh-CN" sz="1400" kern="0">
              <a:solidFill>
                <a:schemeClr val="tx1">
                  <a:lumMod val="50000"/>
                </a:schemeClr>
              </a:solidFill>
              <a:ea typeface="微软雅黑"/>
            </a:endParaRPr>
          </a:p>
          <a:p>
            <a:pPr marL="612000" lvl="1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多个部分使用下划线连接</a:t>
            </a:r>
            <a:endParaRPr kumimoji="1" lang="en-US" altLang="zh-CN" sz="1400" kern="0">
              <a:solidFill>
                <a:schemeClr val="tx1">
                  <a:lumMod val="50000"/>
                </a:schemeClr>
              </a:solidFill>
              <a:ea typeface="微软雅黑"/>
            </a:endParaRPr>
          </a:p>
          <a:p>
            <a:pPr marL="612000" lvl="1" indent="-342900">
              <a:lnSpc>
                <a:spcPct val="20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1400" kern="0">
                <a:solidFill>
                  <a:schemeClr val="tx1">
                    <a:lumMod val="50000"/>
                  </a:schemeClr>
                </a:solidFill>
                <a:ea typeface="微软雅黑"/>
              </a:rPr>
              <a:t>英文字母全小写</a:t>
            </a:r>
            <a:endParaRPr lang="zh-CN" altLang="en-US" sz="140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B2A0D9-DDB6-D11E-385F-EE1AE385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标识符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A6A656-A9FD-662F-2EA9-0AE84BC01A02}"/>
              </a:ext>
            </a:extLst>
          </p:cNvPr>
          <p:cNvGrpSpPr/>
          <p:nvPr/>
        </p:nvGrpSpPr>
        <p:grpSpPr>
          <a:xfrm>
            <a:off x="576196" y="6173266"/>
            <a:ext cx="10834531" cy="348335"/>
            <a:chOff x="4685665" y="1834757"/>
            <a:chExt cx="10535544" cy="348335"/>
          </a:xfrm>
        </p:grpSpPr>
        <p:sp>
          <p:nvSpPr>
            <p:cNvPr id="20" name="ComponentBackground2">
              <a:extLst>
                <a:ext uri="{FF2B5EF4-FFF2-40B4-BE49-F238E27FC236}">
                  <a16:creationId xmlns:a16="http://schemas.microsoft.com/office/drawing/2014/main" id="{53057A79-B1FE-63E8-DB7C-6C38E6FB4246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en-US" altLang="zh-CN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PEP8</a:t>
              </a: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PEP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社区的核心技术文档和标准化机制，而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PEP8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是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的代码风格指南 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  <a:hlinkClick r:id="rId2"/>
                </a:rPr>
                <a:t>https://peps.python.org/pep-0008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1" name="Shape2">
              <a:extLst>
                <a:ext uri="{FF2B5EF4-FFF2-40B4-BE49-F238E27FC236}">
                  <a16:creationId xmlns:a16="http://schemas.microsoft.com/office/drawing/2014/main" id="{0AEEB68A-300D-671C-5D5A-14CD7E313809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F9250E0-8EA1-5DC0-A00D-B5CBBD409EC7}"/>
              </a:ext>
            </a:extLst>
          </p:cNvPr>
          <p:cNvSpPr/>
          <p:nvPr/>
        </p:nvSpPr>
        <p:spPr>
          <a:xfrm>
            <a:off x="3429941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1A960AF-25BA-CD60-7FFB-8DA99272B1EB}"/>
              </a:ext>
            </a:extLst>
          </p:cNvPr>
          <p:cNvSpPr/>
          <p:nvPr/>
        </p:nvSpPr>
        <p:spPr>
          <a:xfrm>
            <a:off x="4774214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age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D951A5E-129A-4EF8-037F-EAFFF4EC70B2}"/>
              </a:ext>
            </a:extLst>
          </p:cNvPr>
          <p:cNvSpPr/>
          <p:nvPr/>
        </p:nvSpPr>
        <p:spPr>
          <a:xfrm>
            <a:off x="6118487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color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A283C2D-52D3-6E0B-3922-EAD109B2E57B}"/>
              </a:ext>
            </a:extLst>
          </p:cNvPr>
          <p:cNvSpPr/>
          <p:nvPr/>
        </p:nvSpPr>
        <p:spPr>
          <a:xfrm>
            <a:off x="7462760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4DF87E9-3035-05A0-EDA5-2DFA53EEEBD4}"/>
              </a:ext>
            </a:extLst>
          </p:cNvPr>
          <p:cNvSpPr/>
          <p:nvPr/>
        </p:nvSpPr>
        <p:spPr>
          <a:xfrm>
            <a:off x="8807033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a1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FFF9ECB-FD28-C81A-EAFB-3C63D4222950}"/>
              </a:ext>
            </a:extLst>
          </p:cNvPr>
          <p:cNvSpPr/>
          <p:nvPr/>
        </p:nvSpPr>
        <p:spPr>
          <a:xfrm>
            <a:off x="10151306" y="1526101"/>
            <a:ext cx="1001210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a2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E54278-0EFD-E358-A8DE-8ADB0F7E7BB3}"/>
              </a:ext>
            </a:extLst>
          </p:cNvPr>
          <p:cNvSpPr/>
          <p:nvPr/>
        </p:nvSpPr>
        <p:spPr>
          <a:xfrm>
            <a:off x="3429940" y="2043595"/>
            <a:ext cx="1344273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update_time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583C7EE-41E8-273A-E200-AA1C604B9624}"/>
              </a:ext>
            </a:extLst>
          </p:cNvPr>
          <p:cNvSpPr/>
          <p:nvPr/>
        </p:nvSpPr>
        <p:spPr>
          <a:xfrm>
            <a:off x="5103287" y="2043595"/>
            <a:ext cx="1344273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my_name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FB34E92-6C24-446C-CF44-6E435F7BF2E8}"/>
              </a:ext>
            </a:extLst>
          </p:cNvPr>
          <p:cNvSpPr/>
          <p:nvPr/>
        </p:nvSpPr>
        <p:spPr>
          <a:xfrm>
            <a:off x="6776634" y="2040329"/>
            <a:ext cx="1687336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user_first_name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2126040-4B5D-89D3-0A32-34BCB66194D0}"/>
              </a:ext>
            </a:extLst>
          </p:cNvPr>
          <p:cNvSpPr/>
          <p:nvPr/>
        </p:nvSpPr>
        <p:spPr>
          <a:xfrm>
            <a:off x="8688520" y="2027655"/>
            <a:ext cx="1344273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updatetime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2142543-9779-58B3-7E74-6CCE8B410F9E}"/>
              </a:ext>
            </a:extLst>
          </p:cNvPr>
          <p:cNvSpPr/>
          <p:nvPr/>
        </p:nvSpPr>
        <p:spPr>
          <a:xfrm>
            <a:off x="10361867" y="2027655"/>
            <a:ext cx="1200365" cy="372068"/>
          </a:xfrm>
          <a:prstGeom prst="roundRect">
            <a:avLst/>
          </a:prstGeom>
          <a:solidFill>
            <a:srgbClr val="FFFFFF">
              <a:alpha val="20000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myname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3A1AE1-3787-8E02-495B-C5EF30DC44A8}"/>
              </a:ext>
            </a:extLst>
          </p:cNvPr>
          <p:cNvSpPr txBox="1"/>
          <p:nvPr/>
        </p:nvSpPr>
        <p:spPr>
          <a:xfrm>
            <a:off x="6005215" y="241239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蛇形命名法</a:t>
            </a:r>
          </a:p>
        </p:txBody>
      </p:sp>
    </p:spTree>
    <p:extLst>
      <p:ext uri="{BB962C8B-B14F-4D97-AF65-F5344CB8AC3E}">
        <p14:creationId xmlns:p14="http://schemas.microsoft.com/office/powerpoint/2010/main" val="236083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6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2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58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64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5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27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133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ED24AE-A96A-04D7-8A07-9886A276E9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97716"/>
            <a:ext cx="7170081" cy="37229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标识符的命名规则</a:t>
            </a:r>
            <a:r>
              <a:rPr lang="en-US" altLang="zh-CN"/>
              <a:t>(</a:t>
            </a:r>
            <a:r>
              <a:rPr lang="zh-CN" altLang="en-US"/>
              <a:t>规定</a:t>
            </a:r>
            <a:r>
              <a:rPr lang="en-US" altLang="zh-CN"/>
              <a:t>)?</a:t>
            </a: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400">
                <a:solidFill>
                  <a:srgbClr val="363C3B"/>
                </a:solidFill>
              </a:rPr>
              <a:t>只能包含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字母（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a-z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A-Z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）、数字（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0-9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）、下划线（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_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）</a:t>
            </a:r>
            <a:endParaRPr kumimoji="1" lang="en-US" altLang="zh-CN" sz="1400" kern="0">
              <a:solidFill>
                <a:srgbClr val="363C3B">
                  <a:lumMod val="50000"/>
                </a:srgbClr>
              </a:solidFill>
              <a:ea typeface="微软雅黑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数字不能开头</a:t>
            </a:r>
            <a:endParaRPr kumimoji="1" lang="en-US" altLang="zh-CN" sz="1400" kern="0">
              <a:solidFill>
                <a:srgbClr val="363C3B">
                  <a:lumMod val="50000"/>
                </a:srgbClr>
              </a:solidFill>
              <a:ea typeface="微软雅黑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不能使用关键字：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if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else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elif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for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while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and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、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or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等</a:t>
            </a:r>
            <a:endParaRPr kumimoji="1" lang="en-US" altLang="zh-CN" sz="1400" kern="0">
              <a:solidFill>
                <a:srgbClr val="363C3B">
                  <a:lumMod val="50000"/>
                </a:srgbClr>
              </a:solidFill>
              <a:ea typeface="微软雅黑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严格区分大小写，比如：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，</a:t>
            </a:r>
            <a:r>
              <a:rPr kumimoji="1" lang="en-US" altLang="zh-CN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AGE</a:t>
            </a: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是三个变量</a:t>
            </a:r>
            <a:endParaRPr lang="en-US" altLang="zh-CN" sz="1400"/>
          </a:p>
          <a:p>
            <a:r>
              <a:rPr lang="en-US" altLang="zh-CN"/>
              <a:t>2. </a:t>
            </a:r>
            <a:r>
              <a:rPr lang="zh-CN" altLang="en-US"/>
              <a:t>变量名命名规范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/>
                </a:solidFill>
                <a:ea typeface="微软雅黑"/>
              </a:rPr>
              <a:t>见名知意</a:t>
            </a:r>
            <a:endParaRPr kumimoji="1" lang="en-US" altLang="zh-CN" sz="1400" kern="0">
              <a:solidFill>
                <a:srgbClr val="363C3B">
                  <a:lumMod val="50000"/>
                </a:srgbClr>
              </a:solidFill>
              <a:ea typeface="微软雅黑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多个部分使用下划线连接</a:t>
            </a:r>
            <a:endParaRPr kumimoji="1" lang="en-US" altLang="zh-CN" sz="1400" kern="0">
              <a:solidFill>
                <a:srgbClr val="363C3B">
                  <a:lumMod val="50000"/>
                </a:srgbClr>
              </a:solidFill>
              <a:ea typeface="微软雅黑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  <a:defRPr/>
            </a:pPr>
            <a:r>
              <a:rPr kumimoji="1" lang="zh-CN" altLang="en-US" sz="1400" kern="0">
                <a:solidFill>
                  <a:srgbClr val="363C3B">
                    <a:lumMod val="50000"/>
                  </a:srgbClr>
                </a:solidFill>
                <a:ea typeface="微软雅黑"/>
              </a:rPr>
              <a:t>英文字母全小写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932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6C3664-E77B-4026-CB4E-7CB2A6B2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1BCB13-CA42-0EA1-4862-A426678D75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36127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现有两个变量，分别为：</a:t>
            </a:r>
            <a:r>
              <a:rPr lang="en-US" altLang="zh-CN"/>
              <a:t>a = 10</a:t>
            </a:r>
            <a:r>
              <a:rPr lang="zh-CN" altLang="en-US"/>
              <a:t>， </a:t>
            </a:r>
            <a:r>
              <a:rPr lang="en-US" altLang="zh-CN"/>
              <a:t>b = 20</a:t>
            </a:r>
            <a:r>
              <a:rPr lang="zh-CN" altLang="en-US"/>
              <a:t>，现需要将这两个变量值交换，然后输出到控制台。</a:t>
            </a:r>
            <a:endParaRPr lang="en-US" altLang="zh-CN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822709-4AF1-FEED-FB6A-DE5893779201}"/>
              </a:ext>
            </a:extLst>
          </p:cNvPr>
          <p:cNvSpPr/>
          <p:nvPr/>
        </p:nvSpPr>
        <p:spPr>
          <a:xfrm>
            <a:off x="2348631" y="2473891"/>
            <a:ext cx="939452" cy="707721"/>
          </a:xfrm>
          <a:prstGeom prst="roundRect">
            <a:avLst/>
          </a:prstGeom>
          <a:solidFill>
            <a:srgbClr val="D5F4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A3DA1C-59B0-73C9-DE10-612F2E111A03}"/>
              </a:ext>
            </a:extLst>
          </p:cNvPr>
          <p:cNvSpPr/>
          <p:nvPr/>
        </p:nvSpPr>
        <p:spPr>
          <a:xfrm>
            <a:off x="6446730" y="2473890"/>
            <a:ext cx="939452" cy="707721"/>
          </a:xfrm>
          <a:prstGeom prst="roundRect">
            <a:avLst/>
          </a:prstGeom>
          <a:solidFill>
            <a:srgbClr val="D5F4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20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43986FF-CE3A-87BA-9DFE-7DA3D56C74BE}"/>
              </a:ext>
            </a:extLst>
          </p:cNvPr>
          <p:cNvSpPr/>
          <p:nvPr/>
        </p:nvSpPr>
        <p:spPr>
          <a:xfrm>
            <a:off x="4376278" y="3569732"/>
            <a:ext cx="939452" cy="707721"/>
          </a:xfrm>
          <a:prstGeom prst="roundRect">
            <a:avLst/>
          </a:prstGeom>
          <a:solidFill>
            <a:srgbClr val="D5F4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5442F5-9DD7-2FAC-8EB7-844194B12564}"/>
              </a:ext>
            </a:extLst>
          </p:cNvPr>
          <p:cNvSpPr txBox="1"/>
          <p:nvPr/>
        </p:nvSpPr>
        <p:spPr>
          <a:xfrm>
            <a:off x="2657095" y="320040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F8DE80-BEFB-1D68-246B-35BEFE0942AA}"/>
              </a:ext>
            </a:extLst>
          </p:cNvPr>
          <p:cNvSpPr txBox="1"/>
          <p:nvPr/>
        </p:nvSpPr>
        <p:spPr>
          <a:xfrm>
            <a:off x="6755194" y="320040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C7EB188-0CB2-F8DE-68A1-069F4FE37549}"/>
              </a:ext>
            </a:extLst>
          </p:cNvPr>
          <p:cNvSpPr/>
          <p:nvPr/>
        </p:nvSpPr>
        <p:spPr>
          <a:xfrm>
            <a:off x="2348631" y="2473889"/>
            <a:ext cx="939452" cy="707721"/>
          </a:xfrm>
          <a:prstGeom prst="roundRect">
            <a:avLst/>
          </a:prstGeom>
          <a:solidFill>
            <a:srgbClr val="D5F4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20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EB2256C-38D5-C2E7-2455-8EC574EA0878}"/>
              </a:ext>
            </a:extLst>
          </p:cNvPr>
          <p:cNvSpPr/>
          <p:nvPr/>
        </p:nvSpPr>
        <p:spPr>
          <a:xfrm>
            <a:off x="6446730" y="2473890"/>
            <a:ext cx="939452" cy="707721"/>
          </a:xfrm>
          <a:prstGeom prst="roundRect">
            <a:avLst/>
          </a:prstGeom>
          <a:solidFill>
            <a:srgbClr val="D5F4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20</a:t>
            </a: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2" name="组合 2">
            <a:extLst>
              <a:ext uri="{FF2B5EF4-FFF2-40B4-BE49-F238E27FC236}">
                <a16:creationId xmlns:a16="http://schemas.microsoft.com/office/drawing/2014/main" id="{8A773FF1-AC11-4674-EC39-5B31839F80D2}"/>
              </a:ext>
            </a:extLst>
          </p:cNvPr>
          <p:cNvGrpSpPr/>
          <p:nvPr/>
        </p:nvGrpSpPr>
        <p:grpSpPr>
          <a:xfrm>
            <a:off x="8195139" y="2715958"/>
            <a:ext cx="3540357" cy="1962283"/>
            <a:chOff x="2297720" y="3660321"/>
            <a:chExt cx="3900815" cy="19624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CF93148-EA6B-2CCC-1452-CD23B8C430DA}"/>
                </a:ext>
              </a:extLst>
            </p:cNvPr>
            <p:cNvSpPr/>
            <p:nvPr/>
          </p:nvSpPr>
          <p:spPr>
            <a:xfrm>
              <a:off x="2297728" y="3660322"/>
              <a:ext cx="3900807" cy="1962399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交换两个变量值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 i="1">
                  <a:solidFill>
                    <a:schemeClr val="tx1">
                      <a:lumMod val="50000"/>
                    </a:schemeClr>
                  </a:solidFill>
                </a:rPr>
                <a:t>a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 = 10</a:t>
              </a:r>
              <a:endParaRPr lang="en-US" altLang="zh-CN" sz="1200">
                <a:solidFill>
                  <a:srgbClr val="0070C0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b = 20</a:t>
              </a:r>
            </a:p>
            <a:p>
              <a:pPr>
                <a:lnSpc>
                  <a:spcPct val="150000"/>
                </a:lnSpc>
              </a:pPr>
              <a:endParaRPr lang="en-US" altLang="zh-CN" sz="1200">
                <a:solidFill>
                  <a:srgbClr val="080808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</a:rPr>
                <a:t>a = b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</a:rPr>
                <a:t>b = a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96FEEB8D-20E6-5FBD-3645-3AEC10A6C4B2}"/>
                </a:ext>
              </a:extLst>
            </p:cNvPr>
            <p:cNvSpPr/>
            <p:nvPr/>
          </p:nvSpPr>
          <p:spPr>
            <a:xfrm>
              <a:off x="2297720" y="3660321"/>
              <a:ext cx="3900808" cy="292228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A7A9E60-E717-F258-EBB1-4B5C3CB5D3B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A5A9B72-795F-BCA1-32E5-4ADC748FC1D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2F269AE3-E918-B17E-A2DE-62A05020C16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16829ED5-5497-8C29-A750-65919D839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" t="19469" r="65870" b="20393"/>
          <a:stretch>
            <a:fillRect/>
          </a:stretch>
        </p:blipFill>
        <p:spPr>
          <a:xfrm>
            <a:off x="3288083" y="5194736"/>
            <a:ext cx="699289" cy="130477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5124141-D954-FC63-A962-FE065F9D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85" t="20282" r="33960" b="19581"/>
          <a:stretch>
            <a:fillRect/>
          </a:stretch>
        </p:blipFill>
        <p:spPr>
          <a:xfrm>
            <a:off x="5103846" y="5244839"/>
            <a:ext cx="669441" cy="130477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6497D48-6EC6-D92B-81E4-7D54C9D8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69" t="20282" r="1376" b="21025"/>
          <a:stretch>
            <a:fillRect/>
          </a:stretch>
        </p:blipFill>
        <p:spPr>
          <a:xfrm>
            <a:off x="6808318" y="5210409"/>
            <a:ext cx="669441" cy="1273423"/>
          </a:xfrm>
          <a:prstGeom prst="rect">
            <a:avLst/>
          </a:prstGeom>
        </p:spPr>
      </p:pic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E2144BAD-5CAD-D294-5DD2-9FA019873DC1}"/>
              </a:ext>
            </a:extLst>
          </p:cNvPr>
          <p:cNvCxnSpPr>
            <a:stCxn id="24" idx="0"/>
            <a:endCxn id="26" idx="0"/>
          </p:cNvCxnSpPr>
          <p:nvPr/>
        </p:nvCxnSpPr>
        <p:spPr>
          <a:xfrm rot="16200000" flipH="1">
            <a:off x="5382546" y="3449917"/>
            <a:ext cx="15673" cy="3505311"/>
          </a:xfrm>
          <a:prstGeom prst="curvedConnector3">
            <a:avLst>
              <a:gd name="adj1" fmla="val -2577452"/>
            </a:avLst>
          </a:prstGeom>
          <a:ln w="12700">
            <a:solidFill>
              <a:schemeClr val="tx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7">
            <a:extLst>
              <a:ext uri="{FF2B5EF4-FFF2-40B4-BE49-F238E27FC236}">
                <a16:creationId xmlns:a16="http://schemas.microsoft.com/office/drawing/2014/main" id="{6353F96C-3A5B-5552-A48A-3537DEB67B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61279" y="4344419"/>
            <a:ext cx="50103" cy="1800839"/>
          </a:xfrm>
          <a:prstGeom prst="curvedConnector3">
            <a:avLst>
              <a:gd name="adj1" fmla="val 556260"/>
            </a:avLst>
          </a:prstGeom>
          <a:ln w="12700">
            <a:solidFill>
              <a:schemeClr val="tx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27">
            <a:extLst>
              <a:ext uri="{FF2B5EF4-FFF2-40B4-BE49-F238E27FC236}">
                <a16:creationId xmlns:a16="http://schemas.microsoft.com/office/drawing/2014/main" id="{651CA2D8-FB0F-8B13-2BEB-14F5D12881F1}"/>
              </a:ext>
            </a:extLst>
          </p:cNvPr>
          <p:cNvCxnSpPr>
            <a:cxnSpLocks/>
            <a:stCxn id="26" idx="2"/>
            <a:endCxn id="25" idx="2"/>
          </p:cNvCxnSpPr>
          <p:nvPr/>
        </p:nvCxnSpPr>
        <p:spPr>
          <a:xfrm rot="5400000">
            <a:off x="6257915" y="5664484"/>
            <a:ext cx="65777" cy="1704472"/>
          </a:xfrm>
          <a:prstGeom prst="curvedConnector3">
            <a:avLst>
              <a:gd name="adj1" fmla="val 447538"/>
            </a:avLst>
          </a:prstGeom>
          <a:ln w="12700">
            <a:solidFill>
              <a:schemeClr val="tx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2D7CA668-C1D0-8B1E-9729-43C3AE27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" t="19469" r="65870" b="20393"/>
          <a:stretch>
            <a:fillRect/>
          </a:stretch>
        </p:blipFill>
        <p:spPr>
          <a:xfrm>
            <a:off x="6793393" y="5210408"/>
            <a:ext cx="699289" cy="1304770"/>
          </a:xfrm>
          <a:prstGeom prst="rect">
            <a:avLst/>
          </a:prstGeom>
        </p:spPr>
      </p:pic>
      <p:sp>
        <p:nvSpPr>
          <p:cNvPr id="37" name="乘号 36">
            <a:extLst>
              <a:ext uri="{FF2B5EF4-FFF2-40B4-BE49-F238E27FC236}">
                <a16:creationId xmlns:a16="http://schemas.microsoft.com/office/drawing/2014/main" id="{D18FD2AB-0D70-22F6-8371-18D830ED694E}"/>
              </a:ext>
            </a:extLst>
          </p:cNvPr>
          <p:cNvSpPr/>
          <p:nvPr/>
        </p:nvSpPr>
        <p:spPr>
          <a:xfrm>
            <a:off x="8760115" y="4072401"/>
            <a:ext cx="832981" cy="757825"/>
          </a:xfrm>
          <a:prstGeom prst="mathMultiply">
            <a:avLst>
              <a:gd name="adj1" fmla="val 1360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0CBE7C1-9ADF-5AC7-597A-E65CF6E4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69" t="20282" r="1376" b="21025"/>
          <a:stretch>
            <a:fillRect/>
          </a:stretch>
        </p:blipFill>
        <p:spPr>
          <a:xfrm>
            <a:off x="3288083" y="5219786"/>
            <a:ext cx="699288" cy="1330198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60D0174-C8C9-C600-2348-C82EA9FE8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85" t="20282" r="33960" b="19581"/>
          <a:stretch>
            <a:fillRect/>
          </a:stretch>
        </p:blipFill>
        <p:spPr>
          <a:xfrm>
            <a:off x="3303006" y="5219786"/>
            <a:ext cx="669441" cy="130477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1AB09B08-0B4C-E52E-EF7E-EB83383F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69" t="20282" r="1376" b="21025"/>
          <a:stretch>
            <a:fillRect/>
          </a:stretch>
        </p:blipFill>
        <p:spPr>
          <a:xfrm>
            <a:off x="5091139" y="5253841"/>
            <a:ext cx="699288" cy="1330198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EA75555-358D-3179-0DB2-3EC08C8A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" t="19469" r="65870" b="20393"/>
          <a:stretch>
            <a:fillRect/>
          </a:stretch>
        </p:blipFill>
        <p:spPr>
          <a:xfrm>
            <a:off x="5107971" y="5244839"/>
            <a:ext cx="699289" cy="130477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73E1D7E0-649B-889C-AC2E-45076892825D}"/>
              </a:ext>
            </a:extLst>
          </p:cNvPr>
          <p:cNvSpPr txBox="1"/>
          <p:nvPr/>
        </p:nvSpPr>
        <p:spPr>
          <a:xfrm>
            <a:off x="4684742" y="426664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c</a:t>
            </a:r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B352C5-2402-E38F-BB45-078F0346A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67" y="1096122"/>
            <a:ext cx="1523933" cy="152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0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48148E-6 L -0.33646 -0.0007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2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48148E-6 L 0.3362 1.48148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0" grpId="0"/>
      <p:bldP spid="18" grpId="0" animBg="1"/>
      <p:bldP spid="18" grpId="1" animBg="1"/>
      <p:bldP spid="11" grpId="0" animBg="1"/>
      <p:bldP spid="11" grpId="1" animBg="1"/>
      <p:bldP spid="37" grpId="0" animBg="1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7203B28-B022-117F-6793-1C688375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6441D2-D287-AE5C-DD0A-3A4F9C2E8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现有三个变量，分别为：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/>
              <a:t>100</a:t>
            </a:r>
            <a:r>
              <a:rPr lang="zh-CN" altLang="en-US"/>
              <a:t>，</a:t>
            </a:r>
            <a:r>
              <a:rPr lang="en-US" altLang="zh-CN"/>
              <a:t>b = 200</a:t>
            </a:r>
            <a:r>
              <a:rPr lang="zh-CN" altLang="en-US"/>
              <a:t>，</a:t>
            </a:r>
            <a:r>
              <a:rPr lang="en-US" altLang="zh-CN"/>
              <a:t>c = 300</a:t>
            </a:r>
            <a:r>
              <a:rPr lang="zh-CN" altLang="en-US"/>
              <a:t>，现需要将这三个变量值进行交换，将</a:t>
            </a:r>
            <a:r>
              <a:rPr lang="en-US" altLang="zh-CN"/>
              <a:t>a,b,c</a:t>
            </a:r>
            <a:r>
              <a:rPr lang="zh-CN" altLang="en-US"/>
              <a:t>的值分别赋值给</a:t>
            </a:r>
            <a:r>
              <a:rPr lang="en-US" altLang="zh-CN"/>
              <a:t>c,a,b</a:t>
            </a:r>
            <a:r>
              <a:rPr lang="zh-CN" altLang="en-US"/>
              <a:t>，并将其输出到控制台。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C3985C-E0B1-790A-83E2-CF387855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15" y="1276723"/>
            <a:ext cx="1597090" cy="15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AC48-184A-D3DE-420A-9E9F3EEC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E308CED-B97A-EE6E-8477-1A3C8C487F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常见数据类型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输入与输出</a:t>
            </a:r>
            <a:endParaRPr lang="en-US" altLang="zh-CN"/>
          </a:p>
          <a:p>
            <a:r>
              <a:rPr lang="zh-CN" altLang="en-US"/>
              <a:t>运算符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1732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FA49-C7A7-2869-D01F-28A14640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0A9568-61AD-E9B7-60F9-A75495605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常见数据类型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D152F0-400E-9ADB-4EDE-48A8F7B7D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1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291B-16D1-8922-1C55-281CF4CD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09BAA3-94BC-999D-F7E3-FF0F1229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Python</a:t>
            </a:r>
            <a:r>
              <a:rPr lang="zh-CN" altLang="en-US"/>
              <a:t>中常见的基础数据类型：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6699020-2DBE-B734-B213-602A9EEC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常见数据类型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05B0159-9641-A355-603E-17D02D7DD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40612"/>
              </p:ext>
            </p:extLst>
          </p:nvPr>
        </p:nvGraphicFramePr>
        <p:xfrm>
          <a:off x="970477" y="1503589"/>
          <a:ext cx="10588800" cy="3024000"/>
        </p:xfrm>
        <a:graphic>
          <a:graphicData uri="http://schemas.openxmlformats.org/drawingml/2006/table">
            <a:tbl>
              <a:tblPr/>
              <a:tblGrid>
                <a:gridCol w="1764438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1982128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842234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标准名称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int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整数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数字类型，存放整数，如：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  -5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float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浮点数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数字类型，存放小数，如：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8.5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3.14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1.0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  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-3.5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str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字符串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用引号引起来的都是字符串，如：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"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Python"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bool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布尔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布尔类型，描述真和假，如：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True  False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NoneType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空值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表示空或无值，仅包含一个值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None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</a:tbl>
          </a:graphicData>
        </a:graphic>
      </p:graphicFrame>
      <p:grpSp>
        <p:nvGrpSpPr>
          <p:cNvPr id="2" name="组合 2">
            <a:extLst>
              <a:ext uri="{FF2B5EF4-FFF2-40B4-BE49-F238E27FC236}">
                <a16:creationId xmlns:a16="http://schemas.microsoft.com/office/drawing/2014/main" id="{21045904-79B0-A82B-18AA-7039532000DD}"/>
              </a:ext>
            </a:extLst>
          </p:cNvPr>
          <p:cNvGrpSpPr/>
          <p:nvPr/>
        </p:nvGrpSpPr>
        <p:grpSpPr>
          <a:xfrm>
            <a:off x="4325821" y="4957519"/>
            <a:ext cx="3540357" cy="1217853"/>
            <a:chOff x="2297720" y="3660321"/>
            <a:chExt cx="3900815" cy="1217926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C1EEA93-D25B-AFA8-D0C1-12D8251AF322}"/>
                </a:ext>
              </a:extLst>
            </p:cNvPr>
            <p:cNvSpPr/>
            <p:nvPr/>
          </p:nvSpPr>
          <p:spPr>
            <a:xfrm>
              <a:off x="2297728" y="3660322"/>
              <a:ext cx="3900807" cy="1217925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定义变量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</a:rPr>
                <a:t>a = 10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name = </a:t>
              </a:r>
              <a:r>
                <a:rPr lang="en-US" altLang="zh-CN" sz="1200">
                  <a:solidFill>
                    <a:srgbClr val="067D17"/>
                  </a:solidFill>
                </a:rPr>
                <a:t>"Python"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3E6C97D8-623F-583C-EB9C-BC97E307571E}"/>
                </a:ext>
              </a:extLst>
            </p:cNvPr>
            <p:cNvSpPr/>
            <p:nvPr/>
          </p:nvSpPr>
          <p:spPr>
            <a:xfrm>
              <a:off x="2297720" y="3660321"/>
              <a:ext cx="3900808" cy="292228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E60DB8E-8FA1-6D4A-8614-E55D206579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127EA15-2195-846D-2358-9B50A740463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36AB454-BED9-BBB2-BC14-CF55F5AB84AD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944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F811D-0816-49C5-6C1D-7C63BE5A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016F20-FE45-FBB7-629C-3CF4F6C74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通过</a:t>
            </a:r>
            <a:r>
              <a:rPr lang="en-US" altLang="zh-CN"/>
              <a:t>type()</a:t>
            </a:r>
            <a:r>
              <a:rPr lang="zh-CN" altLang="en-US"/>
              <a:t>语句来得到数据的类型，具体语法为：</a:t>
            </a:r>
            <a:r>
              <a:rPr lang="en-US" altLang="zh-CN">
                <a:solidFill>
                  <a:srgbClr val="C00000"/>
                </a:solidFill>
              </a:rPr>
              <a:t>type(</a:t>
            </a:r>
            <a:r>
              <a:rPr lang="zh-CN" altLang="en-US">
                <a:solidFill>
                  <a:srgbClr val="C00000"/>
                </a:solidFill>
              </a:rPr>
              <a:t>要查看类型的数据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0EDD072-410E-1F24-7B4A-6A9BBEC6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常见数据类型</a:t>
            </a:r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E8C3C397-03B4-1350-B637-E0093EC80F93}"/>
              </a:ext>
            </a:extLst>
          </p:cNvPr>
          <p:cNvGrpSpPr/>
          <p:nvPr/>
        </p:nvGrpSpPr>
        <p:grpSpPr>
          <a:xfrm>
            <a:off x="938945" y="1511887"/>
            <a:ext cx="4408718" cy="1426699"/>
            <a:chOff x="2297719" y="3660322"/>
            <a:chExt cx="4857588" cy="142678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282F0DD-0AFE-EBC0-3B5B-ADD9005A863C}"/>
                </a:ext>
              </a:extLst>
            </p:cNvPr>
            <p:cNvSpPr/>
            <p:nvPr/>
          </p:nvSpPr>
          <p:spPr>
            <a:xfrm>
              <a:off x="2297728" y="3660322"/>
              <a:ext cx="4857579" cy="1426784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type(..)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(type(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"Hello"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)</a:t>
              </a:r>
              <a:r>
                <a:rPr lang="en-US" altLang="zh-CN" sz="12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0080"/>
                  </a:solidFill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</a:rPr>
                <a:t>(type(</a:t>
              </a:r>
              <a:r>
                <a:rPr lang="en-US" altLang="zh-CN" sz="1200">
                  <a:solidFill>
                    <a:srgbClr val="0070C0"/>
                  </a:solidFill>
                </a:rPr>
                <a:t>10</a:t>
              </a:r>
              <a:r>
                <a:rPr lang="en-US" altLang="zh-CN" sz="1200">
                  <a:solidFill>
                    <a:srgbClr val="080808"/>
                  </a:solidFill>
                </a:rPr>
                <a:t>))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00080"/>
                  </a:solidFill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</a:rPr>
                <a:t>(type(</a:t>
              </a:r>
              <a:r>
                <a:rPr lang="en-US" altLang="zh-CN" sz="1200">
                  <a:solidFill>
                    <a:srgbClr val="0070C0"/>
                  </a:solidFill>
                </a:rPr>
                <a:t>3.14</a:t>
              </a:r>
              <a:r>
                <a:rPr lang="en-US" altLang="zh-CN" sz="1200">
                  <a:solidFill>
                    <a:srgbClr val="080808"/>
                  </a:solidFill>
                </a:rPr>
                <a:t>))</a:t>
              </a: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BF8B1D59-94FE-6E21-F676-6F490C6B9A85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5F32156-0C8F-CDDF-F4EA-DC71D2E2177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728D45B-22A4-7916-CD1C-6D065768159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D35EB92-AC4A-2D43-32F5-72520BB2CA8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2">
            <a:extLst>
              <a:ext uri="{FF2B5EF4-FFF2-40B4-BE49-F238E27FC236}">
                <a16:creationId xmlns:a16="http://schemas.microsoft.com/office/drawing/2014/main" id="{4D427467-27DA-6A4E-7B86-DDD4AC78B71D}"/>
              </a:ext>
            </a:extLst>
          </p:cNvPr>
          <p:cNvGrpSpPr/>
          <p:nvPr/>
        </p:nvGrpSpPr>
        <p:grpSpPr>
          <a:xfrm>
            <a:off x="5949944" y="1511886"/>
            <a:ext cx="4408718" cy="1426699"/>
            <a:chOff x="2297719" y="3660322"/>
            <a:chExt cx="4857588" cy="142678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946422B-6079-7A29-7702-DEF95A8046D5}"/>
                </a:ext>
              </a:extLst>
            </p:cNvPr>
            <p:cNvSpPr/>
            <p:nvPr/>
          </p:nvSpPr>
          <p:spPr>
            <a:xfrm>
              <a:off x="2297728" y="3660322"/>
              <a:ext cx="4857579" cy="1426784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type(..)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num = </a:t>
              </a:r>
              <a:r>
                <a:rPr lang="en-US" altLang="zh-CN" sz="1200">
                  <a:solidFill>
                    <a:srgbClr val="0070C0"/>
                  </a:solidFill>
                  <a:effectLst/>
                </a:rPr>
                <a:t>5.0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print(num)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</a:rPr>
                <a:t>print(type(num))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F6B16421-9C0C-AE9B-9A33-3E63D7F69F2C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4633149-D796-A945-0AEB-A33F96164DE3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E34389D-6B49-4361-559D-F8E91AA51AA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68C82EF-F0CC-D411-BC52-6B06508D5E8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82D5D1D-2553-5FC4-8041-71D29A07DCB8}"/>
              </a:ext>
            </a:extLst>
          </p:cNvPr>
          <p:cNvGrpSpPr/>
          <p:nvPr/>
        </p:nvGrpSpPr>
        <p:grpSpPr>
          <a:xfrm>
            <a:off x="727240" y="6318308"/>
            <a:ext cx="10834531" cy="348335"/>
            <a:chOff x="4685665" y="1834757"/>
            <a:chExt cx="10535544" cy="348335"/>
          </a:xfrm>
        </p:grpSpPr>
        <p:sp>
          <p:nvSpPr>
            <p:cNvPr id="17" name="ComponentBackground2">
              <a:extLst>
                <a:ext uri="{FF2B5EF4-FFF2-40B4-BE49-F238E27FC236}">
                  <a16:creationId xmlns:a16="http://schemas.microsoft.com/office/drawing/2014/main" id="{0D5EEF6F-2B76-4D42-568F-4B25FE18E756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说明：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变量本身是没有类型的，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type(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变量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输出的类型是变量中存储的数据的类型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8" name="Shape2">
              <a:extLst>
                <a:ext uri="{FF2B5EF4-FFF2-40B4-BE49-F238E27FC236}">
                  <a16:creationId xmlns:a16="http://schemas.microsoft.com/office/drawing/2014/main" id="{426A5FFD-0D2D-B27F-72F7-241B61CEC419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9" name="!!矩形: 圆角 9">
            <a:extLst>
              <a:ext uri="{FF2B5EF4-FFF2-40B4-BE49-F238E27FC236}">
                <a16:creationId xmlns:a16="http://schemas.microsoft.com/office/drawing/2014/main" id="{D09C01B6-EB5D-338C-A0F4-E5FE18ECF07F}"/>
              </a:ext>
            </a:extLst>
          </p:cNvPr>
          <p:cNvSpPr/>
          <p:nvPr/>
        </p:nvSpPr>
        <p:spPr>
          <a:xfrm>
            <a:off x="9552620" y="5524970"/>
            <a:ext cx="1874259" cy="570016"/>
          </a:xfrm>
          <a:prstGeom prst="roundRect">
            <a:avLst>
              <a:gd name="adj" fmla="val 10275"/>
            </a:avLst>
          </a:prstGeom>
          <a:solidFill>
            <a:srgbClr val="00B0F0">
              <a:alpha val="10196"/>
            </a:srgb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28D415-C459-BBD6-6301-03A634B23004}"/>
              </a:ext>
            </a:extLst>
          </p:cNvPr>
          <p:cNvSpPr txBox="1"/>
          <p:nvPr/>
        </p:nvSpPr>
        <p:spPr>
          <a:xfrm>
            <a:off x="9792735" y="5548368"/>
            <a:ext cx="1485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50000"/>
                  </a:schemeClr>
                </a:solidFill>
              </a:rPr>
              <a:t>1114.1</a:t>
            </a:r>
            <a:endParaRPr lang="zh-CN" altLang="en-US" sz="28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0C277CA4-8775-BF70-001D-7FA2B9919184}"/>
              </a:ext>
            </a:extLst>
          </p:cNvPr>
          <p:cNvSpPr txBox="1">
            <a:spLocks/>
          </p:cNvSpPr>
          <p:nvPr/>
        </p:nvSpPr>
        <p:spPr>
          <a:xfrm>
            <a:off x="576197" y="3338561"/>
            <a:ext cx="11060481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2. </a:t>
            </a:r>
            <a:r>
              <a:rPr lang="zh-CN" altLang="en-US"/>
              <a:t>通过</a:t>
            </a:r>
            <a:r>
              <a:rPr lang="en-US" altLang="zh-CN"/>
              <a:t>isinstance()</a:t>
            </a:r>
            <a:r>
              <a:rPr lang="zh-CN" altLang="en-US"/>
              <a:t>检查数据是否属于指定的类型，返回的是一个</a:t>
            </a:r>
            <a:r>
              <a:rPr lang="en-US" altLang="zh-CN"/>
              <a:t>bool</a:t>
            </a:r>
            <a:r>
              <a:rPr lang="zh-CN" altLang="en-US"/>
              <a:t>值，具体语法为：</a:t>
            </a:r>
            <a:r>
              <a:rPr lang="en-US" altLang="zh-CN">
                <a:solidFill>
                  <a:srgbClr val="C00000"/>
                </a:solidFill>
              </a:rPr>
              <a:t>isinstance(</a:t>
            </a:r>
            <a:r>
              <a:rPr lang="zh-CN" altLang="en-US">
                <a:solidFill>
                  <a:srgbClr val="C00000"/>
                </a:solidFill>
              </a:rPr>
              <a:t>数据，类型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endParaRPr lang="zh-CN" altLang="en-US">
              <a:solidFill>
                <a:srgbClr val="C00000"/>
              </a:solidFill>
            </a:endParaRPr>
          </a:p>
        </p:txBody>
      </p:sp>
      <p:grpSp>
        <p:nvGrpSpPr>
          <p:cNvPr id="22" name="组合 2">
            <a:extLst>
              <a:ext uri="{FF2B5EF4-FFF2-40B4-BE49-F238E27FC236}">
                <a16:creationId xmlns:a16="http://schemas.microsoft.com/office/drawing/2014/main" id="{E78A1669-EAB6-74B4-8C86-CAF81A5EBF8A}"/>
              </a:ext>
            </a:extLst>
          </p:cNvPr>
          <p:cNvGrpSpPr/>
          <p:nvPr/>
        </p:nvGrpSpPr>
        <p:grpSpPr>
          <a:xfrm>
            <a:off x="938936" y="3913185"/>
            <a:ext cx="4408718" cy="1426699"/>
            <a:chOff x="2297719" y="3660322"/>
            <a:chExt cx="4857588" cy="1426784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CC9BC64-7C08-331A-75C1-329F949E8CB7}"/>
                </a:ext>
              </a:extLst>
            </p:cNvPr>
            <p:cNvSpPr/>
            <p:nvPr/>
          </p:nvSpPr>
          <p:spPr>
            <a:xfrm>
              <a:off x="2297728" y="3660322"/>
              <a:ext cx="4857579" cy="1426784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type(..)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num = </a:t>
              </a:r>
              <a:r>
                <a:rPr lang="en-US" altLang="zh-CN" sz="1200">
                  <a:solidFill>
                    <a:srgbClr val="0070C0"/>
                  </a:solidFill>
                  <a:effectLst/>
                </a:rPr>
                <a:t>5.0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</a:rPr>
                <a:t>print(num)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80808"/>
                  </a:solidFill>
                </a:rPr>
                <a:t>print(isinstance(num</a:t>
              </a:r>
              <a:r>
                <a:rPr lang="zh-CN" altLang="en-US" sz="1200">
                  <a:solidFill>
                    <a:srgbClr val="080808"/>
                  </a:solidFill>
                </a:rPr>
                <a:t>，</a:t>
              </a:r>
              <a:r>
                <a:rPr lang="en-US" altLang="zh-CN" sz="1200">
                  <a:solidFill>
                    <a:srgbClr val="0070C0"/>
                  </a:solidFill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</a:rPr>
                <a:t>))</a:t>
              </a:r>
            </a:p>
          </p:txBody>
        </p:sp>
        <p:sp>
          <p:nvSpPr>
            <p:cNvPr id="24" name="矩形: 圆顶角 23">
              <a:extLst>
                <a:ext uri="{FF2B5EF4-FFF2-40B4-BE49-F238E27FC236}">
                  <a16:creationId xmlns:a16="http://schemas.microsoft.com/office/drawing/2014/main" id="{1012075F-F045-A093-898A-232548B37E3A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6A299EE-F970-ABFC-2829-53BE13AC1A0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D8110A33-AE12-2953-FD1D-31B104C515D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EA08C4F-CBA8-9351-4545-B6CEFA12814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495BB4C-44A6-4333-663E-E7D9149566B2}"/>
              </a:ext>
            </a:extLst>
          </p:cNvPr>
          <p:cNvSpPr txBox="1"/>
          <p:nvPr/>
        </p:nvSpPr>
        <p:spPr>
          <a:xfrm>
            <a:off x="9646491" y="5579145"/>
            <a:ext cx="1677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tx1">
                    <a:lumMod val="50000"/>
                  </a:schemeClr>
                </a:solidFill>
              </a:rPr>
              <a:t>"Python"</a:t>
            </a:r>
            <a:endParaRPr lang="zh-CN" altLang="en-US" sz="24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0" grpId="1"/>
      <p:bldP spid="21" grpId="0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82976-44DE-F7C7-E3E1-495217A9E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常见的数据类型有哪些</a:t>
            </a:r>
            <a:r>
              <a:rPr lang="en-US" altLang="zh-CN"/>
              <a:t>?</a:t>
            </a:r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600"/>
              <a:t>int</a:t>
            </a:r>
            <a:r>
              <a:rPr lang="zh-CN" altLang="en-US" sz="1600"/>
              <a:t>、</a:t>
            </a:r>
            <a:r>
              <a:rPr lang="en-US" altLang="zh-CN" sz="1600"/>
              <a:t>float</a:t>
            </a:r>
            <a:r>
              <a:rPr lang="zh-CN" altLang="en-US" sz="1600"/>
              <a:t>、</a:t>
            </a:r>
            <a:r>
              <a:rPr lang="en-US" altLang="zh-CN" sz="1600"/>
              <a:t>str</a:t>
            </a:r>
            <a:r>
              <a:rPr lang="zh-CN" altLang="en-US" sz="1600"/>
              <a:t>、</a:t>
            </a:r>
            <a:r>
              <a:rPr lang="en-US" altLang="zh-CN" sz="1600"/>
              <a:t>bool</a:t>
            </a:r>
            <a:r>
              <a:rPr lang="zh-CN" altLang="en-US" sz="1600"/>
              <a:t>、</a:t>
            </a:r>
            <a:r>
              <a:rPr lang="en-US" altLang="zh-CN" sz="1600"/>
              <a:t>NoneType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如何查看数据的实际类型</a:t>
            </a:r>
            <a:r>
              <a:rPr lang="en-US" altLang="zh-CN"/>
              <a:t>?</a:t>
            </a:r>
          </a:p>
          <a:p>
            <a:pPr marL="360000"/>
            <a:r>
              <a:rPr lang="en-US" altLang="zh-CN"/>
              <a:t>type(...)</a:t>
            </a:r>
          </a:p>
          <a:p>
            <a:pPr marL="360000"/>
            <a:r>
              <a:rPr lang="en-US" altLang="zh-CN"/>
              <a:t>isinstance(...)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75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E9EA10-D0D1-1EAF-AE6B-D53EA69D2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4771457" cy="4572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字符串的三种定义方式：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66B9FB-E745-166D-5BC0-4834292C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A9CC4EBF-2E2B-5B7F-6355-EBB1B62C3A49}"/>
              </a:ext>
            </a:extLst>
          </p:cNvPr>
          <p:cNvGrpSpPr/>
          <p:nvPr/>
        </p:nvGrpSpPr>
        <p:grpSpPr>
          <a:xfrm>
            <a:off x="938945" y="1511888"/>
            <a:ext cx="4408710" cy="3881747"/>
            <a:chOff x="2297719" y="3660322"/>
            <a:chExt cx="4857579" cy="388197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6833E58-8AFF-494E-CE5D-1F90DF1FB0DA}"/>
                </a:ext>
              </a:extLst>
            </p:cNvPr>
            <p:cNvSpPr/>
            <p:nvPr/>
          </p:nvSpPr>
          <p:spPr>
            <a:xfrm>
              <a:off x="2297719" y="3660322"/>
              <a:ext cx="4857579" cy="3881978"/>
            </a:xfrm>
            <a:prstGeom prst="roundRect">
              <a:avLst>
                <a:gd name="adj" fmla="val 1600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双引号定义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</a:rPr>
                <a:t>s1 = </a:t>
              </a:r>
              <a:r>
                <a:rPr lang="en-US" altLang="zh-CN" sz="1200">
                  <a:solidFill>
                    <a:srgbClr val="067D17"/>
                  </a:solidFill>
                  <a:effectLst/>
                </a:rPr>
                <a:t>"Hello"</a:t>
              </a:r>
            </a:p>
            <a:p>
              <a:pPr>
                <a:lnSpc>
                  <a:spcPct val="150000"/>
                </a:lnSpc>
                <a:buNone/>
              </a:pPr>
              <a:endParaRPr lang="en-US" altLang="zh-CN" sz="1200">
                <a:solidFill>
                  <a:srgbClr val="067D17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单引号定义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s2 = </a:t>
              </a:r>
              <a:r>
                <a:rPr lang="en-US" altLang="zh-CN" sz="1200">
                  <a:solidFill>
                    <a:srgbClr val="067D17"/>
                  </a:solidFill>
                </a:rPr>
                <a:t>'Python'</a:t>
              </a:r>
            </a:p>
            <a:p>
              <a:pPr>
                <a:lnSpc>
                  <a:spcPct val="150000"/>
                </a:lnSpc>
              </a:pPr>
              <a:endParaRPr lang="en-US" altLang="zh-CN" sz="1200">
                <a:solidFill>
                  <a:srgbClr val="067D17"/>
                </a:solidFill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</a:rPr>
                <a:t>三引号定义</a:t>
              </a:r>
              <a:r>
                <a:rPr lang="en-US" altLang="zh-CN" sz="1200">
                  <a:solidFill>
                    <a:srgbClr val="8C8C8C"/>
                  </a:solidFill>
                </a:rPr>
                <a:t>(</a:t>
              </a:r>
              <a:r>
                <a:rPr lang="zh-CN" altLang="en-US" sz="1200">
                  <a:solidFill>
                    <a:srgbClr val="8C8C8C"/>
                  </a:solidFill>
                </a:rPr>
                <a:t>多行字符串</a:t>
              </a:r>
              <a:r>
                <a:rPr lang="en-US" altLang="zh-CN" sz="1200">
                  <a:solidFill>
                    <a:srgbClr val="8C8C8C"/>
                  </a:solidFill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s3 = </a:t>
              </a:r>
              <a:r>
                <a:rPr lang="en-US" altLang="zh-CN" sz="1200">
                  <a:solidFill>
                    <a:srgbClr val="067D17"/>
                  </a:solidFill>
                </a:rPr>
                <a:t>"""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</a:rPr>
                <a:t>  </a:t>
              </a:r>
              <a:r>
                <a:rPr lang="zh-CN" altLang="en-US" sz="1200">
                  <a:solidFill>
                    <a:srgbClr val="067D17"/>
                  </a:solidFill>
                </a:rPr>
                <a:t>尊敬的客户</a:t>
              </a:r>
              <a:r>
                <a:rPr lang="en-US" altLang="zh-CN" sz="1200">
                  <a:solidFill>
                    <a:srgbClr val="067D17"/>
                  </a:solidFill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</a:rPr>
                <a:t>     </a:t>
              </a:r>
              <a:r>
                <a:rPr lang="zh-CN" altLang="en-US" sz="1200">
                  <a:solidFill>
                    <a:srgbClr val="067D17"/>
                  </a:solidFill>
                </a:rPr>
                <a:t>感谢您选择我们公司的产品。</a:t>
              </a:r>
              <a:endParaRPr lang="en-US" altLang="zh-CN" sz="1200">
                <a:solidFill>
                  <a:srgbClr val="067D17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</a:rPr>
                <a:t>     </a:t>
              </a:r>
              <a:r>
                <a:rPr lang="zh-CN" altLang="en-US" sz="1200">
                  <a:solidFill>
                    <a:srgbClr val="067D17"/>
                  </a:solidFill>
                </a:rPr>
                <a:t>我们讲会为您竭诚的服务。</a:t>
              </a:r>
              <a:endParaRPr lang="en-US" altLang="zh-CN" sz="1200">
                <a:solidFill>
                  <a:srgbClr val="067D17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</a:rPr>
                <a:t>     </a:t>
              </a:r>
              <a:r>
                <a:rPr lang="zh-CN" altLang="en-US" sz="1200">
                  <a:solidFill>
                    <a:srgbClr val="067D17"/>
                  </a:solidFill>
                </a:rPr>
                <a:t>祝好 </a:t>
              </a:r>
              <a:r>
                <a:rPr lang="en-US" altLang="zh-CN" sz="1200">
                  <a:solidFill>
                    <a:srgbClr val="067D17"/>
                  </a:solidFill>
                </a:rPr>
                <a:t>~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>
                  <a:solidFill>
                    <a:srgbClr val="067D17"/>
                  </a:solidFill>
                </a:rPr>
                <a:t>"""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DF30FE9B-5B2F-323A-20E4-3F5A8A11D035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4ED2A52-8635-A88A-F010-7FC20658493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8BD392D-28A7-58B7-74DE-D5C6F0BADA2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7236B1D-44A0-829B-2993-C7EC8AC6EE2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DB074C92-AA9B-E15F-6DB3-394C400A278A}"/>
              </a:ext>
            </a:extLst>
          </p:cNvPr>
          <p:cNvSpPr txBox="1">
            <a:spLocks/>
          </p:cNvSpPr>
          <p:nvPr/>
        </p:nvSpPr>
        <p:spPr>
          <a:xfrm>
            <a:off x="5949944" y="957636"/>
            <a:ext cx="4771457" cy="457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常见的转义字符：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DF913D3-3B55-932F-DC2E-624DDB249FB2}"/>
              </a:ext>
            </a:extLst>
          </p:cNvPr>
          <p:cNvSpPr/>
          <p:nvPr/>
        </p:nvSpPr>
        <p:spPr>
          <a:xfrm>
            <a:off x="1393268" y="2877533"/>
            <a:ext cx="2778290" cy="348335"/>
          </a:xfrm>
          <a:prstGeom prst="roundRect">
            <a:avLst>
              <a:gd name="adj" fmla="val 160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67D17"/>
                </a:solidFill>
              </a:rPr>
              <a:t>'It's very interesting'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CC1C06-9E3E-209D-B0D5-8E8247016B31}"/>
              </a:ext>
            </a:extLst>
          </p:cNvPr>
          <p:cNvSpPr/>
          <p:nvPr/>
        </p:nvSpPr>
        <p:spPr>
          <a:xfrm>
            <a:off x="1393268" y="2877533"/>
            <a:ext cx="2778290" cy="348335"/>
          </a:xfrm>
          <a:prstGeom prst="roundRect">
            <a:avLst>
              <a:gd name="adj" fmla="val 1600"/>
            </a:avLst>
          </a:prstGeom>
          <a:solidFill>
            <a:srgbClr val="F6F6F6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067D17"/>
                </a:solidFill>
              </a:rPr>
              <a:t>'It\'s very interesting'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8F591BD2-8F5C-00F1-BBA7-4B7B76B18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853579"/>
              </p:ext>
            </p:extLst>
          </p:nvPr>
        </p:nvGraphicFramePr>
        <p:xfrm>
          <a:off x="6378709" y="1511888"/>
          <a:ext cx="5309369" cy="2534160"/>
        </p:xfrm>
        <a:graphic>
          <a:graphicData uri="http://schemas.openxmlformats.org/drawingml/2006/table">
            <a:tbl>
              <a:tblPr/>
              <a:tblGrid>
                <a:gridCol w="702835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744544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3861990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转义字符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名称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作用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\'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单引号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表示单引号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'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\"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双引号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表示双引号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"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\n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换行符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开始新的一行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换行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\t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制表符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增加缩进，缩进一个制表符（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tab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）的大小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</a:tbl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80AD64-0D51-EADF-88CC-346D6A16DE59}"/>
              </a:ext>
            </a:extLst>
          </p:cNvPr>
          <p:cNvGrpSpPr/>
          <p:nvPr/>
        </p:nvGrpSpPr>
        <p:grpSpPr>
          <a:xfrm>
            <a:off x="853547" y="6303351"/>
            <a:ext cx="10834531" cy="348335"/>
            <a:chOff x="4685665" y="1834757"/>
            <a:chExt cx="10535544" cy="348335"/>
          </a:xfrm>
        </p:grpSpPr>
        <p:sp>
          <p:nvSpPr>
            <p:cNvPr id="20" name="ComponentBackground2">
              <a:extLst>
                <a:ext uri="{FF2B5EF4-FFF2-40B4-BE49-F238E27FC236}">
                  <a16:creationId xmlns:a16="http://schemas.microsoft.com/office/drawing/2014/main" id="{ADCDBF6D-41F7-9F04-9D06-49394478519B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字符：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是文本世界的基本单位，一个字母、一个数字、一个标点符号、一个汉字等都是一个字符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21" name="Shape2">
              <a:extLst>
                <a:ext uri="{FF2B5EF4-FFF2-40B4-BE49-F238E27FC236}">
                  <a16:creationId xmlns:a16="http://schemas.microsoft.com/office/drawing/2014/main" id="{F39342C0-11A8-2C8B-FCFB-9A52BEA4498E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760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657DC5-73C0-6202-35CC-42D17B0BC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756587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字符串的定义方式</a:t>
            </a:r>
            <a:r>
              <a:rPr lang="en-US" altLang="zh-CN"/>
              <a:t>?</a:t>
            </a:r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zh-CN" altLang="en-US" sz="1600"/>
              <a:t>单引号（</a:t>
            </a:r>
            <a:r>
              <a:rPr lang="en-US" altLang="zh-CN" sz="1600">
                <a:solidFill>
                  <a:srgbClr val="067D17"/>
                </a:solidFill>
              </a:rPr>
              <a:t>'Python'</a:t>
            </a:r>
            <a:r>
              <a:rPr lang="zh-CN" altLang="en-US" sz="1600"/>
              <a:t>）、双引号</a:t>
            </a:r>
            <a:r>
              <a:rPr lang="en-US" altLang="zh-CN" sz="1600"/>
              <a:t>(</a:t>
            </a:r>
            <a:r>
              <a:rPr lang="en-US" altLang="zh-CN" sz="1600">
                <a:solidFill>
                  <a:srgbClr val="067D17"/>
                </a:solidFill>
              </a:rPr>
              <a:t>"Python"</a:t>
            </a:r>
            <a:r>
              <a:rPr lang="en-US" altLang="zh-CN" sz="1600"/>
              <a:t>)</a:t>
            </a:r>
            <a:r>
              <a:rPr lang="zh-CN" altLang="en-US" sz="1600"/>
              <a:t>、三引号（</a:t>
            </a:r>
            <a:r>
              <a:rPr lang="en-US" altLang="zh-CN" sz="1600">
                <a:solidFill>
                  <a:srgbClr val="067D17"/>
                </a:solidFill>
              </a:rPr>
              <a:t>"""Python"""</a:t>
            </a:r>
            <a:r>
              <a:rPr lang="zh-CN" altLang="en-US" sz="1600"/>
              <a:t>）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常见的转义字符</a:t>
            </a:r>
            <a:r>
              <a:rPr lang="en-US" altLang="zh-CN"/>
              <a:t>?</a:t>
            </a:r>
          </a:p>
          <a:p>
            <a:pPr marL="648000" lvl="1" indent="-342900">
              <a:lnSpc>
                <a:spcPct val="200000"/>
              </a:lnSpc>
              <a:spcBef>
                <a:spcPts val="0"/>
              </a:spcBef>
            </a:pPr>
            <a:r>
              <a:rPr lang="en-US" altLang="zh-CN" sz="1600"/>
              <a:t>\' </a:t>
            </a:r>
            <a:r>
              <a:rPr lang="zh-CN" altLang="en-US" sz="1600"/>
              <a:t>（单引号）、</a:t>
            </a:r>
            <a:r>
              <a:rPr lang="en-US" altLang="zh-CN" sz="1600"/>
              <a:t>\" </a:t>
            </a:r>
            <a:r>
              <a:rPr lang="zh-CN" altLang="en-US" sz="1600"/>
              <a:t>（双引号）、</a:t>
            </a:r>
            <a:r>
              <a:rPr lang="en-US" altLang="zh-CN" sz="1600"/>
              <a:t>\n </a:t>
            </a:r>
            <a:r>
              <a:rPr lang="zh-CN" altLang="en-US" sz="1600"/>
              <a:t>（换行符）、</a:t>
            </a:r>
            <a:r>
              <a:rPr lang="en-US" altLang="zh-CN" sz="1600"/>
              <a:t>\t </a:t>
            </a:r>
            <a:r>
              <a:rPr lang="zh-CN" altLang="en-US" sz="1600"/>
              <a:t>（制表符）</a:t>
            </a:r>
            <a:endParaRPr lang="en-US" altLang="zh-CN" sz="1600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字符串的使用原则</a:t>
            </a:r>
            <a:r>
              <a:rPr lang="en-US" altLang="zh-CN"/>
              <a:t>?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单引号 与 双引号是等效的，项目中保持一种写法即可。</a:t>
            </a:r>
            <a:endParaRPr lang="en-US" altLang="zh-CN" sz="160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三引号：多行字符串等场景</a:t>
            </a:r>
          </a:p>
        </p:txBody>
      </p:sp>
    </p:spTree>
    <p:extLst>
      <p:ext uri="{BB962C8B-B14F-4D97-AF65-F5344CB8AC3E}">
        <p14:creationId xmlns:p14="http://schemas.microsoft.com/office/powerpoint/2010/main" val="152011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CAF45B-D4EC-9429-D444-10EAD203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很多时候，我们需要将多个字符串拼接起来，可以直接使用（</a:t>
            </a:r>
            <a:r>
              <a:rPr lang="en-US" altLang="zh-CN"/>
              <a:t>+</a:t>
            </a:r>
            <a:r>
              <a:rPr lang="zh-CN" altLang="en-US"/>
              <a:t>）进行拼接，方式如下：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7586C03-BDB2-06C0-FA60-8D96B60C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字符串拼接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3297EBD-B2AF-D4BC-FDAF-1C77BE5FEEFB}"/>
              </a:ext>
            </a:extLst>
          </p:cNvPr>
          <p:cNvGrpSpPr/>
          <p:nvPr/>
        </p:nvGrpSpPr>
        <p:grpSpPr>
          <a:xfrm>
            <a:off x="802147" y="6259325"/>
            <a:ext cx="10834531" cy="348335"/>
            <a:chOff x="4685665" y="1834757"/>
            <a:chExt cx="10535544" cy="348335"/>
          </a:xfrm>
        </p:grpSpPr>
        <p:sp>
          <p:nvSpPr>
            <p:cNvPr id="6" name="ComponentBackground2">
              <a:extLst>
                <a:ext uri="{FF2B5EF4-FFF2-40B4-BE49-F238E27FC236}">
                  <a16:creationId xmlns:a16="http://schemas.microsoft.com/office/drawing/2014/main" id="{82F9275D-8E0F-24B3-205D-E73161C4B583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+ 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号可以用来拼接两个字符串，但是无法将非字符串与字符串进行拼接（非字符串类型需要转换为字符串类型）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7" name="Shape2">
              <a:extLst>
                <a:ext uri="{FF2B5EF4-FFF2-40B4-BE49-F238E27FC236}">
                  <a16:creationId xmlns:a16="http://schemas.microsoft.com/office/drawing/2014/main" id="{36A8730F-B050-B952-CA38-1F032C21F8E5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8" name="组合 2">
            <a:extLst>
              <a:ext uri="{FF2B5EF4-FFF2-40B4-BE49-F238E27FC236}">
                <a16:creationId xmlns:a16="http://schemas.microsoft.com/office/drawing/2014/main" id="{6633B0A9-39B2-C730-850A-DE13277DD22D}"/>
              </a:ext>
            </a:extLst>
          </p:cNvPr>
          <p:cNvGrpSpPr/>
          <p:nvPr/>
        </p:nvGrpSpPr>
        <p:grpSpPr>
          <a:xfrm>
            <a:off x="932630" y="1531940"/>
            <a:ext cx="5163370" cy="1841882"/>
            <a:chOff x="2297719" y="3660322"/>
            <a:chExt cx="5689074" cy="184199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F3937D5-6C7C-45F0-CB86-64C3169741A9}"/>
                </a:ext>
              </a:extLst>
            </p:cNvPr>
            <p:cNvSpPr/>
            <p:nvPr/>
          </p:nvSpPr>
          <p:spPr>
            <a:xfrm>
              <a:off x="2297728" y="3660322"/>
              <a:ext cx="5689065" cy="1841992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slogan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黑马程序员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成就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IT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黑马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  </a:t>
              </a:r>
              <a:r>
                <a:rPr lang="en-US" altLang="zh-CN" sz="12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多个字符串字面量直接写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(slogan)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slogan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黑马程序员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成就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IT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黑马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 </a:t>
              </a:r>
              <a:r>
                <a:rPr lang="en-US" altLang="zh-CN" sz="12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# + </a:t>
              </a:r>
              <a:r>
                <a:rPr lang="zh-CN" altLang="en-US" sz="1200">
                  <a:solidFill>
                    <a:schemeClr val="bg1">
                      <a:lumMod val="65000"/>
                    </a:schemeClr>
                  </a:solidFill>
                  <a:latin typeface="Fira Code" panose="020B0809050000020004" pitchFamily="49" charset="0"/>
                </a:rPr>
                <a:t>号拼接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(slogan)</a:t>
              </a: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1B52D661-63BC-C48E-CDC7-D04A331F3FA7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F907EFD3-7E8B-5D11-C798-6DC2B1F1BC5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2CA9ADE-150E-3D7C-AFC0-3F0CFBB16E3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3E04A3C-1CAC-833A-E629-E94BCE1F9E6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2">
            <a:extLst>
              <a:ext uri="{FF2B5EF4-FFF2-40B4-BE49-F238E27FC236}">
                <a16:creationId xmlns:a16="http://schemas.microsoft.com/office/drawing/2014/main" id="{D0C446C2-28FE-1237-C3C4-0A145747FF04}"/>
              </a:ext>
            </a:extLst>
          </p:cNvPr>
          <p:cNvGrpSpPr/>
          <p:nvPr/>
        </p:nvGrpSpPr>
        <p:grpSpPr>
          <a:xfrm>
            <a:off x="6361986" y="1531940"/>
            <a:ext cx="5163370" cy="1841882"/>
            <a:chOff x="2297719" y="3660322"/>
            <a:chExt cx="5689074" cy="184199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ABCAF12-1917-80A3-6662-98C086683B4F}"/>
                </a:ext>
              </a:extLst>
            </p:cNvPr>
            <p:cNvSpPr/>
            <p:nvPr/>
          </p:nvSpPr>
          <p:spPr>
            <a:xfrm>
              <a:off x="2297728" y="3660322"/>
              <a:ext cx="5689065" cy="1841992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s1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人生苦短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s2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吉多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·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范罗苏姆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+ s1 +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 , " 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+ s2)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6" name="矩形: 圆顶角 15">
              <a:extLst>
                <a:ext uri="{FF2B5EF4-FFF2-40B4-BE49-F238E27FC236}">
                  <a16:creationId xmlns:a16="http://schemas.microsoft.com/office/drawing/2014/main" id="{A791C3D9-FA58-9FE7-B917-27365D752C1F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2F28F46-83C2-916D-A6AE-D8EDA33FCCC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5581EEF-0849-8DAE-458A-3D0C4220F74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B0DA105-2AD5-AB6B-092D-651FD412345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31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8A7736-172F-59E0-D29A-1C8DE714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完成如下字符串拼接的需求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E186D9-C9AE-342A-6C31-87F7BCA3A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048228"/>
          </a:xfrm>
        </p:spPr>
        <p:txBody>
          <a:bodyPr/>
          <a:lstStyle/>
          <a:p>
            <a:r>
              <a:rPr lang="zh-CN" altLang="en-US"/>
              <a:t>根据自己的实际情况，输出个人的详细信息，具体结构如下：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"</a:t>
            </a:r>
            <a:r>
              <a:rPr lang="zh-CN" altLang="en-US">
                <a:solidFill>
                  <a:srgbClr val="C00000"/>
                </a:solidFill>
              </a:rPr>
              <a:t>大家好，我是</a:t>
            </a:r>
            <a:r>
              <a:rPr lang="zh-CN" altLang="en-US" b="1">
                <a:solidFill>
                  <a:srgbClr val="C00000"/>
                </a:solidFill>
              </a:rPr>
              <a:t>涛哥</a:t>
            </a:r>
            <a:r>
              <a:rPr lang="zh-CN" altLang="en-US">
                <a:solidFill>
                  <a:srgbClr val="C00000"/>
                </a:solidFill>
              </a:rPr>
              <a:t>，今年</a:t>
            </a:r>
            <a:r>
              <a:rPr lang="en-US" altLang="zh-CN" b="1">
                <a:solidFill>
                  <a:srgbClr val="C00000"/>
                </a:solidFill>
              </a:rPr>
              <a:t>18</a:t>
            </a:r>
            <a:r>
              <a:rPr lang="zh-CN" altLang="en-US" b="1">
                <a:solidFill>
                  <a:srgbClr val="C00000"/>
                </a:solidFill>
              </a:rPr>
              <a:t>岁</a:t>
            </a:r>
            <a:r>
              <a:rPr lang="zh-CN" altLang="en-US">
                <a:solidFill>
                  <a:srgbClr val="C00000"/>
                </a:solidFill>
              </a:rPr>
              <a:t>，学习的专业是</a:t>
            </a:r>
            <a:r>
              <a:rPr lang="zh-CN" altLang="en-US" b="1">
                <a:solidFill>
                  <a:srgbClr val="C00000"/>
                </a:solidFill>
              </a:rPr>
              <a:t>软件工程</a:t>
            </a:r>
            <a:r>
              <a:rPr lang="zh-CN" altLang="en-US">
                <a:solidFill>
                  <a:srgbClr val="C00000"/>
                </a:solidFill>
              </a:rPr>
              <a:t>，爱好</a:t>
            </a:r>
            <a:r>
              <a:rPr lang="en-US" altLang="zh-CN" b="1">
                <a:solidFill>
                  <a:srgbClr val="C00000"/>
                </a:solidFill>
              </a:rPr>
              <a:t>Python</a:t>
            </a:r>
            <a:r>
              <a:rPr lang="zh-CN" altLang="en-US" b="1">
                <a:solidFill>
                  <a:srgbClr val="C00000"/>
                </a:solidFill>
              </a:rPr>
              <a:t>、</a:t>
            </a:r>
            <a:r>
              <a:rPr lang="en-US" altLang="zh-CN" b="1">
                <a:solidFill>
                  <a:srgbClr val="C00000"/>
                </a:solidFill>
              </a:rPr>
              <a:t>Java</a:t>
            </a:r>
            <a:r>
              <a:rPr lang="en-US" altLang="zh-CN">
                <a:solidFill>
                  <a:srgbClr val="C00000"/>
                </a:solidFill>
              </a:rPr>
              <a:t>"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18B217E-005D-335B-A327-8A7A1E846F42}"/>
              </a:ext>
            </a:extLst>
          </p:cNvPr>
          <p:cNvCxnSpPr>
            <a:cxnSpLocks/>
          </p:cNvCxnSpPr>
          <p:nvPr/>
        </p:nvCxnSpPr>
        <p:spPr>
          <a:xfrm>
            <a:off x="3142526" y="1938759"/>
            <a:ext cx="45720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2E4DC2-856F-A052-3997-832FC2C4A8D1}"/>
              </a:ext>
            </a:extLst>
          </p:cNvPr>
          <p:cNvCxnSpPr>
            <a:cxnSpLocks/>
          </p:cNvCxnSpPr>
          <p:nvPr/>
        </p:nvCxnSpPr>
        <p:spPr>
          <a:xfrm>
            <a:off x="4151452" y="1921398"/>
            <a:ext cx="45720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D5899C-1918-D07C-85A2-DC6E08613274}"/>
              </a:ext>
            </a:extLst>
          </p:cNvPr>
          <p:cNvCxnSpPr>
            <a:cxnSpLocks/>
          </p:cNvCxnSpPr>
          <p:nvPr/>
        </p:nvCxnSpPr>
        <p:spPr>
          <a:xfrm>
            <a:off x="5999794" y="1938759"/>
            <a:ext cx="8184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C4E7B22-C0DA-21FC-343B-E1364FF060EB}"/>
              </a:ext>
            </a:extLst>
          </p:cNvPr>
          <p:cNvCxnSpPr>
            <a:cxnSpLocks/>
          </p:cNvCxnSpPr>
          <p:nvPr/>
        </p:nvCxnSpPr>
        <p:spPr>
          <a:xfrm>
            <a:off x="7429688" y="1938759"/>
            <a:ext cx="14236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2">
            <a:extLst>
              <a:ext uri="{FF2B5EF4-FFF2-40B4-BE49-F238E27FC236}">
                <a16:creationId xmlns:a16="http://schemas.microsoft.com/office/drawing/2014/main" id="{572F1342-7239-CB30-4EBC-B83736CF61BF}"/>
              </a:ext>
            </a:extLst>
          </p:cNvPr>
          <p:cNvGrpSpPr/>
          <p:nvPr/>
        </p:nvGrpSpPr>
        <p:grpSpPr>
          <a:xfrm>
            <a:off x="1871965" y="2317290"/>
            <a:ext cx="9735976" cy="2349303"/>
            <a:chOff x="2297718" y="3660321"/>
            <a:chExt cx="10727235" cy="234944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F15ED75-2797-4476-1AFD-70CC83C0F012}"/>
                </a:ext>
              </a:extLst>
            </p:cNvPr>
            <p:cNvSpPr/>
            <p:nvPr/>
          </p:nvSpPr>
          <p:spPr>
            <a:xfrm>
              <a:off x="2297727" y="3660321"/>
              <a:ext cx="10727226" cy="2349443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涛哥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age = </a:t>
              </a:r>
              <a:r>
                <a:rPr lang="en-US" altLang="zh-CN" sz="1200">
                  <a:solidFill>
                    <a:srgbClr val="1750EB"/>
                  </a:solidFill>
                  <a:latin typeface="Fira Code" panose="020B0809050000020004" pitchFamily="49" charset="0"/>
                </a:rPr>
                <a:t>18</a:t>
              </a:r>
              <a:b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pro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latin typeface="Courier New" panose="02070309020205020404" pitchFamily="49" charset="0"/>
                </a:rPr>
                <a:t>软件工程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hobby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、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Java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message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大家好，我是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name +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，今年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str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(age) +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岁，学习的专业是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pro +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 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，爱好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+ hobby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(message)</a:t>
              </a: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98D1C644-CDB9-820E-2F5A-4259234BF424}"/>
                </a:ext>
              </a:extLst>
            </p:cNvPr>
            <p:cNvSpPr/>
            <p:nvPr/>
          </p:nvSpPr>
          <p:spPr>
            <a:xfrm>
              <a:off x="2297718" y="3660322"/>
              <a:ext cx="1072722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EFDFD9A-15DA-2AE9-43EE-7A25B7FAA86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676D540-F2EE-895B-B860-968726D09B0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8A08EF9-8B56-0A9A-6403-6714A6526EB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Shape4">
            <a:extLst>
              <a:ext uri="{FF2B5EF4-FFF2-40B4-BE49-F238E27FC236}">
                <a16:creationId xmlns:a16="http://schemas.microsoft.com/office/drawing/2014/main" id="{1FDC6EF5-BB60-D45A-C1BC-1ABB8CE5940C}"/>
              </a:ext>
            </a:extLst>
          </p:cNvPr>
          <p:cNvSpPr/>
          <p:nvPr/>
        </p:nvSpPr>
        <p:spPr>
          <a:xfrm>
            <a:off x="10651566" y="3080010"/>
            <a:ext cx="1540434" cy="257795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   拼接繁琐</a:t>
            </a:r>
          </a:p>
        </p:txBody>
      </p:sp>
      <p:sp>
        <p:nvSpPr>
          <p:cNvPr id="20" name="Shape4">
            <a:extLst>
              <a:ext uri="{FF2B5EF4-FFF2-40B4-BE49-F238E27FC236}">
                <a16:creationId xmlns:a16="http://schemas.microsoft.com/office/drawing/2014/main" id="{DF916890-D4AD-FACD-F4C3-E5C4530754BE}"/>
              </a:ext>
            </a:extLst>
          </p:cNvPr>
          <p:cNvSpPr/>
          <p:nvPr/>
        </p:nvSpPr>
        <p:spPr>
          <a:xfrm>
            <a:off x="10651566" y="3916252"/>
            <a:ext cx="1540434" cy="257795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   类型转换</a:t>
            </a:r>
          </a:p>
        </p:txBody>
      </p:sp>
      <p:sp>
        <p:nvSpPr>
          <p:cNvPr id="21" name="Shape4">
            <a:extLst>
              <a:ext uri="{FF2B5EF4-FFF2-40B4-BE49-F238E27FC236}">
                <a16:creationId xmlns:a16="http://schemas.microsoft.com/office/drawing/2014/main" id="{19F63F8C-C8B3-DC9B-5DBC-6D03D13F4B44}"/>
              </a:ext>
            </a:extLst>
          </p:cNvPr>
          <p:cNvSpPr/>
          <p:nvPr/>
        </p:nvSpPr>
        <p:spPr>
          <a:xfrm>
            <a:off x="10651566" y="3498131"/>
            <a:ext cx="1540434" cy="257795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000"/>
              <a:t> 破坏字符串完整性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A47C935-EE39-C9E4-D6DF-447223F3FF38}"/>
              </a:ext>
            </a:extLst>
          </p:cNvPr>
          <p:cNvSpPr/>
          <p:nvPr/>
        </p:nvSpPr>
        <p:spPr>
          <a:xfrm>
            <a:off x="5403447" y="5089109"/>
            <a:ext cx="1867610" cy="542334"/>
          </a:xfrm>
          <a:prstGeom prst="roundRect">
            <a:avLst/>
          </a:prstGeom>
          <a:solidFill>
            <a:srgbClr val="AD2B26">
              <a:alpha val="10196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>
                    <a:lumMod val="50000"/>
                  </a:schemeClr>
                </a:solidFill>
              </a:rPr>
              <a:t>字符串格式化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38D4875-F01B-96AE-7174-992C1FFDC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915" y="4402412"/>
            <a:ext cx="1430656" cy="143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4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D6FA-6DE8-8892-9ADA-A9C6D2E4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F1121-3E86-35F1-6CF9-1BE7E68C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426750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通过 </a:t>
            </a:r>
            <a:r>
              <a:rPr lang="en-US" altLang="zh-CN">
                <a:solidFill>
                  <a:srgbClr val="C00000"/>
                </a:solidFill>
              </a:rPr>
              <a:t>%</a:t>
            </a:r>
            <a:r>
              <a:rPr lang="zh-CN" altLang="en-US">
                <a:solidFill>
                  <a:srgbClr val="C00000"/>
                </a:solidFill>
              </a:rPr>
              <a:t>占位符</a:t>
            </a:r>
            <a:r>
              <a:rPr lang="zh-CN" altLang="en-US"/>
              <a:t> 的形式完成字符串和变量的快速拼接。（其中 </a:t>
            </a:r>
            <a:r>
              <a:rPr lang="en-US" altLang="zh-CN">
                <a:solidFill>
                  <a:srgbClr val="C00000"/>
                </a:solidFill>
              </a:rPr>
              <a:t>%</a:t>
            </a:r>
            <a:r>
              <a:rPr lang="en-US" altLang="zh-CN"/>
              <a:t> </a:t>
            </a:r>
            <a:r>
              <a:rPr lang="zh-CN" altLang="en-US"/>
              <a:t>表示我要占位，</a:t>
            </a:r>
            <a:r>
              <a:rPr lang="en-US" altLang="zh-CN">
                <a:solidFill>
                  <a:srgbClr val="C00000"/>
                </a:solidFill>
              </a:rPr>
              <a:t>s</a:t>
            </a:r>
            <a:r>
              <a:rPr lang="zh-CN" altLang="en-US"/>
              <a:t>表示将变量转为字符串放入占位的位置）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2D9EAE-B8D2-0541-C193-BC67B7F31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字符串格式化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D4FD2878-A050-F888-E0A4-F4C981BFFE1A}"/>
              </a:ext>
            </a:extLst>
          </p:cNvPr>
          <p:cNvGrpSpPr/>
          <p:nvPr/>
        </p:nvGrpSpPr>
        <p:grpSpPr>
          <a:xfrm>
            <a:off x="6424741" y="1485643"/>
            <a:ext cx="5163370" cy="1431179"/>
            <a:chOff x="2297719" y="3660322"/>
            <a:chExt cx="5689074" cy="14312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2B024E6-8E5A-1C18-36E7-E8F2C1B0A8C5}"/>
                </a:ext>
              </a:extLst>
            </p:cNvPr>
            <p:cNvSpPr/>
            <p:nvPr/>
          </p:nvSpPr>
          <p:spPr>
            <a:xfrm>
              <a:off x="2297728" y="3660322"/>
              <a:ext cx="5689065" cy="1431264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s1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人生苦短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s2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吉多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·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范罗苏姆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%s , %s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% (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s1,s2))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63740E4-7C13-540F-3553-16B5E3E97DD0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3AA382C-9FDF-C519-7659-61BF096E1C2A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6595D6B-AE07-E349-130C-2FADF95A134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D2609EE-1ADB-9B9B-875F-7F09527CB815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F4EBB7EF-75B9-D54F-11E7-8A98ED963943}"/>
              </a:ext>
            </a:extLst>
          </p:cNvPr>
          <p:cNvGrpSpPr/>
          <p:nvPr/>
        </p:nvGrpSpPr>
        <p:grpSpPr>
          <a:xfrm>
            <a:off x="992356" y="1485643"/>
            <a:ext cx="5163370" cy="1431179"/>
            <a:chOff x="2297719" y="3660322"/>
            <a:chExt cx="5689074" cy="143126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B6370AF-F388-CDDF-D7E5-49E5D37CC892}"/>
                </a:ext>
              </a:extLst>
            </p:cNvPr>
            <p:cNvSpPr/>
            <p:nvPr/>
          </p:nvSpPr>
          <p:spPr>
            <a:xfrm>
              <a:off x="2297728" y="3660322"/>
              <a:ext cx="5689065" cy="1431264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s1 = 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涛哥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大家好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我是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%s 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欢迎大家进入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课程的学习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% 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s1)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715C067D-B17D-C350-9979-78EBC463C107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54EBC28E-BFDF-2571-9FE6-BED5E36C784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4CBE460-6E00-6343-8B4E-B806096CD8E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2730E61-6A44-A0A9-09F6-3E7FD7AD6CF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409102-482E-A4E7-86B4-C935C16072E0}"/>
              </a:ext>
            </a:extLst>
          </p:cNvPr>
          <p:cNvSpPr/>
          <p:nvPr/>
        </p:nvSpPr>
        <p:spPr>
          <a:xfrm>
            <a:off x="2656388" y="2338086"/>
            <a:ext cx="329879" cy="24306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263F927-C99E-B7E8-4552-4BC0A503DFC3}"/>
              </a:ext>
            </a:extLst>
          </p:cNvPr>
          <p:cNvSpPr/>
          <p:nvPr/>
        </p:nvSpPr>
        <p:spPr>
          <a:xfrm>
            <a:off x="5737740" y="2338085"/>
            <a:ext cx="241139" cy="243069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FEEA9FB-B60A-1277-0066-4F3B933D55A8}"/>
              </a:ext>
            </a:extLst>
          </p:cNvPr>
          <p:cNvCxnSpPr>
            <a:stCxn id="17" idx="2"/>
            <a:endCxn id="16" idx="2"/>
          </p:cNvCxnSpPr>
          <p:nvPr/>
        </p:nvCxnSpPr>
        <p:spPr>
          <a:xfrm rot="5400000">
            <a:off x="4339819" y="1062663"/>
            <a:ext cx="1" cy="3036982"/>
          </a:xfrm>
          <a:prstGeom prst="curvedConnector3">
            <a:avLst>
              <a:gd name="adj1" fmla="val 22860100000"/>
            </a:avLst>
          </a:prstGeom>
          <a:ln w="12700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D2A00A1-5ABE-1D24-BC8E-E74FD0BC0903}"/>
              </a:ext>
            </a:extLst>
          </p:cNvPr>
          <p:cNvSpPr/>
          <p:nvPr/>
        </p:nvSpPr>
        <p:spPr>
          <a:xfrm>
            <a:off x="8260464" y="2617807"/>
            <a:ext cx="252803" cy="24306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4291AA7-592C-823C-3179-D7286064BA7C}"/>
              </a:ext>
            </a:extLst>
          </p:cNvPr>
          <p:cNvSpPr/>
          <p:nvPr/>
        </p:nvSpPr>
        <p:spPr>
          <a:xfrm>
            <a:off x="8723362" y="2617806"/>
            <a:ext cx="252802" cy="24306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2956B5D-CD22-BB9A-D087-1891F02EDEF3}"/>
              </a:ext>
            </a:extLst>
          </p:cNvPr>
          <p:cNvSpPr/>
          <p:nvPr/>
        </p:nvSpPr>
        <p:spPr>
          <a:xfrm>
            <a:off x="9402596" y="2606229"/>
            <a:ext cx="241139" cy="243069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CD92C2C-D5F7-FE11-6E8F-A61D34B7EB03}"/>
              </a:ext>
            </a:extLst>
          </p:cNvPr>
          <p:cNvSpPr/>
          <p:nvPr/>
        </p:nvSpPr>
        <p:spPr>
          <a:xfrm>
            <a:off x="9683193" y="2606230"/>
            <a:ext cx="241139" cy="243069"/>
          </a:xfrm>
          <a:prstGeom prst="roundRect">
            <a:avLst>
              <a:gd name="adj" fmla="val 50000"/>
            </a:avLst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连接符: 肘形 20">
            <a:extLst>
              <a:ext uri="{FF2B5EF4-FFF2-40B4-BE49-F238E27FC236}">
                <a16:creationId xmlns:a16="http://schemas.microsoft.com/office/drawing/2014/main" id="{C5C865D4-72E5-4A6F-18A6-54784108A428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8949227" y="2286937"/>
            <a:ext cx="11578" cy="1136300"/>
          </a:xfrm>
          <a:prstGeom prst="curvedConnector3">
            <a:avLst>
              <a:gd name="adj1" fmla="val 2074434"/>
            </a:avLst>
          </a:prstGeom>
          <a:ln w="12700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20">
            <a:extLst>
              <a:ext uri="{FF2B5EF4-FFF2-40B4-BE49-F238E27FC236}">
                <a16:creationId xmlns:a16="http://schemas.microsoft.com/office/drawing/2014/main" id="{CDEC3357-3AF5-7355-259F-03F49BA802AD}"/>
              </a:ext>
            </a:extLst>
          </p:cNvPr>
          <p:cNvCxnSpPr>
            <a:cxnSpLocks/>
            <a:stCxn id="25" idx="0"/>
            <a:endCxn id="23" idx="0"/>
          </p:cNvCxnSpPr>
          <p:nvPr/>
        </p:nvCxnSpPr>
        <p:spPr>
          <a:xfrm rot="16200000" flipH="1" flipV="1">
            <a:off x="9320975" y="2135018"/>
            <a:ext cx="11576" cy="954000"/>
          </a:xfrm>
          <a:prstGeom prst="curvedConnector3">
            <a:avLst>
              <a:gd name="adj1" fmla="val -1974775"/>
            </a:avLst>
          </a:prstGeom>
          <a:ln w="12700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B824F12-C357-9497-D086-C805BBD29F6A}"/>
              </a:ext>
            </a:extLst>
          </p:cNvPr>
          <p:cNvGrpSpPr/>
          <p:nvPr/>
        </p:nvGrpSpPr>
        <p:grpSpPr>
          <a:xfrm>
            <a:off x="802147" y="6259325"/>
            <a:ext cx="10834531" cy="348335"/>
            <a:chOff x="4685665" y="1834757"/>
            <a:chExt cx="10535544" cy="348335"/>
          </a:xfrm>
        </p:grpSpPr>
        <p:sp>
          <p:nvSpPr>
            <p:cNvPr id="33" name="ComponentBackground2">
              <a:extLst>
                <a:ext uri="{FF2B5EF4-FFF2-40B4-BE49-F238E27FC236}">
                  <a16:creationId xmlns:a16="http://schemas.microsoft.com/office/drawing/2014/main" id="{34A2EAA9-5180-DA8C-F9DC-224EE845BCAE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前面有多少个占位符（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%s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），后面就需要有多少个变量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或数据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，前后数量需要一致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4" name="Shape2">
              <a:extLst>
                <a:ext uri="{FF2B5EF4-FFF2-40B4-BE49-F238E27FC236}">
                  <a16:creationId xmlns:a16="http://schemas.microsoft.com/office/drawing/2014/main" id="{BA4FB3D6-EF9C-DADB-3083-BA42CC3BE2C6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15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D0C67-4955-50AD-ECF8-BE0B10FA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BF8563-7699-0D88-BCDB-A3162FDA1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也可以通过 </a:t>
            </a:r>
            <a:r>
              <a:rPr lang="en-US" altLang="zh-CN">
                <a:solidFill>
                  <a:srgbClr val="C00000"/>
                </a:solidFill>
              </a:rPr>
              <a:t>f"</a:t>
            </a:r>
            <a:r>
              <a:rPr lang="zh-CN" altLang="en-US">
                <a:solidFill>
                  <a:srgbClr val="C00000"/>
                </a:solidFill>
              </a:rPr>
              <a:t>内容</a:t>
            </a:r>
            <a:r>
              <a:rPr lang="en-US" altLang="zh-CN">
                <a:solidFill>
                  <a:srgbClr val="C00000"/>
                </a:solidFill>
              </a:rPr>
              <a:t>{</a:t>
            </a:r>
            <a:r>
              <a:rPr lang="zh-CN" altLang="en-US">
                <a:solidFill>
                  <a:srgbClr val="C00000"/>
                </a:solidFill>
              </a:rPr>
              <a:t>变量</a:t>
            </a:r>
            <a:r>
              <a:rPr lang="en-US" altLang="zh-CN">
                <a:solidFill>
                  <a:srgbClr val="C00000"/>
                </a:solidFill>
              </a:rPr>
              <a:t>/</a:t>
            </a:r>
            <a:r>
              <a:rPr lang="zh-CN" altLang="en-US">
                <a:solidFill>
                  <a:srgbClr val="C00000"/>
                </a:solidFill>
              </a:rPr>
              <a:t>表达式</a:t>
            </a:r>
            <a:r>
              <a:rPr lang="en-US" altLang="zh-CN">
                <a:solidFill>
                  <a:srgbClr val="C00000"/>
                </a:solidFill>
              </a:rPr>
              <a:t>}" </a:t>
            </a:r>
            <a:r>
              <a:rPr lang="zh-CN" altLang="en-US"/>
              <a:t>的形式来完成快速格式化。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10AF130-DA1D-62E2-20D2-04BF0390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字符串格式化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AD97E8F9-E9BC-2261-E905-3EA40354449C}"/>
              </a:ext>
            </a:extLst>
          </p:cNvPr>
          <p:cNvGrpSpPr/>
          <p:nvPr/>
        </p:nvGrpSpPr>
        <p:grpSpPr>
          <a:xfrm>
            <a:off x="6362880" y="1500104"/>
            <a:ext cx="5163370" cy="1431179"/>
            <a:chOff x="2297719" y="3660322"/>
            <a:chExt cx="5689074" cy="1431264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4C25823-8F6E-AB84-24C8-FB229F2A769D}"/>
                </a:ext>
              </a:extLst>
            </p:cNvPr>
            <p:cNvSpPr/>
            <p:nvPr/>
          </p:nvSpPr>
          <p:spPr>
            <a:xfrm>
              <a:off x="2297728" y="3660322"/>
              <a:ext cx="5689065" cy="1431264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s1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人生苦短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s2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吉多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·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范罗苏姆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: </a:t>
              </a:r>
              <a:r>
                <a:rPr lang="en-US" altLang="zh-CN" sz="1200">
                  <a:solidFill>
                    <a:srgbClr val="0037A6"/>
                  </a:solidFill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s1</a:t>
              </a:r>
              <a:r>
                <a:rPr lang="en-US" altLang="zh-CN" sz="1200">
                  <a:solidFill>
                    <a:srgbClr val="0037A6"/>
                  </a:solidFill>
                  <a:latin typeface="Fira Code" panose="020B0809050000020004" pitchFamily="49" charset="0"/>
                </a:rPr>
                <a:t>}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, </a:t>
              </a:r>
              <a:r>
                <a:rPr lang="en-US" altLang="zh-CN" sz="1200">
                  <a:solidFill>
                    <a:srgbClr val="0037A6"/>
                  </a:solidFill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s2</a:t>
              </a:r>
              <a:r>
                <a:rPr lang="en-US" altLang="zh-CN" sz="1200">
                  <a:solidFill>
                    <a:srgbClr val="0037A6"/>
                  </a:solidFill>
                  <a:latin typeface="Fira Code" panose="020B0809050000020004" pitchFamily="49" charset="0"/>
                </a:rPr>
                <a:t>}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)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579956FC-544E-4139-272A-E90D9B2B4EB9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4B3853B-9DEC-EBB1-F97E-78BD022FBCB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95AD21F-8B8D-A50A-2220-FCEC09DBC81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3EB0721-DC23-4123-B639-F716CE44BCB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2">
            <a:extLst>
              <a:ext uri="{FF2B5EF4-FFF2-40B4-BE49-F238E27FC236}">
                <a16:creationId xmlns:a16="http://schemas.microsoft.com/office/drawing/2014/main" id="{05DFED22-FA63-6C3A-35A7-808ED45FEDB6}"/>
              </a:ext>
            </a:extLst>
          </p:cNvPr>
          <p:cNvGrpSpPr/>
          <p:nvPr/>
        </p:nvGrpSpPr>
        <p:grpSpPr>
          <a:xfrm>
            <a:off x="930495" y="1500104"/>
            <a:ext cx="5163370" cy="1431179"/>
            <a:chOff x="2297719" y="3660322"/>
            <a:chExt cx="5689074" cy="143126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8C569ED8-B80A-047D-3750-F8ABFA82A362}"/>
                </a:ext>
              </a:extLst>
            </p:cNvPr>
            <p:cNvSpPr/>
            <p:nvPr/>
          </p:nvSpPr>
          <p:spPr>
            <a:xfrm>
              <a:off x="2297728" y="3660322"/>
              <a:ext cx="5689065" cy="1431264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buNone/>
              </a:pPr>
              <a:endParaRPr lang="en-US" altLang="zh-CN" sz="1200">
                <a:solidFill>
                  <a:srgbClr val="080808"/>
                </a:solidFill>
                <a:latin typeface="Fira Code" panose="020B0809050000020004" pitchFamily="49" charset="0"/>
              </a:endParaRPr>
            </a:p>
            <a:p>
              <a:pPr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name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涛哥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大家好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我是</a:t>
              </a:r>
              <a:r>
                <a:rPr lang="en-US" altLang="zh-CN" sz="1200">
                  <a:solidFill>
                    <a:srgbClr val="067D17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欢迎大家进入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课程的学习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latin typeface="Fira Code" panose="020B0809050000020004" pitchFamily="49" charset="0"/>
                </a:rPr>
                <a:t>)</a:t>
              </a:r>
              <a:endPara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57C2937C-858F-AD04-A276-B1CCD87B5FE9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CEC855B-AD7C-B070-2EEB-24842EE0CA26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06C507B-1973-864D-31E8-A50E42D61D0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604EC67-2F7B-DEAE-C44C-126966C1BD6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794A24-7384-660C-E585-7A88BA8A8D6D}"/>
              </a:ext>
            </a:extLst>
          </p:cNvPr>
          <p:cNvSpPr/>
          <p:nvPr/>
        </p:nvSpPr>
        <p:spPr>
          <a:xfrm>
            <a:off x="1527858" y="2280212"/>
            <a:ext cx="121536" cy="24306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9C80C50-DAAF-B563-F478-F1755BEFFD0A}"/>
              </a:ext>
            </a:extLst>
          </p:cNvPr>
          <p:cNvSpPr/>
          <p:nvPr/>
        </p:nvSpPr>
        <p:spPr>
          <a:xfrm>
            <a:off x="6958315" y="2617807"/>
            <a:ext cx="121536" cy="243069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生成中...">
            <a:extLst>
              <a:ext uri="{FF2B5EF4-FFF2-40B4-BE49-F238E27FC236}">
                <a16:creationId xmlns:a16="http://schemas.microsoft.com/office/drawing/2014/main" id="{FB5B4C06-0F46-ADE0-D182-5D9662D2C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094" y="697592"/>
            <a:ext cx="1489509" cy="76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87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2D375A-7803-41B2-9667-FCF9F109C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392004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>
                <a:latin typeface="Consolas" panose="020B0609020204030204" pitchFamily="49" charset="0"/>
              </a:rPr>
              <a:t>字符串拼接使用什么符号</a:t>
            </a:r>
            <a:r>
              <a:rPr lang="en-US" altLang="zh-CN">
                <a:latin typeface="Consolas" panose="020B0609020204030204" pitchFamily="49" charset="0"/>
              </a:rPr>
              <a:t>? </a:t>
            </a:r>
            <a:r>
              <a:rPr lang="zh-CN" altLang="en-US">
                <a:latin typeface="Consolas" panose="020B0609020204030204" pitchFamily="49" charset="0"/>
              </a:rPr>
              <a:t>字符串能否和非字符串拼接</a:t>
            </a:r>
            <a:r>
              <a:rPr lang="en-US" altLang="zh-CN">
                <a:latin typeface="Consolas" panose="020B06090202040302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latin typeface="Consolas" panose="020B0609020204030204" pitchFamily="49" charset="0"/>
              </a:rPr>
              <a:t>+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latin typeface="Consolas" panose="020B0609020204030204" pitchFamily="49" charset="0"/>
              </a:rPr>
              <a:t>不能，只能拼接字符串，其他类型需要转换为字符串（</a:t>
            </a:r>
            <a:r>
              <a:rPr lang="en-US" altLang="zh-CN" sz="1400">
                <a:latin typeface="Consolas" panose="020B0609020204030204" pitchFamily="49" charset="0"/>
              </a:rPr>
              <a:t>str(..)</a:t>
            </a:r>
            <a:r>
              <a:rPr lang="zh-CN" altLang="en-US" sz="1400">
                <a:latin typeface="Consolas" panose="020B0609020204030204" pitchFamily="49" charset="0"/>
              </a:rPr>
              <a:t>）</a:t>
            </a:r>
            <a:endParaRPr lang="en-US" altLang="zh-CN" sz="1400">
              <a:latin typeface="Consolas" panose="020B06090202040302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Consolas" panose="020B0609020204030204" pitchFamily="49" charset="0"/>
              </a:rPr>
              <a:t>% </a:t>
            </a:r>
            <a:r>
              <a:rPr lang="zh-CN" altLang="en-US">
                <a:latin typeface="Consolas" panose="020B0609020204030204" pitchFamily="49" charset="0"/>
              </a:rPr>
              <a:t>这种字符串格式化的语法</a:t>
            </a:r>
            <a:r>
              <a:rPr lang="en-US" altLang="zh-CN">
                <a:latin typeface="Consolas" panose="020B0609020204030204" pitchFamily="49" charset="0"/>
              </a:rPr>
              <a:t>? </a:t>
            </a: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400">
                <a:solidFill>
                  <a:srgbClr val="363C3B"/>
                </a:solidFill>
                <a:latin typeface="Consolas" panose="020B0609020204030204" pitchFamily="49" charset="0"/>
                <a:ea typeface="阿里巴巴普惠体"/>
              </a:rPr>
              <a:t>语法：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"%s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 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" % 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变量</a:t>
            </a:r>
            <a:r>
              <a:rPr lang="zh-CN" altLang="en-US" sz="1400">
                <a:solidFill>
                  <a:srgbClr val="363C3B"/>
                </a:solidFill>
                <a:latin typeface="Consolas" panose="020B0609020204030204" pitchFamily="49" charset="0"/>
                <a:ea typeface="阿里巴巴普惠体"/>
              </a:rPr>
              <a:t> </a:t>
            </a:r>
            <a:r>
              <a:rPr lang="en-US" altLang="zh-CN" sz="1400">
                <a:solidFill>
                  <a:srgbClr val="363C3B"/>
                </a:solidFill>
                <a:latin typeface="Consolas" panose="020B0609020204030204" pitchFamily="49" charset="0"/>
                <a:ea typeface="阿里巴巴普惠体"/>
              </a:rPr>
              <a:t>/ 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"%s..%s" % (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变量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,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变量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  <a:ea typeface="阿里巴巴普惠体"/>
              </a:rPr>
              <a:t>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nsolas" panose="020B0609020204030204" pitchFamily="49" charset="0"/>
              <a:ea typeface="阿里巴巴普惠体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latin typeface="Consolas" panose="020B0609020204030204" pitchFamily="49" charset="0"/>
              </a:rPr>
              <a:t>f </a:t>
            </a:r>
            <a:r>
              <a:rPr lang="zh-CN" altLang="en-US">
                <a:latin typeface="Consolas" panose="020B0609020204030204" pitchFamily="49" charset="0"/>
              </a:rPr>
              <a:t>这种字符串格式化的语法</a:t>
            </a:r>
            <a:r>
              <a:rPr lang="en-US" altLang="zh-CN">
                <a:latin typeface="Consolas" panose="020B0609020204030204" pitchFamily="49" charset="0"/>
              </a:rPr>
              <a:t>?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latin typeface="Consolas" panose="020B0609020204030204" pitchFamily="49" charset="0"/>
              </a:rPr>
              <a:t>语法：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</a:rPr>
              <a:t> f"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</a:rPr>
              <a:t>内容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</a:rPr>
              <a:t>变量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</a:rPr>
              <a:t>/</a:t>
            </a:r>
            <a:r>
              <a:rPr lang="zh-CN" altLang="en-US" sz="1400">
                <a:solidFill>
                  <a:srgbClr val="C00000"/>
                </a:solidFill>
                <a:latin typeface="Consolas" panose="020B0609020204030204" pitchFamily="49" charset="0"/>
              </a:rPr>
              <a:t>表达式</a:t>
            </a:r>
            <a:r>
              <a:rPr lang="en-US" altLang="zh-CN" sz="1400">
                <a:solidFill>
                  <a:srgbClr val="C00000"/>
                </a:solidFill>
                <a:latin typeface="Consolas" panose="020B0609020204030204" pitchFamily="49" charset="0"/>
              </a:rPr>
              <a:t>}"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00B050"/>
                </a:solidFill>
                <a:latin typeface="Consolas" panose="020B0609020204030204" pitchFamily="49" charset="0"/>
              </a:rPr>
              <a:t>推荐</a:t>
            </a:r>
            <a:endParaRPr lang="en-US" altLang="zh-CN" sz="140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2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557269-A620-D2BA-89DE-DBA98BF0D5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3432" y="2583917"/>
            <a:ext cx="6967456" cy="66662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在程序中，如何获取到用户键盘输入的数据呢？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DA1919-FD10-048B-C8D7-921BAB95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362" y="1157966"/>
            <a:ext cx="6878168" cy="1482103"/>
          </a:xfrm>
          <a:prstGeom prst="roundRect">
            <a:avLst>
              <a:gd name="adj" fmla="val 7389"/>
            </a:avLst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3175D99-0CEE-47FE-20A4-1A9961511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5" t="5071" r="5264" b="5154"/>
          <a:stretch>
            <a:fillRect/>
          </a:stretch>
        </p:blipFill>
        <p:spPr>
          <a:xfrm>
            <a:off x="4610362" y="3373999"/>
            <a:ext cx="4562302" cy="1741140"/>
          </a:xfrm>
          <a:prstGeom prst="roundRect">
            <a:avLst>
              <a:gd name="adj" fmla="val 1937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8BE3B3E1-16A7-4685-F4E6-F562E3866545}"/>
              </a:ext>
            </a:extLst>
          </p:cNvPr>
          <p:cNvSpPr/>
          <p:nvPr/>
        </p:nvSpPr>
        <p:spPr>
          <a:xfrm>
            <a:off x="5280768" y="1157967"/>
            <a:ext cx="563141" cy="257226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B50866-9DCD-766B-B113-5DB18CB84E70}"/>
              </a:ext>
            </a:extLst>
          </p:cNvPr>
          <p:cNvSpPr/>
          <p:nvPr/>
        </p:nvSpPr>
        <p:spPr>
          <a:xfrm>
            <a:off x="5192536" y="1446794"/>
            <a:ext cx="563141" cy="262897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A8616F4-739E-07E6-7B35-48DF8604FE70}"/>
              </a:ext>
            </a:extLst>
          </p:cNvPr>
          <p:cNvSpPr/>
          <p:nvPr/>
        </p:nvSpPr>
        <p:spPr>
          <a:xfrm>
            <a:off x="5192536" y="1739492"/>
            <a:ext cx="830129" cy="262897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07328F6-6C15-ECAA-9E85-DB5FA526AF32}"/>
              </a:ext>
            </a:extLst>
          </p:cNvPr>
          <p:cNvSpPr/>
          <p:nvPr/>
        </p:nvSpPr>
        <p:spPr>
          <a:xfrm>
            <a:off x="5388737" y="2025668"/>
            <a:ext cx="1280195" cy="276296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CF1A8D-DC35-AC71-89C2-324ED35D96DA}"/>
              </a:ext>
            </a:extLst>
          </p:cNvPr>
          <p:cNvSpPr/>
          <p:nvPr/>
        </p:nvSpPr>
        <p:spPr>
          <a:xfrm>
            <a:off x="7267072" y="3588849"/>
            <a:ext cx="302508" cy="295633"/>
          </a:xfrm>
          <a:prstGeom prst="roundRect">
            <a:avLst/>
          </a:prstGeom>
          <a:solidFill>
            <a:srgbClr val="00B0F0">
              <a:alpha val="2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98DF982-B5FF-D417-0670-F8B768FD1994}"/>
              </a:ext>
            </a:extLst>
          </p:cNvPr>
          <p:cNvCxnSpPr>
            <a:stCxn id="12" idx="0"/>
            <a:endCxn id="9" idx="3"/>
          </p:cNvCxnSpPr>
          <p:nvPr/>
        </p:nvCxnSpPr>
        <p:spPr>
          <a:xfrm rot="16200000" flipV="1">
            <a:off x="5581699" y="1752221"/>
            <a:ext cx="2010606" cy="1662649"/>
          </a:xfrm>
          <a:prstGeom prst="curvedConnector2">
            <a:avLst/>
          </a:prstGeom>
          <a:ln w="12700"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08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6EAD-5752-DE5B-EA17-AAB0D101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A19CC2-FE97-5040-282B-9C7870F03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常见数据类型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输入与输出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运算符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6312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E0F943-ADF8-EBA9-C7C9-FC20C15F6D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输入与输出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1AB03F-6800-C4D2-5ECC-26B016BEC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D5045C-1944-F532-1D82-01C358148302}"/>
              </a:ext>
            </a:extLst>
          </p:cNvPr>
          <p:cNvSpPr txBox="1"/>
          <p:nvPr/>
        </p:nvSpPr>
        <p:spPr>
          <a:xfrm>
            <a:off x="9108018" y="2737497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input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6BB8E6-470C-6D2D-71F0-1C22680CDD12}"/>
              </a:ext>
            </a:extLst>
          </p:cNvPr>
          <p:cNvSpPr txBox="1"/>
          <p:nvPr/>
        </p:nvSpPr>
        <p:spPr>
          <a:xfrm>
            <a:off x="10031356" y="2737497"/>
            <a:ext cx="80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C00000"/>
                </a:solidFill>
              </a:rPr>
              <a:t>print</a:t>
            </a:r>
            <a:endParaRPr lang="zh-CN" altLang="en-US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39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AEF9C-2FB9-F93A-4967-3CA35ED9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2E56D0-843A-4892-86FC-B90E50C0D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7930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input</a:t>
            </a:r>
            <a:r>
              <a:rPr lang="zh-CN" altLang="en-US"/>
              <a:t>语句（函数）的功能就是获取键盘输入的数据，具体的用法为：</a:t>
            </a:r>
            <a:r>
              <a:rPr lang="en-US" altLang="zh-CN">
                <a:solidFill>
                  <a:srgbClr val="C00000"/>
                </a:solidFill>
              </a:rPr>
              <a:t>s =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input(</a:t>
            </a:r>
            <a:r>
              <a:rPr lang="zh-CN" altLang="en-US">
                <a:solidFill>
                  <a:srgbClr val="C00000"/>
                </a:solidFill>
              </a:rPr>
              <a:t>提示信息</a:t>
            </a:r>
            <a:r>
              <a:rPr lang="en-US" altLang="zh-CN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print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语句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函数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)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的功能就是将数据输出到控制台，具体语法为：</a:t>
            </a:r>
            <a:r>
              <a:rPr lang="en-US" altLang="zh-CN">
                <a:solidFill>
                  <a:srgbClr val="C00000"/>
                </a:solidFill>
              </a:rPr>
              <a:t>print(</a:t>
            </a:r>
            <a:r>
              <a:rPr lang="zh-CN" altLang="en-US">
                <a:solidFill>
                  <a:srgbClr val="C00000"/>
                </a:solidFill>
              </a:rPr>
              <a:t>数据</a:t>
            </a:r>
            <a:r>
              <a:rPr lang="en-US" altLang="zh-CN">
                <a:solidFill>
                  <a:srgbClr val="C00000"/>
                </a:solidFill>
              </a:rPr>
              <a:t>..)</a:t>
            </a:r>
            <a:endParaRPr lang="zh-CN" altLang="en-US">
              <a:solidFill>
                <a:srgbClr val="C00000"/>
              </a:solidFill>
            </a:endParaRPr>
          </a:p>
          <a:p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A0460F5-8DF4-40FC-8EE1-71AA8FCD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输入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65474679-6CC7-F461-62A3-E825D3D6BBF3}"/>
              </a:ext>
            </a:extLst>
          </p:cNvPr>
          <p:cNvGrpSpPr/>
          <p:nvPr/>
        </p:nvGrpSpPr>
        <p:grpSpPr>
          <a:xfrm>
            <a:off x="932630" y="2062220"/>
            <a:ext cx="5163370" cy="2020956"/>
            <a:chOff x="2297719" y="3660322"/>
            <a:chExt cx="5689074" cy="202107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FFE856F-2FA4-B046-9CA9-5AB4B3975684}"/>
                </a:ext>
              </a:extLst>
            </p:cNvPr>
            <p:cNvSpPr/>
            <p:nvPr/>
          </p:nvSpPr>
          <p:spPr>
            <a:xfrm>
              <a:off x="2297728" y="3660322"/>
              <a:ext cx="5689065" cy="2021077"/>
            </a:xfrm>
            <a:prstGeom prst="roundRect">
              <a:avLst>
                <a:gd name="adj" fmla="val 344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input(..)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name 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请输入您的姓名：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欢迎您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name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age 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请输入您的年龄：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您今年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age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}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岁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B7DE1DB3-1D34-3E4B-7877-55B9D8D31C04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D6B9CA7-8111-975A-B238-D60B9067D52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285B6E5-B35B-2E4C-5944-3F43157CD26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D2F83B3-D3B0-70E7-D5BA-A007005FA67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57BE93F-FA0A-F25A-1739-D4BDB65D8C8F}"/>
              </a:ext>
            </a:extLst>
          </p:cNvPr>
          <p:cNvGrpSpPr/>
          <p:nvPr/>
        </p:nvGrpSpPr>
        <p:grpSpPr>
          <a:xfrm>
            <a:off x="932630" y="6246535"/>
            <a:ext cx="10834531" cy="348335"/>
            <a:chOff x="4685665" y="1834757"/>
            <a:chExt cx="10535544" cy="348335"/>
          </a:xfrm>
        </p:grpSpPr>
        <p:sp>
          <p:nvSpPr>
            <p:cNvPr id="11" name="ComponentBackground2">
              <a:extLst>
                <a:ext uri="{FF2B5EF4-FFF2-40B4-BE49-F238E27FC236}">
                  <a16:creationId xmlns:a16="http://schemas.microsoft.com/office/drawing/2014/main" id="{61FD3D94-ADA3-39A1-89EA-E26ED02CD8C9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无论键盘输入什么类型的数据，获取到的数据永远都是</a:t>
              </a:r>
              <a:r>
                <a:rPr kumimoji="1" lang="zh-CN" altLang="en-US" sz="1200" kern="0">
                  <a:solidFill>
                    <a:srgbClr val="C00000"/>
                  </a:solidFill>
                  <a:latin typeface="Arial"/>
                  <a:ea typeface="微软雅黑"/>
                </a:rPr>
                <a:t>字符串类型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12" name="Shape2">
              <a:extLst>
                <a:ext uri="{FF2B5EF4-FFF2-40B4-BE49-F238E27FC236}">
                  <a16:creationId xmlns:a16="http://schemas.microsoft.com/office/drawing/2014/main" id="{61103A4B-C2D7-13DF-D3F5-34770EB0EA4A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43F8215A-C337-E9AB-3C78-77F472299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0"/>
          <a:stretch>
            <a:fillRect/>
          </a:stretch>
        </p:blipFill>
        <p:spPr>
          <a:xfrm>
            <a:off x="6361649" y="2109215"/>
            <a:ext cx="5283472" cy="190993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645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F523-B807-7852-C322-BF4A5214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68B2D0-C5D1-E1D3-E88D-B1E02150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银行卡</a:t>
            </a:r>
            <a:r>
              <a:rPr lang="en-US" altLang="zh-CN"/>
              <a:t>ATM</a:t>
            </a:r>
            <a:r>
              <a:rPr lang="zh-CN" altLang="en-US"/>
              <a:t>取款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A1A6A2-F210-D314-7870-A015E772F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需求：小智的银行卡中有</a:t>
            </a:r>
            <a:r>
              <a:rPr lang="en-US" altLang="zh-CN"/>
              <a:t>10000</a:t>
            </a:r>
            <a:r>
              <a:rPr lang="zh-CN" altLang="en-US"/>
              <a:t>元，现在到</a:t>
            </a:r>
            <a:r>
              <a:rPr lang="en-US" altLang="zh-CN"/>
              <a:t>ATM</a:t>
            </a:r>
            <a:r>
              <a:rPr lang="zh-CN" altLang="en-US"/>
              <a:t>进行取钱操作，请根据输入的金额执行取钱操作，取钱完毕后，展示其银行卡余额。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步骤：</a:t>
            </a:r>
            <a:endParaRPr lang="en-US" altLang="zh-CN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输入密码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输入取款金额</a:t>
            </a:r>
            <a:endParaRPr lang="en-US" altLang="zh-CN" sz="1400"/>
          </a:p>
          <a:p>
            <a:pPr marL="612000" indent="-342900">
              <a:buFont typeface="+mj-lt"/>
              <a:buAutoNum type="arabicPeriod"/>
            </a:pPr>
            <a:r>
              <a:rPr lang="zh-CN" altLang="en-US" sz="1400"/>
              <a:t>计算余额并输出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3DCFC8-DE71-AA14-A181-745A86F02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535" y="1567304"/>
            <a:ext cx="3628104" cy="2418736"/>
          </a:xfrm>
          <a:prstGeom prst="roundRect">
            <a:avLst>
              <a:gd name="adj" fmla="val 3705"/>
            </a:avLst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1AD9487-13FD-2904-DB39-0DA511ABE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0" y="1113183"/>
            <a:ext cx="1653209" cy="16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17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CAB95D-0400-8046-24B3-C31DF32F4D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如何获取用户输入的数据？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s = input(</a:t>
            </a:r>
            <a:r>
              <a:rPr lang="zh-CN" altLang="en-US" sz="1400"/>
              <a:t>提示信息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如何进行数据类型转换，比如字符串转为数字、数字转字符串等？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其他类型转为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int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类型：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int(</a:t>
            </a:r>
            <a:r>
              <a:rPr lang="en-US" altLang="zh-CN" sz="1400">
                <a:solidFill>
                  <a:srgbClr val="363C3B"/>
                </a:solidFill>
              </a:rPr>
              <a:t>..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63C3B"/>
                </a:solidFill>
                <a:effectLst/>
                <a:uLnTx/>
                <a:uFillTx/>
                <a:latin typeface="Source Code Pro"/>
                <a:ea typeface="阿里巴巴普惠体"/>
                <a:cs typeface="+mn-cs"/>
              </a:rPr>
              <a:t>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400">
                <a:solidFill>
                  <a:srgbClr val="363C3B"/>
                </a:solidFill>
              </a:rPr>
              <a:t>其他类型转为</a:t>
            </a:r>
            <a:r>
              <a:rPr lang="en-US" altLang="zh-CN" sz="1400">
                <a:solidFill>
                  <a:srgbClr val="363C3B"/>
                </a:solidFill>
              </a:rPr>
              <a:t>str</a:t>
            </a:r>
            <a:r>
              <a:rPr lang="zh-CN" altLang="en-US" sz="1400">
                <a:solidFill>
                  <a:srgbClr val="363C3B"/>
                </a:solidFill>
              </a:rPr>
              <a:t>类型：</a:t>
            </a:r>
            <a:r>
              <a:rPr lang="en-US" altLang="zh-CN" sz="1400">
                <a:solidFill>
                  <a:srgbClr val="363C3B"/>
                </a:solidFill>
              </a:rPr>
              <a:t>str(..)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363C3B"/>
              </a:solidFill>
              <a:effectLst/>
              <a:uLnTx/>
              <a:uFillTx/>
              <a:latin typeface="Source Code Pro"/>
              <a:ea typeface="阿里巴巴普惠体"/>
              <a:cs typeface="+mn-cs"/>
            </a:endParaRPr>
          </a:p>
          <a:p>
            <a:pPr marL="645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其他类型转为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float</a:t>
            </a:r>
            <a:r>
              <a:rPr lang="zh-CN" altLang="en-US" sz="1400">
                <a:solidFill>
                  <a:srgbClr val="363C3B"/>
                </a:solidFill>
                <a:latin typeface="Source Code Pro"/>
                <a:ea typeface="阿里巴巴普惠体"/>
              </a:rPr>
              <a:t>类型：</a:t>
            </a:r>
            <a:r>
              <a:rPr lang="en-US" altLang="zh-CN" sz="1400">
                <a:solidFill>
                  <a:srgbClr val="363C3B"/>
                </a:solidFill>
                <a:latin typeface="Source Code Pro"/>
                <a:ea typeface="阿里巴巴普惠体"/>
              </a:rPr>
              <a:t>float(..)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sz="1400">
                <a:solidFill>
                  <a:srgbClr val="363C3B"/>
                </a:solidFill>
              </a:rPr>
              <a:t>其他类型转为</a:t>
            </a:r>
            <a:r>
              <a:rPr lang="en-US" altLang="zh-CN" sz="1400">
                <a:solidFill>
                  <a:srgbClr val="363C3B"/>
                </a:solidFill>
              </a:rPr>
              <a:t>bool</a:t>
            </a:r>
            <a:r>
              <a:rPr lang="zh-CN" altLang="en-US" sz="1400">
                <a:solidFill>
                  <a:srgbClr val="363C3B"/>
                </a:solidFill>
              </a:rPr>
              <a:t>类型：</a:t>
            </a:r>
            <a:r>
              <a:rPr lang="en-US" altLang="zh-CN" sz="1400">
                <a:solidFill>
                  <a:srgbClr val="363C3B"/>
                </a:solidFill>
              </a:rPr>
              <a:t>bool(..)</a:t>
            </a:r>
          </a:p>
        </p:txBody>
      </p:sp>
    </p:spTree>
    <p:extLst>
      <p:ext uri="{BB962C8B-B14F-4D97-AF65-F5344CB8AC3E}">
        <p14:creationId xmlns:p14="http://schemas.microsoft.com/office/powerpoint/2010/main" val="3832469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1676-ADF9-F0BF-D230-82A0D0EAC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D5F1446-CB16-B2E1-9881-F3DB0E0E7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实现计算器功能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EAAEBB-CD56-C578-E658-94D97EA33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需求：根据用户输入的两个数字，计算两个数之和，并将其输出到控制台。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9F3174-E570-120D-0C18-E6C34672C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0" y="1113183"/>
            <a:ext cx="1653209" cy="165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37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387D-E361-25C3-BE00-3685E10E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0577E4A-83CB-0498-331B-03C458204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字面量与变量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常见数据类型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输入与输出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运算符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245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7065-C927-6531-C714-A4E00CD7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49106-3BCE-274B-3C7A-BBBB0FAC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运算符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F34A9D-A5D6-E1C0-F78B-3DA402A97D1D}"/>
              </a:ext>
            </a:extLst>
          </p:cNvPr>
          <p:cNvSpPr txBox="1"/>
          <p:nvPr/>
        </p:nvSpPr>
        <p:spPr>
          <a:xfrm>
            <a:off x="1397105" y="1438822"/>
            <a:ext cx="487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133BAE-9919-3333-7B09-B136A9F059D2}"/>
              </a:ext>
            </a:extLst>
          </p:cNvPr>
          <p:cNvSpPr txBox="1"/>
          <p:nvPr/>
        </p:nvSpPr>
        <p:spPr>
          <a:xfrm>
            <a:off x="2735021" y="2513559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小于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6C92DF-9BFF-5CD4-46AA-F0F60CACF9BE}"/>
              </a:ext>
            </a:extLst>
          </p:cNvPr>
          <p:cNvSpPr txBox="1"/>
          <p:nvPr/>
        </p:nvSpPr>
        <p:spPr>
          <a:xfrm>
            <a:off x="2848595" y="1431354"/>
            <a:ext cx="487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C85A81-FDC3-E697-56E9-A686E523270A}"/>
              </a:ext>
            </a:extLst>
          </p:cNvPr>
          <p:cNvSpPr txBox="1"/>
          <p:nvPr/>
        </p:nvSpPr>
        <p:spPr>
          <a:xfrm>
            <a:off x="4148601" y="1431353"/>
            <a:ext cx="487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05E274C-039B-CC23-2939-C4B49B35855B}"/>
              </a:ext>
            </a:extLst>
          </p:cNvPr>
          <p:cNvSpPr txBox="1"/>
          <p:nvPr/>
        </p:nvSpPr>
        <p:spPr>
          <a:xfrm>
            <a:off x="5448607" y="1426690"/>
            <a:ext cx="43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除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EDDDD7-00F5-C533-AE9F-3107FF5E1199}"/>
              </a:ext>
            </a:extLst>
          </p:cNvPr>
          <p:cNvSpPr txBox="1"/>
          <p:nvPr/>
        </p:nvSpPr>
        <p:spPr>
          <a:xfrm>
            <a:off x="1397105" y="2513559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大于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482DA9-4BAC-51CE-3E0E-ABAB67897ABF}"/>
              </a:ext>
            </a:extLst>
          </p:cNvPr>
          <p:cNvSpPr txBox="1"/>
          <p:nvPr/>
        </p:nvSpPr>
        <p:spPr>
          <a:xfrm>
            <a:off x="4072938" y="2513557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大于等于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DC115E-711F-4D18-A3A0-3B124EC52110}"/>
              </a:ext>
            </a:extLst>
          </p:cNvPr>
          <p:cNvSpPr txBox="1"/>
          <p:nvPr/>
        </p:nvSpPr>
        <p:spPr>
          <a:xfrm>
            <a:off x="5949944" y="2509593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小于等于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365E27-DCE6-141C-F1F3-A03F961C9CB2}"/>
              </a:ext>
            </a:extLst>
          </p:cNvPr>
          <p:cNvSpPr txBox="1"/>
          <p:nvPr/>
        </p:nvSpPr>
        <p:spPr>
          <a:xfrm>
            <a:off x="7893796" y="2516958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等于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2BDA85-93A0-B1F0-0947-D8612E9D8EF1}"/>
              </a:ext>
            </a:extLst>
          </p:cNvPr>
          <p:cNvSpPr txBox="1"/>
          <p:nvPr/>
        </p:nvSpPr>
        <p:spPr>
          <a:xfrm>
            <a:off x="9175507" y="2516958"/>
            <a:ext cx="1093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不等于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55CBE-56BD-9E15-0DFF-469636E5F421}"/>
              </a:ext>
            </a:extLst>
          </p:cNvPr>
          <p:cNvSpPr txBox="1"/>
          <p:nvPr/>
        </p:nvSpPr>
        <p:spPr>
          <a:xfrm>
            <a:off x="1397104" y="3775360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并且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9CB6FE-BA84-A527-0696-0083F5E4450E}"/>
              </a:ext>
            </a:extLst>
          </p:cNvPr>
          <p:cNvSpPr txBox="1"/>
          <p:nvPr/>
        </p:nvSpPr>
        <p:spPr>
          <a:xfrm>
            <a:off x="2735021" y="3775360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/>
              <a:t>或者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9643DB-F22C-543D-2632-8BBC1AC95095}"/>
              </a:ext>
            </a:extLst>
          </p:cNvPr>
          <p:cNvSpPr txBox="1"/>
          <p:nvPr/>
        </p:nvSpPr>
        <p:spPr>
          <a:xfrm>
            <a:off x="4167972" y="3775360"/>
            <a:ext cx="737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...</a:t>
            </a:r>
            <a:endParaRPr lang="zh-CN" altLang="en-US" sz="2400" b="1"/>
          </a:p>
        </p:txBody>
      </p:sp>
      <p:sp>
        <p:nvSpPr>
          <p:cNvPr id="3" name="!!文本框 2">
            <a:extLst>
              <a:ext uri="{FF2B5EF4-FFF2-40B4-BE49-F238E27FC236}">
                <a16:creationId xmlns:a16="http://schemas.microsoft.com/office/drawing/2014/main" id="{86247F23-F74D-8C9A-B5E3-FBEDC9FC74C1}"/>
              </a:ext>
            </a:extLst>
          </p:cNvPr>
          <p:cNvSpPr txBox="1"/>
          <p:nvPr/>
        </p:nvSpPr>
        <p:spPr>
          <a:xfrm>
            <a:off x="2187705" y="5573837"/>
            <a:ext cx="131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算术运算符</a:t>
            </a:r>
          </a:p>
        </p:txBody>
      </p:sp>
      <p:sp>
        <p:nvSpPr>
          <p:cNvPr id="4" name="!!文本框 3">
            <a:extLst>
              <a:ext uri="{FF2B5EF4-FFF2-40B4-BE49-F238E27FC236}">
                <a16:creationId xmlns:a16="http://schemas.microsoft.com/office/drawing/2014/main" id="{A034345E-9EFB-24FB-1E8C-70F0366B73F6}"/>
              </a:ext>
            </a:extLst>
          </p:cNvPr>
          <p:cNvSpPr txBox="1"/>
          <p:nvPr/>
        </p:nvSpPr>
        <p:spPr>
          <a:xfrm>
            <a:off x="4413133" y="5573837"/>
            <a:ext cx="131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赋值运算符</a:t>
            </a:r>
          </a:p>
        </p:txBody>
      </p:sp>
      <p:sp>
        <p:nvSpPr>
          <p:cNvPr id="5" name="!!文本框 4">
            <a:extLst>
              <a:ext uri="{FF2B5EF4-FFF2-40B4-BE49-F238E27FC236}">
                <a16:creationId xmlns:a16="http://schemas.microsoft.com/office/drawing/2014/main" id="{99D5EB54-5A50-8816-1002-BAB274190C92}"/>
              </a:ext>
            </a:extLst>
          </p:cNvPr>
          <p:cNvSpPr txBox="1"/>
          <p:nvPr/>
        </p:nvSpPr>
        <p:spPr>
          <a:xfrm>
            <a:off x="6453642" y="5573837"/>
            <a:ext cx="131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比较运算符</a:t>
            </a:r>
          </a:p>
        </p:txBody>
      </p:sp>
      <p:sp>
        <p:nvSpPr>
          <p:cNvPr id="19" name="!!文本框 18">
            <a:extLst>
              <a:ext uri="{FF2B5EF4-FFF2-40B4-BE49-F238E27FC236}">
                <a16:creationId xmlns:a16="http://schemas.microsoft.com/office/drawing/2014/main" id="{08F171E7-07D6-497C-77CA-0AF4668A814F}"/>
              </a:ext>
            </a:extLst>
          </p:cNvPr>
          <p:cNvSpPr txBox="1"/>
          <p:nvPr/>
        </p:nvSpPr>
        <p:spPr>
          <a:xfrm>
            <a:off x="8494339" y="5573837"/>
            <a:ext cx="131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逻辑运算符</a:t>
            </a:r>
          </a:p>
        </p:txBody>
      </p:sp>
    </p:spTree>
    <p:extLst>
      <p:ext uri="{BB962C8B-B14F-4D97-AF65-F5344CB8AC3E}">
        <p14:creationId xmlns:p14="http://schemas.microsoft.com/office/powerpoint/2010/main" val="54717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" grpId="0"/>
      <p:bldP spid="4" grpId="0"/>
      <p:bldP spid="5" grpId="0"/>
      <p:bldP spid="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文本框 2">
            <a:extLst>
              <a:ext uri="{FF2B5EF4-FFF2-40B4-BE49-F238E27FC236}">
                <a16:creationId xmlns:a16="http://schemas.microsoft.com/office/drawing/2014/main" id="{5884803A-7E97-1BE5-2359-0103C47E6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40" y="2924827"/>
            <a:ext cx="2063690" cy="504173"/>
          </a:xfrm>
        </p:spPr>
        <p:txBody>
          <a:bodyPr/>
          <a:lstStyle/>
          <a:p>
            <a:r>
              <a:rPr lang="zh-CN" altLang="en-US"/>
              <a:t>算术运算符</a:t>
            </a:r>
            <a:endParaRPr lang="en-US" alt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8FCD72-4505-8305-3503-4B9BEDE2E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运算符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E2FF11-A524-033A-245A-904B189C7B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2" name="!!文本框 3">
            <a:extLst>
              <a:ext uri="{FF2B5EF4-FFF2-40B4-BE49-F238E27FC236}">
                <a16:creationId xmlns:a16="http://schemas.microsoft.com/office/drawing/2014/main" id="{5735F60D-F72C-937A-8C4D-48F1DCF3239E}"/>
              </a:ext>
            </a:extLst>
          </p:cNvPr>
          <p:cNvSpPr txBox="1">
            <a:spLocks/>
          </p:cNvSpPr>
          <p:nvPr/>
        </p:nvSpPr>
        <p:spPr>
          <a:xfrm>
            <a:off x="6351440" y="3458179"/>
            <a:ext cx="2063690" cy="55673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赋值运算符</a:t>
            </a:r>
            <a:endParaRPr lang="en-US" altLang="zh-CN"/>
          </a:p>
        </p:txBody>
      </p:sp>
      <p:sp>
        <p:nvSpPr>
          <p:cNvPr id="6" name="!!文本框 4">
            <a:extLst>
              <a:ext uri="{FF2B5EF4-FFF2-40B4-BE49-F238E27FC236}">
                <a16:creationId xmlns:a16="http://schemas.microsoft.com/office/drawing/2014/main" id="{ABBF1DFD-C168-6217-0998-14408CF13FBF}"/>
              </a:ext>
            </a:extLst>
          </p:cNvPr>
          <p:cNvSpPr txBox="1">
            <a:spLocks/>
          </p:cNvSpPr>
          <p:nvPr/>
        </p:nvSpPr>
        <p:spPr>
          <a:xfrm>
            <a:off x="6351440" y="3995036"/>
            <a:ext cx="2063690" cy="467282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比较运算符</a:t>
            </a:r>
            <a:endParaRPr lang="en-US" altLang="zh-CN"/>
          </a:p>
        </p:txBody>
      </p:sp>
      <p:sp>
        <p:nvSpPr>
          <p:cNvPr id="7" name="!!文本框 18">
            <a:extLst>
              <a:ext uri="{FF2B5EF4-FFF2-40B4-BE49-F238E27FC236}">
                <a16:creationId xmlns:a16="http://schemas.microsoft.com/office/drawing/2014/main" id="{739A4050-BB3C-5089-4743-AAA0A6EF6DDD}"/>
              </a:ext>
            </a:extLst>
          </p:cNvPr>
          <p:cNvSpPr txBox="1">
            <a:spLocks/>
          </p:cNvSpPr>
          <p:nvPr/>
        </p:nvSpPr>
        <p:spPr>
          <a:xfrm>
            <a:off x="6351440" y="4534758"/>
            <a:ext cx="2063690" cy="492506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逻辑运算符</a:t>
            </a:r>
          </a:p>
        </p:txBody>
      </p:sp>
    </p:spTree>
    <p:extLst>
      <p:ext uri="{BB962C8B-B14F-4D97-AF65-F5344CB8AC3E}">
        <p14:creationId xmlns:p14="http://schemas.microsoft.com/office/powerpoint/2010/main" val="1312637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7DFC-24FA-ACBD-13B4-D137B420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69688-1411-605C-5182-B36DB5B4A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算术运算符是用于执行基本的数学运算的符号，作用于一个或多个操作数上，并产生一个计算结果。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42FA6D-DBB2-B0ED-65A7-5F79A392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算术运算符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0077B14-D199-54A2-924F-E0F4B54A9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326134"/>
              </p:ext>
            </p:extLst>
          </p:nvPr>
        </p:nvGraphicFramePr>
        <p:xfrm>
          <a:off x="920662" y="1576086"/>
          <a:ext cx="7346516" cy="4032000"/>
        </p:xfrm>
        <a:graphic>
          <a:graphicData uri="http://schemas.openxmlformats.org/drawingml/2006/table">
            <a:tbl>
              <a:tblPr/>
              <a:tblGrid>
                <a:gridCol w="1045924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1797485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4503107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运算符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举例说明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+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加法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+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5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加上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5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减法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8 – 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8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减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*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乘法</a:t>
                      </a:r>
                      <a:endPara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 * 8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乘以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8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除法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10 / 5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除以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，除法结果是小数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//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整除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 // 3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整除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，整除结果为整数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取余</a:t>
                      </a:r>
                      <a:r>
                        <a:rPr lang="en-US" altLang="zh-CN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求模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10 % 3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模于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，结果为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（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除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取余数）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32551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**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幂指数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 ** 3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：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10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的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次方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266399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1364AB8D-21C9-D0DB-7EFE-2D8949498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284" y="1575326"/>
            <a:ext cx="2856394" cy="4031241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B5D783-63B7-DC8B-CB24-5526B3A0B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5" t="5322" r="5597" b="6172"/>
          <a:stretch>
            <a:fillRect/>
          </a:stretch>
        </p:blipFill>
        <p:spPr>
          <a:xfrm>
            <a:off x="5496797" y="-15669"/>
            <a:ext cx="6695203" cy="25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43D90-A66F-40FB-7083-62CCCC015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A02625-5309-2C2D-760C-A0705A0E5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D44C58-E0FE-E9C2-510A-12C661E81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52532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案例</a:t>
            </a:r>
            <a:r>
              <a:rPr lang="en-US" altLang="zh-CN"/>
              <a:t>1</a:t>
            </a:r>
            <a:r>
              <a:rPr lang="zh-CN" altLang="en-US"/>
              <a:t>：要求输入两个数</a:t>
            </a:r>
            <a:r>
              <a:rPr lang="en-US" altLang="zh-CN"/>
              <a:t>x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，分别输出</a:t>
            </a:r>
            <a:r>
              <a:rPr lang="en-US" altLang="zh-CN"/>
              <a:t>x+y</a:t>
            </a:r>
            <a:r>
              <a:rPr lang="zh-CN" altLang="en-US"/>
              <a:t>的结果和</a:t>
            </a:r>
            <a:r>
              <a:rPr lang="en-US" altLang="zh-CN"/>
              <a:t>x-y</a:t>
            </a:r>
            <a:r>
              <a:rPr lang="zh-CN" altLang="en-US"/>
              <a:t>的结果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317EF9-380A-174E-90D0-EE2892ADC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27" y="1139687"/>
            <a:ext cx="1722783" cy="1722783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EAC33BB-A064-D798-1A72-21699C8C8947}"/>
              </a:ext>
            </a:extLst>
          </p:cNvPr>
          <p:cNvGrpSpPr/>
          <p:nvPr/>
        </p:nvGrpSpPr>
        <p:grpSpPr>
          <a:xfrm>
            <a:off x="766978" y="6141311"/>
            <a:ext cx="10834531" cy="525326"/>
            <a:chOff x="4685665" y="1749411"/>
            <a:chExt cx="10535544" cy="525326"/>
          </a:xfrm>
        </p:grpSpPr>
        <p:sp>
          <p:nvSpPr>
            <p:cNvPr id="7" name="ComponentBackground2">
              <a:extLst>
                <a:ext uri="{FF2B5EF4-FFF2-40B4-BE49-F238E27FC236}">
                  <a16:creationId xmlns:a16="http://schemas.microsoft.com/office/drawing/2014/main" id="{9F74D3D3-8885-9313-5639-078A3FB8E7AD}"/>
                </a:ext>
              </a:extLst>
            </p:cNvPr>
            <p:cNvSpPr>
              <a:spLocks/>
            </p:cNvSpPr>
            <p:nvPr/>
          </p:nvSpPr>
          <p:spPr>
            <a:xfrm>
              <a:off x="4708524" y="1749411"/>
              <a:ext cx="10512685" cy="525326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由于计算机底层是基于二进制来进行数据的存储和处理的，而二进制是无法精确表示所有的小数的，因此涉及到浮点数的运算时，可能损失精度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8" name="Shape2">
              <a:extLst>
                <a:ext uri="{FF2B5EF4-FFF2-40B4-BE49-F238E27FC236}">
                  <a16:creationId xmlns:a16="http://schemas.microsoft.com/office/drawing/2014/main" id="{31F02FD3-CB2A-D23F-AF97-378187E86C2F}"/>
                </a:ext>
              </a:extLst>
            </p:cNvPr>
            <p:cNvSpPr/>
            <p:nvPr/>
          </p:nvSpPr>
          <p:spPr>
            <a:xfrm>
              <a:off x="4685665" y="1790255"/>
              <a:ext cx="44457" cy="44430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509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8DEACB-04F1-6A53-3FD1-0E59D38C22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算术运算符有哪些</a:t>
            </a:r>
            <a:r>
              <a:rPr lang="en-US" altLang="zh-CN"/>
              <a:t>?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/>
              <a:t>+  -  *  /   //  %  **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C00000"/>
                </a:solidFill>
              </a:rPr>
              <a:t>注意事项</a:t>
            </a:r>
            <a:endParaRPr lang="en-US" altLang="zh-CN">
              <a:solidFill>
                <a:srgbClr val="C00000"/>
              </a:solidFill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>
                <a:solidFill>
                  <a:srgbClr val="C00000"/>
                </a:solidFill>
              </a:rPr>
              <a:t>涉及到浮点数的算术运算时，可能会损失精度（因为计算机底层是基于二进制来进行数据的存储和处理的，二进制是无法准确的表示所有的小数的）</a:t>
            </a:r>
            <a:endParaRPr lang="en-US" altLang="zh-CN" sz="1400">
              <a:solidFill>
                <a:srgbClr val="C00000"/>
              </a:solidFill>
            </a:endParaRPr>
          </a:p>
          <a:p>
            <a:r>
              <a:rPr lang="en-US" altLang="zh-CN"/>
              <a:t>  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20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B136-4E6D-53E6-62B5-6332B561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F543598-3248-6DFC-E4FC-7BE7F8FA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874118-5ADA-DA3F-5DC5-D67D6CE1A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1"/>
            <a:ext cx="9570540" cy="33151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案例</a:t>
            </a:r>
            <a:r>
              <a:rPr lang="en-US" altLang="zh-CN"/>
              <a:t>1</a:t>
            </a:r>
            <a:r>
              <a:rPr lang="zh-CN" altLang="en-US"/>
              <a:t>：计算输入的三个整数的平均数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案例</a:t>
            </a:r>
            <a:r>
              <a:rPr lang="en-US" altLang="zh-CN"/>
              <a:t>2</a:t>
            </a:r>
            <a:r>
              <a:rPr lang="zh-CN" altLang="en-US"/>
              <a:t>：要求输入梯形的上底、下底、高，然后计算梯形的面积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案例</a:t>
            </a:r>
            <a:r>
              <a:rPr lang="en-US" altLang="zh-CN"/>
              <a:t>3</a:t>
            </a:r>
            <a:r>
              <a:rPr lang="zh-CN" altLang="en-US"/>
              <a:t>：要求输入圆的半径，然后计算圆的周长和面积 </a:t>
            </a:r>
            <a:r>
              <a:rPr lang="en-US" altLang="zh-CN"/>
              <a:t>(</a:t>
            </a:r>
            <a:r>
              <a:rPr lang="zh-CN" altLang="en-US"/>
              <a:t>周长</a:t>
            </a:r>
            <a:r>
              <a:rPr lang="en-US" altLang="zh-CN"/>
              <a:t>: 2πr</a:t>
            </a:r>
            <a:r>
              <a:rPr lang="zh-CN" altLang="en-US"/>
              <a:t>，面积：</a:t>
            </a:r>
            <a:r>
              <a:rPr lang="en-US" altLang="zh-CN"/>
              <a:t>πr²)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案例</a:t>
            </a:r>
            <a:r>
              <a:rPr lang="en-US" altLang="zh-CN"/>
              <a:t>4</a:t>
            </a:r>
            <a:r>
              <a:rPr lang="zh-CN" altLang="en-US"/>
              <a:t>：身体质量指数</a:t>
            </a:r>
            <a:r>
              <a:rPr lang="en-US" altLang="zh-CN"/>
              <a:t>BMI</a:t>
            </a:r>
            <a:r>
              <a:rPr lang="zh-CN" altLang="en-US"/>
              <a:t>的计算（</a:t>
            </a:r>
            <a:r>
              <a:rPr lang="en-US" altLang="zh-CN"/>
              <a:t>BMI = </a:t>
            </a:r>
            <a:r>
              <a:rPr lang="zh-CN" altLang="en-US"/>
              <a:t>体重</a:t>
            </a:r>
            <a:r>
              <a:rPr lang="en-US" altLang="zh-CN"/>
              <a:t>(kg) / </a:t>
            </a:r>
            <a:r>
              <a:rPr lang="zh-CN" altLang="en-US"/>
              <a:t>身高</a:t>
            </a:r>
            <a:r>
              <a:rPr lang="en-US" altLang="zh-CN"/>
              <a:t>(m)²</a:t>
            </a:r>
            <a:r>
              <a:rPr lang="zh-CN" altLang="en-US"/>
              <a:t>）</a:t>
            </a:r>
            <a:endParaRPr lang="en-US" altLang="zh-CN"/>
          </a:p>
          <a:p>
            <a:pPr marL="705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输入体重</a:t>
            </a:r>
            <a:r>
              <a:rPr lang="en-US" altLang="zh-CN" sz="1400"/>
              <a:t>(</a:t>
            </a:r>
            <a:r>
              <a:rPr lang="zh-CN" altLang="en-US" sz="1400"/>
              <a:t>单位</a:t>
            </a:r>
            <a:r>
              <a:rPr lang="en-US" altLang="zh-CN" sz="1400"/>
              <a:t>kg)</a:t>
            </a:r>
          </a:p>
          <a:p>
            <a:pPr marL="705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输入身高</a:t>
            </a:r>
            <a:r>
              <a:rPr lang="en-US" altLang="zh-CN" sz="1400"/>
              <a:t>(</a:t>
            </a:r>
            <a:r>
              <a:rPr lang="zh-CN" altLang="en-US" sz="1400"/>
              <a:t>单位</a:t>
            </a:r>
            <a:r>
              <a:rPr lang="en-US" altLang="zh-CN" sz="1400"/>
              <a:t>m)</a:t>
            </a:r>
          </a:p>
          <a:p>
            <a:pPr marL="705150" lvl="1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400"/>
              <a:t>计算身体质量指数</a:t>
            </a:r>
            <a:r>
              <a:rPr lang="en-US" altLang="zh-CN" sz="1400"/>
              <a:t>BMI</a:t>
            </a:r>
            <a:r>
              <a:rPr lang="zh-CN" altLang="en-US" sz="1400"/>
              <a:t>并输出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76AA0A-9B9C-7BD8-E62E-BFF036969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266183"/>
            <a:ext cx="1536652" cy="15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10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504-6F4D-3138-D87D-3316699E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C19FC7-9F90-43E5-494A-4CB9111AE7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40" y="2924827"/>
            <a:ext cx="3120484" cy="2206679"/>
          </a:xfrm>
        </p:spPr>
        <p:txBody>
          <a:bodyPr/>
          <a:lstStyle/>
          <a:p>
            <a:r>
              <a:rPr lang="zh-CN" altLang="en-US"/>
              <a:t>算术运算符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赋值运算符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比较运算符</a:t>
            </a:r>
            <a:endParaRPr lang="en-US" altLang="zh-CN"/>
          </a:p>
          <a:p>
            <a:r>
              <a:rPr lang="zh-CN" altLang="en-US"/>
              <a:t>逻辑运算符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C82CDB-5C6C-69A9-378D-197CBCE27B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运算符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982456-7FBC-B201-D20F-F1E7D5F2AF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879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F34A-D4A5-570E-13BA-705C1AC2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E5125A-28C8-616D-23C4-976BE468F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i="0">
                <a:solidFill>
                  <a:srgbClr val="0F1115"/>
                </a:solidFill>
                <a:effectLst/>
                <a:latin typeface="quote-cjk-patch"/>
              </a:rPr>
              <a:t>赋值运算符是编程语言中用于将值（或表达式的结果）保存到变量中的运算符</a:t>
            </a:r>
            <a:r>
              <a:rPr lang="zh-CN" altLang="en-US">
                <a:solidFill>
                  <a:srgbClr val="0F1115"/>
                </a:solidFill>
                <a:latin typeface="quote-cjk-patch"/>
              </a:rPr>
              <a:t>。（</a:t>
            </a:r>
            <a:r>
              <a:rPr lang="zh-CN" altLang="en-US"/>
              <a:t>把右边的值，赋给左边的变量</a:t>
            </a:r>
            <a:r>
              <a:rPr lang="zh-CN" altLang="en-US">
                <a:solidFill>
                  <a:srgbClr val="0F1115"/>
                </a:solidFill>
                <a:latin typeface="quote-cjk-patch"/>
              </a:rPr>
              <a:t>）</a:t>
            </a: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A3CD94-9CE4-B357-2DCA-46007BC7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赋值运算符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2489A78-D92B-9532-E749-4DEF966BB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859454"/>
              </p:ext>
            </p:extLst>
          </p:nvPr>
        </p:nvGraphicFramePr>
        <p:xfrm>
          <a:off x="926449" y="1512425"/>
          <a:ext cx="10266268" cy="4536000"/>
        </p:xfrm>
        <a:graphic>
          <a:graphicData uri="http://schemas.openxmlformats.org/drawingml/2006/table">
            <a:tbl>
              <a:tblPr/>
              <a:tblGrid>
                <a:gridCol w="1461609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2511866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292793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运算符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实例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赋值运算符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把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=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号右边的结果赋值给左边的变量，如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1+2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，结果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的值为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3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+=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加法赋值运算符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+=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num + 2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-=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减法赋值运算符</a:t>
                      </a:r>
                      <a:endPara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num -=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num = num – 2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*=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乘法赋值运算符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num *=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num = num * 2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除法赋值运算符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/=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num / 2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%=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取模赋值运算符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%=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num % 2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//=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取整除赋值运算符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//=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num // 2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32551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**=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幂赋值运算符</a:t>
                      </a:r>
                      <a:endParaRPr lang="zh-CN" altLang="en-US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**= 2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等效于 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num = num ** 2</a:t>
                      </a:r>
                      <a:endParaRPr kumimoji="0" lang="zh-CN" alt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266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938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87B24-B69C-4B85-00D1-2A5C6805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5664E-1742-5162-ECF3-14064D26E6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40" y="2924827"/>
            <a:ext cx="3120484" cy="2206679"/>
          </a:xfrm>
        </p:spPr>
        <p:txBody>
          <a:bodyPr/>
          <a:lstStyle/>
          <a:p>
            <a:r>
              <a:rPr lang="zh-CN" altLang="en-US"/>
              <a:t>算术运算符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赋值运算符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比较运算符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逻辑运算符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DD9A5D-214F-4A4D-05E6-5815A66E14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运算符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7AF4F5-A912-D78C-8D6B-B8A6B7BFF1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229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2355-C274-F9D3-6CDE-F603EE82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FF3AD-E117-C223-EDEE-706DEF1DC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83783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比较运算符，也称为关系运算符，用于比较两个值之间的关系。会计算运算符两边的表达式，然后返回一个布尔值作为结果</a:t>
            </a:r>
            <a:r>
              <a:rPr lang="en-US" altLang="zh-CN"/>
              <a:t>(True – </a:t>
            </a:r>
            <a:r>
              <a:rPr lang="zh-CN" altLang="en-US"/>
              <a:t>表示比较关系成立；</a:t>
            </a:r>
            <a:r>
              <a:rPr lang="en-US" altLang="zh-CN"/>
              <a:t>False – </a:t>
            </a:r>
            <a:r>
              <a:rPr lang="zh-CN" altLang="en-US"/>
              <a:t>表示比较关系不成立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2C3A03-59F4-0D0C-82F5-A5007430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比较运算符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72B78C-7871-8ECC-F0B8-93251B41C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44844"/>
              </p:ext>
            </p:extLst>
          </p:nvPr>
        </p:nvGraphicFramePr>
        <p:xfrm>
          <a:off x="962866" y="1842302"/>
          <a:ext cx="10266268" cy="3528000"/>
        </p:xfrm>
        <a:graphic>
          <a:graphicData uri="http://schemas.openxmlformats.org/drawingml/2006/table">
            <a:tbl>
              <a:tblPr/>
              <a:tblGrid>
                <a:gridCol w="1461609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2511866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292793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运算符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实例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==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等于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 == b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是否等于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b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!=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不等于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 != b 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是否不等于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b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&gt;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大于</a:t>
                      </a:r>
                      <a:endParaRPr kumimoji="0" lang="en-US" altLang="zh-CN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a &gt; b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 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是否大于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b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&gt;=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大于等于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a &gt;= b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 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是否大于等于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b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小于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 &lt; b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是否小于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b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&lt;=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小于等于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 &lt;= b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 判断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a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是否小于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b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5430BC6-E877-0B8C-4230-B341D17DDC8B}"/>
              </a:ext>
            </a:extLst>
          </p:cNvPr>
          <p:cNvSpPr txBox="1"/>
          <p:nvPr/>
        </p:nvSpPr>
        <p:spPr>
          <a:xfrm>
            <a:off x="11376991" y="3876260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4D8F91-A6A3-D17B-B4BA-B3043634906D}"/>
              </a:ext>
            </a:extLst>
          </p:cNvPr>
          <p:cNvSpPr txBox="1"/>
          <p:nvPr/>
        </p:nvSpPr>
        <p:spPr>
          <a:xfrm>
            <a:off x="11365008" y="4851161"/>
            <a:ext cx="33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≤</a:t>
            </a:r>
            <a:endParaRPr lang="zh-CN" altLang="en-US" sz="24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D1EFA9-1FE0-0CD8-19CA-D983159C1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5" t="5322" r="5597" b="6172"/>
          <a:stretch>
            <a:fillRect/>
          </a:stretch>
        </p:blipFill>
        <p:spPr>
          <a:xfrm>
            <a:off x="5496797" y="-15669"/>
            <a:ext cx="6695203" cy="25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EE097A-4B13-03D7-DCD8-14466B93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思考如下需求需要使用哪种比较运算符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5B0EE5-AF3C-487A-A701-6E79EA3C95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：数学计算中，判断一个数是否为偶数，使用哪个关系运算符呢？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：电商项目的支付功能业务，需要判断银行卡余额是否足够，使用哪个关系运算符呢？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：电商项目的购买商品业务，需要判断货物的库存是否足够，使用哪个关系运算符呢？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：点餐项目的筛选商品业务，需要点不超过</a:t>
            </a:r>
            <a:r>
              <a:rPr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</a:t>
            </a:r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元的，使用哪个关系运算符呢？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85850F-43DC-0375-2D2F-FECE8A635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92" y="1024932"/>
            <a:ext cx="1585746" cy="1585746"/>
          </a:xfrm>
          <a:prstGeom prst="rect">
            <a:avLst/>
          </a:prstGeom>
        </p:spPr>
      </p:pic>
      <p:sp>
        <p:nvSpPr>
          <p:cNvPr id="6" name="Shape4">
            <a:extLst>
              <a:ext uri="{FF2B5EF4-FFF2-40B4-BE49-F238E27FC236}">
                <a16:creationId xmlns:a16="http://schemas.microsoft.com/office/drawing/2014/main" id="{49BE89D1-FF28-6752-3C3C-42A7455AD8A2}"/>
              </a:ext>
            </a:extLst>
          </p:cNvPr>
          <p:cNvSpPr/>
          <p:nvPr/>
        </p:nvSpPr>
        <p:spPr>
          <a:xfrm>
            <a:off x="8899083" y="1125017"/>
            <a:ext cx="2153229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/>
              <a:t>   num % 2 == 0</a:t>
            </a:r>
            <a:endParaRPr lang="zh-CN" altLang="en-US" sz="1200" b="1"/>
          </a:p>
        </p:txBody>
      </p:sp>
      <p:sp>
        <p:nvSpPr>
          <p:cNvPr id="8" name="Shape4">
            <a:extLst>
              <a:ext uri="{FF2B5EF4-FFF2-40B4-BE49-F238E27FC236}">
                <a16:creationId xmlns:a16="http://schemas.microsoft.com/office/drawing/2014/main" id="{95C3833D-D498-9E3A-CDD1-AAC41878D82C}"/>
              </a:ext>
            </a:extLst>
          </p:cNvPr>
          <p:cNvSpPr/>
          <p:nvPr/>
        </p:nvSpPr>
        <p:spPr>
          <a:xfrm>
            <a:off x="10323693" y="1656259"/>
            <a:ext cx="121895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/>
              <a:t>    &gt;=</a:t>
            </a:r>
            <a:endParaRPr lang="zh-CN" altLang="en-US" sz="1200" b="1"/>
          </a:p>
        </p:txBody>
      </p:sp>
      <p:sp>
        <p:nvSpPr>
          <p:cNvPr id="9" name="Shape4">
            <a:extLst>
              <a:ext uri="{FF2B5EF4-FFF2-40B4-BE49-F238E27FC236}">
                <a16:creationId xmlns:a16="http://schemas.microsoft.com/office/drawing/2014/main" id="{A43AFF57-0E05-2833-95B9-6BD04AC251AB}"/>
              </a:ext>
            </a:extLst>
          </p:cNvPr>
          <p:cNvSpPr/>
          <p:nvPr/>
        </p:nvSpPr>
        <p:spPr>
          <a:xfrm>
            <a:off x="10323693" y="2111067"/>
            <a:ext cx="121895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/>
              <a:t>    &gt;=</a:t>
            </a:r>
            <a:endParaRPr lang="zh-CN" altLang="en-US" sz="1200" b="1"/>
          </a:p>
        </p:txBody>
      </p:sp>
      <p:sp>
        <p:nvSpPr>
          <p:cNvPr id="10" name="Shape4">
            <a:extLst>
              <a:ext uri="{FF2B5EF4-FFF2-40B4-BE49-F238E27FC236}">
                <a16:creationId xmlns:a16="http://schemas.microsoft.com/office/drawing/2014/main" id="{C610A2E3-2BA5-4FF9-538E-89608124A410}"/>
              </a:ext>
            </a:extLst>
          </p:cNvPr>
          <p:cNvSpPr/>
          <p:nvPr/>
        </p:nvSpPr>
        <p:spPr>
          <a:xfrm>
            <a:off x="10323693" y="2610678"/>
            <a:ext cx="121895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/>
              <a:t>    &lt;=</a:t>
            </a:r>
            <a:endParaRPr lang="zh-CN" altLang="en-US" sz="1200" b="1"/>
          </a:p>
        </p:txBody>
      </p:sp>
    </p:spTree>
    <p:extLst>
      <p:ext uri="{BB962C8B-B14F-4D97-AF65-F5344CB8AC3E}">
        <p14:creationId xmlns:p14="http://schemas.microsoft.com/office/powerpoint/2010/main" val="17070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6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6D7C-D7E5-F93A-CAF4-305D8D58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9AAD52-DB6F-E712-9105-7BA23AA81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40" y="2924827"/>
            <a:ext cx="3120484" cy="2206679"/>
          </a:xfrm>
        </p:spPr>
        <p:txBody>
          <a:bodyPr/>
          <a:lstStyle/>
          <a:p>
            <a:r>
              <a:rPr lang="zh-CN" altLang="en-US"/>
              <a:t>算术运算符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赋值运算符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比较运算符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逻辑运算符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0E431D-7A51-C016-926F-1AA53606C8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运算符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49FA60-2F9D-6591-1070-9802E82E2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1096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3B62-F2A0-03DA-7E2C-3737578B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BE1BA-1293-526B-B505-1B1EF7201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什么是逻辑运算符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5FD4DB9-BCEF-C36B-3D8B-1B03980BBCF6}"/>
              </a:ext>
            </a:extLst>
          </p:cNvPr>
          <p:cNvGrpSpPr/>
          <p:nvPr/>
        </p:nvGrpSpPr>
        <p:grpSpPr>
          <a:xfrm>
            <a:off x="1275182" y="1332170"/>
            <a:ext cx="3417058" cy="2771239"/>
            <a:chOff x="982664" y="1560943"/>
            <a:chExt cx="4114126" cy="333656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C3F1AC-0C88-5879-C7D4-244F887CB328}"/>
                </a:ext>
              </a:extLst>
            </p:cNvPr>
            <p:cNvGrpSpPr/>
            <p:nvPr/>
          </p:nvGrpSpPr>
          <p:grpSpPr>
            <a:xfrm>
              <a:off x="982664" y="1560943"/>
              <a:ext cx="4114126" cy="3336562"/>
              <a:chOff x="1555276" y="2028066"/>
              <a:chExt cx="4860974" cy="3942257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4585527C-6147-E290-24CF-618C7358B1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579" t="20793" r="11701" b="13769"/>
              <a:stretch/>
            </p:blipFill>
            <p:spPr>
              <a:xfrm>
                <a:off x="1555276" y="2028066"/>
                <a:ext cx="4860974" cy="3942257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C212AFB3-7D41-8EDD-6E68-284688C043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6" b="196"/>
              <a:stretch/>
            </p:blipFill>
            <p:spPr>
              <a:xfrm>
                <a:off x="1816047" y="2222310"/>
                <a:ext cx="4384945" cy="2456873"/>
              </a:xfrm>
              <a:prstGeom prst="rect">
                <a:avLst/>
              </a:prstGeom>
            </p:spPr>
          </p:pic>
        </p:grp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CE3F65E-1106-E651-83D0-C7FAA98BD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370" y="1725343"/>
              <a:ext cx="3711235" cy="2081302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F28C31A-DE2D-1B09-CD6A-BD065E10D3D3}"/>
              </a:ext>
            </a:extLst>
          </p:cNvPr>
          <p:cNvSpPr txBox="1"/>
          <p:nvPr/>
        </p:nvSpPr>
        <p:spPr>
          <a:xfrm>
            <a:off x="1969328" y="5862580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并且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7B47A6-93B7-2D1C-6366-7C7EFF0438B4}"/>
              </a:ext>
            </a:extLst>
          </p:cNvPr>
          <p:cNvSpPr txBox="1"/>
          <p:nvPr/>
        </p:nvSpPr>
        <p:spPr>
          <a:xfrm>
            <a:off x="4340837" y="5849326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并且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A993956-2BD4-4765-2D24-A8E5A06C8B7D}"/>
              </a:ext>
            </a:extLst>
          </p:cNvPr>
          <p:cNvSpPr/>
          <p:nvPr/>
        </p:nvSpPr>
        <p:spPr>
          <a:xfrm>
            <a:off x="423021" y="5860372"/>
            <a:ext cx="1280982" cy="34724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10000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以内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1C5DC9E-9E8E-F66A-D056-64945F2980C6}"/>
              </a:ext>
            </a:extLst>
          </p:cNvPr>
          <p:cNvSpPr/>
          <p:nvPr/>
        </p:nvSpPr>
        <p:spPr>
          <a:xfrm>
            <a:off x="2875947" y="5860372"/>
            <a:ext cx="1280982" cy="34724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大品牌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477F019-A5E9-6842-D526-EEC10B4ACA39}"/>
              </a:ext>
            </a:extLst>
          </p:cNvPr>
          <p:cNvSpPr/>
          <p:nvPr/>
        </p:nvSpPr>
        <p:spPr>
          <a:xfrm>
            <a:off x="5164665" y="5860372"/>
            <a:ext cx="1280982" cy="347241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高配置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C00771-052D-A09C-8402-1EF834FCB10E}"/>
              </a:ext>
            </a:extLst>
          </p:cNvPr>
          <p:cNvSpPr txBox="1"/>
          <p:nvPr/>
        </p:nvSpPr>
        <p:spPr>
          <a:xfrm>
            <a:off x="1412111" y="4772656"/>
            <a:ext cx="382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C000"/>
                </a:solidFill>
              </a:rPr>
              <a:t>多个条件同时成立，才是符合要求的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8CA851-DAA6-A9BD-054A-C2CBB5FED6C0}"/>
              </a:ext>
            </a:extLst>
          </p:cNvPr>
          <p:cNvSpPr txBox="1"/>
          <p:nvPr/>
        </p:nvSpPr>
        <p:spPr>
          <a:xfrm>
            <a:off x="1984556" y="5849325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and</a:t>
            </a:r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28F9DD-5C52-E332-466E-60AC85F188BE}"/>
              </a:ext>
            </a:extLst>
          </p:cNvPr>
          <p:cNvSpPr txBox="1"/>
          <p:nvPr/>
        </p:nvSpPr>
        <p:spPr>
          <a:xfrm>
            <a:off x="4340837" y="584932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and</a:t>
            </a:r>
            <a:endParaRPr lang="zh-CN" altLang="en-US" sz="140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BC594E-C7C8-FA86-2D21-080972998E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385"/>
          <a:stretch>
            <a:fillRect/>
          </a:stretch>
        </p:blipFill>
        <p:spPr>
          <a:xfrm>
            <a:off x="7921976" y="647076"/>
            <a:ext cx="2595647" cy="4125580"/>
          </a:xfrm>
          <a:prstGeom prst="rect">
            <a:avLst/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6514B2-EACF-557D-6B87-89F294157B8F}"/>
              </a:ext>
            </a:extLst>
          </p:cNvPr>
          <p:cNvSpPr/>
          <p:nvPr/>
        </p:nvSpPr>
        <p:spPr>
          <a:xfrm>
            <a:off x="7698116" y="5849324"/>
            <a:ext cx="1280982" cy="347241"/>
          </a:xfrm>
          <a:prstGeom prst="roundRect">
            <a:avLst/>
          </a:prstGeom>
          <a:solidFill>
            <a:srgbClr val="7030A0">
              <a:alpha val="20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评分最高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4419CD-8F6B-A98A-2EFD-A6020574AEB3}"/>
              </a:ext>
            </a:extLst>
          </p:cNvPr>
          <p:cNvSpPr/>
          <p:nvPr/>
        </p:nvSpPr>
        <p:spPr>
          <a:xfrm>
            <a:off x="10157917" y="5849324"/>
            <a:ext cx="1280982" cy="347241"/>
          </a:xfrm>
          <a:prstGeom prst="roundRect">
            <a:avLst/>
          </a:prstGeom>
          <a:solidFill>
            <a:srgbClr val="7030A0">
              <a:alpha val="20000"/>
            </a:srgbClr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配送最快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A65E6F-88D3-736B-C7C6-46437FCAB31D}"/>
              </a:ext>
            </a:extLst>
          </p:cNvPr>
          <p:cNvSpPr txBox="1"/>
          <p:nvPr/>
        </p:nvSpPr>
        <p:spPr>
          <a:xfrm>
            <a:off x="7467832" y="4899863"/>
            <a:ext cx="405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C000"/>
                </a:solidFill>
              </a:rPr>
              <a:t>多个条件有一个满足，就是符合要求的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3D541-7DE7-85A6-2CFD-F322986AA917}"/>
              </a:ext>
            </a:extLst>
          </p:cNvPr>
          <p:cNvSpPr txBox="1"/>
          <p:nvPr/>
        </p:nvSpPr>
        <p:spPr>
          <a:xfrm>
            <a:off x="9303002" y="5862582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或者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7C5976-C94F-541D-FC60-1D0498BA0C22}"/>
              </a:ext>
            </a:extLst>
          </p:cNvPr>
          <p:cNvSpPr txBox="1"/>
          <p:nvPr/>
        </p:nvSpPr>
        <p:spPr>
          <a:xfrm>
            <a:off x="9371931" y="586905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C00000"/>
                </a:solidFill>
              </a:rPr>
              <a:t>or</a:t>
            </a:r>
            <a:endParaRPr lang="zh-CN" altLang="en-US" sz="14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34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84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9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  <p:bldP spid="13" grpId="0" animBg="1"/>
      <p:bldP spid="14" grpId="0" animBg="1"/>
      <p:bldP spid="15" grpId="0" animBg="1"/>
      <p:bldP spid="16" grpId="0"/>
      <p:bldP spid="17" grpId="0"/>
      <p:bldP spid="18" grpId="0"/>
      <p:bldP spid="8" grpId="0" animBg="1"/>
      <p:bldP spid="10" grpId="0" animBg="1"/>
      <p:bldP spid="20" grpId="0"/>
      <p:bldP spid="21" grpId="0"/>
      <p:bldP spid="21" grpId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5542-821A-C349-F5C5-43B2D40E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A1196-8BCE-4ED4-8921-33584A60E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逻辑运算符是用于连接多个条件</a:t>
            </a:r>
            <a:r>
              <a:rPr lang="en-US" altLang="zh-CN"/>
              <a:t>(</a:t>
            </a:r>
            <a:r>
              <a:rPr lang="zh-CN" altLang="en-US"/>
              <a:t>布尔</a:t>
            </a:r>
            <a:r>
              <a:rPr lang="en-US" altLang="zh-CN"/>
              <a:t>)</a:t>
            </a:r>
            <a:r>
              <a:rPr lang="zh-CN" altLang="en-US"/>
              <a:t>表达式（其值为“真”或“假”），并返回一个最终布尔结果的运算符。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4C42A35-5445-52E6-9D6F-DDCD764F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逻辑运算符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BEB28CC-C7B3-5F64-1EF6-907E6BEB6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575841"/>
              </p:ext>
            </p:extLst>
          </p:nvPr>
        </p:nvGraphicFramePr>
        <p:xfrm>
          <a:off x="973303" y="1576086"/>
          <a:ext cx="10266268" cy="2016000"/>
        </p:xfrm>
        <a:graphic>
          <a:graphicData uri="http://schemas.openxmlformats.org/drawingml/2006/table">
            <a:tbl>
              <a:tblPr/>
              <a:tblGrid>
                <a:gridCol w="1461609">
                  <a:extLst>
                    <a:ext uri="{9D8B030D-6E8A-4147-A177-3AD203B41FA5}">
                      <a16:colId xmlns:a16="http://schemas.microsoft.com/office/drawing/2014/main" val="2541105546"/>
                    </a:ext>
                  </a:extLst>
                </a:gridCol>
                <a:gridCol w="2511866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292793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>
                          <a:solidFill>
                            <a:srgbClr val="FFFFFF"/>
                          </a:solidFill>
                          <a:latin typeface="+mn-lt"/>
                          <a:ea typeface="+mn-ea"/>
                          <a:sym typeface="Arial" panose="020B0604020202020204" pitchFamily="34" charset="0"/>
                        </a:rPr>
                        <a:t>运算符</a:t>
                      </a:r>
                      <a:endParaRPr kumimoji="1" lang="en-US" altLang="zh-CN" sz="1400" b="1" dirty="0">
                        <a:solidFill>
                          <a:srgbClr val="FFFFFF"/>
                        </a:solidFill>
                        <a:latin typeface="+mn-lt"/>
                        <a:ea typeface="+mn-ea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实例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and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逻辑与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并且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同时成立才是符合条件的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左右两边都为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，结果才为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True)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or</a:t>
                      </a:r>
                      <a:endParaRPr kumimoji="0" lang="zh-CN" alt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逻辑或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或者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只要有一个符合要求的即可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只要左右两边有一个为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，结果就位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True)</a:t>
                      </a:r>
                      <a:endParaRPr kumimoji="0" lang="zh-CN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not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逻辑非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取反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取反操作，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True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变为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False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，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False</a:t>
                      </a:r>
                      <a:r>
                        <a:rPr kumimoji="0" lang="zh-CN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变为</a:t>
                      </a:r>
                      <a:r>
                        <a:rPr kumimoji="0" lang="en-US" altLang="zh-C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True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D1B659B-C76D-F69B-2B73-7BE3099A4AAD}"/>
              </a:ext>
            </a:extLst>
          </p:cNvPr>
          <p:cNvSpPr txBox="1"/>
          <p:nvPr/>
        </p:nvSpPr>
        <p:spPr>
          <a:xfrm>
            <a:off x="2146852" y="447923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 &lt; b  </a:t>
            </a:r>
            <a:r>
              <a:rPr lang="en-US" altLang="zh-CN" b="1">
                <a:solidFill>
                  <a:srgbClr val="C00000"/>
                </a:solidFill>
              </a:rPr>
              <a:t>and</a:t>
            </a:r>
            <a:r>
              <a:rPr lang="en-US" altLang="zh-CN"/>
              <a:t>  b &lt; c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5A8073-C1FE-66F9-DBF3-541300F318D1}"/>
              </a:ext>
            </a:extLst>
          </p:cNvPr>
          <p:cNvSpPr txBox="1"/>
          <p:nvPr/>
        </p:nvSpPr>
        <p:spPr>
          <a:xfrm>
            <a:off x="7368209" y="4479235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 &lt; b  </a:t>
            </a:r>
            <a:r>
              <a:rPr lang="en-US" altLang="zh-CN" b="1">
                <a:solidFill>
                  <a:srgbClr val="C00000"/>
                </a:solidFill>
              </a:rPr>
              <a:t>or</a:t>
            </a:r>
            <a:r>
              <a:rPr lang="en-US" altLang="zh-CN"/>
              <a:t>  b &lt; c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2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8DB1AA2-BD56-B57D-1057-0682339D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基于逻辑运算符完成如下需求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820243-661D-080C-45C5-A9826259B2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45376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：键盘输入一个整数，判断这个数字是否在</a:t>
            </a:r>
            <a:r>
              <a:rPr lang="en-US" altLang="zh-CN"/>
              <a:t>10-20</a:t>
            </a:r>
            <a:r>
              <a:rPr lang="zh-CN" altLang="en-US"/>
              <a:t>之间。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：键盘输入一个整数，判断这个数字是否不在</a:t>
            </a:r>
            <a:r>
              <a:rPr lang="en-US" altLang="zh-CN"/>
              <a:t>10-20</a:t>
            </a:r>
            <a:r>
              <a:rPr lang="zh-CN" altLang="en-US"/>
              <a:t>之间。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DD8B3E-43F3-BC5E-E959-CD6D19B92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27" y="1139687"/>
            <a:ext cx="1722783" cy="1722783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5BDDD19-26D0-287A-C5E7-BAA3BE71BD11}"/>
              </a:ext>
            </a:extLst>
          </p:cNvPr>
          <p:cNvCxnSpPr>
            <a:cxnSpLocks/>
          </p:cNvCxnSpPr>
          <p:nvPr/>
        </p:nvCxnSpPr>
        <p:spPr>
          <a:xfrm>
            <a:off x="2153478" y="2040835"/>
            <a:ext cx="71628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464DE1A-129F-93AF-C235-F4EB1A05F3FA}"/>
              </a:ext>
            </a:extLst>
          </p:cNvPr>
          <p:cNvSpPr/>
          <p:nvPr/>
        </p:nvSpPr>
        <p:spPr>
          <a:xfrm>
            <a:off x="3848177" y="1702901"/>
            <a:ext cx="2690192" cy="3313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2043D9-3B34-A51B-696B-7F05FF9C9EE1}"/>
              </a:ext>
            </a:extLst>
          </p:cNvPr>
          <p:cNvSpPr txBox="1"/>
          <p:nvPr/>
        </p:nvSpPr>
        <p:spPr>
          <a:xfrm>
            <a:off x="3617986" y="209001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10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E1F038-761E-B41D-BDE9-8AE9FA078520}"/>
              </a:ext>
            </a:extLst>
          </p:cNvPr>
          <p:cNvSpPr txBox="1"/>
          <p:nvPr/>
        </p:nvSpPr>
        <p:spPr>
          <a:xfrm>
            <a:off x="6308178" y="20833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20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2A3F9FE-4AE3-0CD1-4BA5-315FD070F4A6}"/>
              </a:ext>
            </a:extLst>
          </p:cNvPr>
          <p:cNvCxnSpPr>
            <a:cxnSpLocks/>
          </p:cNvCxnSpPr>
          <p:nvPr/>
        </p:nvCxnSpPr>
        <p:spPr>
          <a:xfrm>
            <a:off x="2153478" y="3554381"/>
            <a:ext cx="71628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522346A-5972-86B0-83AB-98440AE6260B}"/>
              </a:ext>
            </a:extLst>
          </p:cNvPr>
          <p:cNvSpPr/>
          <p:nvPr/>
        </p:nvSpPr>
        <p:spPr>
          <a:xfrm>
            <a:off x="6538369" y="3216446"/>
            <a:ext cx="2690192" cy="3313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4BEFDD-E374-C302-3816-640AEAEB993D}"/>
              </a:ext>
            </a:extLst>
          </p:cNvPr>
          <p:cNvSpPr txBox="1"/>
          <p:nvPr/>
        </p:nvSpPr>
        <p:spPr>
          <a:xfrm>
            <a:off x="3617986" y="3603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10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7B56F4-3D75-19EC-4E9C-A8240F3E5B1B}"/>
              </a:ext>
            </a:extLst>
          </p:cNvPr>
          <p:cNvSpPr txBox="1"/>
          <p:nvPr/>
        </p:nvSpPr>
        <p:spPr>
          <a:xfrm>
            <a:off x="6308178" y="359693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20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CE256C-3766-8D00-23EF-3D25E02FDF18}"/>
              </a:ext>
            </a:extLst>
          </p:cNvPr>
          <p:cNvSpPr/>
          <p:nvPr/>
        </p:nvSpPr>
        <p:spPr>
          <a:xfrm>
            <a:off x="2153478" y="3216461"/>
            <a:ext cx="1694699" cy="3313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86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2" grpId="0" animBg="1"/>
      <p:bldP spid="13" grpId="0"/>
      <p:bldP spid="14" grpId="0"/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FD5D-1D57-1EA0-2764-4E9D700B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C3A6B-BD0A-7BB1-34B8-504C4E0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逻辑运算符场景</a:t>
            </a:r>
          </a:p>
        </p:txBody>
      </p:sp>
      <p:pic>
        <p:nvPicPr>
          <p:cNvPr id="6" name="!!图片 5">
            <a:extLst>
              <a:ext uri="{FF2B5EF4-FFF2-40B4-BE49-F238E27FC236}">
                <a16:creationId xmlns:a16="http://schemas.microsoft.com/office/drawing/2014/main" id="{DC71B6BB-F11F-BF6F-06BD-3AB2A618B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615" r="361" b="690"/>
          <a:stretch>
            <a:fillRect/>
          </a:stretch>
        </p:blipFill>
        <p:spPr>
          <a:xfrm>
            <a:off x="2678897" y="1638825"/>
            <a:ext cx="6834205" cy="3580349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53328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2580-C936-E639-2197-A7E181E8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85A2B-E8EA-E4E2-7E79-93940F30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逻辑运算符场景</a:t>
            </a:r>
          </a:p>
        </p:txBody>
      </p:sp>
      <p:pic>
        <p:nvPicPr>
          <p:cNvPr id="3" name="!!图片 5">
            <a:extLst>
              <a:ext uri="{FF2B5EF4-FFF2-40B4-BE49-F238E27FC236}">
                <a16:creationId xmlns:a16="http://schemas.microsoft.com/office/drawing/2014/main" id="{82F80CCF-2E17-FE78-F642-A6BB1739A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21" t="615" r="361" b="799"/>
          <a:stretch>
            <a:fillRect/>
          </a:stretch>
        </p:blipFill>
        <p:spPr>
          <a:xfrm>
            <a:off x="769357" y="1500088"/>
            <a:ext cx="4843167" cy="4228722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AC3B874-8ECE-8148-2FFD-8CD2D425D511}"/>
              </a:ext>
            </a:extLst>
          </p:cNvPr>
          <p:cNvSpPr txBox="1"/>
          <p:nvPr/>
        </p:nvSpPr>
        <p:spPr>
          <a:xfrm>
            <a:off x="5883966" y="1669774"/>
            <a:ext cx="5840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密码登录时，输入的用户名和密码之间，使用哪种逻辑运算符？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CC54F7-71EB-DD06-ABC9-384A452E280A}"/>
              </a:ext>
            </a:extLst>
          </p:cNvPr>
          <p:cNvSpPr txBox="1"/>
          <p:nvPr/>
        </p:nvSpPr>
        <p:spPr>
          <a:xfrm>
            <a:off x="5883966" y="268381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18888888888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D56D5D-A96D-CC24-5222-720DA68AF3E5}"/>
              </a:ext>
            </a:extLst>
          </p:cNvPr>
          <p:cNvSpPr txBox="1"/>
          <p:nvPr/>
        </p:nvSpPr>
        <p:spPr>
          <a:xfrm>
            <a:off x="8575190" y="2677509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itheima666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D5F801-C199-A7F8-26EC-436C7C75493F}"/>
              </a:ext>
            </a:extLst>
          </p:cNvPr>
          <p:cNvSpPr txBox="1"/>
          <p:nvPr/>
        </p:nvSpPr>
        <p:spPr>
          <a:xfrm>
            <a:off x="6137240" y="3259723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用户名正确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87F165-9723-CD85-305C-80AD36086252}"/>
              </a:ext>
            </a:extLst>
          </p:cNvPr>
          <p:cNvSpPr txBox="1"/>
          <p:nvPr/>
        </p:nvSpPr>
        <p:spPr>
          <a:xfrm>
            <a:off x="8860524" y="3259723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密码正确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727C81-B927-0307-BFA2-ACD809991312}"/>
              </a:ext>
            </a:extLst>
          </p:cNvPr>
          <p:cNvSpPr txBox="1"/>
          <p:nvPr/>
        </p:nvSpPr>
        <p:spPr>
          <a:xfrm>
            <a:off x="7797040" y="322894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and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998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76FB-2D16-1FC5-9CFD-0BBF9C420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045F8-0E6B-DE15-E773-61A9B325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逻辑运算符场景</a:t>
            </a:r>
          </a:p>
        </p:txBody>
      </p:sp>
      <p:pic>
        <p:nvPicPr>
          <p:cNvPr id="6" name="!!图片 5">
            <a:extLst>
              <a:ext uri="{FF2B5EF4-FFF2-40B4-BE49-F238E27FC236}">
                <a16:creationId xmlns:a16="http://schemas.microsoft.com/office/drawing/2014/main" id="{FEF273A6-F133-0473-E4B8-95FCEF0F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615" r="361" b="690"/>
          <a:stretch>
            <a:fillRect/>
          </a:stretch>
        </p:blipFill>
        <p:spPr>
          <a:xfrm>
            <a:off x="2528033" y="1314735"/>
            <a:ext cx="6834205" cy="3580349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A9C7CBD-9189-CD94-7C18-DF0A48A162ED}"/>
              </a:ext>
            </a:extLst>
          </p:cNvPr>
          <p:cNvSpPr txBox="1"/>
          <p:nvPr/>
        </p:nvSpPr>
        <p:spPr>
          <a:xfrm>
            <a:off x="3472404" y="5400201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扫码登录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F5CFDA-DC8B-5F1B-BC01-E4252E4EE136}"/>
              </a:ext>
            </a:extLst>
          </p:cNvPr>
          <p:cNvSpPr txBox="1"/>
          <p:nvPr/>
        </p:nvSpPr>
        <p:spPr>
          <a:xfrm>
            <a:off x="5436242" y="5400201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密码登录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36F0F4-8862-CFB1-1831-E83B19D029A2}"/>
              </a:ext>
            </a:extLst>
          </p:cNvPr>
          <p:cNvSpPr txBox="1"/>
          <p:nvPr/>
        </p:nvSpPr>
        <p:spPr>
          <a:xfrm>
            <a:off x="7209097" y="5400201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短信登录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E914E0-8397-E0BD-B0A9-4BD91B5A9B27}"/>
              </a:ext>
            </a:extLst>
          </p:cNvPr>
          <p:cNvSpPr txBox="1"/>
          <p:nvPr/>
        </p:nvSpPr>
        <p:spPr>
          <a:xfrm>
            <a:off x="4720421" y="5384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or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14DEBE7-9D70-329D-88D5-1CBDC23569D9}"/>
              </a:ext>
            </a:extLst>
          </p:cNvPr>
          <p:cNvSpPr txBox="1"/>
          <p:nvPr/>
        </p:nvSpPr>
        <p:spPr>
          <a:xfrm>
            <a:off x="6588768" y="5384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or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401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0" grpId="0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003A-B228-CADB-DC6C-31B41DF9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FF9B40-3EFD-AC45-98D9-965D20EDB1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542161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/>
              <a:t>什么是逻辑运算符</a:t>
            </a:r>
            <a:r>
              <a:rPr lang="en-US" altLang="zh-CN" sz="1800"/>
              <a:t>?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逻辑运算符用于连接多个布尔表达式（</a:t>
            </a:r>
            <a:r>
              <a:rPr lang="en-US" altLang="zh-CN" sz="1600"/>
              <a:t>True</a:t>
            </a:r>
            <a:r>
              <a:rPr lang="zh-CN" altLang="en-US" sz="1600"/>
              <a:t>或</a:t>
            </a:r>
            <a:r>
              <a:rPr lang="en-US" altLang="zh-CN" sz="1600"/>
              <a:t>False</a:t>
            </a:r>
            <a:r>
              <a:rPr lang="zh-CN" altLang="en-US" sz="1600"/>
              <a:t>），并返回最终的一个布尔值</a:t>
            </a:r>
            <a:endParaRPr lang="en-US" altLang="zh-CN" sz="16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/>
              <a:t>有哪些逻辑运算符</a:t>
            </a:r>
            <a:r>
              <a:rPr lang="en-US" altLang="zh-CN" sz="1800"/>
              <a:t>?</a:t>
            </a: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363C3B"/>
                </a:solidFill>
              </a:rPr>
              <a:t>and(</a:t>
            </a:r>
            <a:r>
              <a:rPr lang="zh-CN" altLang="en-US" sz="1600">
                <a:solidFill>
                  <a:srgbClr val="363C3B"/>
                </a:solidFill>
              </a:rPr>
              <a:t>并且，同时成立）</a:t>
            </a:r>
            <a:endParaRPr lang="en-US" altLang="zh-CN" sz="1600">
              <a:solidFill>
                <a:srgbClr val="363C3B"/>
              </a:solidFill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363C3B"/>
                </a:solidFill>
              </a:rPr>
              <a:t>or</a:t>
            </a:r>
            <a:r>
              <a:rPr lang="zh-CN" altLang="en-US" sz="1600">
                <a:solidFill>
                  <a:srgbClr val="363C3B"/>
                </a:solidFill>
              </a:rPr>
              <a:t>（或者，满足其一）</a:t>
            </a:r>
            <a:endParaRPr lang="en-US" altLang="zh-CN" sz="1600">
              <a:solidFill>
                <a:srgbClr val="363C3B"/>
              </a:solidFill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>
                <a:solidFill>
                  <a:srgbClr val="363C3B"/>
                </a:solidFill>
              </a:rPr>
              <a:t>not(</a:t>
            </a:r>
            <a:r>
              <a:rPr lang="zh-CN" altLang="en-US" sz="1600">
                <a:solidFill>
                  <a:srgbClr val="363C3B"/>
                </a:solidFill>
              </a:rPr>
              <a:t>非，取反操作）</a:t>
            </a:r>
            <a:endParaRPr lang="en-US" altLang="zh-CN" sz="1600">
              <a:solidFill>
                <a:srgbClr val="363C3B"/>
              </a:solidFill>
            </a:endParaRPr>
          </a:p>
          <a:p>
            <a:pPr marL="648000" lvl="1" indent="-285750">
              <a:lnSpc>
                <a:spcPct val="150000"/>
              </a:lnSpc>
              <a:spcBef>
                <a:spcPts val="600"/>
              </a:spcBef>
            </a:pPr>
            <a:endParaRPr lang="en-US" altLang="zh-CN" sz="1600">
              <a:solidFill>
                <a:srgbClr val="363C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97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EA68F2-5B87-1B89-9C7C-F35B5FDB4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8448</TotalTime>
  <Words>3592</Words>
  <Application>Microsoft Office PowerPoint</Application>
  <PresentationFormat>宽屏</PresentationFormat>
  <Paragraphs>548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63</vt:i4>
      </vt:variant>
    </vt:vector>
  </HeadingPairs>
  <TitlesOfParts>
    <vt:vector size="84" baseType="lpstr">
      <vt:lpstr>Alibaba PuHuiTi B</vt:lpstr>
      <vt:lpstr>quote-cjk-patch</vt:lpstr>
      <vt:lpstr>阿里巴巴普惠体</vt:lpstr>
      <vt:lpstr>阿里巴巴普惠体 Heavy</vt:lpstr>
      <vt:lpstr>阿里巴巴普惠体 Medium</vt:lpstr>
      <vt:lpstr>等线</vt:lpstr>
      <vt:lpstr>荆南波波黑</vt:lpstr>
      <vt:lpstr>楷体</vt:lpstr>
      <vt:lpstr>微软雅黑</vt:lpstr>
      <vt:lpstr>Arial</vt:lpstr>
      <vt:lpstr>Calisto MT</vt:lpstr>
      <vt:lpstr>Consolas</vt:lpstr>
      <vt:lpstr>Courier New</vt:lpstr>
      <vt:lpstr>Fira Code</vt:lpstr>
      <vt:lpstr>Lato Black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Python核心语法</vt:lpstr>
      <vt:lpstr>Python核心语法</vt:lpstr>
      <vt:lpstr>PowerPoint 演示文稿</vt:lpstr>
      <vt:lpstr>PowerPoint 演示文稿</vt:lpstr>
      <vt:lpstr>字面量</vt:lpstr>
      <vt:lpstr>字面量</vt:lpstr>
      <vt:lpstr>PowerPoint 演示文稿</vt:lpstr>
      <vt:lpstr>PowerPoint 演示文稿</vt:lpstr>
      <vt:lpstr>什么是变量</vt:lpstr>
      <vt:lpstr>什么是变量</vt:lpstr>
      <vt:lpstr>什么是变量</vt:lpstr>
      <vt:lpstr>什么是变量</vt:lpstr>
      <vt:lpstr>什么是变量</vt:lpstr>
      <vt:lpstr>变量的定义</vt:lpstr>
      <vt:lpstr>B站课程播放量</vt:lpstr>
      <vt:lpstr>PowerPoint 演示文稿</vt:lpstr>
      <vt:lpstr>PowerPoint 演示文稿</vt:lpstr>
      <vt:lpstr>标识符</vt:lpstr>
      <vt:lpstr>标识符</vt:lpstr>
      <vt:lpstr>PowerPoint 演示文稿</vt:lpstr>
      <vt:lpstr>完成如下需求</vt:lpstr>
      <vt:lpstr>完成如下需求</vt:lpstr>
      <vt:lpstr>PowerPoint 演示文稿</vt:lpstr>
      <vt:lpstr>PowerPoint 演示文稿</vt:lpstr>
      <vt:lpstr>常见数据类型</vt:lpstr>
      <vt:lpstr>常见数据类型</vt:lpstr>
      <vt:lpstr>PowerPoint 演示文稿</vt:lpstr>
      <vt:lpstr>字符串</vt:lpstr>
      <vt:lpstr>PowerPoint 演示文稿</vt:lpstr>
      <vt:lpstr>字符串拼接</vt:lpstr>
      <vt:lpstr>完成如下字符串拼接的需求</vt:lpstr>
      <vt:lpstr>字符串格式化</vt:lpstr>
      <vt:lpstr>字符串格式化</vt:lpstr>
      <vt:lpstr>PowerPoint 演示文稿</vt:lpstr>
      <vt:lpstr>PowerPoint 演示文稿</vt:lpstr>
      <vt:lpstr>PowerPoint 演示文稿</vt:lpstr>
      <vt:lpstr>PowerPoint 演示文稿</vt:lpstr>
      <vt:lpstr>输入</vt:lpstr>
      <vt:lpstr>银行卡ATM取款</vt:lpstr>
      <vt:lpstr>PowerPoint 演示文稿</vt:lpstr>
      <vt:lpstr>实现计算器功能</vt:lpstr>
      <vt:lpstr>PowerPoint 演示文稿</vt:lpstr>
      <vt:lpstr>运算符</vt:lpstr>
      <vt:lpstr>PowerPoint 演示文稿</vt:lpstr>
      <vt:lpstr>算术运算符</vt:lpstr>
      <vt:lpstr>完成如下需求</vt:lpstr>
      <vt:lpstr>PowerPoint 演示文稿</vt:lpstr>
      <vt:lpstr>完成如下需求</vt:lpstr>
      <vt:lpstr>PowerPoint 演示文稿</vt:lpstr>
      <vt:lpstr>赋值运算符</vt:lpstr>
      <vt:lpstr>PowerPoint 演示文稿</vt:lpstr>
      <vt:lpstr>比较运算符</vt:lpstr>
      <vt:lpstr>思考如下需求需要使用哪种比较运算符</vt:lpstr>
      <vt:lpstr>PowerPoint 演示文稿</vt:lpstr>
      <vt:lpstr>什么是逻辑运算符</vt:lpstr>
      <vt:lpstr>逻辑运算符</vt:lpstr>
      <vt:lpstr>基于逻辑运算符完成如下需求</vt:lpstr>
      <vt:lpstr>逻辑运算符场景</vt:lpstr>
      <vt:lpstr>逻辑运算符场景</vt:lpstr>
      <vt:lpstr>逻辑运算符场景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974</cp:revision>
  <cp:lastPrinted>2022-05-29T16:00:00Z</cp:lastPrinted>
  <dcterms:created xsi:type="dcterms:W3CDTF">2022-05-29T16:00:00Z</dcterms:created>
  <dcterms:modified xsi:type="dcterms:W3CDTF">2025-11-23T14:36:52Z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