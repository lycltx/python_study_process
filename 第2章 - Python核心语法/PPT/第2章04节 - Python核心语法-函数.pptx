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68"/>
  </p:notesMasterIdLst>
  <p:handoutMasterIdLst>
    <p:handoutMasterId r:id="rId69"/>
  </p:handoutMasterIdLst>
  <p:sldIdLst>
    <p:sldId id="736" r:id="rId5"/>
    <p:sldId id="341" r:id="rId6"/>
    <p:sldId id="686" r:id="rId7"/>
    <p:sldId id="687" r:id="rId8"/>
    <p:sldId id="688" r:id="rId9"/>
    <p:sldId id="689" r:id="rId10"/>
    <p:sldId id="690" r:id="rId11"/>
    <p:sldId id="691" r:id="rId12"/>
    <p:sldId id="707" r:id="rId13"/>
    <p:sldId id="692" r:id="rId14"/>
    <p:sldId id="693" r:id="rId15"/>
    <p:sldId id="737" r:id="rId16"/>
    <p:sldId id="708" r:id="rId17"/>
    <p:sldId id="709" r:id="rId18"/>
    <p:sldId id="741" r:id="rId19"/>
    <p:sldId id="742" r:id="rId20"/>
    <p:sldId id="743" r:id="rId21"/>
    <p:sldId id="744" r:id="rId22"/>
    <p:sldId id="745" r:id="rId23"/>
    <p:sldId id="747" r:id="rId24"/>
    <p:sldId id="746" r:id="rId25"/>
    <p:sldId id="710" r:id="rId26"/>
    <p:sldId id="694" r:id="rId27"/>
    <p:sldId id="696" r:id="rId28"/>
    <p:sldId id="715" r:id="rId29"/>
    <p:sldId id="706" r:id="rId30"/>
    <p:sldId id="724" r:id="rId31"/>
    <p:sldId id="726" r:id="rId32"/>
    <p:sldId id="727" r:id="rId33"/>
    <p:sldId id="716" r:id="rId34"/>
    <p:sldId id="738" r:id="rId35"/>
    <p:sldId id="717" r:id="rId36"/>
    <p:sldId id="695" r:id="rId37"/>
    <p:sldId id="718" r:id="rId38"/>
    <p:sldId id="711" r:id="rId39"/>
    <p:sldId id="719" r:id="rId40"/>
    <p:sldId id="712" r:id="rId41"/>
    <p:sldId id="721" r:id="rId42"/>
    <p:sldId id="720" r:id="rId43"/>
    <p:sldId id="713" r:id="rId44"/>
    <p:sldId id="697" r:id="rId45"/>
    <p:sldId id="722" r:id="rId46"/>
    <p:sldId id="698" r:id="rId47"/>
    <p:sldId id="740" r:id="rId48"/>
    <p:sldId id="739" r:id="rId49"/>
    <p:sldId id="725" r:id="rId50"/>
    <p:sldId id="699" r:id="rId51"/>
    <p:sldId id="700" r:id="rId52"/>
    <p:sldId id="728" r:id="rId53"/>
    <p:sldId id="702" r:id="rId54"/>
    <p:sldId id="701" r:id="rId55"/>
    <p:sldId id="703" r:id="rId56"/>
    <p:sldId id="748" r:id="rId57"/>
    <p:sldId id="704" r:id="rId58"/>
    <p:sldId id="705" r:id="rId59"/>
    <p:sldId id="729" r:id="rId60"/>
    <p:sldId id="730" r:id="rId61"/>
    <p:sldId id="731" r:id="rId62"/>
    <p:sldId id="734" r:id="rId63"/>
    <p:sldId id="732" r:id="rId64"/>
    <p:sldId id="733" r:id="rId65"/>
    <p:sldId id="735" r:id="rId66"/>
    <p:sldId id="288" r:id="rId67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36"/>
            <p14:sldId id="341"/>
            <p14:sldId id="686"/>
            <p14:sldId id="687"/>
            <p14:sldId id="688"/>
            <p14:sldId id="689"/>
            <p14:sldId id="690"/>
            <p14:sldId id="691"/>
            <p14:sldId id="707"/>
            <p14:sldId id="692"/>
            <p14:sldId id="693"/>
            <p14:sldId id="737"/>
            <p14:sldId id="708"/>
            <p14:sldId id="709"/>
            <p14:sldId id="741"/>
            <p14:sldId id="742"/>
            <p14:sldId id="743"/>
            <p14:sldId id="744"/>
            <p14:sldId id="745"/>
            <p14:sldId id="747"/>
            <p14:sldId id="746"/>
            <p14:sldId id="710"/>
            <p14:sldId id="694"/>
            <p14:sldId id="696"/>
            <p14:sldId id="715"/>
            <p14:sldId id="706"/>
            <p14:sldId id="724"/>
            <p14:sldId id="726"/>
            <p14:sldId id="727"/>
            <p14:sldId id="716"/>
            <p14:sldId id="738"/>
            <p14:sldId id="717"/>
            <p14:sldId id="695"/>
            <p14:sldId id="718"/>
            <p14:sldId id="711"/>
            <p14:sldId id="719"/>
            <p14:sldId id="712"/>
            <p14:sldId id="721"/>
            <p14:sldId id="720"/>
            <p14:sldId id="713"/>
            <p14:sldId id="697"/>
            <p14:sldId id="722"/>
            <p14:sldId id="698"/>
            <p14:sldId id="740"/>
            <p14:sldId id="739"/>
            <p14:sldId id="725"/>
            <p14:sldId id="699"/>
            <p14:sldId id="700"/>
            <p14:sldId id="728"/>
            <p14:sldId id="702"/>
            <p14:sldId id="701"/>
            <p14:sldId id="703"/>
            <p14:sldId id="748"/>
            <p14:sldId id="704"/>
            <p14:sldId id="705"/>
            <p14:sldId id="729"/>
            <p14:sldId id="730"/>
            <p14:sldId id="731"/>
            <p14:sldId id="734"/>
            <p14:sldId id="732"/>
            <p14:sldId id="733"/>
            <p14:sldId id="735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67D17"/>
    <a:srgbClr val="A7E8FF"/>
    <a:srgbClr val="0033B3"/>
    <a:srgbClr val="1B1E1D"/>
    <a:srgbClr val="1750EB"/>
    <a:srgbClr val="9F9F9F"/>
    <a:srgbClr val="2D60EC"/>
    <a:srgbClr val="660099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1" autoAdjust="0"/>
    <p:restoredTop sz="96233" autoAdjust="0"/>
  </p:normalViewPr>
  <p:slideViewPr>
    <p:cSldViewPr snapToGrid="0" showGuides="1">
      <p:cViewPr varScale="1">
        <p:scale>
          <a:sx n="96" d="100"/>
          <a:sy n="96" d="100"/>
        </p:scale>
        <p:origin x="8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函数基础案例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案例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定义一个函数：根据传入的底和高计算三角形面积的函数（三角形面积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 * 高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2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triangle_area(b, h):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该函数用于根据底和高计算三角形的面积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b: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三角形的底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h: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三角形的高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三角形的面积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(b * h) / 2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print(triangle_area(10, 20))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案例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定义一个函数：计算传入的字符串中元音字母的个数（元音字母为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aeiouAEIOU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count_vowel(s):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该函数用于统计指定的字符串中元音字母的个数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s: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需要统计的字符串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元音字母的个数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 = 0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for i in s: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if i in "aeiouAEIOU":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count += 1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count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print(count_vowel("hello world"))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案例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定义一个函数：计算传入的班级学员高考成绩列表中成绩的最高分、最低分、平均分，并返回。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calc_score(scores):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该函数用于计算班级学员的考试成绩列表中成绩的最高分、最低分、平均分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scores: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成绩列表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最高分、最低分、平均分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max_score = max(scores)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min_score = min(scores)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avg_score = sum(scores) / len(scores)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平均分保留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位小数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avg_score = round(avg_score, 1)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max_score, min_score, avg_score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print(calc_score([672, 435, 544, 567, 705, 668, 634, 527, 540, 525, 645, 621, 589, 612]))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093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练习案例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练习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定义一个函数，根据传入的分数，计算对应的分数等级并返回。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calc_grade(score):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score &gt;= 90: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"A"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score &gt;= 75: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"B"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elif score &gt;= 60: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"C"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else: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return "D"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print(calc_grade(100))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print(calc_grade(50))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print(calc_grade(70))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练习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定义一个函数，用于判断一个字符串是否是回文串，返回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值。（把字符串反转，如果和原字符串相同，就是回文串）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is_palindrome(s):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s == s[::-1]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print(is_palindrome("level"))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print(is_palindrome("hello"))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练习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定义一个函数：完成时间转换功能，将传入的秒转换为小时、分钟、秒。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time_change(total_seconds):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该函数用于时间转换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将秒转换为小时、分钟、秒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total_seconds: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总秒数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小时，分钟，秒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hours = total_seconds // 3600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minutes = (total_seconds - hours * 3600) // 60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seconds = total_seconds - hours * 3600 - minutes * 60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hours, minutes, seconds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print(time_change(10000))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h,m,s = time_change(10000)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print(f"10000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秒转换为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{m}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{s}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662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根据输入的班级名称，以及班级中各个学员的考试总分，统计班级的平均分，以及高于平局分的人数，低于平均分的人数。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calc_grade(class_name, *args):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据输入的班级名称，以及班级中各个学员的考试总分，统计班级的平均分，以及高于平局分的人数，低于平均分的人数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class_name: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班级名称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args: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班级学员分数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元组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平均分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高于平均分的人数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低于平均分的人数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total_score = sum(args)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avg_score = total_score / len(args)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above_avg_count = sum(1 for score in args if score &gt; avg_score)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below_avg_count = sum(1 for score in args if score &lt; avg_score)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avg_score, above_avg_count, below_avg_count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avg_score,  above_avg_count, below_avg_count = calc_grade("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六年级一班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650, 683, 706, 593, 623, 634, 712, 588, 562, 470, 611)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print(f"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班级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六年级一班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的平均分是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{avg_score:.2f},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高于平均分的人数有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{above_avg_count}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低于平均分的人数有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{below_avg_count}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229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定义一个用于根据商品信息（商品名、价格、数量）、优惠（优惠券、积分抵扣）、运费信息计算购物车总金额的函数。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calc_cart_total_price(*goods:tuple, coupon_price=0, point_deduction=0, express_price=0):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定义一个用于根据商品信息（商品名、价格、数量）、优惠（折扣、优惠券、积分抵扣）、运费信息计算购物车总金额的函数。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goods: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coupon_price: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优惠金额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point_deduction: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积分抵扣金额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express_price: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运费金额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购物车总金额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total_price = sum(good[1] * good[2] for good in goods)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total_price &gt; 5000 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total_price -= coupon_price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total_price &gt; 8000: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total_price -= point_deduction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total_price + express_price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print(calc_cart_total_price(("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鼠标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100, 2), 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键盘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200, 3), coupon_price=500, point_deduction=1000, express_price=50))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10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定义一个用于根据商品信息（商品名、价格、数量）、优惠（优惠券、积分抵扣）、运费信息计算购物车总金额的函数。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 calc_cart_total_price(*goods: tuple[str,float,int], coupon_price: int=0, point_deduction: int=0, express_price: float=0) -&gt; float: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定义一个用于根据商品信息（商品名、价格、数量）、优惠（折扣、优惠券、积分抵扣）、运费信息计算购物车总金额的函数。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goods: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商品信息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coupon_price: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优惠金额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point_deduction: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积分抵扣金额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:param express_price: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运费金额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:return: </a:t>
            </a: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购物车总金额</a:t>
            </a:r>
            <a:b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"""</a:t>
            </a:r>
            <a:b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total_price = sum(good[1] * good[2] for good in goods)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total_price &gt; 5000 and coupon_price &lt;= total_price 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total_price -= coupon_price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if total_price &gt; 5000 and point_deduction // 100 &lt;= total_price: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total_price -= point_deduction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return total_price + express_price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print(calc_cart_total_price(("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鼠标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88.5, 2), ("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键盘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168.9, 3), coupon_price=500, point_deduction=1000, express_price=8.5))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214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47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E8CD7-7660-1A36-F5AC-DF5453DB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Python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D2B26"/>
                </a:solidFill>
                <a:effectLst/>
                <a:uLnTx/>
                <a:uFillTx/>
                <a:latin typeface="Source Code Pro Black"/>
                <a:ea typeface="阿里巴巴普惠体 Heavy"/>
                <a:cs typeface="+mj-cs"/>
              </a:rPr>
              <a:t>核心语法</a:t>
            </a:r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F5794D4-FA2F-5D70-8C82-C77264384343}"/>
              </a:ext>
            </a:extLst>
          </p:cNvPr>
          <p:cNvSpPr/>
          <p:nvPr/>
        </p:nvSpPr>
        <p:spPr>
          <a:xfrm>
            <a:off x="50888" y="2103257"/>
            <a:ext cx="12192000" cy="1390935"/>
          </a:xfrm>
          <a:custGeom>
            <a:avLst/>
            <a:gdLst>
              <a:gd name="connsiteX0" fmla="*/ 3269730 w 6539459"/>
              <a:gd name="connsiteY0" fmla="*/ 2024556 h 2024556"/>
              <a:gd name="connsiteX1" fmla="*/ 6473799 w 6539459"/>
              <a:gd name="connsiteY1" fmla="*/ 130650 h 2024556"/>
              <a:gd name="connsiteX2" fmla="*/ 6539459 w 6539459"/>
              <a:gd name="connsiteY2" fmla="*/ 0 h 2024556"/>
              <a:gd name="connsiteX3" fmla="*/ 0 w 6539459"/>
              <a:gd name="connsiteY3" fmla="*/ 0 h 2024556"/>
              <a:gd name="connsiteX4" fmla="*/ 65661 w 6539459"/>
              <a:gd name="connsiteY4" fmla="*/ 130650 h 2024556"/>
              <a:gd name="connsiteX5" fmla="*/ 3269730 w 6539459"/>
              <a:gd name="connsiteY5" fmla="*/ 2024556 h 202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9459" h="2024556">
                <a:moveTo>
                  <a:pt x="3269730" y="2024556"/>
                </a:moveTo>
                <a:cubicBezTo>
                  <a:pt x="4649984" y="2024556"/>
                  <a:pt x="5851589" y="1259672"/>
                  <a:pt x="6473799" y="130650"/>
                </a:cubicBezTo>
                <a:lnTo>
                  <a:pt x="6539459" y="0"/>
                </a:lnTo>
                <a:lnTo>
                  <a:pt x="0" y="0"/>
                </a:lnTo>
                <a:lnTo>
                  <a:pt x="65661" y="130650"/>
                </a:lnTo>
                <a:cubicBezTo>
                  <a:pt x="687871" y="1259672"/>
                  <a:pt x="1889476" y="2024556"/>
                  <a:pt x="3269730" y="2024556"/>
                </a:cubicBezTo>
                <a:close/>
              </a:path>
            </a:pathLst>
          </a:custGeom>
          <a:noFill/>
          <a:ln w="6350" cap="flat" cmpd="sng" algn="ctr">
            <a:gradFill>
              <a:gsLst>
                <a:gs pos="0">
                  <a:srgbClr val="4381DD">
                    <a:alpha val="0"/>
                  </a:srgbClr>
                </a:gs>
                <a:gs pos="100000">
                  <a:srgbClr val="4381DD">
                    <a:alpha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A6D718-B2F5-011A-6A8E-C77F8EB2F6BA}"/>
              </a:ext>
            </a:extLst>
          </p:cNvPr>
          <p:cNvGrpSpPr/>
          <p:nvPr/>
        </p:nvGrpSpPr>
        <p:grpSpPr>
          <a:xfrm>
            <a:off x="654395" y="2016492"/>
            <a:ext cx="1564466" cy="1564466"/>
            <a:chOff x="654395" y="2016492"/>
            <a:chExt cx="1564466" cy="156446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AA4E47F-7AF1-471D-77F4-E0F4B87D856F}"/>
                </a:ext>
              </a:extLst>
            </p:cNvPr>
            <p:cNvSpPr/>
            <p:nvPr/>
          </p:nvSpPr>
          <p:spPr>
            <a:xfrm>
              <a:off x="654395" y="2016492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4381DD">
                    <a:lumMod val="60000"/>
                    <a:lumOff val="40000"/>
                  </a:srgbClr>
                </a:gs>
                <a:gs pos="50000">
                  <a:srgbClr val="4381DD"/>
                </a:gs>
              </a:gsLst>
              <a:lin ang="2700000" scaled="1"/>
              <a:tileRect/>
            </a:gradFill>
            <a:effectLst>
              <a:reflection blurRad="6350" stA="15000" endPos="35000" dir="5400000" sy="-100000" algn="bl" rotWithShape="0"/>
            </a:effectLst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形状1">
              <a:extLst>
                <a:ext uri="{FF2B5EF4-FFF2-40B4-BE49-F238E27FC236}">
                  <a16:creationId xmlns:a16="http://schemas.microsoft.com/office/drawing/2014/main" id="{848053D3-BF1A-843E-ACC1-C4F1B93856DF}"/>
                </a:ext>
              </a:extLst>
            </p:cNvPr>
            <p:cNvSpPr txBox="1">
              <a:spLocks/>
            </p:cNvSpPr>
            <p:nvPr/>
          </p:nvSpPr>
          <p:spPr>
            <a:xfrm>
              <a:off x="715456" y="274904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数据存储与运算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14508D8-A3A3-1D89-14A6-DE23CD7390D9}"/>
                </a:ext>
              </a:extLst>
            </p:cNvPr>
            <p:cNvSpPr txBox="1"/>
            <p:nvPr/>
          </p:nvSpPr>
          <p:spPr>
            <a:xfrm>
              <a:off x="1159439" y="2161555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V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FF2EE05-CEF0-7E33-51A1-6B0DE4571879}"/>
              </a:ext>
            </a:extLst>
          </p:cNvPr>
          <p:cNvGrpSpPr/>
          <p:nvPr/>
        </p:nvGrpSpPr>
        <p:grpSpPr>
          <a:xfrm>
            <a:off x="2883600" y="2488467"/>
            <a:ext cx="1564466" cy="1564466"/>
            <a:chOff x="2883600" y="2488467"/>
            <a:chExt cx="1564466" cy="1564466"/>
          </a:xfrm>
        </p:grpSpPr>
        <p:sp>
          <p:nvSpPr>
            <p:cNvPr id="40" name="IconBackground1">
              <a:extLst>
                <a:ext uri="{FF2B5EF4-FFF2-40B4-BE49-F238E27FC236}">
                  <a16:creationId xmlns:a16="http://schemas.microsoft.com/office/drawing/2014/main" id="{CCE7E541-D9BB-B1BC-DB0A-1C54325CE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600" y="2488467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AEDAF8"/>
                </a:gs>
                <a:gs pos="60000">
                  <a:srgbClr val="72BEF2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形状1">
              <a:extLst>
                <a:ext uri="{FF2B5EF4-FFF2-40B4-BE49-F238E27FC236}">
                  <a16:creationId xmlns:a16="http://schemas.microsoft.com/office/drawing/2014/main" id="{7257DE16-877D-4B2C-17E7-EFC442FDEB5E}"/>
                </a:ext>
              </a:extLst>
            </p:cNvPr>
            <p:cNvSpPr txBox="1">
              <a:spLocks/>
            </p:cNvSpPr>
            <p:nvPr/>
          </p:nvSpPr>
          <p:spPr>
            <a:xfrm>
              <a:off x="2934403" y="3190222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数据的逻辑处理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686F182-486D-AD5A-C17A-285EEECAB314}"/>
                </a:ext>
              </a:extLst>
            </p:cNvPr>
            <p:cNvSpPr txBox="1"/>
            <p:nvPr/>
          </p:nvSpPr>
          <p:spPr>
            <a:xfrm>
              <a:off x="3467898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L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C989A5C-0847-F99A-4EC2-357164960CA5}"/>
              </a:ext>
            </a:extLst>
          </p:cNvPr>
          <p:cNvGrpSpPr/>
          <p:nvPr/>
        </p:nvGrpSpPr>
        <p:grpSpPr>
          <a:xfrm>
            <a:off x="5313767" y="2693955"/>
            <a:ext cx="1564466" cy="1564466"/>
            <a:chOff x="5313767" y="2693955"/>
            <a:chExt cx="1564466" cy="156446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59A2720-5447-01A7-1012-EA306D120594}"/>
                </a:ext>
              </a:extLst>
            </p:cNvPr>
            <p:cNvGrpSpPr/>
            <p:nvPr/>
          </p:nvGrpSpPr>
          <p:grpSpPr>
            <a:xfrm>
              <a:off x="5313767" y="2693955"/>
              <a:ext cx="1564466" cy="1564466"/>
              <a:chOff x="1174224" y="1867691"/>
              <a:chExt cx="2386018" cy="238601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6AB6814-505A-F055-61BF-7597DF909C50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62CB78">
                      <a:lumMod val="60000"/>
                      <a:lumOff val="40000"/>
                    </a:srgbClr>
                  </a:gs>
                  <a:gs pos="50000">
                    <a:srgbClr val="62CB7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形状2">
                <a:extLst>
                  <a:ext uri="{FF2B5EF4-FFF2-40B4-BE49-F238E27FC236}">
                    <a16:creationId xmlns:a16="http://schemas.microsoft.com/office/drawing/2014/main" id="{D82B4AB2-EBEA-DEB1-BFCB-FA5476AEC2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043852"/>
                <a:ext cx="2079526" cy="8619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数据存储容器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0E729E-B709-9F89-82B6-3EF7948A3144}"/>
                </a:ext>
              </a:extLst>
            </p:cNvPr>
            <p:cNvSpPr txBox="1"/>
            <p:nvPr/>
          </p:nvSpPr>
          <p:spPr>
            <a:xfrm>
              <a:off x="5846310" y="2844937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C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EDE311D-D316-CB83-15A8-67AD284BFB69}"/>
              </a:ext>
            </a:extLst>
          </p:cNvPr>
          <p:cNvGrpSpPr/>
          <p:nvPr/>
        </p:nvGrpSpPr>
        <p:grpSpPr>
          <a:xfrm>
            <a:off x="7743934" y="2488467"/>
            <a:ext cx="1564466" cy="1564466"/>
            <a:chOff x="7743934" y="2488467"/>
            <a:chExt cx="1564466" cy="156446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282EDF7-431D-EE04-67F8-405C5B296158}"/>
                </a:ext>
              </a:extLst>
            </p:cNvPr>
            <p:cNvGrpSpPr/>
            <p:nvPr/>
          </p:nvGrpSpPr>
          <p:grpSpPr>
            <a:xfrm>
              <a:off x="7743934" y="2488467"/>
              <a:ext cx="1564466" cy="1564466"/>
              <a:chOff x="1174224" y="1867691"/>
              <a:chExt cx="2386018" cy="238601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F5643EB-9BC4-46A9-0C3B-60E7A8ED5E11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44B4CF">
                      <a:lumMod val="60000"/>
                      <a:lumOff val="40000"/>
                    </a:srgbClr>
                  </a:gs>
                  <a:gs pos="50000">
                    <a:srgbClr val="44B4CF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形状3">
                <a:extLst>
                  <a:ext uri="{FF2B5EF4-FFF2-40B4-BE49-F238E27FC236}">
                    <a16:creationId xmlns:a16="http://schemas.microsoft.com/office/drawing/2014/main" id="{A5364520-2746-8A8B-7E0D-A337E0BFFC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27026"/>
                <a:ext cx="2079526" cy="719928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函数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F7D29A8-D2E3-8380-AE42-953F7BCBECFE}"/>
                </a:ext>
              </a:extLst>
            </p:cNvPr>
            <p:cNvSpPr txBox="1"/>
            <p:nvPr/>
          </p:nvSpPr>
          <p:spPr>
            <a:xfrm>
              <a:off x="8276477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F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AE127DF-6A86-1244-A06D-782065C66685}"/>
              </a:ext>
            </a:extLst>
          </p:cNvPr>
          <p:cNvGrpSpPr/>
          <p:nvPr/>
        </p:nvGrpSpPr>
        <p:grpSpPr>
          <a:xfrm>
            <a:off x="9973139" y="1961339"/>
            <a:ext cx="1564466" cy="1564466"/>
            <a:chOff x="9973139" y="1961339"/>
            <a:chExt cx="1564466" cy="156446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0683EE4-9B02-F80E-8CBC-CEA4C8E3A0E7}"/>
                </a:ext>
              </a:extLst>
            </p:cNvPr>
            <p:cNvGrpSpPr/>
            <p:nvPr/>
          </p:nvGrpSpPr>
          <p:grpSpPr>
            <a:xfrm>
              <a:off x="9973139" y="1961339"/>
              <a:ext cx="1564466" cy="1564466"/>
              <a:chOff x="1174224" y="1867691"/>
              <a:chExt cx="2386018" cy="238601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CF98E2A-A331-123A-9438-7C0E15F6260F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7995D8">
                      <a:lumMod val="60000"/>
                      <a:lumOff val="40000"/>
                    </a:srgbClr>
                  </a:gs>
                  <a:gs pos="50000">
                    <a:srgbClr val="7995D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形状4">
                <a:extLst>
                  <a:ext uri="{FF2B5EF4-FFF2-40B4-BE49-F238E27FC236}">
                    <a16:creationId xmlns:a16="http://schemas.microsoft.com/office/drawing/2014/main" id="{705FBF11-224F-BB09-A452-43802F4878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76178"/>
                <a:ext cx="2079526" cy="67077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面向对象基础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E09CE27-0AC9-B230-0E7D-B8C5E3FF1211}"/>
                </a:ext>
              </a:extLst>
            </p:cNvPr>
            <p:cNvSpPr txBox="1"/>
            <p:nvPr/>
          </p:nvSpPr>
          <p:spPr>
            <a:xfrm>
              <a:off x="10442733" y="2134524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O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31FEEC-114E-4D58-783B-CCD1C80F31E6}"/>
              </a:ext>
            </a:extLst>
          </p:cNvPr>
          <p:cNvSpPr/>
          <p:nvPr/>
        </p:nvSpPr>
        <p:spPr>
          <a:xfrm>
            <a:off x="786827" y="45021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字面量与变量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B0B81F-5EC7-D8C5-595D-6F1B676DAC42}"/>
              </a:ext>
            </a:extLst>
          </p:cNvPr>
          <p:cNvSpPr/>
          <p:nvPr/>
        </p:nvSpPr>
        <p:spPr>
          <a:xfrm>
            <a:off x="786827" y="49276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数据类型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A5A5E5-2CF7-2010-A7C6-8CE7F29E3CDB}"/>
              </a:ext>
            </a:extLst>
          </p:cNvPr>
          <p:cNvSpPr/>
          <p:nvPr/>
        </p:nvSpPr>
        <p:spPr>
          <a:xfrm>
            <a:off x="786827" y="53530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输入与输出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71669C9-D9BE-84B1-43AC-26DA799A67C6}"/>
              </a:ext>
            </a:extLst>
          </p:cNvPr>
          <p:cNvSpPr/>
          <p:nvPr/>
        </p:nvSpPr>
        <p:spPr>
          <a:xfrm>
            <a:off x="786827" y="57785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运算符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D120CF-E703-AAD4-43C3-113ABC8C2278}"/>
              </a:ext>
            </a:extLst>
          </p:cNvPr>
          <p:cNvSpPr/>
          <p:nvPr/>
        </p:nvSpPr>
        <p:spPr>
          <a:xfrm>
            <a:off x="3052949" y="48641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条件判断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A43B57C-4CEB-F5B0-055A-9F61F19E125F}"/>
              </a:ext>
            </a:extLst>
          </p:cNvPr>
          <p:cNvSpPr/>
          <p:nvPr/>
        </p:nvSpPr>
        <p:spPr>
          <a:xfrm>
            <a:off x="3052949" y="52895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结构模式匹配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2CF6B5-A27F-F311-7807-AF13EF4EB44B}"/>
              </a:ext>
            </a:extLst>
          </p:cNvPr>
          <p:cNvSpPr/>
          <p:nvPr/>
        </p:nvSpPr>
        <p:spPr>
          <a:xfrm>
            <a:off x="3052949" y="57150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循环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D5A9607-5A38-3483-99EE-F2073A363D8E}"/>
              </a:ext>
            </a:extLst>
          </p:cNvPr>
          <p:cNvSpPr/>
          <p:nvPr/>
        </p:nvSpPr>
        <p:spPr>
          <a:xfrm>
            <a:off x="5473698" y="46976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列表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list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E6CE142-F2A8-50DF-5CB7-47C9DD9845F8}"/>
              </a:ext>
            </a:extLst>
          </p:cNvPr>
          <p:cNvSpPr/>
          <p:nvPr/>
        </p:nvSpPr>
        <p:spPr>
          <a:xfrm>
            <a:off x="5473698" y="513218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字符串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str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CA44222-F1C7-E1E1-EC89-10B8620C4910}"/>
              </a:ext>
            </a:extLst>
          </p:cNvPr>
          <p:cNvSpPr/>
          <p:nvPr/>
        </p:nvSpPr>
        <p:spPr>
          <a:xfrm>
            <a:off x="5473698" y="556671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元组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tuple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E872F5B-3254-ABCA-7E68-40807539EA70}"/>
              </a:ext>
            </a:extLst>
          </p:cNvPr>
          <p:cNvSpPr/>
          <p:nvPr/>
        </p:nvSpPr>
        <p:spPr>
          <a:xfrm>
            <a:off x="5473698" y="600124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集合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set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9EAD50-E42F-A483-C343-1A2926C5D25D}"/>
              </a:ext>
            </a:extLst>
          </p:cNvPr>
          <p:cNvSpPr/>
          <p:nvPr/>
        </p:nvSpPr>
        <p:spPr>
          <a:xfrm>
            <a:off x="5473698" y="643577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字典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dict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8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78C8-14F8-8038-F9F0-1E8D4198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BBFA3-8F1C-DCF5-C348-5FDC2F73C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8983A-4E1B-22A7-0709-C301834FCF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3156483" cy="454164"/>
          </a:xfrm>
        </p:spPr>
        <p:txBody>
          <a:bodyPr/>
          <a:lstStyle/>
          <a:p>
            <a:r>
              <a:rPr lang="en-US" altLang="zh-CN"/>
              <a:t>—— </a:t>
            </a:r>
            <a:r>
              <a:rPr lang="zh-CN" altLang="en-US"/>
              <a:t>函数 </a:t>
            </a:r>
            <a:r>
              <a:rPr lang="en-US" altLang="zh-CN"/>
              <a:t>——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12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2F12E-866E-9001-C74A-1B910E4C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什么是函数</a:t>
            </a:r>
            <a:r>
              <a:rPr lang="en-US" altLang="zh-CN"/>
              <a:t>?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FB46E-B80F-B183-FF62-18BF19D0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函数是组织好的、可重复使用的、用来实现特定功能的代码片段。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E702BE0-4680-CE70-1362-D5154A5A8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256" y="1813149"/>
            <a:ext cx="1430658" cy="14306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08FFAB8-2392-26E1-C84C-90ACE04F4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491" y="1772265"/>
            <a:ext cx="1637818" cy="16378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80D7083-C51D-8F30-3CC2-BF74786F99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53" t="12995" r="4702" b="37300"/>
          <a:stretch>
            <a:fillRect/>
          </a:stretch>
        </p:blipFill>
        <p:spPr>
          <a:xfrm>
            <a:off x="4404166" y="1996635"/>
            <a:ext cx="1518485" cy="1493134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CDFD650-57B8-C3B0-D14F-A0581E4ADB41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778914" y="2528478"/>
            <a:ext cx="1555804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97F44D1-77E0-8381-0230-D1704995EA88}"/>
              </a:ext>
            </a:extLst>
          </p:cNvPr>
          <p:cNvCxnSpPr>
            <a:cxnSpLocks/>
          </p:cNvCxnSpPr>
          <p:nvPr/>
        </p:nvCxnSpPr>
        <p:spPr>
          <a:xfrm>
            <a:off x="5969669" y="2591174"/>
            <a:ext cx="1555804" cy="0"/>
          </a:xfrm>
          <a:prstGeom prst="straightConnector1">
            <a:avLst/>
          </a:prstGeom>
          <a:ln w="19050">
            <a:solidFill>
              <a:schemeClr val="tx1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DC9D6D1-AEA5-7D30-D13F-3D74A0E4DE04}"/>
              </a:ext>
            </a:extLst>
          </p:cNvPr>
          <p:cNvSpPr txBox="1"/>
          <p:nvPr/>
        </p:nvSpPr>
        <p:spPr>
          <a:xfrm>
            <a:off x="4404166" y="4900823"/>
            <a:ext cx="2635658" cy="784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要输入，直接调用</a:t>
            </a:r>
            <a:r>
              <a:rPr lang="en-US" altLang="zh-CN" sz="1400"/>
              <a:t>input()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要输出，直接调用</a:t>
            </a:r>
            <a:r>
              <a:rPr lang="en-US" altLang="zh-CN" sz="1400"/>
              <a:t>print()</a:t>
            </a:r>
            <a:endParaRPr lang="zh-CN" altLang="en-US" sz="14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A8F88D9-5379-3D49-8A89-D5B5F882DE90}"/>
              </a:ext>
            </a:extLst>
          </p:cNvPr>
          <p:cNvSpPr txBox="1"/>
          <p:nvPr/>
        </p:nvSpPr>
        <p:spPr>
          <a:xfrm>
            <a:off x="7572491" y="4567751"/>
            <a:ext cx="4310795" cy="1450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因为 </a:t>
            </a:r>
            <a:r>
              <a:rPr lang="en-US" altLang="zh-CN" sz="1400"/>
              <a:t>input()</a:t>
            </a:r>
            <a:r>
              <a:rPr lang="zh-CN" altLang="en-US" sz="1400"/>
              <a:t>、</a:t>
            </a:r>
            <a:r>
              <a:rPr lang="en-US" altLang="zh-CN" sz="1400"/>
              <a:t>print() </a:t>
            </a:r>
            <a:r>
              <a:rPr lang="zh-CN" altLang="en-US" sz="1400"/>
              <a:t>是</a:t>
            </a:r>
            <a:r>
              <a:rPr lang="en-US" altLang="zh-CN" sz="1400"/>
              <a:t>Python</a:t>
            </a:r>
            <a:r>
              <a:rPr lang="zh-CN" altLang="en-US" sz="1400"/>
              <a:t>的内置函数：</a:t>
            </a:r>
            <a:endParaRPr lang="en-US" altLang="zh-CN" sz="1400"/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/>
              <a:t>是提前定义好的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/>
              <a:t>可以重复使用</a:t>
            </a:r>
            <a:endParaRPr lang="en-US" altLang="zh-CN" sz="1200"/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/>
              <a:t>实现特定功能的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4FB4C0-649E-10CA-479F-4A5198447F7D}"/>
              </a:ext>
            </a:extLst>
          </p:cNvPr>
          <p:cNvSpPr txBox="1"/>
          <p:nvPr/>
        </p:nvSpPr>
        <p:spPr>
          <a:xfrm>
            <a:off x="7913537" y="4073562"/>
            <a:ext cx="827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max()</a:t>
            </a:r>
            <a:endParaRPr lang="zh-CN" altLang="en-US" sz="14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6552A9-4350-FD22-59ED-2B1FB78C3986}"/>
              </a:ext>
            </a:extLst>
          </p:cNvPr>
          <p:cNvSpPr txBox="1"/>
          <p:nvPr/>
        </p:nvSpPr>
        <p:spPr>
          <a:xfrm>
            <a:off x="8851377" y="4073562"/>
            <a:ext cx="7296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min()</a:t>
            </a:r>
            <a:endParaRPr lang="zh-CN" altLang="en-US" sz="14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2BBFB9-74B9-2475-C9F3-922351EBCFC3}"/>
              </a:ext>
            </a:extLst>
          </p:cNvPr>
          <p:cNvSpPr txBox="1"/>
          <p:nvPr/>
        </p:nvSpPr>
        <p:spPr>
          <a:xfrm>
            <a:off x="9691433" y="4073561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len()</a:t>
            </a:r>
            <a:endParaRPr lang="zh-CN" altLang="en-US" sz="14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8D8659-8435-F8F4-B3D6-D355AB84DCDF}"/>
              </a:ext>
            </a:extLst>
          </p:cNvPr>
          <p:cNvSpPr txBox="1"/>
          <p:nvPr/>
        </p:nvSpPr>
        <p:spPr>
          <a:xfrm>
            <a:off x="10523474" y="407356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sum()</a:t>
            </a:r>
            <a:endParaRPr lang="zh-CN" altLang="en-US" sz="14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651391-E6A5-66CC-52F6-BABCD98462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646"/>
          <a:stretch>
            <a:fillRect/>
          </a:stretch>
        </p:blipFill>
        <p:spPr>
          <a:xfrm>
            <a:off x="769063" y="4228979"/>
            <a:ext cx="3524734" cy="2200104"/>
          </a:xfrm>
          <a:prstGeom prst="roundRect">
            <a:avLst>
              <a:gd name="adj" fmla="val 1985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38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74C55-2628-E07D-32C1-72815184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1B70AE-F23F-6CFA-14ED-96CDE2494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函数基础</a:t>
            </a:r>
            <a:endParaRPr lang="en-US" altLang="zh-CN"/>
          </a:p>
          <a:p>
            <a:r>
              <a:rPr lang="zh-CN" altLang="en-US"/>
              <a:t>函数进阶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00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72581-B523-D7A1-BA24-4673AB7E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577795-4DD4-063D-86BC-93C3CA1656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函数基础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23C7C3B-4753-AE99-80F4-504CC19C44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25907"/>
          </a:xfrm>
        </p:spPr>
        <p:txBody>
          <a:bodyPr/>
          <a:lstStyle/>
          <a:p>
            <a:r>
              <a:rPr lang="zh-CN" altLang="en-US"/>
              <a:t>函数定义</a:t>
            </a:r>
            <a:endParaRPr lang="en-US" altLang="zh-CN"/>
          </a:p>
          <a:p>
            <a:r>
              <a:rPr lang="zh-CN" altLang="en-US"/>
              <a:t>函数的参数与返回值</a:t>
            </a:r>
            <a:endParaRPr lang="en-US" altLang="zh-CN"/>
          </a:p>
          <a:p>
            <a:r>
              <a:rPr lang="zh-CN" altLang="en-US"/>
              <a:t>函数说明文档</a:t>
            </a:r>
            <a:endParaRPr lang="en-US" altLang="zh-CN"/>
          </a:p>
          <a:p>
            <a:r>
              <a:rPr lang="zh-CN" altLang="en-US"/>
              <a:t>案例</a:t>
            </a:r>
            <a:endParaRPr lang="en-US" altLang="zh-CN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5B1A6E7-535E-CE01-AFF0-CEDA45332F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97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EAC40D-AEE2-8E7B-681A-CB0E6335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4200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函数是组织好的、可重复使用的、用来实现特定功能的代码片段。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函数定义与调用：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C6EC7A1-B25C-E216-8F3D-FABA0BB1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98B0ED5-E816-39D6-ED26-0964CD48CAC8}"/>
              </a:ext>
            </a:extLst>
          </p:cNvPr>
          <p:cNvGrpSpPr/>
          <p:nvPr/>
        </p:nvGrpSpPr>
        <p:grpSpPr>
          <a:xfrm>
            <a:off x="974796" y="2043673"/>
            <a:ext cx="3840272" cy="2500479"/>
            <a:chOff x="2297720" y="3660321"/>
            <a:chExt cx="4231266" cy="250062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9804D77B-2C24-165B-D823-1E4941A991BE}"/>
                </a:ext>
              </a:extLst>
            </p:cNvPr>
            <p:cNvSpPr/>
            <p:nvPr/>
          </p:nvSpPr>
          <p:spPr>
            <a:xfrm>
              <a:off x="2297728" y="3660321"/>
              <a:ext cx="4231258" cy="2500628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定义函数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函数名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参数列表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函数体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   ......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返回值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函数名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)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A357461C-06B2-9285-E952-DCC010931774}"/>
                </a:ext>
              </a:extLst>
            </p:cNvPr>
            <p:cNvSpPr/>
            <p:nvPr/>
          </p:nvSpPr>
          <p:spPr>
            <a:xfrm>
              <a:off x="2297720" y="3660322"/>
              <a:ext cx="423125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1186F24-5913-7DDD-4905-C63FFAA8850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AA160DE-B675-FBB1-8B29-D0632F3857B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04288A6-07E5-7D2A-7801-21B8381B3BB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78E4C20-55F5-191D-6028-40ECE7E74558}"/>
              </a:ext>
            </a:extLst>
          </p:cNvPr>
          <p:cNvGrpSpPr/>
          <p:nvPr/>
        </p:nvGrpSpPr>
        <p:grpSpPr>
          <a:xfrm>
            <a:off x="744284" y="6303865"/>
            <a:ext cx="10825504" cy="348335"/>
            <a:chOff x="4685665" y="1834757"/>
            <a:chExt cx="10899872" cy="348335"/>
          </a:xfrm>
        </p:grpSpPr>
        <p:sp>
          <p:nvSpPr>
            <p:cNvPr id="14" name="ComponentBackground2">
              <a:extLst>
                <a:ext uri="{FF2B5EF4-FFF2-40B4-BE49-F238E27FC236}">
                  <a16:creationId xmlns:a16="http://schemas.microsoft.com/office/drawing/2014/main" id="{8AB38384-5A76-5207-E4DB-3D53F4919985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87701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函数定义时的参数列表与返回值语句是可有可无的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由需求确定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，函数必须先定义后调用执行（函数定义时，内部代码并未执行，在调用时才执行）。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5" name="Shape2">
              <a:extLst>
                <a:ext uri="{FF2B5EF4-FFF2-40B4-BE49-F238E27FC236}">
                  <a16:creationId xmlns:a16="http://schemas.microsoft.com/office/drawing/2014/main" id="{A7F83EF7-0FA8-2A7B-60C6-7499E636675B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E3F48FA-A878-4E4B-BE4E-03DCE13930AF}"/>
              </a:ext>
            </a:extLst>
          </p:cNvPr>
          <p:cNvGrpSpPr/>
          <p:nvPr/>
        </p:nvGrpSpPr>
        <p:grpSpPr>
          <a:xfrm>
            <a:off x="5907541" y="2043673"/>
            <a:ext cx="3840272" cy="2500479"/>
            <a:chOff x="2297720" y="3660321"/>
            <a:chExt cx="4231266" cy="2500628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42346B95-F946-4796-AE89-B03631BEDBE2}"/>
                </a:ext>
              </a:extLst>
            </p:cNvPr>
            <p:cNvSpPr/>
            <p:nvPr/>
          </p:nvSpPr>
          <p:spPr>
            <a:xfrm>
              <a:off x="2297728" y="3660321"/>
              <a:ext cx="4231258" cy="2500628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定义函数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out_line():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print('---------------------------')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out_line()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EA2A40CE-6719-4A76-E8AB-E2790B3BED96}"/>
                </a:ext>
              </a:extLst>
            </p:cNvPr>
            <p:cNvSpPr/>
            <p:nvPr/>
          </p:nvSpPr>
          <p:spPr>
            <a:xfrm>
              <a:off x="2297720" y="3660322"/>
              <a:ext cx="423125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487881A-4794-C9FE-FBDD-B62C2687401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F5D5098-0028-8E10-BB21-292E0B4738E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F38E9F3B-96E5-31B7-7F01-082E35D2FF6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118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6ABD-0016-24D2-73EB-CDE24174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9DA7C1E-5E7B-1ACA-F236-A85BD12542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函数定义及调用的语法</a:t>
            </a:r>
            <a:r>
              <a:rPr lang="en-US" altLang="zh-CN"/>
              <a:t>?</a:t>
            </a:r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C00000"/>
                </a:solidFill>
              </a:rPr>
              <a:t>函数使用的注意事项</a:t>
            </a:r>
            <a:endParaRPr lang="en-US" altLang="zh-CN">
              <a:solidFill>
                <a:srgbClr val="C00000"/>
              </a:solidFill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函数必须先定义，在调用</a:t>
            </a:r>
            <a:endParaRPr lang="en-US" altLang="zh-CN" sz="1400">
              <a:solidFill>
                <a:srgbClr val="C00000"/>
              </a:solidFill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函数定义时，并不会执行，只有在调用函数时，函数体的逻辑才会运行</a:t>
            </a:r>
            <a:endParaRPr lang="en-US" altLang="zh-CN" sz="1400">
              <a:solidFill>
                <a:srgbClr val="C00000"/>
              </a:solidFill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函数中通过缩进来描述归属关系</a:t>
            </a:r>
            <a:endParaRPr lang="en-US" altLang="zh-CN" sz="1400">
              <a:solidFill>
                <a:srgbClr val="C0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A87236-B519-AFC7-6A15-D08ABA9CD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352" y="1972502"/>
            <a:ext cx="4461945" cy="1569153"/>
          </a:xfrm>
          <a:prstGeom prst="roundRect">
            <a:avLst>
              <a:gd name="adj" fmla="val 3508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1170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AFF3C-54F7-55B9-0C31-A4BEB8FF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D0F4530-48D9-9D54-DF39-986F668FF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函数基础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21753B1-5A3F-C620-D004-0368B8FB17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25907"/>
          </a:xfrm>
        </p:spPr>
        <p:txBody>
          <a:bodyPr/>
          <a:lstStyle/>
          <a:p>
            <a:r>
              <a:rPr lang="zh-CN" altLang="en-US"/>
              <a:t>函数定义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函数的参数与返回值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函数说明文档</a:t>
            </a:r>
            <a:endParaRPr lang="en-US" altLang="zh-CN"/>
          </a:p>
          <a:p>
            <a:r>
              <a:rPr lang="zh-CN" altLang="en-US"/>
              <a:t>案例</a:t>
            </a:r>
            <a:endParaRPr lang="en-US" altLang="zh-CN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286CBD09-C055-59C7-E0FB-F7DC716705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3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F26A-E7E4-A9F9-03CF-ED91AE3C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B348BC-6E93-1F42-CFAC-04B85A95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在定义函数时，根据业务需要，可以指定参数与返回值，具体格式如下：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E07F406-EDCA-6A47-C44F-92F4E16C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函数的参数与返回值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DA5938-825C-52DE-2228-112BAF952D92}"/>
              </a:ext>
            </a:extLst>
          </p:cNvPr>
          <p:cNvGrpSpPr/>
          <p:nvPr/>
        </p:nvGrpSpPr>
        <p:grpSpPr>
          <a:xfrm>
            <a:off x="949571" y="1576083"/>
            <a:ext cx="3304127" cy="2500479"/>
            <a:chOff x="2297720" y="3660321"/>
            <a:chExt cx="3640533" cy="250062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5819B13-CF36-70A7-31C5-DF4F7819A8FC}"/>
                </a:ext>
              </a:extLst>
            </p:cNvPr>
            <p:cNvSpPr/>
            <p:nvPr/>
          </p:nvSpPr>
          <p:spPr>
            <a:xfrm>
              <a:off x="2297729" y="3660321"/>
              <a:ext cx="3640524" cy="2500628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定义函数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函数名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参数列表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函数体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   ......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返回值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函数名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0389E51-EBFA-221D-8236-D1A43AEBD530}"/>
                </a:ext>
              </a:extLst>
            </p:cNvPr>
            <p:cNvSpPr/>
            <p:nvPr/>
          </p:nvSpPr>
          <p:spPr>
            <a:xfrm>
              <a:off x="2297720" y="3660322"/>
              <a:ext cx="3640524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E4CC368-5EEA-C807-8D46-FC37310FC1F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11949E6-58D8-EF61-3689-58B908422FD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CE96E66-5A03-CCAF-886B-A52A379875A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E4C9B7E-3A30-6F06-6000-23996D563299}"/>
              </a:ext>
            </a:extLst>
          </p:cNvPr>
          <p:cNvGrpSpPr/>
          <p:nvPr/>
        </p:nvGrpSpPr>
        <p:grpSpPr>
          <a:xfrm>
            <a:off x="4519684" y="1576083"/>
            <a:ext cx="3501573" cy="2500479"/>
            <a:chOff x="2297720" y="3660321"/>
            <a:chExt cx="3858082" cy="250062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6FD8D289-4365-3DBB-4E1D-A2DA768F52DA}"/>
                </a:ext>
              </a:extLst>
            </p:cNvPr>
            <p:cNvSpPr/>
            <p:nvPr/>
          </p:nvSpPr>
          <p:spPr>
            <a:xfrm>
              <a:off x="2297728" y="3660321"/>
              <a:ext cx="3858074" cy="2500628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计算圆的面积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circle_area(r):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area = 3.14 * r * r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</a:rPr>
                <a:t>return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area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c_area = circle_area(10)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print(c_area)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F2393F2C-3D59-EB8F-9464-222B2B23CD3F}"/>
                </a:ext>
              </a:extLst>
            </p:cNvPr>
            <p:cNvSpPr/>
            <p:nvPr/>
          </p:nvSpPr>
          <p:spPr>
            <a:xfrm>
              <a:off x="2297720" y="3660322"/>
              <a:ext cx="385807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6180133-8C34-88A7-C1D4-C9CD79D6015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87E41EB-BFB6-CDED-2C89-1527ABA9203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2CD303E-058D-F912-C002-210891C4613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7FF10DB-51A1-B2A7-4800-FA4303A53ACC}"/>
              </a:ext>
            </a:extLst>
          </p:cNvPr>
          <p:cNvGrpSpPr/>
          <p:nvPr/>
        </p:nvGrpSpPr>
        <p:grpSpPr>
          <a:xfrm>
            <a:off x="8144807" y="1576082"/>
            <a:ext cx="3447241" cy="2500479"/>
            <a:chOff x="2297720" y="3660321"/>
            <a:chExt cx="3798218" cy="2500628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F7EC5A6-3EC1-6BAC-7D82-18A64E26E128}"/>
                </a:ext>
              </a:extLst>
            </p:cNvPr>
            <p:cNvSpPr/>
            <p:nvPr/>
          </p:nvSpPr>
          <p:spPr>
            <a:xfrm>
              <a:off x="2297729" y="3660321"/>
              <a:ext cx="3798209" cy="2500628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计算长方形的面积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rectangle_area(l, w):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area = l * w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</a:rPr>
                <a:t>return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area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r_area = rectangle_area(20, 10)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print(r_area)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39CEB12F-D1DB-3ED8-31A2-8D9FA2062AB0}"/>
                </a:ext>
              </a:extLst>
            </p:cNvPr>
            <p:cNvSpPr/>
            <p:nvPr/>
          </p:nvSpPr>
          <p:spPr>
            <a:xfrm>
              <a:off x="2297720" y="3660322"/>
              <a:ext cx="379820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D646ACF-ECED-2007-044C-CDE241BD83B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3B43F77-7D0A-A040-4E37-CA2ED13747B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CB0949A-B0B9-3BB7-299F-E1F49C5495E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86B9E76-8C96-A5E4-2C8F-2EACCA8DCD69}"/>
              </a:ext>
            </a:extLst>
          </p:cNvPr>
          <p:cNvGrpSpPr/>
          <p:nvPr/>
        </p:nvGrpSpPr>
        <p:grpSpPr>
          <a:xfrm>
            <a:off x="811174" y="5829303"/>
            <a:ext cx="10825504" cy="348335"/>
            <a:chOff x="4685665" y="1834757"/>
            <a:chExt cx="10899872" cy="348335"/>
          </a:xfrm>
        </p:grpSpPr>
        <p:sp>
          <p:nvSpPr>
            <p:cNvPr id="23" name="ComponentBackground2">
              <a:extLst>
                <a:ext uri="{FF2B5EF4-FFF2-40B4-BE49-F238E27FC236}">
                  <a16:creationId xmlns:a16="http://schemas.microsoft.com/office/drawing/2014/main" id="{E050FBA6-B622-D358-0192-7300912D7336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87701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函数定义时如果有多个参数，多个参数之间使用逗号（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,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）分隔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4" name="Shape2">
              <a:extLst>
                <a:ext uri="{FF2B5EF4-FFF2-40B4-BE49-F238E27FC236}">
                  <a16:creationId xmlns:a16="http://schemas.microsoft.com/office/drawing/2014/main" id="{40D8FFA0-C13F-D0F1-2C74-9DC30A588509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74CD50B-DF81-8111-BEB1-04BD4118415B}"/>
              </a:ext>
            </a:extLst>
          </p:cNvPr>
          <p:cNvGrpSpPr/>
          <p:nvPr/>
        </p:nvGrpSpPr>
        <p:grpSpPr>
          <a:xfrm>
            <a:off x="811174" y="6270252"/>
            <a:ext cx="10825504" cy="348335"/>
            <a:chOff x="4685665" y="1834757"/>
            <a:chExt cx="10899872" cy="348335"/>
          </a:xfrm>
        </p:grpSpPr>
        <p:sp>
          <p:nvSpPr>
            <p:cNvPr id="26" name="ComponentBackground2">
              <a:extLst>
                <a:ext uri="{FF2B5EF4-FFF2-40B4-BE49-F238E27FC236}">
                  <a16:creationId xmlns:a16="http://schemas.microsoft.com/office/drawing/2014/main" id="{9CB3912B-807E-D1B4-0822-69BB41BE1F6A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87701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return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语句只有返回功能，而没有输出打印的功能，如果要输出，需要结合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print()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函数来实现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7" name="Shape2">
              <a:extLst>
                <a:ext uri="{FF2B5EF4-FFF2-40B4-BE49-F238E27FC236}">
                  <a16:creationId xmlns:a16="http://schemas.microsoft.com/office/drawing/2014/main" id="{30AE52DC-1B63-857D-15E9-2945E7D793F4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B75F244-52EB-8C8C-9B3C-CC3734A00967}"/>
              </a:ext>
            </a:extLst>
          </p:cNvPr>
          <p:cNvSpPr/>
          <p:nvPr/>
        </p:nvSpPr>
        <p:spPr>
          <a:xfrm>
            <a:off x="6037544" y="2160633"/>
            <a:ext cx="118997" cy="25678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3D861F7-CEE3-2380-5BE0-E0936EE1A517}"/>
              </a:ext>
            </a:extLst>
          </p:cNvPr>
          <p:cNvSpPr/>
          <p:nvPr/>
        </p:nvSpPr>
        <p:spPr>
          <a:xfrm>
            <a:off x="9941187" y="2160632"/>
            <a:ext cx="386523" cy="256783"/>
          </a:xfrm>
          <a:prstGeom prst="roundRect">
            <a:avLst>
              <a:gd name="adj" fmla="val 14228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D8EA30B-310E-7DEC-A4BF-B25DA8B559D3}"/>
              </a:ext>
            </a:extLst>
          </p:cNvPr>
          <p:cNvSpPr/>
          <p:nvPr/>
        </p:nvSpPr>
        <p:spPr>
          <a:xfrm>
            <a:off x="10400474" y="3533051"/>
            <a:ext cx="572326" cy="256783"/>
          </a:xfrm>
          <a:prstGeom prst="roundRect">
            <a:avLst>
              <a:gd name="adj" fmla="val 14228"/>
            </a:avLst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22E8320-7D03-9724-0404-1CCE622C027F}"/>
              </a:ext>
            </a:extLst>
          </p:cNvPr>
          <p:cNvSpPr/>
          <p:nvPr/>
        </p:nvSpPr>
        <p:spPr>
          <a:xfrm>
            <a:off x="6509357" y="3533050"/>
            <a:ext cx="185805" cy="256783"/>
          </a:xfrm>
          <a:prstGeom prst="roundRect">
            <a:avLst>
              <a:gd name="adj" fmla="val 14228"/>
            </a:avLst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0168C263-ADA0-EA32-8141-0BF9CE3141ED}"/>
              </a:ext>
            </a:extLst>
          </p:cNvPr>
          <p:cNvCxnSpPr>
            <a:cxnSpLocks/>
            <a:stCxn id="28" idx="0"/>
          </p:cNvCxnSpPr>
          <p:nvPr/>
        </p:nvCxnSpPr>
        <p:spPr>
          <a:xfrm rot="16200000" flipH="1" flipV="1">
            <a:off x="3782053" y="2774711"/>
            <a:ext cx="2929069" cy="1700911"/>
          </a:xfrm>
          <a:prstGeom prst="bentConnector3">
            <a:avLst>
              <a:gd name="adj1" fmla="val -7805"/>
            </a:avLst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5D389AA6-3A13-CBF2-0983-1969C3B492F1}"/>
              </a:ext>
            </a:extLst>
          </p:cNvPr>
          <p:cNvCxnSpPr>
            <a:cxnSpLocks/>
            <a:stCxn id="33" idx="2"/>
          </p:cNvCxnSpPr>
          <p:nvPr/>
        </p:nvCxnSpPr>
        <p:spPr>
          <a:xfrm rot="5400000">
            <a:off x="7132520" y="-318972"/>
            <a:ext cx="265542" cy="5738317"/>
          </a:xfrm>
          <a:prstGeom prst="bentConnector2">
            <a:avLst/>
          </a:prstGeom>
          <a:ln w="952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784224E4-35B1-C681-6FF1-57AFAC409B68}"/>
              </a:ext>
            </a:extLst>
          </p:cNvPr>
          <p:cNvSpPr txBox="1"/>
          <p:nvPr/>
        </p:nvSpPr>
        <p:spPr>
          <a:xfrm>
            <a:off x="4253690" y="5089700"/>
            <a:ext cx="5516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00B0F0"/>
                </a:solidFill>
              </a:rPr>
              <a:t>形参（形式参数）：函数定义时括号里的参数，只能在函数内使用</a:t>
            </a:r>
            <a:r>
              <a:rPr lang="en-US" altLang="zh-CN" sz="1200">
                <a:solidFill>
                  <a:srgbClr val="00B0F0"/>
                </a:solidFill>
              </a:rPr>
              <a:t>(</a:t>
            </a:r>
            <a:r>
              <a:rPr lang="zh-CN" altLang="en-US" sz="1200">
                <a:solidFill>
                  <a:srgbClr val="00B0F0"/>
                </a:solidFill>
              </a:rPr>
              <a:t>局部变量</a:t>
            </a:r>
            <a:r>
              <a:rPr lang="en-US" altLang="zh-CN" sz="1200">
                <a:solidFill>
                  <a:srgbClr val="00B0F0"/>
                </a:solidFill>
              </a:rPr>
              <a:t>)</a:t>
            </a: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69F98FDA-8CDF-0567-A250-C51AC8562E02}"/>
              </a:ext>
            </a:extLst>
          </p:cNvPr>
          <p:cNvCxnSpPr>
            <a:cxnSpLocks/>
            <a:stCxn id="35" idx="2"/>
          </p:cNvCxnSpPr>
          <p:nvPr/>
        </p:nvCxnSpPr>
        <p:spPr>
          <a:xfrm rot="5400000">
            <a:off x="6166621" y="4225472"/>
            <a:ext cx="871279" cy="1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950D07A3-9192-C5F5-189F-EE4B91692C80}"/>
              </a:ext>
            </a:extLst>
          </p:cNvPr>
          <p:cNvCxnSpPr>
            <a:cxnSpLocks/>
            <a:stCxn id="34" idx="2"/>
          </p:cNvCxnSpPr>
          <p:nvPr/>
        </p:nvCxnSpPr>
        <p:spPr>
          <a:xfrm rot="5400000">
            <a:off x="8454778" y="1937315"/>
            <a:ext cx="379341" cy="4084378"/>
          </a:xfrm>
          <a:prstGeom prst="bentConnector2">
            <a:avLst/>
          </a:prstGeom>
          <a:ln w="9525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D2FD5E5-8AE0-EBEA-CD73-56FC50691AB7}"/>
              </a:ext>
            </a:extLst>
          </p:cNvPr>
          <p:cNvSpPr txBox="1"/>
          <p:nvPr/>
        </p:nvSpPr>
        <p:spPr>
          <a:xfrm>
            <a:off x="6386081" y="4675932"/>
            <a:ext cx="3672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FFC000"/>
                </a:solidFill>
              </a:rPr>
              <a:t>实参（实际参数）：函数在实际调用时传入的参数</a:t>
            </a:r>
            <a:endParaRPr lang="en-US" altLang="zh-CN" sz="1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22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4" grpId="0" animBg="1"/>
      <p:bldP spid="35" grpId="0" animBg="1"/>
      <p:bldP spid="44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4553B-0B06-181D-4477-D831A080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3877202-ABEC-B77D-6619-C034CC842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909028"/>
            <a:ext cx="717008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有参数有返回值的函数定义及调用</a:t>
            </a:r>
            <a:r>
              <a:rPr lang="en-US" altLang="zh-CN"/>
              <a:t>?</a:t>
            </a:r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函数可以有多个返回值吗</a:t>
            </a:r>
            <a:r>
              <a:rPr lang="en-US" altLang="zh-CN"/>
              <a:t>? </a:t>
            </a:r>
            <a:r>
              <a:rPr lang="zh-CN" altLang="en-US">
                <a:solidFill>
                  <a:srgbClr val="C00000"/>
                </a:solidFill>
              </a:rPr>
              <a:t>可以</a:t>
            </a:r>
            <a:endParaRPr lang="en-US" altLang="zh-CN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2A9F74-5CBC-1207-DD92-C8780DE91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936" y="1856831"/>
            <a:ext cx="3616774" cy="1606806"/>
          </a:xfrm>
          <a:prstGeom prst="roundRect">
            <a:avLst>
              <a:gd name="adj" fmla="val 4832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BD92C57-B48F-DE27-B6C5-FAA5D4D0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640" y="3968291"/>
            <a:ext cx="3451115" cy="1609297"/>
          </a:xfrm>
          <a:prstGeom prst="roundRect">
            <a:avLst>
              <a:gd name="adj" fmla="val 4832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11D163-1F2E-8B28-762E-9BF80CE3D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776" y="3968291"/>
            <a:ext cx="3392366" cy="1585106"/>
          </a:xfrm>
          <a:prstGeom prst="roundRect">
            <a:avLst>
              <a:gd name="adj" fmla="val 4832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F1C8FEA-5022-3F0E-7E71-CC689FD27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060" y="3573081"/>
            <a:ext cx="1562180" cy="285765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C648A5B-D812-6E91-89B3-A3858FCC947C}"/>
              </a:ext>
            </a:extLst>
          </p:cNvPr>
          <p:cNvCxnSpPr/>
          <p:nvPr/>
        </p:nvCxnSpPr>
        <p:spPr>
          <a:xfrm>
            <a:off x="5953109" y="2133600"/>
            <a:ext cx="355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B9CC402-7109-33AB-2270-0CA45F8FDB65}"/>
              </a:ext>
            </a:extLst>
          </p:cNvPr>
          <p:cNvCxnSpPr>
            <a:cxnSpLocks/>
          </p:cNvCxnSpPr>
          <p:nvPr/>
        </p:nvCxnSpPr>
        <p:spPr>
          <a:xfrm>
            <a:off x="6384909" y="3111500"/>
            <a:ext cx="8477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7D63F20-E25A-6E44-4947-8B1BDDFF0C44}"/>
              </a:ext>
            </a:extLst>
          </p:cNvPr>
          <p:cNvCxnSpPr>
            <a:cxnSpLocks/>
          </p:cNvCxnSpPr>
          <p:nvPr/>
        </p:nvCxnSpPr>
        <p:spPr>
          <a:xfrm>
            <a:off x="5953109" y="2154766"/>
            <a:ext cx="89854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DD48F06-F646-DA1F-3629-1C6CE2468105}"/>
              </a:ext>
            </a:extLst>
          </p:cNvPr>
          <p:cNvCxnSpPr>
            <a:cxnSpLocks/>
          </p:cNvCxnSpPr>
          <p:nvPr/>
        </p:nvCxnSpPr>
        <p:spPr>
          <a:xfrm>
            <a:off x="6384909" y="3127375"/>
            <a:ext cx="118746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B763541-D43E-131C-F934-EA7C91DF0089}"/>
              </a:ext>
            </a:extLst>
          </p:cNvPr>
          <p:cNvSpPr txBox="1"/>
          <p:nvPr/>
        </p:nvSpPr>
        <p:spPr>
          <a:xfrm>
            <a:off x="6851650" y="201626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形参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40907F1-84E8-2598-042C-8FC490A6D9C3}"/>
              </a:ext>
            </a:extLst>
          </p:cNvPr>
          <p:cNvSpPr txBox="1"/>
          <p:nvPr/>
        </p:nvSpPr>
        <p:spPr>
          <a:xfrm>
            <a:off x="7572375" y="2988875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实参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9FF7B57-A61B-4E77-791E-6355FDFFA972}"/>
              </a:ext>
            </a:extLst>
          </p:cNvPr>
          <p:cNvSpPr txBox="1"/>
          <p:nvPr/>
        </p:nvSpPr>
        <p:spPr>
          <a:xfrm>
            <a:off x="9215203" y="5582853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元组解包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DD7E484-ECF4-3378-BF74-B474A898974C}"/>
              </a:ext>
            </a:extLst>
          </p:cNvPr>
          <p:cNvSpPr txBox="1"/>
          <p:nvPr/>
        </p:nvSpPr>
        <p:spPr>
          <a:xfrm>
            <a:off x="5331785" y="5582853"/>
            <a:ext cx="124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封装到元组中</a:t>
            </a:r>
          </a:p>
        </p:txBody>
      </p:sp>
    </p:spTree>
    <p:extLst>
      <p:ext uri="{BB962C8B-B14F-4D97-AF65-F5344CB8AC3E}">
        <p14:creationId xmlns:p14="http://schemas.microsoft.com/office/powerpoint/2010/main" val="169997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7A804CC-6320-216E-6CE6-348B94050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5455"/>
          <a:stretch>
            <a:fillRect/>
          </a:stretch>
        </p:blipFill>
        <p:spPr>
          <a:xfrm>
            <a:off x="4848793" y="1578530"/>
            <a:ext cx="5588287" cy="1638384"/>
          </a:xfrm>
          <a:prstGeom prst="roundRect">
            <a:avLst>
              <a:gd name="adj" fmla="val 5757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75F733-E05D-32B4-B0C4-396AC2D76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792" y="3530585"/>
            <a:ext cx="5588287" cy="1543129"/>
          </a:xfrm>
          <a:prstGeom prst="roundRect">
            <a:avLst>
              <a:gd name="adj" fmla="val 5529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090BFB1-CBAF-DBBE-1634-885EC54B6CBD}"/>
              </a:ext>
            </a:extLst>
          </p:cNvPr>
          <p:cNvSpPr txBox="1"/>
          <p:nvPr/>
        </p:nvSpPr>
        <p:spPr>
          <a:xfrm>
            <a:off x="10437079" y="3216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函数说明文档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50E563-A9AA-8D42-F815-ECD42CD67D56}"/>
              </a:ext>
            </a:extLst>
          </p:cNvPr>
          <p:cNvSpPr txBox="1"/>
          <p:nvPr/>
        </p:nvSpPr>
        <p:spPr>
          <a:xfrm>
            <a:off x="9247128" y="268056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难维护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DD8D4D-3270-5358-81F8-C08B6809B112}"/>
              </a:ext>
            </a:extLst>
          </p:cNvPr>
          <p:cNvSpPr txBox="1"/>
          <p:nvPr/>
        </p:nvSpPr>
        <p:spPr>
          <a:xfrm>
            <a:off x="9247127" y="18133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不友好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B33F22-D167-1FA7-DF93-D33D67763AF4}"/>
              </a:ext>
            </a:extLst>
          </p:cNvPr>
          <p:cNvSpPr txBox="1"/>
          <p:nvPr/>
        </p:nvSpPr>
        <p:spPr>
          <a:xfrm>
            <a:off x="9223640" y="22469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难理解</a:t>
            </a:r>
          </a:p>
        </p:txBody>
      </p:sp>
    </p:spTree>
    <p:extLst>
      <p:ext uri="{BB962C8B-B14F-4D97-AF65-F5344CB8AC3E}">
        <p14:creationId xmlns:p14="http://schemas.microsoft.com/office/powerpoint/2010/main" val="295929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BDA1-53D3-CF97-B84C-BD486CD6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F4AFBD33-3C1E-E87A-CE8E-B52ED6DD37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函数基础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09E6E9A-F90F-B2BC-EBF6-9EC00FD71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25907"/>
          </a:xfrm>
        </p:spPr>
        <p:txBody>
          <a:bodyPr/>
          <a:lstStyle/>
          <a:p>
            <a:r>
              <a:rPr lang="zh-CN" altLang="en-US"/>
              <a:t>函数定义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函数的参数与返回值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函数说明文档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  <a:endParaRPr lang="en-US" altLang="zh-CN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1CA2F00-9392-A7AC-B01B-5386DD0152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83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52D016-4AD3-38C3-43FE-B9097D677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4941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函数的说明文档（</a:t>
            </a:r>
            <a:r>
              <a:rPr lang="en-US" altLang="zh-CN"/>
              <a:t>Docstring</a:t>
            </a:r>
            <a:r>
              <a:rPr lang="zh-CN" altLang="en-US"/>
              <a:t>）是写在函数开头，用三个引号包裹的字符串，用于解释函数的功能、参数、返回值等信息，方便调用者清楚函数的具体作用及细节。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858DF9-CE2C-861A-71A3-53D27082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函数的说明文档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39A5C55-F5F9-FC85-04A3-4A9F45459EFD}"/>
              </a:ext>
            </a:extLst>
          </p:cNvPr>
          <p:cNvGrpSpPr/>
          <p:nvPr/>
        </p:nvGrpSpPr>
        <p:grpSpPr>
          <a:xfrm>
            <a:off x="985865" y="1877024"/>
            <a:ext cx="4645219" cy="3401032"/>
            <a:chOff x="2297720" y="3660321"/>
            <a:chExt cx="5118167" cy="340123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F9B903D-D018-981C-2A3F-F27F3F7100E0}"/>
                </a:ext>
              </a:extLst>
            </p:cNvPr>
            <p:cNvSpPr/>
            <p:nvPr/>
          </p:nvSpPr>
          <p:spPr>
            <a:xfrm>
              <a:off x="2297729" y="3660321"/>
              <a:ext cx="5118158" cy="3401234"/>
            </a:xfrm>
            <a:prstGeom prst="roundRect">
              <a:avLst>
                <a:gd name="adj" fmla="val 222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定义一个函数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根据半径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计算圆的周长、面积</a:t>
              </a:r>
              <a:b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circle_area_len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"""</a:t>
              </a:r>
              <a:b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该函数用于根据圆的半径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计算圆的面积和圆的周长</a:t>
              </a:r>
              <a:b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:param r: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圆的半径</a:t>
              </a:r>
              <a:b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:return: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圆的面积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圆的周长</a:t>
              </a:r>
              <a:b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zh-CN" altLang="en-US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"""</a:t>
              </a:r>
              <a:b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al = circle_area_len(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(al)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AEF7FAC0-92C5-15B9-692F-92D602E815AD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3BC7703-D04B-A277-B51D-525D88034FE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70DBF99-FE6B-2E0B-B490-5013882536D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F0C9649-7AD6-A6FD-28BD-B5439C20B7D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42F65957-EF09-D00A-277E-1AC7FD5A7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474" y="3056164"/>
            <a:ext cx="5506206" cy="2221892"/>
          </a:xfrm>
          <a:prstGeom prst="roundRect">
            <a:avLst>
              <a:gd name="adj" fmla="val 3101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53B5116-7391-4702-3F91-A370DC68D449}"/>
              </a:ext>
            </a:extLst>
          </p:cNvPr>
          <p:cNvSpPr txBox="1"/>
          <p:nvPr/>
        </p:nvSpPr>
        <p:spPr>
          <a:xfrm>
            <a:off x="6238753" y="1827445"/>
            <a:ext cx="4967373" cy="113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查看函数说明文档：</a:t>
            </a:r>
            <a:endParaRPr lang="en-US" altLang="zh-CN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使用</a:t>
            </a:r>
            <a:r>
              <a:rPr lang="en-US" altLang="zh-CN" sz="1400"/>
              <a:t>help</a:t>
            </a:r>
            <a:r>
              <a:rPr lang="zh-CN" altLang="en-US" sz="1400"/>
              <a:t>函数，比如：</a:t>
            </a:r>
            <a:r>
              <a:rPr lang="en-US" altLang="zh-CN" sz="1400"/>
              <a:t>help(circle_area_len)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鼠标悬浮在函数上，自动展示（推荐）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DF261C-7584-145E-4941-D4F0252427BF}"/>
              </a:ext>
            </a:extLst>
          </p:cNvPr>
          <p:cNvSpPr txBox="1"/>
          <p:nvPr/>
        </p:nvSpPr>
        <p:spPr>
          <a:xfrm>
            <a:off x="2898467" y="6343902"/>
            <a:ext cx="610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记住：好的文档，能让你的代码更容易理解、使用和维护！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D64616D-8423-BA0B-F5D0-B9A4F1047546}"/>
              </a:ext>
            </a:extLst>
          </p:cNvPr>
          <p:cNvSpPr/>
          <p:nvPr/>
        </p:nvSpPr>
        <p:spPr>
          <a:xfrm>
            <a:off x="1400617" y="3303447"/>
            <a:ext cx="783783" cy="21413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D41E1A3-5316-25D1-0D4F-A1208C6A07E7}"/>
              </a:ext>
            </a:extLst>
          </p:cNvPr>
          <p:cNvSpPr/>
          <p:nvPr/>
        </p:nvSpPr>
        <p:spPr>
          <a:xfrm>
            <a:off x="1400617" y="3577540"/>
            <a:ext cx="783783" cy="21413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58565689-017A-4C69-9F9C-2EE850561821}"/>
              </a:ext>
            </a:extLst>
          </p:cNvPr>
          <p:cNvCxnSpPr>
            <a:cxnSpLocks/>
            <a:stCxn id="14" idx="1"/>
            <a:endCxn id="29" idx="1"/>
          </p:cNvCxnSpPr>
          <p:nvPr/>
        </p:nvCxnSpPr>
        <p:spPr>
          <a:xfrm rot="10800000" flipH="1" flipV="1">
            <a:off x="1400617" y="3684606"/>
            <a:ext cx="230776" cy="1917330"/>
          </a:xfrm>
          <a:prstGeom prst="bentConnector3">
            <a:avLst>
              <a:gd name="adj1" fmla="val -211872"/>
            </a:avLst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FCB78D2-69B7-3915-DD91-96517F59B9A8}"/>
              </a:ext>
            </a:extLst>
          </p:cNvPr>
          <p:cNvSpPr txBox="1"/>
          <p:nvPr/>
        </p:nvSpPr>
        <p:spPr>
          <a:xfrm>
            <a:off x="1631393" y="5448047"/>
            <a:ext cx="1681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描述函数的返回值</a:t>
            </a:r>
            <a:endParaRPr lang="en-US" altLang="zh-CN" sz="1400">
              <a:solidFill>
                <a:srgbClr val="00B0F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F173B7C8-8595-DE8E-AF33-95F6F2D24F59}"/>
              </a:ext>
            </a:extLst>
          </p:cNvPr>
          <p:cNvCxnSpPr>
            <a:cxnSpLocks/>
            <a:stCxn id="13" idx="1"/>
            <a:endCxn id="48" idx="1"/>
          </p:cNvCxnSpPr>
          <p:nvPr/>
        </p:nvCxnSpPr>
        <p:spPr>
          <a:xfrm rot="10800000" flipH="1" flipV="1">
            <a:off x="1400617" y="3410513"/>
            <a:ext cx="230776" cy="2591842"/>
          </a:xfrm>
          <a:prstGeom prst="bentConnector3">
            <a:avLst>
              <a:gd name="adj1" fmla="val -271490"/>
            </a:avLst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4AB5E32D-8AEF-C372-09A7-D2D104F3C3E5}"/>
              </a:ext>
            </a:extLst>
          </p:cNvPr>
          <p:cNvSpPr txBox="1"/>
          <p:nvPr/>
        </p:nvSpPr>
        <p:spPr>
          <a:xfrm>
            <a:off x="1631393" y="5848466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描述函数的参数</a:t>
            </a:r>
            <a:endParaRPr lang="en-US" altLang="zh-CN" sz="1400">
              <a:solidFill>
                <a:srgbClr val="00B0F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876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29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30801FEE-A1B9-2E72-BA3C-F9E4E14D7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00C0BF5-41FA-0750-8B3D-6FC4D4C2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01BE01-C62E-3B18-F6CD-028D0B52BEBE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5CF38C4-42A4-1DB9-5354-CAC1E00CCEB5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8A821838-4B1F-8FF2-C7CA-6436A890DEB5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CA1B75F-EEBB-63FD-B86A-C602211D6AA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CBDB5B0-0C37-D77A-208D-1375AEE0C62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F934BC4-8EEE-139D-AF4E-48B9BB627FE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64D28D1-BE9C-E834-C22A-93210659E4FB}"/>
              </a:ext>
            </a:extLst>
          </p:cNvPr>
          <p:cNvSpPr/>
          <p:nvPr/>
        </p:nvSpPr>
        <p:spPr>
          <a:xfrm>
            <a:off x="4726616" y="4460889"/>
            <a:ext cx="1702903" cy="2191703"/>
          </a:xfrm>
          <a:prstGeom prst="roundRect">
            <a:avLst>
              <a:gd name="adj" fmla="val 4752"/>
            </a:avLst>
          </a:prstGeom>
          <a:solidFill>
            <a:srgbClr val="A7E8FF"/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56F6E57-4278-2B32-DC7C-8C15347DB21B}"/>
              </a:ext>
            </a:extLst>
          </p:cNvPr>
          <p:cNvSpPr/>
          <p:nvPr/>
        </p:nvSpPr>
        <p:spPr>
          <a:xfrm>
            <a:off x="4864656" y="4681332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function_a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2F89025-E8E9-DD8C-A7FF-0F3B7C9F5BF9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B7172ED-E8BD-AD05-7A40-E9A8DF026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48" y="3236677"/>
            <a:ext cx="3299539" cy="3051479"/>
          </a:xfrm>
          <a:prstGeom prst="rect">
            <a:avLst/>
          </a:prstGeom>
        </p:spPr>
      </p:pic>
      <p:sp>
        <p:nvSpPr>
          <p:cNvPr id="17" name="right-arrow-sketch_36739">
            <a:extLst>
              <a:ext uri="{FF2B5EF4-FFF2-40B4-BE49-F238E27FC236}">
                <a16:creationId xmlns:a16="http://schemas.microsoft.com/office/drawing/2014/main" id="{1A612935-3F5F-5A67-9FF0-8FE520D0262D}"/>
              </a:ext>
            </a:extLst>
          </p:cNvPr>
          <p:cNvSpPr/>
          <p:nvPr/>
        </p:nvSpPr>
        <p:spPr>
          <a:xfrm>
            <a:off x="3641263" y="4840119"/>
            <a:ext cx="1080094" cy="245640"/>
          </a:xfrm>
          <a:custGeom>
            <a:avLst/>
            <a:gdLst>
              <a:gd name="T0" fmla="*/ 574 w 817"/>
              <a:gd name="T1" fmla="*/ 37 h 452"/>
              <a:gd name="T2" fmla="*/ 268 w 817"/>
              <a:gd name="T3" fmla="*/ 178 h 452"/>
              <a:gd name="T4" fmla="*/ 53 w 817"/>
              <a:gd name="T5" fmla="*/ 273 h 452"/>
              <a:gd name="T6" fmla="*/ 531 w 817"/>
              <a:gd name="T7" fmla="*/ 448 h 452"/>
              <a:gd name="T8" fmla="*/ 804 w 817"/>
              <a:gd name="T9" fmla="*/ 255 h 452"/>
              <a:gd name="T10" fmla="*/ 809 w 817"/>
              <a:gd name="T11" fmla="*/ 246 h 452"/>
              <a:gd name="T12" fmla="*/ 29 w 817"/>
              <a:gd name="T13" fmla="*/ 239 h 452"/>
              <a:gd name="T14" fmla="*/ 34 w 817"/>
              <a:gd name="T15" fmla="*/ 227 h 452"/>
              <a:gd name="T16" fmla="*/ 708 w 817"/>
              <a:gd name="T17" fmla="*/ 172 h 452"/>
              <a:gd name="T18" fmla="*/ 662 w 817"/>
              <a:gd name="T19" fmla="*/ 240 h 452"/>
              <a:gd name="T20" fmla="*/ 590 w 817"/>
              <a:gd name="T21" fmla="*/ 79 h 452"/>
              <a:gd name="T22" fmla="*/ 581 w 817"/>
              <a:gd name="T23" fmla="*/ 116 h 452"/>
              <a:gd name="T24" fmla="*/ 568 w 817"/>
              <a:gd name="T25" fmla="*/ 121 h 452"/>
              <a:gd name="T26" fmla="*/ 547 w 817"/>
              <a:gd name="T27" fmla="*/ 50 h 452"/>
              <a:gd name="T28" fmla="*/ 543 w 817"/>
              <a:gd name="T29" fmla="*/ 100 h 452"/>
              <a:gd name="T30" fmla="*/ 542 w 817"/>
              <a:gd name="T31" fmla="*/ 117 h 452"/>
              <a:gd name="T32" fmla="*/ 543 w 817"/>
              <a:gd name="T33" fmla="*/ 100 h 452"/>
              <a:gd name="T34" fmla="*/ 74 w 817"/>
              <a:gd name="T35" fmla="*/ 262 h 452"/>
              <a:gd name="T36" fmla="*/ 70 w 817"/>
              <a:gd name="T37" fmla="*/ 227 h 452"/>
              <a:gd name="T38" fmla="*/ 91 w 817"/>
              <a:gd name="T39" fmla="*/ 223 h 452"/>
              <a:gd name="T40" fmla="*/ 101 w 817"/>
              <a:gd name="T41" fmla="*/ 259 h 452"/>
              <a:gd name="T42" fmla="*/ 180 w 817"/>
              <a:gd name="T43" fmla="*/ 203 h 452"/>
              <a:gd name="T44" fmla="*/ 137 w 817"/>
              <a:gd name="T45" fmla="*/ 270 h 452"/>
              <a:gd name="T46" fmla="*/ 159 w 817"/>
              <a:gd name="T47" fmla="*/ 273 h 452"/>
              <a:gd name="T48" fmla="*/ 206 w 817"/>
              <a:gd name="T49" fmla="*/ 200 h 452"/>
              <a:gd name="T50" fmla="*/ 193 w 817"/>
              <a:gd name="T51" fmla="*/ 273 h 452"/>
              <a:gd name="T52" fmla="*/ 235 w 817"/>
              <a:gd name="T53" fmla="*/ 285 h 452"/>
              <a:gd name="T54" fmla="*/ 290 w 817"/>
              <a:gd name="T55" fmla="*/ 187 h 452"/>
              <a:gd name="T56" fmla="*/ 305 w 817"/>
              <a:gd name="T57" fmla="*/ 289 h 452"/>
              <a:gd name="T58" fmla="*/ 334 w 817"/>
              <a:gd name="T59" fmla="*/ 294 h 452"/>
              <a:gd name="T60" fmla="*/ 447 w 817"/>
              <a:gd name="T61" fmla="*/ 167 h 452"/>
              <a:gd name="T62" fmla="*/ 361 w 817"/>
              <a:gd name="T63" fmla="*/ 304 h 452"/>
              <a:gd name="T64" fmla="*/ 385 w 817"/>
              <a:gd name="T65" fmla="*/ 307 h 452"/>
              <a:gd name="T66" fmla="*/ 475 w 817"/>
              <a:gd name="T67" fmla="*/ 165 h 452"/>
              <a:gd name="T68" fmla="*/ 475 w 817"/>
              <a:gd name="T69" fmla="*/ 165 h 452"/>
              <a:gd name="T70" fmla="*/ 441 w 817"/>
              <a:gd name="T71" fmla="*/ 312 h 452"/>
              <a:gd name="T72" fmla="*/ 506 w 817"/>
              <a:gd name="T73" fmla="*/ 161 h 452"/>
              <a:gd name="T74" fmla="*/ 534 w 817"/>
              <a:gd name="T75" fmla="*/ 141 h 452"/>
              <a:gd name="T76" fmla="*/ 441 w 817"/>
              <a:gd name="T77" fmla="*/ 312 h 452"/>
              <a:gd name="T78" fmla="*/ 493 w 817"/>
              <a:gd name="T79" fmla="*/ 319 h 452"/>
              <a:gd name="T80" fmla="*/ 523 w 817"/>
              <a:gd name="T81" fmla="*/ 256 h 452"/>
              <a:gd name="T82" fmla="*/ 572 w 817"/>
              <a:gd name="T83" fmla="*/ 403 h 452"/>
              <a:gd name="T84" fmla="*/ 569 w 817"/>
              <a:gd name="T85" fmla="*/ 402 h 452"/>
              <a:gd name="T86" fmla="*/ 539 w 817"/>
              <a:gd name="T87" fmla="*/ 399 h 452"/>
              <a:gd name="T88" fmla="*/ 522 w 817"/>
              <a:gd name="T89" fmla="*/ 321 h 452"/>
              <a:gd name="T90" fmla="*/ 674 w 817"/>
              <a:gd name="T91" fmla="*/ 145 h 452"/>
              <a:gd name="T92" fmla="*/ 543 w 817"/>
              <a:gd name="T93" fmla="*/ 391 h 452"/>
              <a:gd name="T94" fmla="*/ 734 w 817"/>
              <a:gd name="T95" fmla="*/ 192 h 452"/>
              <a:gd name="T96" fmla="*/ 764 w 817"/>
              <a:gd name="T97" fmla="*/ 270 h 452"/>
              <a:gd name="T98" fmla="*/ 781 w 817"/>
              <a:gd name="T99" fmla="*/ 234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17" h="452">
                <a:moveTo>
                  <a:pt x="738" y="167"/>
                </a:moveTo>
                <a:cubicBezTo>
                  <a:pt x="683" y="124"/>
                  <a:pt x="629" y="81"/>
                  <a:pt x="574" y="37"/>
                </a:cubicBezTo>
                <a:cubicBezTo>
                  <a:pt x="574" y="37"/>
                  <a:pt x="574" y="37"/>
                  <a:pt x="574" y="37"/>
                </a:cubicBezTo>
                <a:cubicBezTo>
                  <a:pt x="573" y="37"/>
                  <a:pt x="573" y="37"/>
                  <a:pt x="572" y="36"/>
                </a:cubicBezTo>
                <a:cubicBezTo>
                  <a:pt x="483" y="0"/>
                  <a:pt x="534" y="139"/>
                  <a:pt x="512" y="142"/>
                </a:cubicBezTo>
                <a:cubicBezTo>
                  <a:pt x="431" y="154"/>
                  <a:pt x="350" y="166"/>
                  <a:pt x="268" y="178"/>
                </a:cubicBezTo>
                <a:cubicBezTo>
                  <a:pt x="191" y="190"/>
                  <a:pt x="113" y="201"/>
                  <a:pt x="36" y="213"/>
                </a:cubicBezTo>
                <a:cubicBezTo>
                  <a:pt x="12" y="216"/>
                  <a:pt x="0" y="227"/>
                  <a:pt x="0" y="250"/>
                </a:cubicBezTo>
                <a:cubicBezTo>
                  <a:pt x="0" y="272"/>
                  <a:pt x="39" y="271"/>
                  <a:pt x="53" y="273"/>
                </a:cubicBezTo>
                <a:cubicBezTo>
                  <a:pt x="143" y="286"/>
                  <a:pt x="233" y="300"/>
                  <a:pt x="323" y="313"/>
                </a:cubicBezTo>
                <a:cubicBezTo>
                  <a:pt x="355" y="318"/>
                  <a:pt x="514" y="320"/>
                  <a:pt x="514" y="362"/>
                </a:cubicBezTo>
                <a:cubicBezTo>
                  <a:pt x="514" y="379"/>
                  <a:pt x="503" y="443"/>
                  <a:pt x="531" y="448"/>
                </a:cubicBezTo>
                <a:cubicBezTo>
                  <a:pt x="554" y="452"/>
                  <a:pt x="568" y="444"/>
                  <a:pt x="585" y="430"/>
                </a:cubicBezTo>
                <a:cubicBezTo>
                  <a:pt x="655" y="375"/>
                  <a:pt x="724" y="321"/>
                  <a:pt x="794" y="266"/>
                </a:cubicBezTo>
                <a:cubicBezTo>
                  <a:pt x="798" y="262"/>
                  <a:pt x="802" y="258"/>
                  <a:pt x="804" y="255"/>
                </a:cubicBezTo>
                <a:cubicBezTo>
                  <a:pt x="804" y="254"/>
                  <a:pt x="805" y="254"/>
                  <a:pt x="805" y="254"/>
                </a:cubicBezTo>
                <a:cubicBezTo>
                  <a:pt x="805" y="253"/>
                  <a:pt x="806" y="252"/>
                  <a:pt x="807" y="251"/>
                </a:cubicBezTo>
                <a:cubicBezTo>
                  <a:pt x="807" y="249"/>
                  <a:pt x="808" y="247"/>
                  <a:pt x="809" y="246"/>
                </a:cubicBezTo>
                <a:cubicBezTo>
                  <a:pt x="817" y="215"/>
                  <a:pt x="762" y="186"/>
                  <a:pt x="738" y="167"/>
                </a:cubicBezTo>
                <a:close/>
                <a:moveTo>
                  <a:pt x="31" y="233"/>
                </a:moveTo>
                <a:cubicBezTo>
                  <a:pt x="30" y="235"/>
                  <a:pt x="29" y="237"/>
                  <a:pt x="29" y="239"/>
                </a:cubicBezTo>
                <a:cubicBezTo>
                  <a:pt x="28" y="241"/>
                  <a:pt x="27" y="243"/>
                  <a:pt x="27" y="244"/>
                </a:cubicBezTo>
                <a:cubicBezTo>
                  <a:pt x="26" y="244"/>
                  <a:pt x="26" y="244"/>
                  <a:pt x="26" y="243"/>
                </a:cubicBezTo>
                <a:cubicBezTo>
                  <a:pt x="21" y="236"/>
                  <a:pt x="26" y="231"/>
                  <a:pt x="34" y="227"/>
                </a:cubicBezTo>
                <a:cubicBezTo>
                  <a:pt x="33" y="229"/>
                  <a:pt x="32" y="231"/>
                  <a:pt x="31" y="233"/>
                </a:cubicBezTo>
                <a:close/>
                <a:moveTo>
                  <a:pt x="704" y="168"/>
                </a:moveTo>
                <a:cubicBezTo>
                  <a:pt x="705" y="170"/>
                  <a:pt x="706" y="171"/>
                  <a:pt x="708" y="172"/>
                </a:cubicBezTo>
                <a:cubicBezTo>
                  <a:pt x="684" y="222"/>
                  <a:pt x="658" y="272"/>
                  <a:pt x="632" y="321"/>
                </a:cubicBezTo>
                <a:cubicBezTo>
                  <a:pt x="628" y="327"/>
                  <a:pt x="627" y="327"/>
                  <a:pt x="630" y="320"/>
                </a:cubicBezTo>
                <a:cubicBezTo>
                  <a:pt x="640" y="293"/>
                  <a:pt x="651" y="267"/>
                  <a:pt x="662" y="240"/>
                </a:cubicBezTo>
                <a:cubicBezTo>
                  <a:pt x="665" y="233"/>
                  <a:pt x="670" y="223"/>
                  <a:pt x="674" y="216"/>
                </a:cubicBezTo>
                <a:cubicBezTo>
                  <a:pt x="684" y="200"/>
                  <a:pt x="694" y="184"/>
                  <a:pt x="704" y="168"/>
                </a:cubicBezTo>
                <a:close/>
                <a:moveTo>
                  <a:pt x="590" y="79"/>
                </a:moveTo>
                <a:cubicBezTo>
                  <a:pt x="595" y="83"/>
                  <a:pt x="600" y="87"/>
                  <a:pt x="606" y="91"/>
                </a:cubicBezTo>
                <a:cubicBezTo>
                  <a:pt x="603" y="95"/>
                  <a:pt x="600" y="99"/>
                  <a:pt x="598" y="103"/>
                </a:cubicBezTo>
                <a:cubicBezTo>
                  <a:pt x="594" y="109"/>
                  <a:pt x="586" y="115"/>
                  <a:pt x="581" y="116"/>
                </a:cubicBezTo>
                <a:cubicBezTo>
                  <a:pt x="577" y="118"/>
                  <a:pt x="574" y="120"/>
                  <a:pt x="573" y="121"/>
                </a:cubicBezTo>
                <a:cubicBezTo>
                  <a:pt x="571" y="123"/>
                  <a:pt x="569" y="125"/>
                  <a:pt x="568" y="127"/>
                </a:cubicBezTo>
                <a:cubicBezTo>
                  <a:pt x="565" y="130"/>
                  <a:pt x="565" y="128"/>
                  <a:pt x="568" y="121"/>
                </a:cubicBezTo>
                <a:cubicBezTo>
                  <a:pt x="576" y="107"/>
                  <a:pt x="583" y="93"/>
                  <a:pt x="590" y="79"/>
                </a:cubicBezTo>
                <a:close/>
                <a:moveTo>
                  <a:pt x="548" y="48"/>
                </a:moveTo>
                <a:cubicBezTo>
                  <a:pt x="547" y="49"/>
                  <a:pt x="547" y="49"/>
                  <a:pt x="547" y="50"/>
                </a:cubicBezTo>
                <a:cubicBezTo>
                  <a:pt x="546" y="51"/>
                  <a:pt x="545" y="53"/>
                  <a:pt x="544" y="54"/>
                </a:cubicBezTo>
                <a:cubicBezTo>
                  <a:pt x="545" y="51"/>
                  <a:pt x="546" y="49"/>
                  <a:pt x="548" y="48"/>
                </a:cubicBezTo>
                <a:close/>
                <a:moveTo>
                  <a:pt x="543" y="100"/>
                </a:moveTo>
                <a:cubicBezTo>
                  <a:pt x="551" y="87"/>
                  <a:pt x="559" y="74"/>
                  <a:pt x="567" y="61"/>
                </a:cubicBezTo>
                <a:cubicBezTo>
                  <a:pt x="568" y="62"/>
                  <a:pt x="569" y="62"/>
                  <a:pt x="570" y="63"/>
                </a:cubicBezTo>
                <a:cubicBezTo>
                  <a:pt x="561" y="81"/>
                  <a:pt x="551" y="99"/>
                  <a:pt x="542" y="117"/>
                </a:cubicBezTo>
                <a:cubicBezTo>
                  <a:pt x="542" y="118"/>
                  <a:pt x="541" y="119"/>
                  <a:pt x="541" y="120"/>
                </a:cubicBezTo>
                <a:cubicBezTo>
                  <a:pt x="541" y="116"/>
                  <a:pt x="541" y="110"/>
                  <a:pt x="540" y="104"/>
                </a:cubicBezTo>
                <a:cubicBezTo>
                  <a:pt x="541" y="103"/>
                  <a:pt x="542" y="102"/>
                  <a:pt x="543" y="100"/>
                </a:cubicBezTo>
                <a:close/>
                <a:moveTo>
                  <a:pt x="91" y="223"/>
                </a:moveTo>
                <a:cubicBezTo>
                  <a:pt x="86" y="234"/>
                  <a:pt x="80" y="244"/>
                  <a:pt x="74" y="255"/>
                </a:cubicBezTo>
                <a:cubicBezTo>
                  <a:pt x="73" y="257"/>
                  <a:pt x="73" y="259"/>
                  <a:pt x="74" y="262"/>
                </a:cubicBezTo>
                <a:cubicBezTo>
                  <a:pt x="67" y="261"/>
                  <a:pt x="60" y="260"/>
                  <a:pt x="54" y="258"/>
                </a:cubicBezTo>
                <a:cubicBezTo>
                  <a:pt x="56" y="257"/>
                  <a:pt x="57" y="255"/>
                  <a:pt x="59" y="252"/>
                </a:cubicBezTo>
                <a:cubicBezTo>
                  <a:pt x="62" y="244"/>
                  <a:pt x="66" y="235"/>
                  <a:pt x="70" y="227"/>
                </a:cubicBezTo>
                <a:cubicBezTo>
                  <a:pt x="72" y="223"/>
                  <a:pt x="72" y="220"/>
                  <a:pt x="70" y="218"/>
                </a:cubicBezTo>
                <a:cubicBezTo>
                  <a:pt x="83" y="217"/>
                  <a:pt x="94" y="216"/>
                  <a:pt x="98" y="216"/>
                </a:cubicBezTo>
                <a:cubicBezTo>
                  <a:pt x="95" y="218"/>
                  <a:pt x="93" y="220"/>
                  <a:pt x="91" y="223"/>
                </a:cubicBezTo>
                <a:close/>
                <a:moveTo>
                  <a:pt x="137" y="270"/>
                </a:moveTo>
                <a:cubicBezTo>
                  <a:pt x="123" y="268"/>
                  <a:pt x="110" y="266"/>
                  <a:pt x="96" y="264"/>
                </a:cubicBezTo>
                <a:cubicBezTo>
                  <a:pt x="98" y="262"/>
                  <a:pt x="100" y="261"/>
                  <a:pt x="101" y="259"/>
                </a:cubicBezTo>
                <a:cubicBezTo>
                  <a:pt x="108" y="245"/>
                  <a:pt x="115" y="232"/>
                  <a:pt x="122" y="219"/>
                </a:cubicBezTo>
                <a:cubicBezTo>
                  <a:pt x="123" y="216"/>
                  <a:pt x="123" y="214"/>
                  <a:pt x="123" y="212"/>
                </a:cubicBezTo>
                <a:cubicBezTo>
                  <a:pt x="142" y="209"/>
                  <a:pt x="161" y="206"/>
                  <a:pt x="180" y="203"/>
                </a:cubicBezTo>
                <a:cubicBezTo>
                  <a:pt x="177" y="206"/>
                  <a:pt x="175" y="208"/>
                  <a:pt x="173" y="210"/>
                </a:cubicBezTo>
                <a:cubicBezTo>
                  <a:pt x="162" y="229"/>
                  <a:pt x="150" y="247"/>
                  <a:pt x="138" y="265"/>
                </a:cubicBezTo>
                <a:cubicBezTo>
                  <a:pt x="137" y="267"/>
                  <a:pt x="137" y="268"/>
                  <a:pt x="137" y="270"/>
                </a:cubicBezTo>
                <a:close/>
                <a:moveTo>
                  <a:pt x="193" y="273"/>
                </a:moveTo>
                <a:cubicBezTo>
                  <a:pt x="192" y="275"/>
                  <a:pt x="192" y="276"/>
                  <a:pt x="192" y="278"/>
                </a:cubicBezTo>
                <a:cubicBezTo>
                  <a:pt x="181" y="277"/>
                  <a:pt x="170" y="275"/>
                  <a:pt x="159" y="273"/>
                </a:cubicBezTo>
                <a:cubicBezTo>
                  <a:pt x="161" y="272"/>
                  <a:pt x="163" y="270"/>
                  <a:pt x="164" y="269"/>
                </a:cubicBezTo>
                <a:cubicBezTo>
                  <a:pt x="178" y="248"/>
                  <a:pt x="191" y="227"/>
                  <a:pt x="204" y="206"/>
                </a:cubicBezTo>
                <a:cubicBezTo>
                  <a:pt x="206" y="203"/>
                  <a:pt x="206" y="201"/>
                  <a:pt x="206" y="200"/>
                </a:cubicBezTo>
                <a:cubicBezTo>
                  <a:pt x="217" y="198"/>
                  <a:pt x="229" y="196"/>
                  <a:pt x="240" y="195"/>
                </a:cubicBezTo>
                <a:cubicBezTo>
                  <a:pt x="237" y="197"/>
                  <a:pt x="235" y="199"/>
                  <a:pt x="234" y="202"/>
                </a:cubicBezTo>
                <a:cubicBezTo>
                  <a:pt x="220" y="225"/>
                  <a:pt x="207" y="249"/>
                  <a:pt x="193" y="273"/>
                </a:cubicBezTo>
                <a:close/>
                <a:moveTo>
                  <a:pt x="305" y="289"/>
                </a:moveTo>
                <a:cubicBezTo>
                  <a:pt x="304" y="291"/>
                  <a:pt x="304" y="293"/>
                  <a:pt x="304" y="295"/>
                </a:cubicBezTo>
                <a:cubicBezTo>
                  <a:pt x="281" y="292"/>
                  <a:pt x="258" y="288"/>
                  <a:pt x="235" y="285"/>
                </a:cubicBezTo>
                <a:cubicBezTo>
                  <a:pt x="237" y="283"/>
                  <a:pt x="239" y="282"/>
                  <a:pt x="240" y="279"/>
                </a:cubicBezTo>
                <a:cubicBezTo>
                  <a:pt x="256" y="251"/>
                  <a:pt x="272" y="222"/>
                  <a:pt x="288" y="193"/>
                </a:cubicBezTo>
                <a:cubicBezTo>
                  <a:pt x="290" y="191"/>
                  <a:pt x="290" y="189"/>
                  <a:pt x="290" y="187"/>
                </a:cubicBezTo>
                <a:cubicBezTo>
                  <a:pt x="317" y="183"/>
                  <a:pt x="344" y="179"/>
                  <a:pt x="371" y="175"/>
                </a:cubicBezTo>
                <a:cubicBezTo>
                  <a:pt x="368" y="177"/>
                  <a:pt x="366" y="180"/>
                  <a:pt x="364" y="182"/>
                </a:cubicBezTo>
                <a:cubicBezTo>
                  <a:pt x="345" y="218"/>
                  <a:pt x="325" y="254"/>
                  <a:pt x="305" y="289"/>
                </a:cubicBezTo>
                <a:close/>
                <a:moveTo>
                  <a:pt x="361" y="304"/>
                </a:moveTo>
                <a:cubicBezTo>
                  <a:pt x="350" y="302"/>
                  <a:pt x="339" y="300"/>
                  <a:pt x="329" y="299"/>
                </a:cubicBezTo>
                <a:cubicBezTo>
                  <a:pt x="331" y="297"/>
                  <a:pt x="332" y="296"/>
                  <a:pt x="334" y="294"/>
                </a:cubicBezTo>
                <a:cubicBezTo>
                  <a:pt x="360" y="253"/>
                  <a:pt x="386" y="213"/>
                  <a:pt x="414" y="174"/>
                </a:cubicBezTo>
                <a:cubicBezTo>
                  <a:pt x="415" y="172"/>
                  <a:pt x="415" y="170"/>
                  <a:pt x="415" y="169"/>
                </a:cubicBezTo>
                <a:cubicBezTo>
                  <a:pt x="425" y="168"/>
                  <a:pt x="436" y="168"/>
                  <a:pt x="447" y="167"/>
                </a:cubicBezTo>
                <a:cubicBezTo>
                  <a:pt x="446" y="168"/>
                  <a:pt x="445" y="169"/>
                  <a:pt x="445" y="170"/>
                </a:cubicBezTo>
                <a:cubicBezTo>
                  <a:pt x="418" y="213"/>
                  <a:pt x="390" y="255"/>
                  <a:pt x="363" y="298"/>
                </a:cubicBezTo>
                <a:cubicBezTo>
                  <a:pt x="362" y="300"/>
                  <a:pt x="361" y="302"/>
                  <a:pt x="361" y="304"/>
                </a:cubicBezTo>
                <a:close/>
                <a:moveTo>
                  <a:pt x="390" y="308"/>
                </a:moveTo>
                <a:cubicBezTo>
                  <a:pt x="390" y="308"/>
                  <a:pt x="389" y="308"/>
                  <a:pt x="389" y="308"/>
                </a:cubicBezTo>
                <a:cubicBezTo>
                  <a:pt x="388" y="307"/>
                  <a:pt x="386" y="307"/>
                  <a:pt x="385" y="307"/>
                </a:cubicBezTo>
                <a:cubicBezTo>
                  <a:pt x="385" y="307"/>
                  <a:pt x="385" y="307"/>
                  <a:pt x="385" y="306"/>
                </a:cubicBezTo>
                <a:cubicBezTo>
                  <a:pt x="387" y="304"/>
                  <a:pt x="388" y="302"/>
                  <a:pt x="389" y="300"/>
                </a:cubicBezTo>
                <a:cubicBezTo>
                  <a:pt x="417" y="254"/>
                  <a:pt x="446" y="210"/>
                  <a:pt x="475" y="165"/>
                </a:cubicBezTo>
                <a:cubicBezTo>
                  <a:pt x="475" y="165"/>
                  <a:pt x="475" y="164"/>
                  <a:pt x="475" y="164"/>
                </a:cubicBezTo>
                <a:cubicBezTo>
                  <a:pt x="476" y="164"/>
                  <a:pt x="476" y="163"/>
                  <a:pt x="477" y="163"/>
                </a:cubicBezTo>
                <a:cubicBezTo>
                  <a:pt x="476" y="164"/>
                  <a:pt x="476" y="165"/>
                  <a:pt x="475" y="165"/>
                </a:cubicBezTo>
                <a:cubicBezTo>
                  <a:pt x="447" y="211"/>
                  <a:pt x="419" y="257"/>
                  <a:pt x="391" y="302"/>
                </a:cubicBezTo>
                <a:cubicBezTo>
                  <a:pt x="390" y="304"/>
                  <a:pt x="390" y="306"/>
                  <a:pt x="390" y="308"/>
                </a:cubicBezTo>
                <a:close/>
                <a:moveTo>
                  <a:pt x="441" y="312"/>
                </a:moveTo>
                <a:cubicBezTo>
                  <a:pt x="431" y="311"/>
                  <a:pt x="422" y="310"/>
                  <a:pt x="414" y="310"/>
                </a:cubicBezTo>
                <a:cubicBezTo>
                  <a:pt x="415" y="309"/>
                  <a:pt x="416" y="307"/>
                  <a:pt x="417" y="306"/>
                </a:cubicBezTo>
                <a:cubicBezTo>
                  <a:pt x="447" y="258"/>
                  <a:pt x="476" y="209"/>
                  <a:pt x="506" y="161"/>
                </a:cubicBezTo>
                <a:cubicBezTo>
                  <a:pt x="507" y="159"/>
                  <a:pt x="507" y="158"/>
                  <a:pt x="508" y="156"/>
                </a:cubicBezTo>
                <a:cubicBezTo>
                  <a:pt x="518" y="153"/>
                  <a:pt x="527" y="147"/>
                  <a:pt x="534" y="140"/>
                </a:cubicBezTo>
                <a:cubicBezTo>
                  <a:pt x="534" y="140"/>
                  <a:pt x="534" y="141"/>
                  <a:pt x="534" y="141"/>
                </a:cubicBezTo>
                <a:cubicBezTo>
                  <a:pt x="531" y="145"/>
                  <a:pt x="524" y="152"/>
                  <a:pt x="521" y="158"/>
                </a:cubicBezTo>
                <a:cubicBezTo>
                  <a:pt x="495" y="209"/>
                  <a:pt x="469" y="259"/>
                  <a:pt x="441" y="309"/>
                </a:cubicBezTo>
                <a:cubicBezTo>
                  <a:pt x="441" y="310"/>
                  <a:pt x="441" y="311"/>
                  <a:pt x="441" y="312"/>
                </a:cubicBezTo>
                <a:close/>
                <a:moveTo>
                  <a:pt x="505" y="299"/>
                </a:moveTo>
                <a:cubicBezTo>
                  <a:pt x="501" y="305"/>
                  <a:pt x="498" y="311"/>
                  <a:pt x="494" y="317"/>
                </a:cubicBezTo>
                <a:cubicBezTo>
                  <a:pt x="494" y="318"/>
                  <a:pt x="494" y="318"/>
                  <a:pt x="493" y="319"/>
                </a:cubicBezTo>
                <a:cubicBezTo>
                  <a:pt x="490" y="318"/>
                  <a:pt x="486" y="318"/>
                  <a:pt x="483" y="317"/>
                </a:cubicBezTo>
                <a:cubicBezTo>
                  <a:pt x="483" y="317"/>
                  <a:pt x="483" y="316"/>
                  <a:pt x="483" y="316"/>
                </a:cubicBezTo>
                <a:cubicBezTo>
                  <a:pt x="496" y="296"/>
                  <a:pt x="510" y="276"/>
                  <a:pt x="523" y="256"/>
                </a:cubicBezTo>
                <a:cubicBezTo>
                  <a:pt x="527" y="250"/>
                  <a:pt x="528" y="251"/>
                  <a:pt x="525" y="258"/>
                </a:cubicBezTo>
                <a:cubicBezTo>
                  <a:pt x="518" y="272"/>
                  <a:pt x="512" y="285"/>
                  <a:pt x="505" y="299"/>
                </a:cubicBezTo>
                <a:close/>
                <a:moveTo>
                  <a:pt x="572" y="403"/>
                </a:moveTo>
                <a:cubicBezTo>
                  <a:pt x="568" y="411"/>
                  <a:pt x="565" y="420"/>
                  <a:pt x="562" y="429"/>
                </a:cubicBezTo>
                <a:cubicBezTo>
                  <a:pt x="559" y="431"/>
                  <a:pt x="555" y="432"/>
                  <a:pt x="553" y="432"/>
                </a:cubicBezTo>
                <a:cubicBezTo>
                  <a:pt x="558" y="422"/>
                  <a:pt x="564" y="412"/>
                  <a:pt x="569" y="402"/>
                </a:cubicBezTo>
                <a:cubicBezTo>
                  <a:pt x="573" y="395"/>
                  <a:pt x="574" y="396"/>
                  <a:pt x="572" y="403"/>
                </a:cubicBezTo>
                <a:close/>
                <a:moveTo>
                  <a:pt x="543" y="391"/>
                </a:moveTo>
                <a:cubicBezTo>
                  <a:pt x="541" y="394"/>
                  <a:pt x="540" y="397"/>
                  <a:pt x="539" y="399"/>
                </a:cubicBezTo>
                <a:cubicBezTo>
                  <a:pt x="538" y="380"/>
                  <a:pt x="540" y="357"/>
                  <a:pt x="540" y="348"/>
                </a:cubicBezTo>
                <a:cubicBezTo>
                  <a:pt x="540" y="339"/>
                  <a:pt x="531" y="331"/>
                  <a:pt x="518" y="326"/>
                </a:cubicBezTo>
                <a:cubicBezTo>
                  <a:pt x="519" y="325"/>
                  <a:pt x="521" y="323"/>
                  <a:pt x="522" y="321"/>
                </a:cubicBezTo>
                <a:cubicBezTo>
                  <a:pt x="527" y="312"/>
                  <a:pt x="532" y="303"/>
                  <a:pt x="536" y="293"/>
                </a:cubicBezTo>
                <a:cubicBezTo>
                  <a:pt x="571" y="235"/>
                  <a:pt x="605" y="176"/>
                  <a:pt x="639" y="117"/>
                </a:cubicBezTo>
                <a:cubicBezTo>
                  <a:pt x="651" y="127"/>
                  <a:pt x="662" y="136"/>
                  <a:pt x="674" y="145"/>
                </a:cubicBezTo>
                <a:cubicBezTo>
                  <a:pt x="668" y="162"/>
                  <a:pt x="661" y="178"/>
                  <a:pt x="655" y="195"/>
                </a:cubicBezTo>
                <a:cubicBezTo>
                  <a:pt x="643" y="217"/>
                  <a:pt x="631" y="239"/>
                  <a:pt x="619" y="261"/>
                </a:cubicBezTo>
                <a:cubicBezTo>
                  <a:pt x="593" y="305"/>
                  <a:pt x="568" y="348"/>
                  <a:pt x="543" y="391"/>
                </a:cubicBezTo>
                <a:close/>
                <a:moveTo>
                  <a:pt x="628" y="377"/>
                </a:moveTo>
                <a:cubicBezTo>
                  <a:pt x="664" y="316"/>
                  <a:pt x="698" y="253"/>
                  <a:pt x="729" y="188"/>
                </a:cubicBezTo>
                <a:cubicBezTo>
                  <a:pt x="731" y="190"/>
                  <a:pt x="732" y="191"/>
                  <a:pt x="734" y="192"/>
                </a:cubicBezTo>
                <a:cubicBezTo>
                  <a:pt x="705" y="248"/>
                  <a:pt x="677" y="304"/>
                  <a:pt x="649" y="361"/>
                </a:cubicBezTo>
                <a:cubicBezTo>
                  <a:pt x="642" y="366"/>
                  <a:pt x="635" y="372"/>
                  <a:pt x="628" y="377"/>
                </a:cubicBezTo>
                <a:close/>
                <a:moveTo>
                  <a:pt x="764" y="270"/>
                </a:moveTo>
                <a:cubicBezTo>
                  <a:pt x="742" y="288"/>
                  <a:pt x="719" y="306"/>
                  <a:pt x="696" y="324"/>
                </a:cubicBezTo>
                <a:cubicBezTo>
                  <a:pt x="715" y="285"/>
                  <a:pt x="734" y="246"/>
                  <a:pt x="754" y="208"/>
                </a:cubicBezTo>
                <a:cubicBezTo>
                  <a:pt x="765" y="215"/>
                  <a:pt x="776" y="224"/>
                  <a:pt x="781" y="234"/>
                </a:cubicBezTo>
                <a:cubicBezTo>
                  <a:pt x="776" y="246"/>
                  <a:pt x="770" y="258"/>
                  <a:pt x="764" y="2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3B11FFF-5B59-DFBF-B00E-7C2A46D19BD5}"/>
              </a:ext>
            </a:extLst>
          </p:cNvPr>
          <p:cNvGrpSpPr/>
          <p:nvPr/>
        </p:nvGrpSpPr>
        <p:grpSpPr>
          <a:xfrm>
            <a:off x="4532580" y="3502043"/>
            <a:ext cx="639919" cy="950532"/>
            <a:chOff x="4532580" y="3502043"/>
            <a:chExt cx="639919" cy="950532"/>
          </a:xfrm>
        </p:grpSpPr>
        <p:sp>
          <p:nvSpPr>
            <p:cNvPr id="24" name="curve-arrow-pointing-left_21112">
              <a:extLst>
                <a:ext uri="{FF2B5EF4-FFF2-40B4-BE49-F238E27FC236}">
                  <a16:creationId xmlns:a16="http://schemas.microsoft.com/office/drawing/2014/main" id="{973CA6A5-0EB3-C75E-A03A-92E1BFC5F426}"/>
                </a:ext>
              </a:extLst>
            </p:cNvPr>
            <p:cNvSpPr/>
            <p:nvPr/>
          </p:nvSpPr>
          <p:spPr>
            <a:xfrm rot="16200000">
              <a:off x="4713735" y="3993811"/>
              <a:ext cx="609685" cy="307843"/>
            </a:xfrm>
            <a:custGeom>
              <a:avLst/>
              <a:gdLst>
                <a:gd name="T0" fmla="*/ 237 w 810"/>
                <a:gd name="T1" fmla="*/ 533 h 680"/>
                <a:gd name="T2" fmla="*/ 237 w 810"/>
                <a:gd name="T3" fmla="*/ 680 h 680"/>
                <a:gd name="T4" fmla="*/ 0 w 810"/>
                <a:gd name="T5" fmla="*/ 443 h 680"/>
                <a:gd name="T6" fmla="*/ 237 w 810"/>
                <a:gd name="T7" fmla="*/ 206 h 680"/>
                <a:gd name="T8" fmla="*/ 237 w 810"/>
                <a:gd name="T9" fmla="*/ 355 h 680"/>
                <a:gd name="T10" fmla="*/ 797 w 810"/>
                <a:gd name="T11" fmla="*/ 0 h 680"/>
                <a:gd name="T12" fmla="*/ 810 w 810"/>
                <a:gd name="T13" fmla="*/ 89 h 680"/>
                <a:gd name="T14" fmla="*/ 237 w 810"/>
                <a:gd name="T15" fmla="*/ 533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0" h="680">
                  <a:moveTo>
                    <a:pt x="237" y="533"/>
                  </a:moveTo>
                  <a:lnTo>
                    <a:pt x="237" y="680"/>
                  </a:lnTo>
                  <a:lnTo>
                    <a:pt x="0" y="443"/>
                  </a:lnTo>
                  <a:lnTo>
                    <a:pt x="237" y="206"/>
                  </a:lnTo>
                  <a:lnTo>
                    <a:pt x="237" y="355"/>
                  </a:lnTo>
                  <a:cubicBezTo>
                    <a:pt x="516" y="334"/>
                    <a:pt x="742" y="188"/>
                    <a:pt x="797" y="0"/>
                  </a:cubicBezTo>
                  <a:cubicBezTo>
                    <a:pt x="805" y="28"/>
                    <a:pt x="810" y="58"/>
                    <a:pt x="810" y="89"/>
                  </a:cubicBezTo>
                  <a:cubicBezTo>
                    <a:pt x="810" y="319"/>
                    <a:pt x="559" y="509"/>
                    <a:pt x="237" y="53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493E3BD-1569-B52A-6F99-54F3286B44E6}"/>
                </a:ext>
              </a:extLst>
            </p:cNvPr>
            <p:cNvSpPr txBox="1"/>
            <p:nvPr/>
          </p:nvSpPr>
          <p:spPr>
            <a:xfrm>
              <a:off x="4532580" y="3502043"/>
              <a:ext cx="5373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/>
                <a:t>入栈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1547E82-E2B8-EDD0-FE9C-FA67190BA34C}"/>
              </a:ext>
            </a:extLst>
          </p:cNvPr>
          <p:cNvGrpSpPr/>
          <p:nvPr/>
        </p:nvGrpSpPr>
        <p:grpSpPr>
          <a:xfrm>
            <a:off x="6069458" y="3502043"/>
            <a:ext cx="544477" cy="950531"/>
            <a:chOff x="6069458" y="3502043"/>
            <a:chExt cx="544477" cy="950531"/>
          </a:xfrm>
        </p:grpSpPr>
        <p:sp>
          <p:nvSpPr>
            <p:cNvPr id="25" name="curved-up-arrow_20901">
              <a:extLst>
                <a:ext uri="{FF2B5EF4-FFF2-40B4-BE49-F238E27FC236}">
                  <a16:creationId xmlns:a16="http://schemas.microsoft.com/office/drawing/2014/main" id="{B64632ED-CFD6-83DD-43AA-AF9690670A36}"/>
                </a:ext>
              </a:extLst>
            </p:cNvPr>
            <p:cNvSpPr/>
            <p:nvPr/>
          </p:nvSpPr>
          <p:spPr>
            <a:xfrm>
              <a:off x="6069458" y="3842889"/>
              <a:ext cx="318124" cy="609685"/>
            </a:xfrm>
            <a:custGeom>
              <a:avLst/>
              <a:gdLst>
                <a:gd name="T0" fmla="*/ 1363 w 1738"/>
                <a:gd name="T1" fmla="*/ 606 h 2069"/>
                <a:gd name="T2" fmla="*/ 1738 w 1738"/>
                <a:gd name="T3" fmla="*/ 606 h 2069"/>
                <a:gd name="T4" fmla="*/ 1133 w 1738"/>
                <a:gd name="T5" fmla="*/ 0 h 2069"/>
                <a:gd name="T6" fmla="*/ 527 w 1738"/>
                <a:gd name="T7" fmla="*/ 606 h 2069"/>
                <a:gd name="T8" fmla="*/ 907 w 1738"/>
                <a:gd name="T9" fmla="*/ 606 h 2069"/>
                <a:gd name="T10" fmla="*/ 0 w 1738"/>
                <a:gd name="T11" fmla="*/ 2036 h 2069"/>
                <a:gd name="T12" fmla="*/ 228 w 1738"/>
                <a:gd name="T13" fmla="*/ 2069 h 2069"/>
                <a:gd name="T14" fmla="*/ 1363 w 1738"/>
                <a:gd name="T15" fmla="*/ 606 h 2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8" h="2069">
                  <a:moveTo>
                    <a:pt x="1363" y="606"/>
                  </a:moveTo>
                  <a:lnTo>
                    <a:pt x="1738" y="606"/>
                  </a:lnTo>
                  <a:lnTo>
                    <a:pt x="1133" y="0"/>
                  </a:lnTo>
                  <a:lnTo>
                    <a:pt x="527" y="606"/>
                  </a:lnTo>
                  <a:lnTo>
                    <a:pt x="907" y="606"/>
                  </a:lnTo>
                  <a:cubicBezTo>
                    <a:pt x="854" y="1319"/>
                    <a:pt x="482" y="1896"/>
                    <a:pt x="0" y="2036"/>
                  </a:cubicBezTo>
                  <a:cubicBezTo>
                    <a:pt x="74" y="2057"/>
                    <a:pt x="150" y="2069"/>
                    <a:pt x="228" y="2069"/>
                  </a:cubicBezTo>
                  <a:cubicBezTo>
                    <a:pt x="816" y="2069"/>
                    <a:pt x="1301" y="1428"/>
                    <a:pt x="1363" y="60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8479847-783E-D26A-225A-86CCB4FFDFC8}"/>
                </a:ext>
              </a:extLst>
            </p:cNvPr>
            <p:cNvSpPr txBox="1"/>
            <p:nvPr/>
          </p:nvSpPr>
          <p:spPr>
            <a:xfrm>
              <a:off x="6076608" y="3502043"/>
              <a:ext cx="5373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/>
                <a:t>出栈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72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AB6B-07CC-6314-C507-4FBE9955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4F5AE40E-AA51-B3C3-BC9C-DA43AEE86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22271FD-C357-455E-A8F0-005A6F00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5D8442B-3342-486E-3EA1-C9326715353E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332A05F-5E32-5AC9-AF2D-6380445B7786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7AE615AF-9D33-5A00-7FBC-C21356F37E11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270BD00-00EE-5CB2-3D57-61E1E588662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421DFA9-BFC5-AC60-FE65-AEA48C3F043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BFDF252-ABB5-0367-C491-7B701629927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7B0369-11FC-E4DA-88CE-510691825AC6}"/>
              </a:ext>
            </a:extLst>
          </p:cNvPr>
          <p:cNvSpPr/>
          <p:nvPr/>
        </p:nvSpPr>
        <p:spPr>
          <a:xfrm>
            <a:off x="4726616" y="4460889"/>
            <a:ext cx="1702903" cy="2191703"/>
          </a:xfrm>
          <a:prstGeom prst="roundRect">
            <a:avLst>
              <a:gd name="adj" fmla="val 4752"/>
            </a:avLst>
          </a:prstGeom>
          <a:solidFill>
            <a:srgbClr val="A7E8FF"/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03DA3F-EDC8-5C30-22DD-EDE883C1B586}"/>
              </a:ext>
            </a:extLst>
          </p:cNvPr>
          <p:cNvSpPr/>
          <p:nvPr/>
        </p:nvSpPr>
        <p:spPr>
          <a:xfrm>
            <a:off x="4864656" y="4572819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function_b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AC33FDA-A369-DEAF-B5BF-2C8F87D4B70E}"/>
              </a:ext>
            </a:extLst>
          </p:cNvPr>
          <p:cNvSpPr/>
          <p:nvPr/>
        </p:nvSpPr>
        <p:spPr>
          <a:xfrm>
            <a:off x="4864656" y="5247049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function_a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20EB97-5119-BB6E-D4D3-1CA60029F259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3D4EA3A-DD33-44C8-0502-4D9886CB6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48" y="4121426"/>
            <a:ext cx="3299539" cy="2166730"/>
          </a:xfrm>
          <a:prstGeom prst="rect">
            <a:avLst/>
          </a:prstGeom>
        </p:spPr>
      </p:pic>
      <p:sp>
        <p:nvSpPr>
          <p:cNvPr id="16" name="right-arrow-sketch_36739">
            <a:extLst>
              <a:ext uri="{FF2B5EF4-FFF2-40B4-BE49-F238E27FC236}">
                <a16:creationId xmlns:a16="http://schemas.microsoft.com/office/drawing/2014/main" id="{B27094EC-E706-0EC2-C599-D9B7CDA95BE4}"/>
              </a:ext>
            </a:extLst>
          </p:cNvPr>
          <p:cNvSpPr/>
          <p:nvPr/>
        </p:nvSpPr>
        <p:spPr>
          <a:xfrm>
            <a:off x="3646518" y="4731606"/>
            <a:ext cx="1080094" cy="245640"/>
          </a:xfrm>
          <a:custGeom>
            <a:avLst/>
            <a:gdLst>
              <a:gd name="T0" fmla="*/ 574 w 817"/>
              <a:gd name="T1" fmla="*/ 37 h 452"/>
              <a:gd name="T2" fmla="*/ 268 w 817"/>
              <a:gd name="T3" fmla="*/ 178 h 452"/>
              <a:gd name="T4" fmla="*/ 53 w 817"/>
              <a:gd name="T5" fmla="*/ 273 h 452"/>
              <a:gd name="T6" fmla="*/ 531 w 817"/>
              <a:gd name="T7" fmla="*/ 448 h 452"/>
              <a:gd name="T8" fmla="*/ 804 w 817"/>
              <a:gd name="T9" fmla="*/ 255 h 452"/>
              <a:gd name="T10" fmla="*/ 809 w 817"/>
              <a:gd name="T11" fmla="*/ 246 h 452"/>
              <a:gd name="T12" fmla="*/ 29 w 817"/>
              <a:gd name="T13" fmla="*/ 239 h 452"/>
              <a:gd name="T14" fmla="*/ 34 w 817"/>
              <a:gd name="T15" fmla="*/ 227 h 452"/>
              <a:gd name="T16" fmla="*/ 708 w 817"/>
              <a:gd name="T17" fmla="*/ 172 h 452"/>
              <a:gd name="T18" fmla="*/ 662 w 817"/>
              <a:gd name="T19" fmla="*/ 240 h 452"/>
              <a:gd name="T20" fmla="*/ 590 w 817"/>
              <a:gd name="T21" fmla="*/ 79 h 452"/>
              <a:gd name="T22" fmla="*/ 581 w 817"/>
              <a:gd name="T23" fmla="*/ 116 h 452"/>
              <a:gd name="T24" fmla="*/ 568 w 817"/>
              <a:gd name="T25" fmla="*/ 121 h 452"/>
              <a:gd name="T26" fmla="*/ 547 w 817"/>
              <a:gd name="T27" fmla="*/ 50 h 452"/>
              <a:gd name="T28" fmla="*/ 543 w 817"/>
              <a:gd name="T29" fmla="*/ 100 h 452"/>
              <a:gd name="T30" fmla="*/ 542 w 817"/>
              <a:gd name="T31" fmla="*/ 117 h 452"/>
              <a:gd name="T32" fmla="*/ 543 w 817"/>
              <a:gd name="T33" fmla="*/ 100 h 452"/>
              <a:gd name="T34" fmla="*/ 74 w 817"/>
              <a:gd name="T35" fmla="*/ 262 h 452"/>
              <a:gd name="T36" fmla="*/ 70 w 817"/>
              <a:gd name="T37" fmla="*/ 227 h 452"/>
              <a:gd name="T38" fmla="*/ 91 w 817"/>
              <a:gd name="T39" fmla="*/ 223 h 452"/>
              <a:gd name="T40" fmla="*/ 101 w 817"/>
              <a:gd name="T41" fmla="*/ 259 h 452"/>
              <a:gd name="T42" fmla="*/ 180 w 817"/>
              <a:gd name="T43" fmla="*/ 203 h 452"/>
              <a:gd name="T44" fmla="*/ 137 w 817"/>
              <a:gd name="T45" fmla="*/ 270 h 452"/>
              <a:gd name="T46" fmla="*/ 159 w 817"/>
              <a:gd name="T47" fmla="*/ 273 h 452"/>
              <a:gd name="T48" fmla="*/ 206 w 817"/>
              <a:gd name="T49" fmla="*/ 200 h 452"/>
              <a:gd name="T50" fmla="*/ 193 w 817"/>
              <a:gd name="T51" fmla="*/ 273 h 452"/>
              <a:gd name="T52" fmla="*/ 235 w 817"/>
              <a:gd name="T53" fmla="*/ 285 h 452"/>
              <a:gd name="T54" fmla="*/ 290 w 817"/>
              <a:gd name="T55" fmla="*/ 187 h 452"/>
              <a:gd name="T56" fmla="*/ 305 w 817"/>
              <a:gd name="T57" fmla="*/ 289 h 452"/>
              <a:gd name="T58" fmla="*/ 334 w 817"/>
              <a:gd name="T59" fmla="*/ 294 h 452"/>
              <a:gd name="T60" fmla="*/ 447 w 817"/>
              <a:gd name="T61" fmla="*/ 167 h 452"/>
              <a:gd name="T62" fmla="*/ 361 w 817"/>
              <a:gd name="T63" fmla="*/ 304 h 452"/>
              <a:gd name="T64" fmla="*/ 385 w 817"/>
              <a:gd name="T65" fmla="*/ 307 h 452"/>
              <a:gd name="T66" fmla="*/ 475 w 817"/>
              <a:gd name="T67" fmla="*/ 165 h 452"/>
              <a:gd name="T68" fmla="*/ 475 w 817"/>
              <a:gd name="T69" fmla="*/ 165 h 452"/>
              <a:gd name="T70" fmla="*/ 441 w 817"/>
              <a:gd name="T71" fmla="*/ 312 h 452"/>
              <a:gd name="T72" fmla="*/ 506 w 817"/>
              <a:gd name="T73" fmla="*/ 161 h 452"/>
              <a:gd name="T74" fmla="*/ 534 w 817"/>
              <a:gd name="T75" fmla="*/ 141 h 452"/>
              <a:gd name="T76" fmla="*/ 441 w 817"/>
              <a:gd name="T77" fmla="*/ 312 h 452"/>
              <a:gd name="T78" fmla="*/ 493 w 817"/>
              <a:gd name="T79" fmla="*/ 319 h 452"/>
              <a:gd name="T80" fmla="*/ 523 w 817"/>
              <a:gd name="T81" fmla="*/ 256 h 452"/>
              <a:gd name="T82" fmla="*/ 572 w 817"/>
              <a:gd name="T83" fmla="*/ 403 h 452"/>
              <a:gd name="T84" fmla="*/ 569 w 817"/>
              <a:gd name="T85" fmla="*/ 402 h 452"/>
              <a:gd name="T86" fmla="*/ 539 w 817"/>
              <a:gd name="T87" fmla="*/ 399 h 452"/>
              <a:gd name="T88" fmla="*/ 522 w 817"/>
              <a:gd name="T89" fmla="*/ 321 h 452"/>
              <a:gd name="T90" fmla="*/ 674 w 817"/>
              <a:gd name="T91" fmla="*/ 145 h 452"/>
              <a:gd name="T92" fmla="*/ 543 w 817"/>
              <a:gd name="T93" fmla="*/ 391 h 452"/>
              <a:gd name="T94" fmla="*/ 734 w 817"/>
              <a:gd name="T95" fmla="*/ 192 h 452"/>
              <a:gd name="T96" fmla="*/ 764 w 817"/>
              <a:gd name="T97" fmla="*/ 270 h 452"/>
              <a:gd name="T98" fmla="*/ 781 w 817"/>
              <a:gd name="T99" fmla="*/ 234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17" h="452">
                <a:moveTo>
                  <a:pt x="738" y="167"/>
                </a:moveTo>
                <a:cubicBezTo>
                  <a:pt x="683" y="124"/>
                  <a:pt x="629" y="81"/>
                  <a:pt x="574" y="37"/>
                </a:cubicBezTo>
                <a:cubicBezTo>
                  <a:pt x="574" y="37"/>
                  <a:pt x="574" y="37"/>
                  <a:pt x="574" y="37"/>
                </a:cubicBezTo>
                <a:cubicBezTo>
                  <a:pt x="573" y="37"/>
                  <a:pt x="573" y="37"/>
                  <a:pt x="572" y="36"/>
                </a:cubicBezTo>
                <a:cubicBezTo>
                  <a:pt x="483" y="0"/>
                  <a:pt x="534" y="139"/>
                  <a:pt x="512" y="142"/>
                </a:cubicBezTo>
                <a:cubicBezTo>
                  <a:pt x="431" y="154"/>
                  <a:pt x="350" y="166"/>
                  <a:pt x="268" y="178"/>
                </a:cubicBezTo>
                <a:cubicBezTo>
                  <a:pt x="191" y="190"/>
                  <a:pt x="113" y="201"/>
                  <a:pt x="36" y="213"/>
                </a:cubicBezTo>
                <a:cubicBezTo>
                  <a:pt x="12" y="216"/>
                  <a:pt x="0" y="227"/>
                  <a:pt x="0" y="250"/>
                </a:cubicBezTo>
                <a:cubicBezTo>
                  <a:pt x="0" y="272"/>
                  <a:pt x="39" y="271"/>
                  <a:pt x="53" y="273"/>
                </a:cubicBezTo>
                <a:cubicBezTo>
                  <a:pt x="143" y="286"/>
                  <a:pt x="233" y="300"/>
                  <a:pt x="323" y="313"/>
                </a:cubicBezTo>
                <a:cubicBezTo>
                  <a:pt x="355" y="318"/>
                  <a:pt x="514" y="320"/>
                  <a:pt x="514" y="362"/>
                </a:cubicBezTo>
                <a:cubicBezTo>
                  <a:pt x="514" y="379"/>
                  <a:pt x="503" y="443"/>
                  <a:pt x="531" y="448"/>
                </a:cubicBezTo>
                <a:cubicBezTo>
                  <a:pt x="554" y="452"/>
                  <a:pt x="568" y="444"/>
                  <a:pt x="585" y="430"/>
                </a:cubicBezTo>
                <a:cubicBezTo>
                  <a:pt x="655" y="375"/>
                  <a:pt x="724" y="321"/>
                  <a:pt x="794" y="266"/>
                </a:cubicBezTo>
                <a:cubicBezTo>
                  <a:pt x="798" y="262"/>
                  <a:pt x="802" y="258"/>
                  <a:pt x="804" y="255"/>
                </a:cubicBezTo>
                <a:cubicBezTo>
                  <a:pt x="804" y="254"/>
                  <a:pt x="805" y="254"/>
                  <a:pt x="805" y="254"/>
                </a:cubicBezTo>
                <a:cubicBezTo>
                  <a:pt x="805" y="253"/>
                  <a:pt x="806" y="252"/>
                  <a:pt x="807" y="251"/>
                </a:cubicBezTo>
                <a:cubicBezTo>
                  <a:pt x="807" y="249"/>
                  <a:pt x="808" y="247"/>
                  <a:pt x="809" y="246"/>
                </a:cubicBezTo>
                <a:cubicBezTo>
                  <a:pt x="817" y="215"/>
                  <a:pt x="762" y="186"/>
                  <a:pt x="738" y="167"/>
                </a:cubicBezTo>
                <a:close/>
                <a:moveTo>
                  <a:pt x="31" y="233"/>
                </a:moveTo>
                <a:cubicBezTo>
                  <a:pt x="30" y="235"/>
                  <a:pt x="29" y="237"/>
                  <a:pt x="29" y="239"/>
                </a:cubicBezTo>
                <a:cubicBezTo>
                  <a:pt x="28" y="241"/>
                  <a:pt x="27" y="243"/>
                  <a:pt x="27" y="244"/>
                </a:cubicBezTo>
                <a:cubicBezTo>
                  <a:pt x="26" y="244"/>
                  <a:pt x="26" y="244"/>
                  <a:pt x="26" y="243"/>
                </a:cubicBezTo>
                <a:cubicBezTo>
                  <a:pt x="21" y="236"/>
                  <a:pt x="26" y="231"/>
                  <a:pt x="34" y="227"/>
                </a:cubicBezTo>
                <a:cubicBezTo>
                  <a:pt x="33" y="229"/>
                  <a:pt x="32" y="231"/>
                  <a:pt x="31" y="233"/>
                </a:cubicBezTo>
                <a:close/>
                <a:moveTo>
                  <a:pt x="704" y="168"/>
                </a:moveTo>
                <a:cubicBezTo>
                  <a:pt x="705" y="170"/>
                  <a:pt x="706" y="171"/>
                  <a:pt x="708" y="172"/>
                </a:cubicBezTo>
                <a:cubicBezTo>
                  <a:pt x="684" y="222"/>
                  <a:pt x="658" y="272"/>
                  <a:pt x="632" y="321"/>
                </a:cubicBezTo>
                <a:cubicBezTo>
                  <a:pt x="628" y="327"/>
                  <a:pt x="627" y="327"/>
                  <a:pt x="630" y="320"/>
                </a:cubicBezTo>
                <a:cubicBezTo>
                  <a:pt x="640" y="293"/>
                  <a:pt x="651" y="267"/>
                  <a:pt x="662" y="240"/>
                </a:cubicBezTo>
                <a:cubicBezTo>
                  <a:pt x="665" y="233"/>
                  <a:pt x="670" y="223"/>
                  <a:pt x="674" y="216"/>
                </a:cubicBezTo>
                <a:cubicBezTo>
                  <a:pt x="684" y="200"/>
                  <a:pt x="694" y="184"/>
                  <a:pt x="704" y="168"/>
                </a:cubicBezTo>
                <a:close/>
                <a:moveTo>
                  <a:pt x="590" y="79"/>
                </a:moveTo>
                <a:cubicBezTo>
                  <a:pt x="595" y="83"/>
                  <a:pt x="600" y="87"/>
                  <a:pt x="606" y="91"/>
                </a:cubicBezTo>
                <a:cubicBezTo>
                  <a:pt x="603" y="95"/>
                  <a:pt x="600" y="99"/>
                  <a:pt x="598" y="103"/>
                </a:cubicBezTo>
                <a:cubicBezTo>
                  <a:pt x="594" y="109"/>
                  <a:pt x="586" y="115"/>
                  <a:pt x="581" y="116"/>
                </a:cubicBezTo>
                <a:cubicBezTo>
                  <a:pt x="577" y="118"/>
                  <a:pt x="574" y="120"/>
                  <a:pt x="573" y="121"/>
                </a:cubicBezTo>
                <a:cubicBezTo>
                  <a:pt x="571" y="123"/>
                  <a:pt x="569" y="125"/>
                  <a:pt x="568" y="127"/>
                </a:cubicBezTo>
                <a:cubicBezTo>
                  <a:pt x="565" y="130"/>
                  <a:pt x="565" y="128"/>
                  <a:pt x="568" y="121"/>
                </a:cubicBezTo>
                <a:cubicBezTo>
                  <a:pt x="576" y="107"/>
                  <a:pt x="583" y="93"/>
                  <a:pt x="590" y="79"/>
                </a:cubicBezTo>
                <a:close/>
                <a:moveTo>
                  <a:pt x="548" y="48"/>
                </a:moveTo>
                <a:cubicBezTo>
                  <a:pt x="547" y="49"/>
                  <a:pt x="547" y="49"/>
                  <a:pt x="547" y="50"/>
                </a:cubicBezTo>
                <a:cubicBezTo>
                  <a:pt x="546" y="51"/>
                  <a:pt x="545" y="53"/>
                  <a:pt x="544" y="54"/>
                </a:cubicBezTo>
                <a:cubicBezTo>
                  <a:pt x="545" y="51"/>
                  <a:pt x="546" y="49"/>
                  <a:pt x="548" y="48"/>
                </a:cubicBezTo>
                <a:close/>
                <a:moveTo>
                  <a:pt x="543" y="100"/>
                </a:moveTo>
                <a:cubicBezTo>
                  <a:pt x="551" y="87"/>
                  <a:pt x="559" y="74"/>
                  <a:pt x="567" y="61"/>
                </a:cubicBezTo>
                <a:cubicBezTo>
                  <a:pt x="568" y="62"/>
                  <a:pt x="569" y="62"/>
                  <a:pt x="570" y="63"/>
                </a:cubicBezTo>
                <a:cubicBezTo>
                  <a:pt x="561" y="81"/>
                  <a:pt x="551" y="99"/>
                  <a:pt x="542" y="117"/>
                </a:cubicBezTo>
                <a:cubicBezTo>
                  <a:pt x="542" y="118"/>
                  <a:pt x="541" y="119"/>
                  <a:pt x="541" y="120"/>
                </a:cubicBezTo>
                <a:cubicBezTo>
                  <a:pt x="541" y="116"/>
                  <a:pt x="541" y="110"/>
                  <a:pt x="540" y="104"/>
                </a:cubicBezTo>
                <a:cubicBezTo>
                  <a:pt x="541" y="103"/>
                  <a:pt x="542" y="102"/>
                  <a:pt x="543" y="100"/>
                </a:cubicBezTo>
                <a:close/>
                <a:moveTo>
                  <a:pt x="91" y="223"/>
                </a:moveTo>
                <a:cubicBezTo>
                  <a:pt x="86" y="234"/>
                  <a:pt x="80" y="244"/>
                  <a:pt x="74" y="255"/>
                </a:cubicBezTo>
                <a:cubicBezTo>
                  <a:pt x="73" y="257"/>
                  <a:pt x="73" y="259"/>
                  <a:pt x="74" y="262"/>
                </a:cubicBezTo>
                <a:cubicBezTo>
                  <a:pt x="67" y="261"/>
                  <a:pt x="60" y="260"/>
                  <a:pt x="54" y="258"/>
                </a:cubicBezTo>
                <a:cubicBezTo>
                  <a:pt x="56" y="257"/>
                  <a:pt x="57" y="255"/>
                  <a:pt x="59" y="252"/>
                </a:cubicBezTo>
                <a:cubicBezTo>
                  <a:pt x="62" y="244"/>
                  <a:pt x="66" y="235"/>
                  <a:pt x="70" y="227"/>
                </a:cubicBezTo>
                <a:cubicBezTo>
                  <a:pt x="72" y="223"/>
                  <a:pt x="72" y="220"/>
                  <a:pt x="70" y="218"/>
                </a:cubicBezTo>
                <a:cubicBezTo>
                  <a:pt x="83" y="217"/>
                  <a:pt x="94" y="216"/>
                  <a:pt x="98" y="216"/>
                </a:cubicBezTo>
                <a:cubicBezTo>
                  <a:pt x="95" y="218"/>
                  <a:pt x="93" y="220"/>
                  <a:pt x="91" y="223"/>
                </a:cubicBezTo>
                <a:close/>
                <a:moveTo>
                  <a:pt x="137" y="270"/>
                </a:moveTo>
                <a:cubicBezTo>
                  <a:pt x="123" y="268"/>
                  <a:pt x="110" y="266"/>
                  <a:pt x="96" y="264"/>
                </a:cubicBezTo>
                <a:cubicBezTo>
                  <a:pt x="98" y="262"/>
                  <a:pt x="100" y="261"/>
                  <a:pt x="101" y="259"/>
                </a:cubicBezTo>
                <a:cubicBezTo>
                  <a:pt x="108" y="245"/>
                  <a:pt x="115" y="232"/>
                  <a:pt x="122" y="219"/>
                </a:cubicBezTo>
                <a:cubicBezTo>
                  <a:pt x="123" y="216"/>
                  <a:pt x="123" y="214"/>
                  <a:pt x="123" y="212"/>
                </a:cubicBezTo>
                <a:cubicBezTo>
                  <a:pt x="142" y="209"/>
                  <a:pt x="161" y="206"/>
                  <a:pt x="180" y="203"/>
                </a:cubicBezTo>
                <a:cubicBezTo>
                  <a:pt x="177" y="206"/>
                  <a:pt x="175" y="208"/>
                  <a:pt x="173" y="210"/>
                </a:cubicBezTo>
                <a:cubicBezTo>
                  <a:pt x="162" y="229"/>
                  <a:pt x="150" y="247"/>
                  <a:pt x="138" y="265"/>
                </a:cubicBezTo>
                <a:cubicBezTo>
                  <a:pt x="137" y="267"/>
                  <a:pt x="137" y="268"/>
                  <a:pt x="137" y="270"/>
                </a:cubicBezTo>
                <a:close/>
                <a:moveTo>
                  <a:pt x="193" y="273"/>
                </a:moveTo>
                <a:cubicBezTo>
                  <a:pt x="192" y="275"/>
                  <a:pt x="192" y="276"/>
                  <a:pt x="192" y="278"/>
                </a:cubicBezTo>
                <a:cubicBezTo>
                  <a:pt x="181" y="277"/>
                  <a:pt x="170" y="275"/>
                  <a:pt x="159" y="273"/>
                </a:cubicBezTo>
                <a:cubicBezTo>
                  <a:pt x="161" y="272"/>
                  <a:pt x="163" y="270"/>
                  <a:pt x="164" y="269"/>
                </a:cubicBezTo>
                <a:cubicBezTo>
                  <a:pt x="178" y="248"/>
                  <a:pt x="191" y="227"/>
                  <a:pt x="204" y="206"/>
                </a:cubicBezTo>
                <a:cubicBezTo>
                  <a:pt x="206" y="203"/>
                  <a:pt x="206" y="201"/>
                  <a:pt x="206" y="200"/>
                </a:cubicBezTo>
                <a:cubicBezTo>
                  <a:pt x="217" y="198"/>
                  <a:pt x="229" y="196"/>
                  <a:pt x="240" y="195"/>
                </a:cubicBezTo>
                <a:cubicBezTo>
                  <a:pt x="237" y="197"/>
                  <a:pt x="235" y="199"/>
                  <a:pt x="234" y="202"/>
                </a:cubicBezTo>
                <a:cubicBezTo>
                  <a:pt x="220" y="225"/>
                  <a:pt x="207" y="249"/>
                  <a:pt x="193" y="273"/>
                </a:cubicBezTo>
                <a:close/>
                <a:moveTo>
                  <a:pt x="305" y="289"/>
                </a:moveTo>
                <a:cubicBezTo>
                  <a:pt x="304" y="291"/>
                  <a:pt x="304" y="293"/>
                  <a:pt x="304" y="295"/>
                </a:cubicBezTo>
                <a:cubicBezTo>
                  <a:pt x="281" y="292"/>
                  <a:pt x="258" y="288"/>
                  <a:pt x="235" y="285"/>
                </a:cubicBezTo>
                <a:cubicBezTo>
                  <a:pt x="237" y="283"/>
                  <a:pt x="239" y="282"/>
                  <a:pt x="240" y="279"/>
                </a:cubicBezTo>
                <a:cubicBezTo>
                  <a:pt x="256" y="251"/>
                  <a:pt x="272" y="222"/>
                  <a:pt x="288" y="193"/>
                </a:cubicBezTo>
                <a:cubicBezTo>
                  <a:pt x="290" y="191"/>
                  <a:pt x="290" y="189"/>
                  <a:pt x="290" y="187"/>
                </a:cubicBezTo>
                <a:cubicBezTo>
                  <a:pt x="317" y="183"/>
                  <a:pt x="344" y="179"/>
                  <a:pt x="371" y="175"/>
                </a:cubicBezTo>
                <a:cubicBezTo>
                  <a:pt x="368" y="177"/>
                  <a:pt x="366" y="180"/>
                  <a:pt x="364" y="182"/>
                </a:cubicBezTo>
                <a:cubicBezTo>
                  <a:pt x="345" y="218"/>
                  <a:pt x="325" y="254"/>
                  <a:pt x="305" y="289"/>
                </a:cubicBezTo>
                <a:close/>
                <a:moveTo>
                  <a:pt x="361" y="304"/>
                </a:moveTo>
                <a:cubicBezTo>
                  <a:pt x="350" y="302"/>
                  <a:pt x="339" y="300"/>
                  <a:pt x="329" y="299"/>
                </a:cubicBezTo>
                <a:cubicBezTo>
                  <a:pt x="331" y="297"/>
                  <a:pt x="332" y="296"/>
                  <a:pt x="334" y="294"/>
                </a:cubicBezTo>
                <a:cubicBezTo>
                  <a:pt x="360" y="253"/>
                  <a:pt x="386" y="213"/>
                  <a:pt x="414" y="174"/>
                </a:cubicBezTo>
                <a:cubicBezTo>
                  <a:pt x="415" y="172"/>
                  <a:pt x="415" y="170"/>
                  <a:pt x="415" y="169"/>
                </a:cubicBezTo>
                <a:cubicBezTo>
                  <a:pt x="425" y="168"/>
                  <a:pt x="436" y="168"/>
                  <a:pt x="447" y="167"/>
                </a:cubicBezTo>
                <a:cubicBezTo>
                  <a:pt x="446" y="168"/>
                  <a:pt x="445" y="169"/>
                  <a:pt x="445" y="170"/>
                </a:cubicBezTo>
                <a:cubicBezTo>
                  <a:pt x="418" y="213"/>
                  <a:pt x="390" y="255"/>
                  <a:pt x="363" y="298"/>
                </a:cubicBezTo>
                <a:cubicBezTo>
                  <a:pt x="362" y="300"/>
                  <a:pt x="361" y="302"/>
                  <a:pt x="361" y="304"/>
                </a:cubicBezTo>
                <a:close/>
                <a:moveTo>
                  <a:pt x="390" y="308"/>
                </a:moveTo>
                <a:cubicBezTo>
                  <a:pt x="390" y="308"/>
                  <a:pt x="389" y="308"/>
                  <a:pt x="389" y="308"/>
                </a:cubicBezTo>
                <a:cubicBezTo>
                  <a:pt x="388" y="307"/>
                  <a:pt x="386" y="307"/>
                  <a:pt x="385" y="307"/>
                </a:cubicBezTo>
                <a:cubicBezTo>
                  <a:pt x="385" y="307"/>
                  <a:pt x="385" y="307"/>
                  <a:pt x="385" y="306"/>
                </a:cubicBezTo>
                <a:cubicBezTo>
                  <a:pt x="387" y="304"/>
                  <a:pt x="388" y="302"/>
                  <a:pt x="389" y="300"/>
                </a:cubicBezTo>
                <a:cubicBezTo>
                  <a:pt x="417" y="254"/>
                  <a:pt x="446" y="210"/>
                  <a:pt x="475" y="165"/>
                </a:cubicBezTo>
                <a:cubicBezTo>
                  <a:pt x="475" y="165"/>
                  <a:pt x="475" y="164"/>
                  <a:pt x="475" y="164"/>
                </a:cubicBezTo>
                <a:cubicBezTo>
                  <a:pt x="476" y="164"/>
                  <a:pt x="476" y="163"/>
                  <a:pt x="477" y="163"/>
                </a:cubicBezTo>
                <a:cubicBezTo>
                  <a:pt x="476" y="164"/>
                  <a:pt x="476" y="165"/>
                  <a:pt x="475" y="165"/>
                </a:cubicBezTo>
                <a:cubicBezTo>
                  <a:pt x="447" y="211"/>
                  <a:pt x="419" y="257"/>
                  <a:pt x="391" y="302"/>
                </a:cubicBezTo>
                <a:cubicBezTo>
                  <a:pt x="390" y="304"/>
                  <a:pt x="390" y="306"/>
                  <a:pt x="390" y="308"/>
                </a:cubicBezTo>
                <a:close/>
                <a:moveTo>
                  <a:pt x="441" y="312"/>
                </a:moveTo>
                <a:cubicBezTo>
                  <a:pt x="431" y="311"/>
                  <a:pt x="422" y="310"/>
                  <a:pt x="414" y="310"/>
                </a:cubicBezTo>
                <a:cubicBezTo>
                  <a:pt x="415" y="309"/>
                  <a:pt x="416" y="307"/>
                  <a:pt x="417" y="306"/>
                </a:cubicBezTo>
                <a:cubicBezTo>
                  <a:pt x="447" y="258"/>
                  <a:pt x="476" y="209"/>
                  <a:pt x="506" y="161"/>
                </a:cubicBezTo>
                <a:cubicBezTo>
                  <a:pt x="507" y="159"/>
                  <a:pt x="507" y="158"/>
                  <a:pt x="508" y="156"/>
                </a:cubicBezTo>
                <a:cubicBezTo>
                  <a:pt x="518" y="153"/>
                  <a:pt x="527" y="147"/>
                  <a:pt x="534" y="140"/>
                </a:cubicBezTo>
                <a:cubicBezTo>
                  <a:pt x="534" y="140"/>
                  <a:pt x="534" y="141"/>
                  <a:pt x="534" y="141"/>
                </a:cubicBezTo>
                <a:cubicBezTo>
                  <a:pt x="531" y="145"/>
                  <a:pt x="524" y="152"/>
                  <a:pt x="521" y="158"/>
                </a:cubicBezTo>
                <a:cubicBezTo>
                  <a:pt x="495" y="209"/>
                  <a:pt x="469" y="259"/>
                  <a:pt x="441" y="309"/>
                </a:cubicBezTo>
                <a:cubicBezTo>
                  <a:pt x="441" y="310"/>
                  <a:pt x="441" y="311"/>
                  <a:pt x="441" y="312"/>
                </a:cubicBezTo>
                <a:close/>
                <a:moveTo>
                  <a:pt x="505" y="299"/>
                </a:moveTo>
                <a:cubicBezTo>
                  <a:pt x="501" y="305"/>
                  <a:pt x="498" y="311"/>
                  <a:pt x="494" y="317"/>
                </a:cubicBezTo>
                <a:cubicBezTo>
                  <a:pt x="494" y="318"/>
                  <a:pt x="494" y="318"/>
                  <a:pt x="493" y="319"/>
                </a:cubicBezTo>
                <a:cubicBezTo>
                  <a:pt x="490" y="318"/>
                  <a:pt x="486" y="318"/>
                  <a:pt x="483" y="317"/>
                </a:cubicBezTo>
                <a:cubicBezTo>
                  <a:pt x="483" y="317"/>
                  <a:pt x="483" y="316"/>
                  <a:pt x="483" y="316"/>
                </a:cubicBezTo>
                <a:cubicBezTo>
                  <a:pt x="496" y="296"/>
                  <a:pt x="510" y="276"/>
                  <a:pt x="523" y="256"/>
                </a:cubicBezTo>
                <a:cubicBezTo>
                  <a:pt x="527" y="250"/>
                  <a:pt x="528" y="251"/>
                  <a:pt x="525" y="258"/>
                </a:cubicBezTo>
                <a:cubicBezTo>
                  <a:pt x="518" y="272"/>
                  <a:pt x="512" y="285"/>
                  <a:pt x="505" y="299"/>
                </a:cubicBezTo>
                <a:close/>
                <a:moveTo>
                  <a:pt x="572" y="403"/>
                </a:moveTo>
                <a:cubicBezTo>
                  <a:pt x="568" y="411"/>
                  <a:pt x="565" y="420"/>
                  <a:pt x="562" y="429"/>
                </a:cubicBezTo>
                <a:cubicBezTo>
                  <a:pt x="559" y="431"/>
                  <a:pt x="555" y="432"/>
                  <a:pt x="553" y="432"/>
                </a:cubicBezTo>
                <a:cubicBezTo>
                  <a:pt x="558" y="422"/>
                  <a:pt x="564" y="412"/>
                  <a:pt x="569" y="402"/>
                </a:cubicBezTo>
                <a:cubicBezTo>
                  <a:pt x="573" y="395"/>
                  <a:pt x="574" y="396"/>
                  <a:pt x="572" y="403"/>
                </a:cubicBezTo>
                <a:close/>
                <a:moveTo>
                  <a:pt x="543" y="391"/>
                </a:moveTo>
                <a:cubicBezTo>
                  <a:pt x="541" y="394"/>
                  <a:pt x="540" y="397"/>
                  <a:pt x="539" y="399"/>
                </a:cubicBezTo>
                <a:cubicBezTo>
                  <a:pt x="538" y="380"/>
                  <a:pt x="540" y="357"/>
                  <a:pt x="540" y="348"/>
                </a:cubicBezTo>
                <a:cubicBezTo>
                  <a:pt x="540" y="339"/>
                  <a:pt x="531" y="331"/>
                  <a:pt x="518" y="326"/>
                </a:cubicBezTo>
                <a:cubicBezTo>
                  <a:pt x="519" y="325"/>
                  <a:pt x="521" y="323"/>
                  <a:pt x="522" y="321"/>
                </a:cubicBezTo>
                <a:cubicBezTo>
                  <a:pt x="527" y="312"/>
                  <a:pt x="532" y="303"/>
                  <a:pt x="536" y="293"/>
                </a:cubicBezTo>
                <a:cubicBezTo>
                  <a:pt x="571" y="235"/>
                  <a:pt x="605" y="176"/>
                  <a:pt x="639" y="117"/>
                </a:cubicBezTo>
                <a:cubicBezTo>
                  <a:pt x="651" y="127"/>
                  <a:pt x="662" y="136"/>
                  <a:pt x="674" y="145"/>
                </a:cubicBezTo>
                <a:cubicBezTo>
                  <a:pt x="668" y="162"/>
                  <a:pt x="661" y="178"/>
                  <a:pt x="655" y="195"/>
                </a:cubicBezTo>
                <a:cubicBezTo>
                  <a:pt x="643" y="217"/>
                  <a:pt x="631" y="239"/>
                  <a:pt x="619" y="261"/>
                </a:cubicBezTo>
                <a:cubicBezTo>
                  <a:pt x="593" y="305"/>
                  <a:pt x="568" y="348"/>
                  <a:pt x="543" y="391"/>
                </a:cubicBezTo>
                <a:close/>
                <a:moveTo>
                  <a:pt x="628" y="377"/>
                </a:moveTo>
                <a:cubicBezTo>
                  <a:pt x="664" y="316"/>
                  <a:pt x="698" y="253"/>
                  <a:pt x="729" y="188"/>
                </a:cubicBezTo>
                <a:cubicBezTo>
                  <a:pt x="731" y="190"/>
                  <a:pt x="732" y="191"/>
                  <a:pt x="734" y="192"/>
                </a:cubicBezTo>
                <a:cubicBezTo>
                  <a:pt x="705" y="248"/>
                  <a:pt x="677" y="304"/>
                  <a:pt x="649" y="361"/>
                </a:cubicBezTo>
                <a:cubicBezTo>
                  <a:pt x="642" y="366"/>
                  <a:pt x="635" y="372"/>
                  <a:pt x="628" y="377"/>
                </a:cubicBezTo>
                <a:close/>
                <a:moveTo>
                  <a:pt x="764" y="270"/>
                </a:moveTo>
                <a:cubicBezTo>
                  <a:pt x="742" y="288"/>
                  <a:pt x="719" y="306"/>
                  <a:pt x="696" y="324"/>
                </a:cubicBezTo>
                <a:cubicBezTo>
                  <a:pt x="715" y="285"/>
                  <a:pt x="734" y="246"/>
                  <a:pt x="754" y="208"/>
                </a:cubicBezTo>
                <a:cubicBezTo>
                  <a:pt x="765" y="215"/>
                  <a:pt x="776" y="224"/>
                  <a:pt x="781" y="234"/>
                </a:cubicBezTo>
                <a:cubicBezTo>
                  <a:pt x="776" y="246"/>
                  <a:pt x="770" y="258"/>
                  <a:pt x="764" y="2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72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ED2A-EA2B-D8B6-77ED-C1BBCE4F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18824D7B-E83A-14FE-54D7-C4BC1097C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BB7882B-46E0-2FCF-659E-20BD61DB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4A1BC9-3EF9-F871-EBEB-E4CF2D4A5394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D3FF416-B6AF-4DD5-7630-4CDA3DE56285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FBC2A3D1-C22C-3F5A-3D42-AB5B8DCB2598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2A15025-473A-F975-5B48-028F4B182DC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0BF6DE9-B5B2-FFE0-33A7-E9A4E257152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3EC79DB-B104-4791-E1F2-E7D91C01D2C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D98A53-E3D2-8FA0-788A-B72F7D2F7A0F}"/>
              </a:ext>
            </a:extLst>
          </p:cNvPr>
          <p:cNvSpPr/>
          <p:nvPr/>
        </p:nvSpPr>
        <p:spPr>
          <a:xfrm>
            <a:off x="4726616" y="4460889"/>
            <a:ext cx="1702903" cy="2191703"/>
          </a:xfrm>
          <a:prstGeom prst="roundRect">
            <a:avLst>
              <a:gd name="adj" fmla="val 4752"/>
            </a:avLst>
          </a:prstGeom>
          <a:solidFill>
            <a:srgbClr val="A7E8FF"/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214F50-5DB6-DFA7-FC00-D6D06B00CD28}"/>
              </a:ext>
            </a:extLst>
          </p:cNvPr>
          <p:cNvSpPr/>
          <p:nvPr/>
        </p:nvSpPr>
        <p:spPr>
          <a:xfrm>
            <a:off x="4864648" y="5241899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function_b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5DEE064-9A2B-82A2-21CF-03B52BE86B67}"/>
              </a:ext>
            </a:extLst>
          </p:cNvPr>
          <p:cNvSpPr/>
          <p:nvPr/>
        </p:nvSpPr>
        <p:spPr>
          <a:xfrm>
            <a:off x="4864648" y="5915070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function_a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BA2E269-DAE5-8B5C-6CCB-52EA17564E2C}"/>
              </a:ext>
            </a:extLst>
          </p:cNvPr>
          <p:cNvSpPr/>
          <p:nvPr/>
        </p:nvSpPr>
        <p:spPr>
          <a:xfrm>
            <a:off x="4864648" y="4569787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function_c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7D524F6-1096-5248-6C51-22AFDA1E0FDB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35BF4A5-FB80-25E4-2AEC-E4245A4CF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48" y="4569786"/>
            <a:ext cx="3299539" cy="1718369"/>
          </a:xfrm>
          <a:prstGeom prst="rect">
            <a:avLst/>
          </a:prstGeom>
        </p:spPr>
      </p:pic>
      <p:sp>
        <p:nvSpPr>
          <p:cNvPr id="16" name="right-arrow-sketch_36739">
            <a:extLst>
              <a:ext uri="{FF2B5EF4-FFF2-40B4-BE49-F238E27FC236}">
                <a16:creationId xmlns:a16="http://schemas.microsoft.com/office/drawing/2014/main" id="{A4C32709-6587-1D36-E78D-3FB6A5EEE7F0}"/>
              </a:ext>
            </a:extLst>
          </p:cNvPr>
          <p:cNvSpPr/>
          <p:nvPr/>
        </p:nvSpPr>
        <p:spPr>
          <a:xfrm>
            <a:off x="3646518" y="4731606"/>
            <a:ext cx="1080094" cy="245640"/>
          </a:xfrm>
          <a:custGeom>
            <a:avLst/>
            <a:gdLst>
              <a:gd name="T0" fmla="*/ 574 w 817"/>
              <a:gd name="T1" fmla="*/ 37 h 452"/>
              <a:gd name="T2" fmla="*/ 268 w 817"/>
              <a:gd name="T3" fmla="*/ 178 h 452"/>
              <a:gd name="T4" fmla="*/ 53 w 817"/>
              <a:gd name="T5" fmla="*/ 273 h 452"/>
              <a:gd name="T6" fmla="*/ 531 w 817"/>
              <a:gd name="T7" fmla="*/ 448 h 452"/>
              <a:gd name="T8" fmla="*/ 804 w 817"/>
              <a:gd name="T9" fmla="*/ 255 h 452"/>
              <a:gd name="T10" fmla="*/ 809 w 817"/>
              <a:gd name="T11" fmla="*/ 246 h 452"/>
              <a:gd name="T12" fmla="*/ 29 w 817"/>
              <a:gd name="T13" fmla="*/ 239 h 452"/>
              <a:gd name="T14" fmla="*/ 34 w 817"/>
              <a:gd name="T15" fmla="*/ 227 h 452"/>
              <a:gd name="T16" fmla="*/ 708 w 817"/>
              <a:gd name="T17" fmla="*/ 172 h 452"/>
              <a:gd name="T18" fmla="*/ 662 w 817"/>
              <a:gd name="T19" fmla="*/ 240 h 452"/>
              <a:gd name="T20" fmla="*/ 590 w 817"/>
              <a:gd name="T21" fmla="*/ 79 h 452"/>
              <a:gd name="T22" fmla="*/ 581 w 817"/>
              <a:gd name="T23" fmla="*/ 116 h 452"/>
              <a:gd name="T24" fmla="*/ 568 w 817"/>
              <a:gd name="T25" fmla="*/ 121 h 452"/>
              <a:gd name="T26" fmla="*/ 547 w 817"/>
              <a:gd name="T27" fmla="*/ 50 h 452"/>
              <a:gd name="T28" fmla="*/ 543 w 817"/>
              <a:gd name="T29" fmla="*/ 100 h 452"/>
              <a:gd name="T30" fmla="*/ 542 w 817"/>
              <a:gd name="T31" fmla="*/ 117 h 452"/>
              <a:gd name="T32" fmla="*/ 543 w 817"/>
              <a:gd name="T33" fmla="*/ 100 h 452"/>
              <a:gd name="T34" fmla="*/ 74 w 817"/>
              <a:gd name="T35" fmla="*/ 262 h 452"/>
              <a:gd name="T36" fmla="*/ 70 w 817"/>
              <a:gd name="T37" fmla="*/ 227 h 452"/>
              <a:gd name="T38" fmla="*/ 91 w 817"/>
              <a:gd name="T39" fmla="*/ 223 h 452"/>
              <a:gd name="T40" fmla="*/ 101 w 817"/>
              <a:gd name="T41" fmla="*/ 259 h 452"/>
              <a:gd name="T42" fmla="*/ 180 w 817"/>
              <a:gd name="T43" fmla="*/ 203 h 452"/>
              <a:gd name="T44" fmla="*/ 137 w 817"/>
              <a:gd name="T45" fmla="*/ 270 h 452"/>
              <a:gd name="T46" fmla="*/ 159 w 817"/>
              <a:gd name="T47" fmla="*/ 273 h 452"/>
              <a:gd name="T48" fmla="*/ 206 w 817"/>
              <a:gd name="T49" fmla="*/ 200 h 452"/>
              <a:gd name="T50" fmla="*/ 193 w 817"/>
              <a:gd name="T51" fmla="*/ 273 h 452"/>
              <a:gd name="T52" fmla="*/ 235 w 817"/>
              <a:gd name="T53" fmla="*/ 285 h 452"/>
              <a:gd name="T54" fmla="*/ 290 w 817"/>
              <a:gd name="T55" fmla="*/ 187 h 452"/>
              <a:gd name="T56" fmla="*/ 305 w 817"/>
              <a:gd name="T57" fmla="*/ 289 h 452"/>
              <a:gd name="T58" fmla="*/ 334 w 817"/>
              <a:gd name="T59" fmla="*/ 294 h 452"/>
              <a:gd name="T60" fmla="*/ 447 w 817"/>
              <a:gd name="T61" fmla="*/ 167 h 452"/>
              <a:gd name="T62" fmla="*/ 361 w 817"/>
              <a:gd name="T63" fmla="*/ 304 h 452"/>
              <a:gd name="T64" fmla="*/ 385 w 817"/>
              <a:gd name="T65" fmla="*/ 307 h 452"/>
              <a:gd name="T66" fmla="*/ 475 w 817"/>
              <a:gd name="T67" fmla="*/ 165 h 452"/>
              <a:gd name="T68" fmla="*/ 475 w 817"/>
              <a:gd name="T69" fmla="*/ 165 h 452"/>
              <a:gd name="T70" fmla="*/ 441 w 817"/>
              <a:gd name="T71" fmla="*/ 312 h 452"/>
              <a:gd name="T72" fmla="*/ 506 w 817"/>
              <a:gd name="T73" fmla="*/ 161 h 452"/>
              <a:gd name="T74" fmla="*/ 534 w 817"/>
              <a:gd name="T75" fmla="*/ 141 h 452"/>
              <a:gd name="T76" fmla="*/ 441 w 817"/>
              <a:gd name="T77" fmla="*/ 312 h 452"/>
              <a:gd name="T78" fmla="*/ 493 w 817"/>
              <a:gd name="T79" fmla="*/ 319 h 452"/>
              <a:gd name="T80" fmla="*/ 523 w 817"/>
              <a:gd name="T81" fmla="*/ 256 h 452"/>
              <a:gd name="T82" fmla="*/ 572 w 817"/>
              <a:gd name="T83" fmla="*/ 403 h 452"/>
              <a:gd name="T84" fmla="*/ 569 w 817"/>
              <a:gd name="T85" fmla="*/ 402 h 452"/>
              <a:gd name="T86" fmla="*/ 539 w 817"/>
              <a:gd name="T87" fmla="*/ 399 h 452"/>
              <a:gd name="T88" fmla="*/ 522 w 817"/>
              <a:gd name="T89" fmla="*/ 321 h 452"/>
              <a:gd name="T90" fmla="*/ 674 w 817"/>
              <a:gd name="T91" fmla="*/ 145 h 452"/>
              <a:gd name="T92" fmla="*/ 543 w 817"/>
              <a:gd name="T93" fmla="*/ 391 h 452"/>
              <a:gd name="T94" fmla="*/ 734 w 817"/>
              <a:gd name="T95" fmla="*/ 192 h 452"/>
              <a:gd name="T96" fmla="*/ 764 w 817"/>
              <a:gd name="T97" fmla="*/ 270 h 452"/>
              <a:gd name="T98" fmla="*/ 781 w 817"/>
              <a:gd name="T99" fmla="*/ 234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17" h="452">
                <a:moveTo>
                  <a:pt x="738" y="167"/>
                </a:moveTo>
                <a:cubicBezTo>
                  <a:pt x="683" y="124"/>
                  <a:pt x="629" y="81"/>
                  <a:pt x="574" y="37"/>
                </a:cubicBezTo>
                <a:cubicBezTo>
                  <a:pt x="574" y="37"/>
                  <a:pt x="574" y="37"/>
                  <a:pt x="574" y="37"/>
                </a:cubicBezTo>
                <a:cubicBezTo>
                  <a:pt x="573" y="37"/>
                  <a:pt x="573" y="37"/>
                  <a:pt x="572" y="36"/>
                </a:cubicBezTo>
                <a:cubicBezTo>
                  <a:pt x="483" y="0"/>
                  <a:pt x="534" y="139"/>
                  <a:pt x="512" y="142"/>
                </a:cubicBezTo>
                <a:cubicBezTo>
                  <a:pt x="431" y="154"/>
                  <a:pt x="350" y="166"/>
                  <a:pt x="268" y="178"/>
                </a:cubicBezTo>
                <a:cubicBezTo>
                  <a:pt x="191" y="190"/>
                  <a:pt x="113" y="201"/>
                  <a:pt x="36" y="213"/>
                </a:cubicBezTo>
                <a:cubicBezTo>
                  <a:pt x="12" y="216"/>
                  <a:pt x="0" y="227"/>
                  <a:pt x="0" y="250"/>
                </a:cubicBezTo>
                <a:cubicBezTo>
                  <a:pt x="0" y="272"/>
                  <a:pt x="39" y="271"/>
                  <a:pt x="53" y="273"/>
                </a:cubicBezTo>
                <a:cubicBezTo>
                  <a:pt x="143" y="286"/>
                  <a:pt x="233" y="300"/>
                  <a:pt x="323" y="313"/>
                </a:cubicBezTo>
                <a:cubicBezTo>
                  <a:pt x="355" y="318"/>
                  <a:pt x="514" y="320"/>
                  <a:pt x="514" y="362"/>
                </a:cubicBezTo>
                <a:cubicBezTo>
                  <a:pt x="514" y="379"/>
                  <a:pt x="503" y="443"/>
                  <a:pt x="531" y="448"/>
                </a:cubicBezTo>
                <a:cubicBezTo>
                  <a:pt x="554" y="452"/>
                  <a:pt x="568" y="444"/>
                  <a:pt x="585" y="430"/>
                </a:cubicBezTo>
                <a:cubicBezTo>
                  <a:pt x="655" y="375"/>
                  <a:pt x="724" y="321"/>
                  <a:pt x="794" y="266"/>
                </a:cubicBezTo>
                <a:cubicBezTo>
                  <a:pt x="798" y="262"/>
                  <a:pt x="802" y="258"/>
                  <a:pt x="804" y="255"/>
                </a:cubicBezTo>
                <a:cubicBezTo>
                  <a:pt x="804" y="254"/>
                  <a:pt x="805" y="254"/>
                  <a:pt x="805" y="254"/>
                </a:cubicBezTo>
                <a:cubicBezTo>
                  <a:pt x="805" y="253"/>
                  <a:pt x="806" y="252"/>
                  <a:pt x="807" y="251"/>
                </a:cubicBezTo>
                <a:cubicBezTo>
                  <a:pt x="807" y="249"/>
                  <a:pt x="808" y="247"/>
                  <a:pt x="809" y="246"/>
                </a:cubicBezTo>
                <a:cubicBezTo>
                  <a:pt x="817" y="215"/>
                  <a:pt x="762" y="186"/>
                  <a:pt x="738" y="167"/>
                </a:cubicBezTo>
                <a:close/>
                <a:moveTo>
                  <a:pt x="31" y="233"/>
                </a:moveTo>
                <a:cubicBezTo>
                  <a:pt x="30" y="235"/>
                  <a:pt x="29" y="237"/>
                  <a:pt x="29" y="239"/>
                </a:cubicBezTo>
                <a:cubicBezTo>
                  <a:pt x="28" y="241"/>
                  <a:pt x="27" y="243"/>
                  <a:pt x="27" y="244"/>
                </a:cubicBezTo>
                <a:cubicBezTo>
                  <a:pt x="26" y="244"/>
                  <a:pt x="26" y="244"/>
                  <a:pt x="26" y="243"/>
                </a:cubicBezTo>
                <a:cubicBezTo>
                  <a:pt x="21" y="236"/>
                  <a:pt x="26" y="231"/>
                  <a:pt x="34" y="227"/>
                </a:cubicBezTo>
                <a:cubicBezTo>
                  <a:pt x="33" y="229"/>
                  <a:pt x="32" y="231"/>
                  <a:pt x="31" y="233"/>
                </a:cubicBezTo>
                <a:close/>
                <a:moveTo>
                  <a:pt x="704" y="168"/>
                </a:moveTo>
                <a:cubicBezTo>
                  <a:pt x="705" y="170"/>
                  <a:pt x="706" y="171"/>
                  <a:pt x="708" y="172"/>
                </a:cubicBezTo>
                <a:cubicBezTo>
                  <a:pt x="684" y="222"/>
                  <a:pt x="658" y="272"/>
                  <a:pt x="632" y="321"/>
                </a:cubicBezTo>
                <a:cubicBezTo>
                  <a:pt x="628" y="327"/>
                  <a:pt x="627" y="327"/>
                  <a:pt x="630" y="320"/>
                </a:cubicBezTo>
                <a:cubicBezTo>
                  <a:pt x="640" y="293"/>
                  <a:pt x="651" y="267"/>
                  <a:pt x="662" y="240"/>
                </a:cubicBezTo>
                <a:cubicBezTo>
                  <a:pt x="665" y="233"/>
                  <a:pt x="670" y="223"/>
                  <a:pt x="674" y="216"/>
                </a:cubicBezTo>
                <a:cubicBezTo>
                  <a:pt x="684" y="200"/>
                  <a:pt x="694" y="184"/>
                  <a:pt x="704" y="168"/>
                </a:cubicBezTo>
                <a:close/>
                <a:moveTo>
                  <a:pt x="590" y="79"/>
                </a:moveTo>
                <a:cubicBezTo>
                  <a:pt x="595" y="83"/>
                  <a:pt x="600" y="87"/>
                  <a:pt x="606" y="91"/>
                </a:cubicBezTo>
                <a:cubicBezTo>
                  <a:pt x="603" y="95"/>
                  <a:pt x="600" y="99"/>
                  <a:pt x="598" y="103"/>
                </a:cubicBezTo>
                <a:cubicBezTo>
                  <a:pt x="594" y="109"/>
                  <a:pt x="586" y="115"/>
                  <a:pt x="581" y="116"/>
                </a:cubicBezTo>
                <a:cubicBezTo>
                  <a:pt x="577" y="118"/>
                  <a:pt x="574" y="120"/>
                  <a:pt x="573" y="121"/>
                </a:cubicBezTo>
                <a:cubicBezTo>
                  <a:pt x="571" y="123"/>
                  <a:pt x="569" y="125"/>
                  <a:pt x="568" y="127"/>
                </a:cubicBezTo>
                <a:cubicBezTo>
                  <a:pt x="565" y="130"/>
                  <a:pt x="565" y="128"/>
                  <a:pt x="568" y="121"/>
                </a:cubicBezTo>
                <a:cubicBezTo>
                  <a:pt x="576" y="107"/>
                  <a:pt x="583" y="93"/>
                  <a:pt x="590" y="79"/>
                </a:cubicBezTo>
                <a:close/>
                <a:moveTo>
                  <a:pt x="548" y="48"/>
                </a:moveTo>
                <a:cubicBezTo>
                  <a:pt x="547" y="49"/>
                  <a:pt x="547" y="49"/>
                  <a:pt x="547" y="50"/>
                </a:cubicBezTo>
                <a:cubicBezTo>
                  <a:pt x="546" y="51"/>
                  <a:pt x="545" y="53"/>
                  <a:pt x="544" y="54"/>
                </a:cubicBezTo>
                <a:cubicBezTo>
                  <a:pt x="545" y="51"/>
                  <a:pt x="546" y="49"/>
                  <a:pt x="548" y="48"/>
                </a:cubicBezTo>
                <a:close/>
                <a:moveTo>
                  <a:pt x="543" y="100"/>
                </a:moveTo>
                <a:cubicBezTo>
                  <a:pt x="551" y="87"/>
                  <a:pt x="559" y="74"/>
                  <a:pt x="567" y="61"/>
                </a:cubicBezTo>
                <a:cubicBezTo>
                  <a:pt x="568" y="62"/>
                  <a:pt x="569" y="62"/>
                  <a:pt x="570" y="63"/>
                </a:cubicBezTo>
                <a:cubicBezTo>
                  <a:pt x="561" y="81"/>
                  <a:pt x="551" y="99"/>
                  <a:pt x="542" y="117"/>
                </a:cubicBezTo>
                <a:cubicBezTo>
                  <a:pt x="542" y="118"/>
                  <a:pt x="541" y="119"/>
                  <a:pt x="541" y="120"/>
                </a:cubicBezTo>
                <a:cubicBezTo>
                  <a:pt x="541" y="116"/>
                  <a:pt x="541" y="110"/>
                  <a:pt x="540" y="104"/>
                </a:cubicBezTo>
                <a:cubicBezTo>
                  <a:pt x="541" y="103"/>
                  <a:pt x="542" y="102"/>
                  <a:pt x="543" y="100"/>
                </a:cubicBezTo>
                <a:close/>
                <a:moveTo>
                  <a:pt x="91" y="223"/>
                </a:moveTo>
                <a:cubicBezTo>
                  <a:pt x="86" y="234"/>
                  <a:pt x="80" y="244"/>
                  <a:pt x="74" y="255"/>
                </a:cubicBezTo>
                <a:cubicBezTo>
                  <a:pt x="73" y="257"/>
                  <a:pt x="73" y="259"/>
                  <a:pt x="74" y="262"/>
                </a:cubicBezTo>
                <a:cubicBezTo>
                  <a:pt x="67" y="261"/>
                  <a:pt x="60" y="260"/>
                  <a:pt x="54" y="258"/>
                </a:cubicBezTo>
                <a:cubicBezTo>
                  <a:pt x="56" y="257"/>
                  <a:pt x="57" y="255"/>
                  <a:pt x="59" y="252"/>
                </a:cubicBezTo>
                <a:cubicBezTo>
                  <a:pt x="62" y="244"/>
                  <a:pt x="66" y="235"/>
                  <a:pt x="70" y="227"/>
                </a:cubicBezTo>
                <a:cubicBezTo>
                  <a:pt x="72" y="223"/>
                  <a:pt x="72" y="220"/>
                  <a:pt x="70" y="218"/>
                </a:cubicBezTo>
                <a:cubicBezTo>
                  <a:pt x="83" y="217"/>
                  <a:pt x="94" y="216"/>
                  <a:pt x="98" y="216"/>
                </a:cubicBezTo>
                <a:cubicBezTo>
                  <a:pt x="95" y="218"/>
                  <a:pt x="93" y="220"/>
                  <a:pt x="91" y="223"/>
                </a:cubicBezTo>
                <a:close/>
                <a:moveTo>
                  <a:pt x="137" y="270"/>
                </a:moveTo>
                <a:cubicBezTo>
                  <a:pt x="123" y="268"/>
                  <a:pt x="110" y="266"/>
                  <a:pt x="96" y="264"/>
                </a:cubicBezTo>
                <a:cubicBezTo>
                  <a:pt x="98" y="262"/>
                  <a:pt x="100" y="261"/>
                  <a:pt x="101" y="259"/>
                </a:cubicBezTo>
                <a:cubicBezTo>
                  <a:pt x="108" y="245"/>
                  <a:pt x="115" y="232"/>
                  <a:pt x="122" y="219"/>
                </a:cubicBezTo>
                <a:cubicBezTo>
                  <a:pt x="123" y="216"/>
                  <a:pt x="123" y="214"/>
                  <a:pt x="123" y="212"/>
                </a:cubicBezTo>
                <a:cubicBezTo>
                  <a:pt x="142" y="209"/>
                  <a:pt x="161" y="206"/>
                  <a:pt x="180" y="203"/>
                </a:cubicBezTo>
                <a:cubicBezTo>
                  <a:pt x="177" y="206"/>
                  <a:pt x="175" y="208"/>
                  <a:pt x="173" y="210"/>
                </a:cubicBezTo>
                <a:cubicBezTo>
                  <a:pt x="162" y="229"/>
                  <a:pt x="150" y="247"/>
                  <a:pt x="138" y="265"/>
                </a:cubicBezTo>
                <a:cubicBezTo>
                  <a:pt x="137" y="267"/>
                  <a:pt x="137" y="268"/>
                  <a:pt x="137" y="270"/>
                </a:cubicBezTo>
                <a:close/>
                <a:moveTo>
                  <a:pt x="193" y="273"/>
                </a:moveTo>
                <a:cubicBezTo>
                  <a:pt x="192" y="275"/>
                  <a:pt x="192" y="276"/>
                  <a:pt x="192" y="278"/>
                </a:cubicBezTo>
                <a:cubicBezTo>
                  <a:pt x="181" y="277"/>
                  <a:pt x="170" y="275"/>
                  <a:pt x="159" y="273"/>
                </a:cubicBezTo>
                <a:cubicBezTo>
                  <a:pt x="161" y="272"/>
                  <a:pt x="163" y="270"/>
                  <a:pt x="164" y="269"/>
                </a:cubicBezTo>
                <a:cubicBezTo>
                  <a:pt x="178" y="248"/>
                  <a:pt x="191" y="227"/>
                  <a:pt x="204" y="206"/>
                </a:cubicBezTo>
                <a:cubicBezTo>
                  <a:pt x="206" y="203"/>
                  <a:pt x="206" y="201"/>
                  <a:pt x="206" y="200"/>
                </a:cubicBezTo>
                <a:cubicBezTo>
                  <a:pt x="217" y="198"/>
                  <a:pt x="229" y="196"/>
                  <a:pt x="240" y="195"/>
                </a:cubicBezTo>
                <a:cubicBezTo>
                  <a:pt x="237" y="197"/>
                  <a:pt x="235" y="199"/>
                  <a:pt x="234" y="202"/>
                </a:cubicBezTo>
                <a:cubicBezTo>
                  <a:pt x="220" y="225"/>
                  <a:pt x="207" y="249"/>
                  <a:pt x="193" y="273"/>
                </a:cubicBezTo>
                <a:close/>
                <a:moveTo>
                  <a:pt x="305" y="289"/>
                </a:moveTo>
                <a:cubicBezTo>
                  <a:pt x="304" y="291"/>
                  <a:pt x="304" y="293"/>
                  <a:pt x="304" y="295"/>
                </a:cubicBezTo>
                <a:cubicBezTo>
                  <a:pt x="281" y="292"/>
                  <a:pt x="258" y="288"/>
                  <a:pt x="235" y="285"/>
                </a:cubicBezTo>
                <a:cubicBezTo>
                  <a:pt x="237" y="283"/>
                  <a:pt x="239" y="282"/>
                  <a:pt x="240" y="279"/>
                </a:cubicBezTo>
                <a:cubicBezTo>
                  <a:pt x="256" y="251"/>
                  <a:pt x="272" y="222"/>
                  <a:pt x="288" y="193"/>
                </a:cubicBezTo>
                <a:cubicBezTo>
                  <a:pt x="290" y="191"/>
                  <a:pt x="290" y="189"/>
                  <a:pt x="290" y="187"/>
                </a:cubicBezTo>
                <a:cubicBezTo>
                  <a:pt x="317" y="183"/>
                  <a:pt x="344" y="179"/>
                  <a:pt x="371" y="175"/>
                </a:cubicBezTo>
                <a:cubicBezTo>
                  <a:pt x="368" y="177"/>
                  <a:pt x="366" y="180"/>
                  <a:pt x="364" y="182"/>
                </a:cubicBezTo>
                <a:cubicBezTo>
                  <a:pt x="345" y="218"/>
                  <a:pt x="325" y="254"/>
                  <a:pt x="305" y="289"/>
                </a:cubicBezTo>
                <a:close/>
                <a:moveTo>
                  <a:pt x="361" y="304"/>
                </a:moveTo>
                <a:cubicBezTo>
                  <a:pt x="350" y="302"/>
                  <a:pt x="339" y="300"/>
                  <a:pt x="329" y="299"/>
                </a:cubicBezTo>
                <a:cubicBezTo>
                  <a:pt x="331" y="297"/>
                  <a:pt x="332" y="296"/>
                  <a:pt x="334" y="294"/>
                </a:cubicBezTo>
                <a:cubicBezTo>
                  <a:pt x="360" y="253"/>
                  <a:pt x="386" y="213"/>
                  <a:pt x="414" y="174"/>
                </a:cubicBezTo>
                <a:cubicBezTo>
                  <a:pt x="415" y="172"/>
                  <a:pt x="415" y="170"/>
                  <a:pt x="415" y="169"/>
                </a:cubicBezTo>
                <a:cubicBezTo>
                  <a:pt x="425" y="168"/>
                  <a:pt x="436" y="168"/>
                  <a:pt x="447" y="167"/>
                </a:cubicBezTo>
                <a:cubicBezTo>
                  <a:pt x="446" y="168"/>
                  <a:pt x="445" y="169"/>
                  <a:pt x="445" y="170"/>
                </a:cubicBezTo>
                <a:cubicBezTo>
                  <a:pt x="418" y="213"/>
                  <a:pt x="390" y="255"/>
                  <a:pt x="363" y="298"/>
                </a:cubicBezTo>
                <a:cubicBezTo>
                  <a:pt x="362" y="300"/>
                  <a:pt x="361" y="302"/>
                  <a:pt x="361" y="304"/>
                </a:cubicBezTo>
                <a:close/>
                <a:moveTo>
                  <a:pt x="390" y="308"/>
                </a:moveTo>
                <a:cubicBezTo>
                  <a:pt x="390" y="308"/>
                  <a:pt x="389" y="308"/>
                  <a:pt x="389" y="308"/>
                </a:cubicBezTo>
                <a:cubicBezTo>
                  <a:pt x="388" y="307"/>
                  <a:pt x="386" y="307"/>
                  <a:pt x="385" y="307"/>
                </a:cubicBezTo>
                <a:cubicBezTo>
                  <a:pt x="385" y="307"/>
                  <a:pt x="385" y="307"/>
                  <a:pt x="385" y="306"/>
                </a:cubicBezTo>
                <a:cubicBezTo>
                  <a:pt x="387" y="304"/>
                  <a:pt x="388" y="302"/>
                  <a:pt x="389" y="300"/>
                </a:cubicBezTo>
                <a:cubicBezTo>
                  <a:pt x="417" y="254"/>
                  <a:pt x="446" y="210"/>
                  <a:pt x="475" y="165"/>
                </a:cubicBezTo>
                <a:cubicBezTo>
                  <a:pt x="475" y="165"/>
                  <a:pt x="475" y="164"/>
                  <a:pt x="475" y="164"/>
                </a:cubicBezTo>
                <a:cubicBezTo>
                  <a:pt x="476" y="164"/>
                  <a:pt x="476" y="163"/>
                  <a:pt x="477" y="163"/>
                </a:cubicBezTo>
                <a:cubicBezTo>
                  <a:pt x="476" y="164"/>
                  <a:pt x="476" y="165"/>
                  <a:pt x="475" y="165"/>
                </a:cubicBezTo>
                <a:cubicBezTo>
                  <a:pt x="447" y="211"/>
                  <a:pt x="419" y="257"/>
                  <a:pt x="391" y="302"/>
                </a:cubicBezTo>
                <a:cubicBezTo>
                  <a:pt x="390" y="304"/>
                  <a:pt x="390" y="306"/>
                  <a:pt x="390" y="308"/>
                </a:cubicBezTo>
                <a:close/>
                <a:moveTo>
                  <a:pt x="441" y="312"/>
                </a:moveTo>
                <a:cubicBezTo>
                  <a:pt x="431" y="311"/>
                  <a:pt x="422" y="310"/>
                  <a:pt x="414" y="310"/>
                </a:cubicBezTo>
                <a:cubicBezTo>
                  <a:pt x="415" y="309"/>
                  <a:pt x="416" y="307"/>
                  <a:pt x="417" y="306"/>
                </a:cubicBezTo>
                <a:cubicBezTo>
                  <a:pt x="447" y="258"/>
                  <a:pt x="476" y="209"/>
                  <a:pt x="506" y="161"/>
                </a:cubicBezTo>
                <a:cubicBezTo>
                  <a:pt x="507" y="159"/>
                  <a:pt x="507" y="158"/>
                  <a:pt x="508" y="156"/>
                </a:cubicBezTo>
                <a:cubicBezTo>
                  <a:pt x="518" y="153"/>
                  <a:pt x="527" y="147"/>
                  <a:pt x="534" y="140"/>
                </a:cubicBezTo>
                <a:cubicBezTo>
                  <a:pt x="534" y="140"/>
                  <a:pt x="534" y="141"/>
                  <a:pt x="534" y="141"/>
                </a:cubicBezTo>
                <a:cubicBezTo>
                  <a:pt x="531" y="145"/>
                  <a:pt x="524" y="152"/>
                  <a:pt x="521" y="158"/>
                </a:cubicBezTo>
                <a:cubicBezTo>
                  <a:pt x="495" y="209"/>
                  <a:pt x="469" y="259"/>
                  <a:pt x="441" y="309"/>
                </a:cubicBezTo>
                <a:cubicBezTo>
                  <a:pt x="441" y="310"/>
                  <a:pt x="441" y="311"/>
                  <a:pt x="441" y="312"/>
                </a:cubicBezTo>
                <a:close/>
                <a:moveTo>
                  <a:pt x="505" y="299"/>
                </a:moveTo>
                <a:cubicBezTo>
                  <a:pt x="501" y="305"/>
                  <a:pt x="498" y="311"/>
                  <a:pt x="494" y="317"/>
                </a:cubicBezTo>
                <a:cubicBezTo>
                  <a:pt x="494" y="318"/>
                  <a:pt x="494" y="318"/>
                  <a:pt x="493" y="319"/>
                </a:cubicBezTo>
                <a:cubicBezTo>
                  <a:pt x="490" y="318"/>
                  <a:pt x="486" y="318"/>
                  <a:pt x="483" y="317"/>
                </a:cubicBezTo>
                <a:cubicBezTo>
                  <a:pt x="483" y="317"/>
                  <a:pt x="483" y="316"/>
                  <a:pt x="483" y="316"/>
                </a:cubicBezTo>
                <a:cubicBezTo>
                  <a:pt x="496" y="296"/>
                  <a:pt x="510" y="276"/>
                  <a:pt x="523" y="256"/>
                </a:cubicBezTo>
                <a:cubicBezTo>
                  <a:pt x="527" y="250"/>
                  <a:pt x="528" y="251"/>
                  <a:pt x="525" y="258"/>
                </a:cubicBezTo>
                <a:cubicBezTo>
                  <a:pt x="518" y="272"/>
                  <a:pt x="512" y="285"/>
                  <a:pt x="505" y="299"/>
                </a:cubicBezTo>
                <a:close/>
                <a:moveTo>
                  <a:pt x="572" y="403"/>
                </a:moveTo>
                <a:cubicBezTo>
                  <a:pt x="568" y="411"/>
                  <a:pt x="565" y="420"/>
                  <a:pt x="562" y="429"/>
                </a:cubicBezTo>
                <a:cubicBezTo>
                  <a:pt x="559" y="431"/>
                  <a:pt x="555" y="432"/>
                  <a:pt x="553" y="432"/>
                </a:cubicBezTo>
                <a:cubicBezTo>
                  <a:pt x="558" y="422"/>
                  <a:pt x="564" y="412"/>
                  <a:pt x="569" y="402"/>
                </a:cubicBezTo>
                <a:cubicBezTo>
                  <a:pt x="573" y="395"/>
                  <a:pt x="574" y="396"/>
                  <a:pt x="572" y="403"/>
                </a:cubicBezTo>
                <a:close/>
                <a:moveTo>
                  <a:pt x="543" y="391"/>
                </a:moveTo>
                <a:cubicBezTo>
                  <a:pt x="541" y="394"/>
                  <a:pt x="540" y="397"/>
                  <a:pt x="539" y="399"/>
                </a:cubicBezTo>
                <a:cubicBezTo>
                  <a:pt x="538" y="380"/>
                  <a:pt x="540" y="357"/>
                  <a:pt x="540" y="348"/>
                </a:cubicBezTo>
                <a:cubicBezTo>
                  <a:pt x="540" y="339"/>
                  <a:pt x="531" y="331"/>
                  <a:pt x="518" y="326"/>
                </a:cubicBezTo>
                <a:cubicBezTo>
                  <a:pt x="519" y="325"/>
                  <a:pt x="521" y="323"/>
                  <a:pt x="522" y="321"/>
                </a:cubicBezTo>
                <a:cubicBezTo>
                  <a:pt x="527" y="312"/>
                  <a:pt x="532" y="303"/>
                  <a:pt x="536" y="293"/>
                </a:cubicBezTo>
                <a:cubicBezTo>
                  <a:pt x="571" y="235"/>
                  <a:pt x="605" y="176"/>
                  <a:pt x="639" y="117"/>
                </a:cubicBezTo>
                <a:cubicBezTo>
                  <a:pt x="651" y="127"/>
                  <a:pt x="662" y="136"/>
                  <a:pt x="674" y="145"/>
                </a:cubicBezTo>
                <a:cubicBezTo>
                  <a:pt x="668" y="162"/>
                  <a:pt x="661" y="178"/>
                  <a:pt x="655" y="195"/>
                </a:cubicBezTo>
                <a:cubicBezTo>
                  <a:pt x="643" y="217"/>
                  <a:pt x="631" y="239"/>
                  <a:pt x="619" y="261"/>
                </a:cubicBezTo>
                <a:cubicBezTo>
                  <a:pt x="593" y="305"/>
                  <a:pt x="568" y="348"/>
                  <a:pt x="543" y="391"/>
                </a:cubicBezTo>
                <a:close/>
                <a:moveTo>
                  <a:pt x="628" y="377"/>
                </a:moveTo>
                <a:cubicBezTo>
                  <a:pt x="664" y="316"/>
                  <a:pt x="698" y="253"/>
                  <a:pt x="729" y="188"/>
                </a:cubicBezTo>
                <a:cubicBezTo>
                  <a:pt x="731" y="190"/>
                  <a:pt x="732" y="191"/>
                  <a:pt x="734" y="192"/>
                </a:cubicBezTo>
                <a:cubicBezTo>
                  <a:pt x="705" y="248"/>
                  <a:pt x="677" y="304"/>
                  <a:pt x="649" y="361"/>
                </a:cubicBezTo>
                <a:cubicBezTo>
                  <a:pt x="642" y="366"/>
                  <a:pt x="635" y="372"/>
                  <a:pt x="628" y="377"/>
                </a:cubicBezTo>
                <a:close/>
                <a:moveTo>
                  <a:pt x="764" y="270"/>
                </a:moveTo>
                <a:cubicBezTo>
                  <a:pt x="742" y="288"/>
                  <a:pt x="719" y="306"/>
                  <a:pt x="696" y="324"/>
                </a:cubicBezTo>
                <a:cubicBezTo>
                  <a:pt x="715" y="285"/>
                  <a:pt x="734" y="246"/>
                  <a:pt x="754" y="208"/>
                </a:cubicBezTo>
                <a:cubicBezTo>
                  <a:pt x="765" y="215"/>
                  <a:pt x="776" y="224"/>
                  <a:pt x="781" y="234"/>
                </a:cubicBezTo>
                <a:cubicBezTo>
                  <a:pt x="776" y="246"/>
                  <a:pt x="770" y="258"/>
                  <a:pt x="764" y="2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350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CA5B6-67B5-8724-1DBF-70FB2AE9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78CA315A-8D77-4ED5-47B8-EDCE1F46A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59516-16F2-3DBC-A7C4-B608A445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785BAD7-B245-4212-D61C-47B8EAC22AB0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8F0EA5F-C74D-5382-DE14-DE28063F1B29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BC09DD5B-CA4C-7ECE-9B4B-2ED40D71B7B1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08B126E-CCD0-7960-6FC3-AF12BA73ED3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65FCF67-0094-4201-08B9-226D49AEC8E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D4F3EAA-0B71-3FC9-5CDC-458DC7741BE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54F253-163B-49FF-BA7F-D18328CD9A81}"/>
              </a:ext>
            </a:extLst>
          </p:cNvPr>
          <p:cNvSpPr/>
          <p:nvPr/>
        </p:nvSpPr>
        <p:spPr>
          <a:xfrm>
            <a:off x="4726616" y="4460889"/>
            <a:ext cx="1702903" cy="2191703"/>
          </a:xfrm>
          <a:prstGeom prst="roundRect">
            <a:avLst>
              <a:gd name="adj" fmla="val 4752"/>
            </a:avLst>
          </a:prstGeom>
          <a:solidFill>
            <a:srgbClr val="A7E8FF"/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AB8D0CE-510B-A500-4E73-6DA84F80948C}"/>
              </a:ext>
            </a:extLst>
          </p:cNvPr>
          <p:cNvSpPr/>
          <p:nvPr/>
        </p:nvSpPr>
        <p:spPr>
          <a:xfrm>
            <a:off x="4864648" y="4683636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function_b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94734B8-AD8E-3C3F-7B5B-9162CB6A4952}"/>
              </a:ext>
            </a:extLst>
          </p:cNvPr>
          <p:cNvSpPr/>
          <p:nvPr/>
        </p:nvSpPr>
        <p:spPr>
          <a:xfrm>
            <a:off x="4864648" y="5356807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function_a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4853064-3D95-A9EC-770B-F080977648CF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5B43697-8264-ACD8-7C39-9DFDC03B5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48" y="5473148"/>
            <a:ext cx="3299539" cy="815007"/>
          </a:xfrm>
          <a:prstGeom prst="rect">
            <a:avLst/>
          </a:prstGeom>
        </p:spPr>
      </p:pic>
      <p:sp>
        <p:nvSpPr>
          <p:cNvPr id="16" name="right-arrow-sketch_36739">
            <a:extLst>
              <a:ext uri="{FF2B5EF4-FFF2-40B4-BE49-F238E27FC236}">
                <a16:creationId xmlns:a16="http://schemas.microsoft.com/office/drawing/2014/main" id="{4C694878-948E-3771-7036-FCAA0A6C70A4}"/>
              </a:ext>
            </a:extLst>
          </p:cNvPr>
          <p:cNvSpPr/>
          <p:nvPr/>
        </p:nvSpPr>
        <p:spPr>
          <a:xfrm>
            <a:off x="3646518" y="4731606"/>
            <a:ext cx="1080094" cy="245640"/>
          </a:xfrm>
          <a:custGeom>
            <a:avLst/>
            <a:gdLst>
              <a:gd name="T0" fmla="*/ 574 w 817"/>
              <a:gd name="T1" fmla="*/ 37 h 452"/>
              <a:gd name="T2" fmla="*/ 268 w 817"/>
              <a:gd name="T3" fmla="*/ 178 h 452"/>
              <a:gd name="T4" fmla="*/ 53 w 817"/>
              <a:gd name="T5" fmla="*/ 273 h 452"/>
              <a:gd name="T6" fmla="*/ 531 w 817"/>
              <a:gd name="T7" fmla="*/ 448 h 452"/>
              <a:gd name="T8" fmla="*/ 804 w 817"/>
              <a:gd name="T9" fmla="*/ 255 h 452"/>
              <a:gd name="T10" fmla="*/ 809 w 817"/>
              <a:gd name="T11" fmla="*/ 246 h 452"/>
              <a:gd name="T12" fmla="*/ 29 w 817"/>
              <a:gd name="T13" fmla="*/ 239 h 452"/>
              <a:gd name="T14" fmla="*/ 34 w 817"/>
              <a:gd name="T15" fmla="*/ 227 h 452"/>
              <a:gd name="T16" fmla="*/ 708 w 817"/>
              <a:gd name="T17" fmla="*/ 172 h 452"/>
              <a:gd name="T18" fmla="*/ 662 w 817"/>
              <a:gd name="T19" fmla="*/ 240 h 452"/>
              <a:gd name="T20" fmla="*/ 590 w 817"/>
              <a:gd name="T21" fmla="*/ 79 h 452"/>
              <a:gd name="T22" fmla="*/ 581 w 817"/>
              <a:gd name="T23" fmla="*/ 116 h 452"/>
              <a:gd name="T24" fmla="*/ 568 w 817"/>
              <a:gd name="T25" fmla="*/ 121 h 452"/>
              <a:gd name="T26" fmla="*/ 547 w 817"/>
              <a:gd name="T27" fmla="*/ 50 h 452"/>
              <a:gd name="T28" fmla="*/ 543 w 817"/>
              <a:gd name="T29" fmla="*/ 100 h 452"/>
              <a:gd name="T30" fmla="*/ 542 w 817"/>
              <a:gd name="T31" fmla="*/ 117 h 452"/>
              <a:gd name="T32" fmla="*/ 543 w 817"/>
              <a:gd name="T33" fmla="*/ 100 h 452"/>
              <a:gd name="T34" fmla="*/ 74 w 817"/>
              <a:gd name="T35" fmla="*/ 262 h 452"/>
              <a:gd name="T36" fmla="*/ 70 w 817"/>
              <a:gd name="T37" fmla="*/ 227 h 452"/>
              <a:gd name="T38" fmla="*/ 91 w 817"/>
              <a:gd name="T39" fmla="*/ 223 h 452"/>
              <a:gd name="T40" fmla="*/ 101 w 817"/>
              <a:gd name="T41" fmla="*/ 259 h 452"/>
              <a:gd name="T42" fmla="*/ 180 w 817"/>
              <a:gd name="T43" fmla="*/ 203 h 452"/>
              <a:gd name="T44" fmla="*/ 137 w 817"/>
              <a:gd name="T45" fmla="*/ 270 h 452"/>
              <a:gd name="T46" fmla="*/ 159 w 817"/>
              <a:gd name="T47" fmla="*/ 273 h 452"/>
              <a:gd name="T48" fmla="*/ 206 w 817"/>
              <a:gd name="T49" fmla="*/ 200 h 452"/>
              <a:gd name="T50" fmla="*/ 193 w 817"/>
              <a:gd name="T51" fmla="*/ 273 h 452"/>
              <a:gd name="T52" fmla="*/ 235 w 817"/>
              <a:gd name="T53" fmla="*/ 285 h 452"/>
              <a:gd name="T54" fmla="*/ 290 w 817"/>
              <a:gd name="T55" fmla="*/ 187 h 452"/>
              <a:gd name="T56" fmla="*/ 305 w 817"/>
              <a:gd name="T57" fmla="*/ 289 h 452"/>
              <a:gd name="T58" fmla="*/ 334 w 817"/>
              <a:gd name="T59" fmla="*/ 294 h 452"/>
              <a:gd name="T60" fmla="*/ 447 w 817"/>
              <a:gd name="T61" fmla="*/ 167 h 452"/>
              <a:gd name="T62" fmla="*/ 361 w 817"/>
              <a:gd name="T63" fmla="*/ 304 h 452"/>
              <a:gd name="T64" fmla="*/ 385 w 817"/>
              <a:gd name="T65" fmla="*/ 307 h 452"/>
              <a:gd name="T66" fmla="*/ 475 w 817"/>
              <a:gd name="T67" fmla="*/ 165 h 452"/>
              <a:gd name="T68" fmla="*/ 475 w 817"/>
              <a:gd name="T69" fmla="*/ 165 h 452"/>
              <a:gd name="T70" fmla="*/ 441 w 817"/>
              <a:gd name="T71" fmla="*/ 312 h 452"/>
              <a:gd name="T72" fmla="*/ 506 w 817"/>
              <a:gd name="T73" fmla="*/ 161 h 452"/>
              <a:gd name="T74" fmla="*/ 534 w 817"/>
              <a:gd name="T75" fmla="*/ 141 h 452"/>
              <a:gd name="T76" fmla="*/ 441 w 817"/>
              <a:gd name="T77" fmla="*/ 312 h 452"/>
              <a:gd name="T78" fmla="*/ 493 w 817"/>
              <a:gd name="T79" fmla="*/ 319 h 452"/>
              <a:gd name="T80" fmla="*/ 523 w 817"/>
              <a:gd name="T81" fmla="*/ 256 h 452"/>
              <a:gd name="T82" fmla="*/ 572 w 817"/>
              <a:gd name="T83" fmla="*/ 403 h 452"/>
              <a:gd name="T84" fmla="*/ 569 w 817"/>
              <a:gd name="T85" fmla="*/ 402 h 452"/>
              <a:gd name="T86" fmla="*/ 539 w 817"/>
              <a:gd name="T87" fmla="*/ 399 h 452"/>
              <a:gd name="T88" fmla="*/ 522 w 817"/>
              <a:gd name="T89" fmla="*/ 321 h 452"/>
              <a:gd name="T90" fmla="*/ 674 w 817"/>
              <a:gd name="T91" fmla="*/ 145 h 452"/>
              <a:gd name="T92" fmla="*/ 543 w 817"/>
              <a:gd name="T93" fmla="*/ 391 h 452"/>
              <a:gd name="T94" fmla="*/ 734 w 817"/>
              <a:gd name="T95" fmla="*/ 192 h 452"/>
              <a:gd name="T96" fmla="*/ 764 w 817"/>
              <a:gd name="T97" fmla="*/ 270 h 452"/>
              <a:gd name="T98" fmla="*/ 781 w 817"/>
              <a:gd name="T99" fmla="*/ 234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17" h="452">
                <a:moveTo>
                  <a:pt x="738" y="167"/>
                </a:moveTo>
                <a:cubicBezTo>
                  <a:pt x="683" y="124"/>
                  <a:pt x="629" y="81"/>
                  <a:pt x="574" y="37"/>
                </a:cubicBezTo>
                <a:cubicBezTo>
                  <a:pt x="574" y="37"/>
                  <a:pt x="574" y="37"/>
                  <a:pt x="574" y="37"/>
                </a:cubicBezTo>
                <a:cubicBezTo>
                  <a:pt x="573" y="37"/>
                  <a:pt x="573" y="37"/>
                  <a:pt x="572" y="36"/>
                </a:cubicBezTo>
                <a:cubicBezTo>
                  <a:pt x="483" y="0"/>
                  <a:pt x="534" y="139"/>
                  <a:pt x="512" y="142"/>
                </a:cubicBezTo>
                <a:cubicBezTo>
                  <a:pt x="431" y="154"/>
                  <a:pt x="350" y="166"/>
                  <a:pt x="268" y="178"/>
                </a:cubicBezTo>
                <a:cubicBezTo>
                  <a:pt x="191" y="190"/>
                  <a:pt x="113" y="201"/>
                  <a:pt x="36" y="213"/>
                </a:cubicBezTo>
                <a:cubicBezTo>
                  <a:pt x="12" y="216"/>
                  <a:pt x="0" y="227"/>
                  <a:pt x="0" y="250"/>
                </a:cubicBezTo>
                <a:cubicBezTo>
                  <a:pt x="0" y="272"/>
                  <a:pt x="39" y="271"/>
                  <a:pt x="53" y="273"/>
                </a:cubicBezTo>
                <a:cubicBezTo>
                  <a:pt x="143" y="286"/>
                  <a:pt x="233" y="300"/>
                  <a:pt x="323" y="313"/>
                </a:cubicBezTo>
                <a:cubicBezTo>
                  <a:pt x="355" y="318"/>
                  <a:pt x="514" y="320"/>
                  <a:pt x="514" y="362"/>
                </a:cubicBezTo>
                <a:cubicBezTo>
                  <a:pt x="514" y="379"/>
                  <a:pt x="503" y="443"/>
                  <a:pt x="531" y="448"/>
                </a:cubicBezTo>
                <a:cubicBezTo>
                  <a:pt x="554" y="452"/>
                  <a:pt x="568" y="444"/>
                  <a:pt x="585" y="430"/>
                </a:cubicBezTo>
                <a:cubicBezTo>
                  <a:pt x="655" y="375"/>
                  <a:pt x="724" y="321"/>
                  <a:pt x="794" y="266"/>
                </a:cubicBezTo>
                <a:cubicBezTo>
                  <a:pt x="798" y="262"/>
                  <a:pt x="802" y="258"/>
                  <a:pt x="804" y="255"/>
                </a:cubicBezTo>
                <a:cubicBezTo>
                  <a:pt x="804" y="254"/>
                  <a:pt x="805" y="254"/>
                  <a:pt x="805" y="254"/>
                </a:cubicBezTo>
                <a:cubicBezTo>
                  <a:pt x="805" y="253"/>
                  <a:pt x="806" y="252"/>
                  <a:pt x="807" y="251"/>
                </a:cubicBezTo>
                <a:cubicBezTo>
                  <a:pt x="807" y="249"/>
                  <a:pt x="808" y="247"/>
                  <a:pt x="809" y="246"/>
                </a:cubicBezTo>
                <a:cubicBezTo>
                  <a:pt x="817" y="215"/>
                  <a:pt x="762" y="186"/>
                  <a:pt x="738" y="167"/>
                </a:cubicBezTo>
                <a:close/>
                <a:moveTo>
                  <a:pt x="31" y="233"/>
                </a:moveTo>
                <a:cubicBezTo>
                  <a:pt x="30" y="235"/>
                  <a:pt x="29" y="237"/>
                  <a:pt x="29" y="239"/>
                </a:cubicBezTo>
                <a:cubicBezTo>
                  <a:pt x="28" y="241"/>
                  <a:pt x="27" y="243"/>
                  <a:pt x="27" y="244"/>
                </a:cubicBezTo>
                <a:cubicBezTo>
                  <a:pt x="26" y="244"/>
                  <a:pt x="26" y="244"/>
                  <a:pt x="26" y="243"/>
                </a:cubicBezTo>
                <a:cubicBezTo>
                  <a:pt x="21" y="236"/>
                  <a:pt x="26" y="231"/>
                  <a:pt x="34" y="227"/>
                </a:cubicBezTo>
                <a:cubicBezTo>
                  <a:pt x="33" y="229"/>
                  <a:pt x="32" y="231"/>
                  <a:pt x="31" y="233"/>
                </a:cubicBezTo>
                <a:close/>
                <a:moveTo>
                  <a:pt x="704" y="168"/>
                </a:moveTo>
                <a:cubicBezTo>
                  <a:pt x="705" y="170"/>
                  <a:pt x="706" y="171"/>
                  <a:pt x="708" y="172"/>
                </a:cubicBezTo>
                <a:cubicBezTo>
                  <a:pt x="684" y="222"/>
                  <a:pt x="658" y="272"/>
                  <a:pt x="632" y="321"/>
                </a:cubicBezTo>
                <a:cubicBezTo>
                  <a:pt x="628" y="327"/>
                  <a:pt x="627" y="327"/>
                  <a:pt x="630" y="320"/>
                </a:cubicBezTo>
                <a:cubicBezTo>
                  <a:pt x="640" y="293"/>
                  <a:pt x="651" y="267"/>
                  <a:pt x="662" y="240"/>
                </a:cubicBezTo>
                <a:cubicBezTo>
                  <a:pt x="665" y="233"/>
                  <a:pt x="670" y="223"/>
                  <a:pt x="674" y="216"/>
                </a:cubicBezTo>
                <a:cubicBezTo>
                  <a:pt x="684" y="200"/>
                  <a:pt x="694" y="184"/>
                  <a:pt x="704" y="168"/>
                </a:cubicBezTo>
                <a:close/>
                <a:moveTo>
                  <a:pt x="590" y="79"/>
                </a:moveTo>
                <a:cubicBezTo>
                  <a:pt x="595" y="83"/>
                  <a:pt x="600" y="87"/>
                  <a:pt x="606" y="91"/>
                </a:cubicBezTo>
                <a:cubicBezTo>
                  <a:pt x="603" y="95"/>
                  <a:pt x="600" y="99"/>
                  <a:pt x="598" y="103"/>
                </a:cubicBezTo>
                <a:cubicBezTo>
                  <a:pt x="594" y="109"/>
                  <a:pt x="586" y="115"/>
                  <a:pt x="581" y="116"/>
                </a:cubicBezTo>
                <a:cubicBezTo>
                  <a:pt x="577" y="118"/>
                  <a:pt x="574" y="120"/>
                  <a:pt x="573" y="121"/>
                </a:cubicBezTo>
                <a:cubicBezTo>
                  <a:pt x="571" y="123"/>
                  <a:pt x="569" y="125"/>
                  <a:pt x="568" y="127"/>
                </a:cubicBezTo>
                <a:cubicBezTo>
                  <a:pt x="565" y="130"/>
                  <a:pt x="565" y="128"/>
                  <a:pt x="568" y="121"/>
                </a:cubicBezTo>
                <a:cubicBezTo>
                  <a:pt x="576" y="107"/>
                  <a:pt x="583" y="93"/>
                  <a:pt x="590" y="79"/>
                </a:cubicBezTo>
                <a:close/>
                <a:moveTo>
                  <a:pt x="548" y="48"/>
                </a:moveTo>
                <a:cubicBezTo>
                  <a:pt x="547" y="49"/>
                  <a:pt x="547" y="49"/>
                  <a:pt x="547" y="50"/>
                </a:cubicBezTo>
                <a:cubicBezTo>
                  <a:pt x="546" y="51"/>
                  <a:pt x="545" y="53"/>
                  <a:pt x="544" y="54"/>
                </a:cubicBezTo>
                <a:cubicBezTo>
                  <a:pt x="545" y="51"/>
                  <a:pt x="546" y="49"/>
                  <a:pt x="548" y="48"/>
                </a:cubicBezTo>
                <a:close/>
                <a:moveTo>
                  <a:pt x="543" y="100"/>
                </a:moveTo>
                <a:cubicBezTo>
                  <a:pt x="551" y="87"/>
                  <a:pt x="559" y="74"/>
                  <a:pt x="567" y="61"/>
                </a:cubicBezTo>
                <a:cubicBezTo>
                  <a:pt x="568" y="62"/>
                  <a:pt x="569" y="62"/>
                  <a:pt x="570" y="63"/>
                </a:cubicBezTo>
                <a:cubicBezTo>
                  <a:pt x="561" y="81"/>
                  <a:pt x="551" y="99"/>
                  <a:pt x="542" y="117"/>
                </a:cubicBezTo>
                <a:cubicBezTo>
                  <a:pt x="542" y="118"/>
                  <a:pt x="541" y="119"/>
                  <a:pt x="541" y="120"/>
                </a:cubicBezTo>
                <a:cubicBezTo>
                  <a:pt x="541" y="116"/>
                  <a:pt x="541" y="110"/>
                  <a:pt x="540" y="104"/>
                </a:cubicBezTo>
                <a:cubicBezTo>
                  <a:pt x="541" y="103"/>
                  <a:pt x="542" y="102"/>
                  <a:pt x="543" y="100"/>
                </a:cubicBezTo>
                <a:close/>
                <a:moveTo>
                  <a:pt x="91" y="223"/>
                </a:moveTo>
                <a:cubicBezTo>
                  <a:pt x="86" y="234"/>
                  <a:pt x="80" y="244"/>
                  <a:pt x="74" y="255"/>
                </a:cubicBezTo>
                <a:cubicBezTo>
                  <a:pt x="73" y="257"/>
                  <a:pt x="73" y="259"/>
                  <a:pt x="74" y="262"/>
                </a:cubicBezTo>
                <a:cubicBezTo>
                  <a:pt x="67" y="261"/>
                  <a:pt x="60" y="260"/>
                  <a:pt x="54" y="258"/>
                </a:cubicBezTo>
                <a:cubicBezTo>
                  <a:pt x="56" y="257"/>
                  <a:pt x="57" y="255"/>
                  <a:pt x="59" y="252"/>
                </a:cubicBezTo>
                <a:cubicBezTo>
                  <a:pt x="62" y="244"/>
                  <a:pt x="66" y="235"/>
                  <a:pt x="70" y="227"/>
                </a:cubicBezTo>
                <a:cubicBezTo>
                  <a:pt x="72" y="223"/>
                  <a:pt x="72" y="220"/>
                  <a:pt x="70" y="218"/>
                </a:cubicBezTo>
                <a:cubicBezTo>
                  <a:pt x="83" y="217"/>
                  <a:pt x="94" y="216"/>
                  <a:pt x="98" y="216"/>
                </a:cubicBezTo>
                <a:cubicBezTo>
                  <a:pt x="95" y="218"/>
                  <a:pt x="93" y="220"/>
                  <a:pt x="91" y="223"/>
                </a:cubicBezTo>
                <a:close/>
                <a:moveTo>
                  <a:pt x="137" y="270"/>
                </a:moveTo>
                <a:cubicBezTo>
                  <a:pt x="123" y="268"/>
                  <a:pt x="110" y="266"/>
                  <a:pt x="96" y="264"/>
                </a:cubicBezTo>
                <a:cubicBezTo>
                  <a:pt x="98" y="262"/>
                  <a:pt x="100" y="261"/>
                  <a:pt x="101" y="259"/>
                </a:cubicBezTo>
                <a:cubicBezTo>
                  <a:pt x="108" y="245"/>
                  <a:pt x="115" y="232"/>
                  <a:pt x="122" y="219"/>
                </a:cubicBezTo>
                <a:cubicBezTo>
                  <a:pt x="123" y="216"/>
                  <a:pt x="123" y="214"/>
                  <a:pt x="123" y="212"/>
                </a:cubicBezTo>
                <a:cubicBezTo>
                  <a:pt x="142" y="209"/>
                  <a:pt x="161" y="206"/>
                  <a:pt x="180" y="203"/>
                </a:cubicBezTo>
                <a:cubicBezTo>
                  <a:pt x="177" y="206"/>
                  <a:pt x="175" y="208"/>
                  <a:pt x="173" y="210"/>
                </a:cubicBezTo>
                <a:cubicBezTo>
                  <a:pt x="162" y="229"/>
                  <a:pt x="150" y="247"/>
                  <a:pt x="138" y="265"/>
                </a:cubicBezTo>
                <a:cubicBezTo>
                  <a:pt x="137" y="267"/>
                  <a:pt x="137" y="268"/>
                  <a:pt x="137" y="270"/>
                </a:cubicBezTo>
                <a:close/>
                <a:moveTo>
                  <a:pt x="193" y="273"/>
                </a:moveTo>
                <a:cubicBezTo>
                  <a:pt x="192" y="275"/>
                  <a:pt x="192" y="276"/>
                  <a:pt x="192" y="278"/>
                </a:cubicBezTo>
                <a:cubicBezTo>
                  <a:pt x="181" y="277"/>
                  <a:pt x="170" y="275"/>
                  <a:pt x="159" y="273"/>
                </a:cubicBezTo>
                <a:cubicBezTo>
                  <a:pt x="161" y="272"/>
                  <a:pt x="163" y="270"/>
                  <a:pt x="164" y="269"/>
                </a:cubicBezTo>
                <a:cubicBezTo>
                  <a:pt x="178" y="248"/>
                  <a:pt x="191" y="227"/>
                  <a:pt x="204" y="206"/>
                </a:cubicBezTo>
                <a:cubicBezTo>
                  <a:pt x="206" y="203"/>
                  <a:pt x="206" y="201"/>
                  <a:pt x="206" y="200"/>
                </a:cubicBezTo>
                <a:cubicBezTo>
                  <a:pt x="217" y="198"/>
                  <a:pt x="229" y="196"/>
                  <a:pt x="240" y="195"/>
                </a:cubicBezTo>
                <a:cubicBezTo>
                  <a:pt x="237" y="197"/>
                  <a:pt x="235" y="199"/>
                  <a:pt x="234" y="202"/>
                </a:cubicBezTo>
                <a:cubicBezTo>
                  <a:pt x="220" y="225"/>
                  <a:pt x="207" y="249"/>
                  <a:pt x="193" y="273"/>
                </a:cubicBezTo>
                <a:close/>
                <a:moveTo>
                  <a:pt x="305" y="289"/>
                </a:moveTo>
                <a:cubicBezTo>
                  <a:pt x="304" y="291"/>
                  <a:pt x="304" y="293"/>
                  <a:pt x="304" y="295"/>
                </a:cubicBezTo>
                <a:cubicBezTo>
                  <a:pt x="281" y="292"/>
                  <a:pt x="258" y="288"/>
                  <a:pt x="235" y="285"/>
                </a:cubicBezTo>
                <a:cubicBezTo>
                  <a:pt x="237" y="283"/>
                  <a:pt x="239" y="282"/>
                  <a:pt x="240" y="279"/>
                </a:cubicBezTo>
                <a:cubicBezTo>
                  <a:pt x="256" y="251"/>
                  <a:pt x="272" y="222"/>
                  <a:pt x="288" y="193"/>
                </a:cubicBezTo>
                <a:cubicBezTo>
                  <a:pt x="290" y="191"/>
                  <a:pt x="290" y="189"/>
                  <a:pt x="290" y="187"/>
                </a:cubicBezTo>
                <a:cubicBezTo>
                  <a:pt x="317" y="183"/>
                  <a:pt x="344" y="179"/>
                  <a:pt x="371" y="175"/>
                </a:cubicBezTo>
                <a:cubicBezTo>
                  <a:pt x="368" y="177"/>
                  <a:pt x="366" y="180"/>
                  <a:pt x="364" y="182"/>
                </a:cubicBezTo>
                <a:cubicBezTo>
                  <a:pt x="345" y="218"/>
                  <a:pt x="325" y="254"/>
                  <a:pt x="305" y="289"/>
                </a:cubicBezTo>
                <a:close/>
                <a:moveTo>
                  <a:pt x="361" y="304"/>
                </a:moveTo>
                <a:cubicBezTo>
                  <a:pt x="350" y="302"/>
                  <a:pt x="339" y="300"/>
                  <a:pt x="329" y="299"/>
                </a:cubicBezTo>
                <a:cubicBezTo>
                  <a:pt x="331" y="297"/>
                  <a:pt x="332" y="296"/>
                  <a:pt x="334" y="294"/>
                </a:cubicBezTo>
                <a:cubicBezTo>
                  <a:pt x="360" y="253"/>
                  <a:pt x="386" y="213"/>
                  <a:pt x="414" y="174"/>
                </a:cubicBezTo>
                <a:cubicBezTo>
                  <a:pt x="415" y="172"/>
                  <a:pt x="415" y="170"/>
                  <a:pt x="415" y="169"/>
                </a:cubicBezTo>
                <a:cubicBezTo>
                  <a:pt x="425" y="168"/>
                  <a:pt x="436" y="168"/>
                  <a:pt x="447" y="167"/>
                </a:cubicBezTo>
                <a:cubicBezTo>
                  <a:pt x="446" y="168"/>
                  <a:pt x="445" y="169"/>
                  <a:pt x="445" y="170"/>
                </a:cubicBezTo>
                <a:cubicBezTo>
                  <a:pt x="418" y="213"/>
                  <a:pt x="390" y="255"/>
                  <a:pt x="363" y="298"/>
                </a:cubicBezTo>
                <a:cubicBezTo>
                  <a:pt x="362" y="300"/>
                  <a:pt x="361" y="302"/>
                  <a:pt x="361" y="304"/>
                </a:cubicBezTo>
                <a:close/>
                <a:moveTo>
                  <a:pt x="390" y="308"/>
                </a:moveTo>
                <a:cubicBezTo>
                  <a:pt x="390" y="308"/>
                  <a:pt x="389" y="308"/>
                  <a:pt x="389" y="308"/>
                </a:cubicBezTo>
                <a:cubicBezTo>
                  <a:pt x="388" y="307"/>
                  <a:pt x="386" y="307"/>
                  <a:pt x="385" y="307"/>
                </a:cubicBezTo>
                <a:cubicBezTo>
                  <a:pt x="385" y="307"/>
                  <a:pt x="385" y="307"/>
                  <a:pt x="385" y="306"/>
                </a:cubicBezTo>
                <a:cubicBezTo>
                  <a:pt x="387" y="304"/>
                  <a:pt x="388" y="302"/>
                  <a:pt x="389" y="300"/>
                </a:cubicBezTo>
                <a:cubicBezTo>
                  <a:pt x="417" y="254"/>
                  <a:pt x="446" y="210"/>
                  <a:pt x="475" y="165"/>
                </a:cubicBezTo>
                <a:cubicBezTo>
                  <a:pt x="475" y="165"/>
                  <a:pt x="475" y="164"/>
                  <a:pt x="475" y="164"/>
                </a:cubicBezTo>
                <a:cubicBezTo>
                  <a:pt x="476" y="164"/>
                  <a:pt x="476" y="163"/>
                  <a:pt x="477" y="163"/>
                </a:cubicBezTo>
                <a:cubicBezTo>
                  <a:pt x="476" y="164"/>
                  <a:pt x="476" y="165"/>
                  <a:pt x="475" y="165"/>
                </a:cubicBezTo>
                <a:cubicBezTo>
                  <a:pt x="447" y="211"/>
                  <a:pt x="419" y="257"/>
                  <a:pt x="391" y="302"/>
                </a:cubicBezTo>
                <a:cubicBezTo>
                  <a:pt x="390" y="304"/>
                  <a:pt x="390" y="306"/>
                  <a:pt x="390" y="308"/>
                </a:cubicBezTo>
                <a:close/>
                <a:moveTo>
                  <a:pt x="441" y="312"/>
                </a:moveTo>
                <a:cubicBezTo>
                  <a:pt x="431" y="311"/>
                  <a:pt x="422" y="310"/>
                  <a:pt x="414" y="310"/>
                </a:cubicBezTo>
                <a:cubicBezTo>
                  <a:pt x="415" y="309"/>
                  <a:pt x="416" y="307"/>
                  <a:pt x="417" y="306"/>
                </a:cubicBezTo>
                <a:cubicBezTo>
                  <a:pt x="447" y="258"/>
                  <a:pt x="476" y="209"/>
                  <a:pt x="506" y="161"/>
                </a:cubicBezTo>
                <a:cubicBezTo>
                  <a:pt x="507" y="159"/>
                  <a:pt x="507" y="158"/>
                  <a:pt x="508" y="156"/>
                </a:cubicBezTo>
                <a:cubicBezTo>
                  <a:pt x="518" y="153"/>
                  <a:pt x="527" y="147"/>
                  <a:pt x="534" y="140"/>
                </a:cubicBezTo>
                <a:cubicBezTo>
                  <a:pt x="534" y="140"/>
                  <a:pt x="534" y="141"/>
                  <a:pt x="534" y="141"/>
                </a:cubicBezTo>
                <a:cubicBezTo>
                  <a:pt x="531" y="145"/>
                  <a:pt x="524" y="152"/>
                  <a:pt x="521" y="158"/>
                </a:cubicBezTo>
                <a:cubicBezTo>
                  <a:pt x="495" y="209"/>
                  <a:pt x="469" y="259"/>
                  <a:pt x="441" y="309"/>
                </a:cubicBezTo>
                <a:cubicBezTo>
                  <a:pt x="441" y="310"/>
                  <a:pt x="441" y="311"/>
                  <a:pt x="441" y="312"/>
                </a:cubicBezTo>
                <a:close/>
                <a:moveTo>
                  <a:pt x="505" y="299"/>
                </a:moveTo>
                <a:cubicBezTo>
                  <a:pt x="501" y="305"/>
                  <a:pt x="498" y="311"/>
                  <a:pt x="494" y="317"/>
                </a:cubicBezTo>
                <a:cubicBezTo>
                  <a:pt x="494" y="318"/>
                  <a:pt x="494" y="318"/>
                  <a:pt x="493" y="319"/>
                </a:cubicBezTo>
                <a:cubicBezTo>
                  <a:pt x="490" y="318"/>
                  <a:pt x="486" y="318"/>
                  <a:pt x="483" y="317"/>
                </a:cubicBezTo>
                <a:cubicBezTo>
                  <a:pt x="483" y="317"/>
                  <a:pt x="483" y="316"/>
                  <a:pt x="483" y="316"/>
                </a:cubicBezTo>
                <a:cubicBezTo>
                  <a:pt x="496" y="296"/>
                  <a:pt x="510" y="276"/>
                  <a:pt x="523" y="256"/>
                </a:cubicBezTo>
                <a:cubicBezTo>
                  <a:pt x="527" y="250"/>
                  <a:pt x="528" y="251"/>
                  <a:pt x="525" y="258"/>
                </a:cubicBezTo>
                <a:cubicBezTo>
                  <a:pt x="518" y="272"/>
                  <a:pt x="512" y="285"/>
                  <a:pt x="505" y="299"/>
                </a:cubicBezTo>
                <a:close/>
                <a:moveTo>
                  <a:pt x="572" y="403"/>
                </a:moveTo>
                <a:cubicBezTo>
                  <a:pt x="568" y="411"/>
                  <a:pt x="565" y="420"/>
                  <a:pt x="562" y="429"/>
                </a:cubicBezTo>
                <a:cubicBezTo>
                  <a:pt x="559" y="431"/>
                  <a:pt x="555" y="432"/>
                  <a:pt x="553" y="432"/>
                </a:cubicBezTo>
                <a:cubicBezTo>
                  <a:pt x="558" y="422"/>
                  <a:pt x="564" y="412"/>
                  <a:pt x="569" y="402"/>
                </a:cubicBezTo>
                <a:cubicBezTo>
                  <a:pt x="573" y="395"/>
                  <a:pt x="574" y="396"/>
                  <a:pt x="572" y="403"/>
                </a:cubicBezTo>
                <a:close/>
                <a:moveTo>
                  <a:pt x="543" y="391"/>
                </a:moveTo>
                <a:cubicBezTo>
                  <a:pt x="541" y="394"/>
                  <a:pt x="540" y="397"/>
                  <a:pt x="539" y="399"/>
                </a:cubicBezTo>
                <a:cubicBezTo>
                  <a:pt x="538" y="380"/>
                  <a:pt x="540" y="357"/>
                  <a:pt x="540" y="348"/>
                </a:cubicBezTo>
                <a:cubicBezTo>
                  <a:pt x="540" y="339"/>
                  <a:pt x="531" y="331"/>
                  <a:pt x="518" y="326"/>
                </a:cubicBezTo>
                <a:cubicBezTo>
                  <a:pt x="519" y="325"/>
                  <a:pt x="521" y="323"/>
                  <a:pt x="522" y="321"/>
                </a:cubicBezTo>
                <a:cubicBezTo>
                  <a:pt x="527" y="312"/>
                  <a:pt x="532" y="303"/>
                  <a:pt x="536" y="293"/>
                </a:cubicBezTo>
                <a:cubicBezTo>
                  <a:pt x="571" y="235"/>
                  <a:pt x="605" y="176"/>
                  <a:pt x="639" y="117"/>
                </a:cubicBezTo>
                <a:cubicBezTo>
                  <a:pt x="651" y="127"/>
                  <a:pt x="662" y="136"/>
                  <a:pt x="674" y="145"/>
                </a:cubicBezTo>
                <a:cubicBezTo>
                  <a:pt x="668" y="162"/>
                  <a:pt x="661" y="178"/>
                  <a:pt x="655" y="195"/>
                </a:cubicBezTo>
                <a:cubicBezTo>
                  <a:pt x="643" y="217"/>
                  <a:pt x="631" y="239"/>
                  <a:pt x="619" y="261"/>
                </a:cubicBezTo>
                <a:cubicBezTo>
                  <a:pt x="593" y="305"/>
                  <a:pt x="568" y="348"/>
                  <a:pt x="543" y="391"/>
                </a:cubicBezTo>
                <a:close/>
                <a:moveTo>
                  <a:pt x="628" y="377"/>
                </a:moveTo>
                <a:cubicBezTo>
                  <a:pt x="664" y="316"/>
                  <a:pt x="698" y="253"/>
                  <a:pt x="729" y="188"/>
                </a:cubicBezTo>
                <a:cubicBezTo>
                  <a:pt x="731" y="190"/>
                  <a:pt x="732" y="191"/>
                  <a:pt x="734" y="192"/>
                </a:cubicBezTo>
                <a:cubicBezTo>
                  <a:pt x="705" y="248"/>
                  <a:pt x="677" y="304"/>
                  <a:pt x="649" y="361"/>
                </a:cubicBezTo>
                <a:cubicBezTo>
                  <a:pt x="642" y="366"/>
                  <a:pt x="635" y="372"/>
                  <a:pt x="628" y="377"/>
                </a:cubicBezTo>
                <a:close/>
                <a:moveTo>
                  <a:pt x="764" y="270"/>
                </a:moveTo>
                <a:cubicBezTo>
                  <a:pt x="742" y="288"/>
                  <a:pt x="719" y="306"/>
                  <a:pt x="696" y="324"/>
                </a:cubicBezTo>
                <a:cubicBezTo>
                  <a:pt x="715" y="285"/>
                  <a:pt x="734" y="246"/>
                  <a:pt x="754" y="208"/>
                </a:cubicBezTo>
                <a:cubicBezTo>
                  <a:pt x="765" y="215"/>
                  <a:pt x="776" y="224"/>
                  <a:pt x="781" y="234"/>
                </a:cubicBezTo>
                <a:cubicBezTo>
                  <a:pt x="776" y="246"/>
                  <a:pt x="770" y="258"/>
                  <a:pt x="764" y="2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03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C7A6-E49E-3AEC-95EC-B3BCAA05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DA423980-7DF0-15B0-B8DB-6B3A17252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FC10DD-490A-FBD2-6A08-99BE6898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FAABD28-FE67-1978-45DA-BA8605680876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275D18E-7040-F3E5-D556-306410E6429B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1F4918DF-14B0-5F1B-2B54-DAD6AF876B44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F5A16AF-6C80-6EEE-07FB-18A765E19B5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C42FCD8-FB5B-0765-8F42-6C82F6E5528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7CEABF1-535C-3575-9974-080348BC2EC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A4178DB-64D3-7D4B-CC1C-7F8FEA404ACC}"/>
              </a:ext>
            </a:extLst>
          </p:cNvPr>
          <p:cNvSpPr/>
          <p:nvPr/>
        </p:nvSpPr>
        <p:spPr>
          <a:xfrm>
            <a:off x="4726616" y="4460889"/>
            <a:ext cx="1702903" cy="2191703"/>
          </a:xfrm>
          <a:prstGeom prst="roundRect">
            <a:avLst>
              <a:gd name="adj" fmla="val 4752"/>
            </a:avLst>
          </a:prstGeom>
          <a:solidFill>
            <a:srgbClr val="A7E8FF"/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0BF1F88-4F1D-FB93-B640-FB526D0D7F46}"/>
              </a:ext>
            </a:extLst>
          </p:cNvPr>
          <p:cNvSpPr/>
          <p:nvPr/>
        </p:nvSpPr>
        <p:spPr>
          <a:xfrm>
            <a:off x="4864648" y="4687572"/>
            <a:ext cx="1426822" cy="563214"/>
          </a:xfrm>
          <a:prstGeom prst="roundRect">
            <a:avLst>
              <a:gd name="adj" fmla="val 17819"/>
            </a:avLst>
          </a:prstGeom>
          <a:solidFill>
            <a:srgbClr val="00B0F0">
              <a:alpha val="3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function_a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AEC3AD0-1BEF-481D-EE38-50D4059CA445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  <p:sp>
        <p:nvSpPr>
          <p:cNvPr id="15" name="right-arrow-sketch_36739">
            <a:extLst>
              <a:ext uri="{FF2B5EF4-FFF2-40B4-BE49-F238E27FC236}">
                <a16:creationId xmlns:a16="http://schemas.microsoft.com/office/drawing/2014/main" id="{42728588-7DDB-FAC7-8020-18238CD869BB}"/>
              </a:ext>
            </a:extLst>
          </p:cNvPr>
          <p:cNvSpPr/>
          <p:nvPr/>
        </p:nvSpPr>
        <p:spPr>
          <a:xfrm>
            <a:off x="3646518" y="4731606"/>
            <a:ext cx="1080094" cy="245640"/>
          </a:xfrm>
          <a:custGeom>
            <a:avLst/>
            <a:gdLst>
              <a:gd name="T0" fmla="*/ 574 w 817"/>
              <a:gd name="T1" fmla="*/ 37 h 452"/>
              <a:gd name="T2" fmla="*/ 268 w 817"/>
              <a:gd name="T3" fmla="*/ 178 h 452"/>
              <a:gd name="T4" fmla="*/ 53 w 817"/>
              <a:gd name="T5" fmla="*/ 273 h 452"/>
              <a:gd name="T6" fmla="*/ 531 w 817"/>
              <a:gd name="T7" fmla="*/ 448 h 452"/>
              <a:gd name="T8" fmla="*/ 804 w 817"/>
              <a:gd name="T9" fmla="*/ 255 h 452"/>
              <a:gd name="T10" fmla="*/ 809 w 817"/>
              <a:gd name="T11" fmla="*/ 246 h 452"/>
              <a:gd name="T12" fmla="*/ 29 w 817"/>
              <a:gd name="T13" fmla="*/ 239 h 452"/>
              <a:gd name="T14" fmla="*/ 34 w 817"/>
              <a:gd name="T15" fmla="*/ 227 h 452"/>
              <a:gd name="T16" fmla="*/ 708 w 817"/>
              <a:gd name="T17" fmla="*/ 172 h 452"/>
              <a:gd name="T18" fmla="*/ 662 w 817"/>
              <a:gd name="T19" fmla="*/ 240 h 452"/>
              <a:gd name="T20" fmla="*/ 590 w 817"/>
              <a:gd name="T21" fmla="*/ 79 h 452"/>
              <a:gd name="T22" fmla="*/ 581 w 817"/>
              <a:gd name="T23" fmla="*/ 116 h 452"/>
              <a:gd name="T24" fmla="*/ 568 w 817"/>
              <a:gd name="T25" fmla="*/ 121 h 452"/>
              <a:gd name="T26" fmla="*/ 547 w 817"/>
              <a:gd name="T27" fmla="*/ 50 h 452"/>
              <a:gd name="T28" fmla="*/ 543 w 817"/>
              <a:gd name="T29" fmla="*/ 100 h 452"/>
              <a:gd name="T30" fmla="*/ 542 w 817"/>
              <a:gd name="T31" fmla="*/ 117 h 452"/>
              <a:gd name="T32" fmla="*/ 543 w 817"/>
              <a:gd name="T33" fmla="*/ 100 h 452"/>
              <a:gd name="T34" fmla="*/ 74 w 817"/>
              <a:gd name="T35" fmla="*/ 262 h 452"/>
              <a:gd name="T36" fmla="*/ 70 w 817"/>
              <a:gd name="T37" fmla="*/ 227 h 452"/>
              <a:gd name="T38" fmla="*/ 91 w 817"/>
              <a:gd name="T39" fmla="*/ 223 h 452"/>
              <a:gd name="T40" fmla="*/ 101 w 817"/>
              <a:gd name="T41" fmla="*/ 259 h 452"/>
              <a:gd name="T42" fmla="*/ 180 w 817"/>
              <a:gd name="T43" fmla="*/ 203 h 452"/>
              <a:gd name="T44" fmla="*/ 137 w 817"/>
              <a:gd name="T45" fmla="*/ 270 h 452"/>
              <a:gd name="T46" fmla="*/ 159 w 817"/>
              <a:gd name="T47" fmla="*/ 273 h 452"/>
              <a:gd name="T48" fmla="*/ 206 w 817"/>
              <a:gd name="T49" fmla="*/ 200 h 452"/>
              <a:gd name="T50" fmla="*/ 193 w 817"/>
              <a:gd name="T51" fmla="*/ 273 h 452"/>
              <a:gd name="T52" fmla="*/ 235 w 817"/>
              <a:gd name="T53" fmla="*/ 285 h 452"/>
              <a:gd name="T54" fmla="*/ 290 w 817"/>
              <a:gd name="T55" fmla="*/ 187 h 452"/>
              <a:gd name="T56" fmla="*/ 305 w 817"/>
              <a:gd name="T57" fmla="*/ 289 h 452"/>
              <a:gd name="T58" fmla="*/ 334 w 817"/>
              <a:gd name="T59" fmla="*/ 294 h 452"/>
              <a:gd name="T60" fmla="*/ 447 w 817"/>
              <a:gd name="T61" fmla="*/ 167 h 452"/>
              <a:gd name="T62" fmla="*/ 361 w 817"/>
              <a:gd name="T63" fmla="*/ 304 h 452"/>
              <a:gd name="T64" fmla="*/ 385 w 817"/>
              <a:gd name="T65" fmla="*/ 307 h 452"/>
              <a:gd name="T66" fmla="*/ 475 w 817"/>
              <a:gd name="T67" fmla="*/ 165 h 452"/>
              <a:gd name="T68" fmla="*/ 475 w 817"/>
              <a:gd name="T69" fmla="*/ 165 h 452"/>
              <a:gd name="T70" fmla="*/ 441 w 817"/>
              <a:gd name="T71" fmla="*/ 312 h 452"/>
              <a:gd name="T72" fmla="*/ 506 w 817"/>
              <a:gd name="T73" fmla="*/ 161 h 452"/>
              <a:gd name="T74" fmla="*/ 534 w 817"/>
              <a:gd name="T75" fmla="*/ 141 h 452"/>
              <a:gd name="T76" fmla="*/ 441 w 817"/>
              <a:gd name="T77" fmla="*/ 312 h 452"/>
              <a:gd name="T78" fmla="*/ 493 w 817"/>
              <a:gd name="T79" fmla="*/ 319 h 452"/>
              <a:gd name="T80" fmla="*/ 523 w 817"/>
              <a:gd name="T81" fmla="*/ 256 h 452"/>
              <a:gd name="T82" fmla="*/ 572 w 817"/>
              <a:gd name="T83" fmla="*/ 403 h 452"/>
              <a:gd name="T84" fmla="*/ 569 w 817"/>
              <a:gd name="T85" fmla="*/ 402 h 452"/>
              <a:gd name="T86" fmla="*/ 539 w 817"/>
              <a:gd name="T87" fmla="*/ 399 h 452"/>
              <a:gd name="T88" fmla="*/ 522 w 817"/>
              <a:gd name="T89" fmla="*/ 321 h 452"/>
              <a:gd name="T90" fmla="*/ 674 w 817"/>
              <a:gd name="T91" fmla="*/ 145 h 452"/>
              <a:gd name="T92" fmla="*/ 543 w 817"/>
              <a:gd name="T93" fmla="*/ 391 h 452"/>
              <a:gd name="T94" fmla="*/ 734 w 817"/>
              <a:gd name="T95" fmla="*/ 192 h 452"/>
              <a:gd name="T96" fmla="*/ 764 w 817"/>
              <a:gd name="T97" fmla="*/ 270 h 452"/>
              <a:gd name="T98" fmla="*/ 781 w 817"/>
              <a:gd name="T99" fmla="*/ 234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17" h="452">
                <a:moveTo>
                  <a:pt x="738" y="167"/>
                </a:moveTo>
                <a:cubicBezTo>
                  <a:pt x="683" y="124"/>
                  <a:pt x="629" y="81"/>
                  <a:pt x="574" y="37"/>
                </a:cubicBezTo>
                <a:cubicBezTo>
                  <a:pt x="574" y="37"/>
                  <a:pt x="574" y="37"/>
                  <a:pt x="574" y="37"/>
                </a:cubicBezTo>
                <a:cubicBezTo>
                  <a:pt x="573" y="37"/>
                  <a:pt x="573" y="37"/>
                  <a:pt x="572" y="36"/>
                </a:cubicBezTo>
                <a:cubicBezTo>
                  <a:pt x="483" y="0"/>
                  <a:pt x="534" y="139"/>
                  <a:pt x="512" y="142"/>
                </a:cubicBezTo>
                <a:cubicBezTo>
                  <a:pt x="431" y="154"/>
                  <a:pt x="350" y="166"/>
                  <a:pt x="268" y="178"/>
                </a:cubicBezTo>
                <a:cubicBezTo>
                  <a:pt x="191" y="190"/>
                  <a:pt x="113" y="201"/>
                  <a:pt x="36" y="213"/>
                </a:cubicBezTo>
                <a:cubicBezTo>
                  <a:pt x="12" y="216"/>
                  <a:pt x="0" y="227"/>
                  <a:pt x="0" y="250"/>
                </a:cubicBezTo>
                <a:cubicBezTo>
                  <a:pt x="0" y="272"/>
                  <a:pt x="39" y="271"/>
                  <a:pt x="53" y="273"/>
                </a:cubicBezTo>
                <a:cubicBezTo>
                  <a:pt x="143" y="286"/>
                  <a:pt x="233" y="300"/>
                  <a:pt x="323" y="313"/>
                </a:cubicBezTo>
                <a:cubicBezTo>
                  <a:pt x="355" y="318"/>
                  <a:pt x="514" y="320"/>
                  <a:pt x="514" y="362"/>
                </a:cubicBezTo>
                <a:cubicBezTo>
                  <a:pt x="514" y="379"/>
                  <a:pt x="503" y="443"/>
                  <a:pt x="531" y="448"/>
                </a:cubicBezTo>
                <a:cubicBezTo>
                  <a:pt x="554" y="452"/>
                  <a:pt x="568" y="444"/>
                  <a:pt x="585" y="430"/>
                </a:cubicBezTo>
                <a:cubicBezTo>
                  <a:pt x="655" y="375"/>
                  <a:pt x="724" y="321"/>
                  <a:pt x="794" y="266"/>
                </a:cubicBezTo>
                <a:cubicBezTo>
                  <a:pt x="798" y="262"/>
                  <a:pt x="802" y="258"/>
                  <a:pt x="804" y="255"/>
                </a:cubicBezTo>
                <a:cubicBezTo>
                  <a:pt x="804" y="254"/>
                  <a:pt x="805" y="254"/>
                  <a:pt x="805" y="254"/>
                </a:cubicBezTo>
                <a:cubicBezTo>
                  <a:pt x="805" y="253"/>
                  <a:pt x="806" y="252"/>
                  <a:pt x="807" y="251"/>
                </a:cubicBezTo>
                <a:cubicBezTo>
                  <a:pt x="807" y="249"/>
                  <a:pt x="808" y="247"/>
                  <a:pt x="809" y="246"/>
                </a:cubicBezTo>
                <a:cubicBezTo>
                  <a:pt x="817" y="215"/>
                  <a:pt x="762" y="186"/>
                  <a:pt x="738" y="167"/>
                </a:cubicBezTo>
                <a:close/>
                <a:moveTo>
                  <a:pt x="31" y="233"/>
                </a:moveTo>
                <a:cubicBezTo>
                  <a:pt x="30" y="235"/>
                  <a:pt x="29" y="237"/>
                  <a:pt x="29" y="239"/>
                </a:cubicBezTo>
                <a:cubicBezTo>
                  <a:pt x="28" y="241"/>
                  <a:pt x="27" y="243"/>
                  <a:pt x="27" y="244"/>
                </a:cubicBezTo>
                <a:cubicBezTo>
                  <a:pt x="26" y="244"/>
                  <a:pt x="26" y="244"/>
                  <a:pt x="26" y="243"/>
                </a:cubicBezTo>
                <a:cubicBezTo>
                  <a:pt x="21" y="236"/>
                  <a:pt x="26" y="231"/>
                  <a:pt x="34" y="227"/>
                </a:cubicBezTo>
                <a:cubicBezTo>
                  <a:pt x="33" y="229"/>
                  <a:pt x="32" y="231"/>
                  <a:pt x="31" y="233"/>
                </a:cubicBezTo>
                <a:close/>
                <a:moveTo>
                  <a:pt x="704" y="168"/>
                </a:moveTo>
                <a:cubicBezTo>
                  <a:pt x="705" y="170"/>
                  <a:pt x="706" y="171"/>
                  <a:pt x="708" y="172"/>
                </a:cubicBezTo>
                <a:cubicBezTo>
                  <a:pt x="684" y="222"/>
                  <a:pt x="658" y="272"/>
                  <a:pt x="632" y="321"/>
                </a:cubicBezTo>
                <a:cubicBezTo>
                  <a:pt x="628" y="327"/>
                  <a:pt x="627" y="327"/>
                  <a:pt x="630" y="320"/>
                </a:cubicBezTo>
                <a:cubicBezTo>
                  <a:pt x="640" y="293"/>
                  <a:pt x="651" y="267"/>
                  <a:pt x="662" y="240"/>
                </a:cubicBezTo>
                <a:cubicBezTo>
                  <a:pt x="665" y="233"/>
                  <a:pt x="670" y="223"/>
                  <a:pt x="674" y="216"/>
                </a:cubicBezTo>
                <a:cubicBezTo>
                  <a:pt x="684" y="200"/>
                  <a:pt x="694" y="184"/>
                  <a:pt x="704" y="168"/>
                </a:cubicBezTo>
                <a:close/>
                <a:moveTo>
                  <a:pt x="590" y="79"/>
                </a:moveTo>
                <a:cubicBezTo>
                  <a:pt x="595" y="83"/>
                  <a:pt x="600" y="87"/>
                  <a:pt x="606" y="91"/>
                </a:cubicBezTo>
                <a:cubicBezTo>
                  <a:pt x="603" y="95"/>
                  <a:pt x="600" y="99"/>
                  <a:pt x="598" y="103"/>
                </a:cubicBezTo>
                <a:cubicBezTo>
                  <a:pt x="594" y="109"/>
                  <a:pt x="586" y="115"/>
                  <a:pt x="581" y="116"/>
                </a:cubicBezTo>
                <a:cubicBezTo>
                  <a:pt x="577" y="118"/>
                  <a:pt x="574" y="120"/>
                  <a:pt x="573" y="121"/>
                </a:cubicBezTo>
                <a:cubicBezTo>
                  <a:pt x="571" y="123"/>
                  <a:pt x="569" y="125"/>
                  <a:pt x="568" y="127"/>
                </a:cubicBezTo>
                <a:cubicBezTo>
                  <a:pt x="565" y="130"/>
                  <a:pt x="565" y="128"/>
                  <a:pt x="568" y="121"/>
                </a:cubicBezTo>
                <a:cubicBezTo>
                  <a:pt x="576" y="107"/>
                  <a:pt x="583" y="93"/>
                  <a:pt x="590" y="79"/>
                </a:cubicBezTo>
                <a:close/>
                <a:moveTo>
                  <a:pt x="548" y="48"/>
                </a:moveTo>
                <a:cubicBezTo>
                  <a:pt x="547" y="49"/>
                  <a:pt x="547" y="49"/>
                  <a:pt x="547" y="50"/>
                </a:cubicBezTo>
                <a:cubicBezTo>
                  <a:pt x="546" y="51"/>
                  <a:pt x="545" y="53"/>
                  <a:pt x="544" y="54"/>
                </a:cubicBezTo>
                <a:cubicBezTo>
                  <a:pt x="545" y="51"/>
                  <a:pt x="546" y="49"/>
                  <a:pt x="548" y="48"/>
                </a:cubicBezTo>
                <a:close/>
                <a:moveTo>
                  <a:pt x="543" y="100"/>
                </a:moveTo>
                <a:cubicBezTo>
                  <a:pt x="551" y="87"/>
                  <a:pt x="559" y="74"/>
                  <a:pt x="567" y="61"/>
                </a:cubicBezTo>
                <a:cubicBezTo>
                  <a:pt x="568" y="62"/>
                  <a:pt x="569" y="62"/>
                  <a:pt x="570" y="63"/>
                </a:cubicBezTo>
                <a:cubicBezTo>
                  <a:pt x="561" y="81"/>
                  <a:pt x="551" y="99"/>
                  <a:pt x="542" y="117"/>
                </a:cubicBezTo>
                <a:cubicBezTo>
                  <a:pt x="542" y="118"/>
                  <a:pt x="541" y="119"/>
                  <a:pt x="541" y="120"/>
                </a:cubicBezTo>
                <a:cubicBezTo>
                  <a:pt x="541" y="116"/>
                  <a:pt x="541" y="110"/>
                  <a:pt x="540" y="104"/>
                </a:cubicBezTo>
                <a:cubicBezTo>
                  <a:pt x="541" y="103"/>
                  <a:pt x="542" y="102"/>
                  <a:pt x="543" y="100"/>
                </a:cubicBezTo>
                <a:close/>
                <a:moveTo>
                  <a:pt x="91" y="223"/>
                </a:moveTo>
                <a:cubicBezTo>
                  <a:pt x="86" y="234"/>
                  <a:pt x="80" y="244"/>
                  <a:pt x="74" y="255"/>
                </a:cubicBezTo>
                <a:cubicBezTo>
                  <a:pt x="73" y="257"/>
                  <a:pt x="73" y="259"/>
                  <a:pt x="74" y="262"/>
                </a:cubicBezTo>
                <a:cubicBezTo>
                  <a:pt x="67" y="261"/>
                  <a:pt x="60" y="260"/>
                  <a:pt x="54" y="258"/>
                </a:cubicBezTo>
                <a:cubicBezTo>
                  <a:pt x="56" y="257"/>
                  <a:pt x="57" y="255"/>
                  <a:pt x="59" y="252"/>
                </a:cubicBezTo>
                <a:cubicBezTo>
                  <a:pt x="62" y="244"/>
                  <a:pt x="66" y="235"/>
                  <a:pt x="70" y="227"/>
                </a:cubicBezTo>
                <a:cubicBezTo>
                  <a:pt x="72" y="223"/>
                  <a:pt x="72" y="220"/>
                  <a:pt x="70" y="218"/>
                </a:cubicBezTo>
                <a:cubicBezTo>
                  <a:pt x="83" y="217"/>
                  <a:pt x="94" y="216"/>
                  <a:pt x="98" y="216"/>
                </a:cubicBezTo>
                <a:cubicBezTo>
                  <a:pt x="95" y="218"/>
                  <a:pt x="93" y="220"/>
                  <a:pt x="91" y="223"/>
                </a:cubicBezTo>
                <a:close/>
                <a:moveTo>
                  <a:pt x="137" y="270"/>
                </a:moveTo>
                <a:cubicBezTo>
                  <a:pt x="123" y="268"/>
                  <a:pt x="110" y="266"/>
                  <a:pt x="96" y="264"/>
                </a:cubicBezTo>
                <a:cubicBezTo>
                  <a:pt x="98" y="262"/>
                  <a:pt x="100" y="261"/>
                  <a:pt x="101" y="259"/>
                </a:cubicBezTo>
                <a:cubicBezTo>
                  <a:pt x="108" y="245"/>
                  <a:pt x="115" y="232"/>
                  <a:pt x="122" y="219"/>
                </a:cubicBezTo>
                <a:cubicBezTo>
                  <a:pt x="123" y="216"/>
                  <a:pt x="123" y="214"/>
                  <a:pt x="123" y="212"/>
                </a:cubicBezTo>
                <a:cubicBezTo>
                  <a:pt x="142" y="209"/>
                  <a:pt x="161" y="206"/>
                  <a:pt x="180" y="203"/>
                </a:cubicBezTo>
                <a:cubicBezTo>
                  <a:pt x="177" y="206"/>
                  <a:pt x="175" y="208"/>
                  <a:pt x="173" y="210"/>
                </a:cubicBezTo>
                <a:cubicBezTo>
                  <a:pt x="162" y="229"/>
                  <a:pt x="150" y="247"/>
                  <a:pt x="138" y="265"/>
                </a:cubicBezTo>
                <a:cubicBezTo>
                  <a:pt x="137" y="267"/>
                  <a:pt x="137" y="268"/>
                  <a:pt x="137" y="270"/>
                </a:cubicBezTo>
                <a:close/>
                <a:moveTo>
                  <a:pt x="193" y="273"/>
                </a:moveTo>
                <a:cubicBezTo>
                  <a:pt x="192" y="275"/>
                  <a:pt x="192" y="276"/>
                  <a:pt x="192" y="278"/>
                </a:cubicBezTo>
                <a:cubicBezTo>
                  <a:pt x="181" y="277"/>
                  <a:pt x="170" y="275"/>
                  <a:pt x="159" y="273"/>
                </a:cubicBezTo>
                <a:cubicBezTo>
                  <a:pt x="161" y="272"/>
                  <a:pt x="163" y="270"/>
                  <a:pt x="164" y="269"/>
                </a:cubicBezTo>
                <a:cubicBezTo>
                  <a:pt x="178" y="248"/>
                  <a:pt x="191" y="227"/>
                  <a:pt x="204" y="206"/>
                </a:cubicBezTo>
                <a:cubicBezTo>
                  <a:pt x="206" y="203"/>
                  <a:pt x="206" y="201"/>
                  <a:pt x="206" y="200"/>
                </a:cubicBezTo>
                <a:cubicBezTo>
                  <a:pt x="217" y="198"/>
                  <a:pt x="229" y="196"/>
                  <a:pt x="240" y="195"/>
                </a:cubicBezTo>
                <a:cubicBezTo>
                  <a:pt x="237" y="197"/>
                  <a:pt x="235" y="199"/>
                  <a:pt x="234" y="202"/>
                </a:cubicBezTo>
                <a:cubicBezTo>
                  <a:pt x="220" y="225"/>
                  <a:pt x="207" y="249"/>
                  <a:pt x="193" y="273"/>
                </a:cubicBezTo>
                <a:close/>
                <a:moveTo>
                  <a:pt x="305" y="289"/>
                </a:moveTo>
                <a:cubicBezTo>
                  <a:pt x="304" y="291"/>
                  <a:pt x="304" y="293"/>
                  <a:pt x="304" y="295"/>
                </a:cubicBezTo>
                <a:cubicBezTo>
                  <a:pt x="281" y="292"/>
                  <a:pt x="258" y="288"/>
                  <a:pt x="235" y="285"/>
                </a:cubicBezTo>
                <a:cubicBezTo>
                  <a:pt x="237" y="283"/>
                  <a:pt x="239" y="282"/>
                  <a:pt x="240" y="279"/>
                </a:cubicBezTo>
                <a:cubicBezTo>
                  <a:pt x="256" y="251"/>
                  <a:pt x="272" y="222"/>
                  <a:pt x="288" y="193"/>
                </a:cubicBezTo>
                <a:cubicBezTo>
                  <a:pt x="290" y="191"/>
                  <a:pt x="290" y="189"/>
                  <a:pt x="290" y="187"/>
                </a:cubicBezTo>
                <a:cubicBezTo>
                  <a:pt x="317" y="183"/>
                  <a:pt x="344" y="179"/>
                  <a:pt x="371" y="175"/>
                </a:cubicBezTo>
                <a:cubicBezTo>
                  <a:pt x="368" y="177"/>
                  <a:pt x="366" y="180"/>
                  <a:pt x="364" y="182"/>
                </a:cubicBezTo>
                <a:cubicBezTo>
                  <a:pt x="345" y="218"/>
                  <a:pt x="325" y="254"/>
                  <a:pt x="305" y="289"/>
                </a:cubicBezTo>
                <a:close/>
                <a:moveTo>
                  <a:pt x="361" y="304"/>
                </a:moveTo>
                <a:cubicBezTo>
                  <a:pt x="350" y="302"/>
                  <a:pt x="339" y="300"/>
                  <a:pt x="329" y="299"/>
                </a:cubicBezTo>
                <a:cubicBezTo>
                  <a:pt x="331" y="297"/>
                  <a:pt x="332" y="296"/>
                  <a:pt x="334" y="294"/>
                </a:cubicBezTo>
                <a:cubicBezTo>
                  <a:pt x="360" y="253"/>
                  <a:pt x="386" y="213"/>
                  <a:pt x="414" y="174"/>
                </a:cubicBezTo>
                <a:cubicBezTo>
                  <a:pt x="415" y="172"/>
                  <a:pt x="415" y="170"/>
                  <a:pt x="415" y="169"/>
                </a:cubicBezTo>
                <a:cubicBezTo>
                  <a:pt x="425" y="168"/>
                  <a:pt x="436" y="168"/>
                  <a:pt x="447" y="167"/>
                </a:cubicBezTo>
                <a:cubicBezTo>
                  <a:pt x="446" y="168"/>
                  <a:pt x="445" y="169"/>
                  <a:pt x="445" y="170"/>
                </a:cubicBezTo>
                <a:cubicBezTo>
                  <a:pt x="418" y="213"/>
                  <a:pt x="390" y="255"/>
                  <a:pt x="363" y="298"/>
                </a:cubicBezTo>
                <a:cubicBezTo>
                  <a:pt x="362" y="300"/>
                  <a:pt x="361" y="302"/>
                  <a:pt x="361" y="304"/>
                </a:cubicBezTo>
                <a:close/>
                <a:moveTo>
                  <a:pt x="390" y="308"/>
                </a:moveTo>
                <a:cubicBezTo>
                  <a:pt x="390" y="308"/>
                  <a:pt x="389" y="308"/>
                  <a:pt x="389" y="308"/>
                </a:cubicBezTo>
                <a:cubicBezTo>
                  <a:pt x="388" y="307"/>
                  <a:pt x="386" y="307"/>
                  <a:pt x="385" y="307"/>
                </a:cubicBezTo>
                <a:cubicBezTo>
                  <a:pt x="385" y="307"/>
                  <a:pt x="385" y="307"/>
                  <a:pt x="385" y="306"/>
                </a:cubicBezTo>
                <a:cubicBezTo>
                  <a:pt x="387" y="304"/>
                  <a:pt x="388" y="302"/>
                  <a:pt x="389" y="300"/>
                </a:cubicBezTo>
                <a:cubicBezTo>
                  <a:pt x="417" y="254"/>
                  <a:pt x="446" y="210"/>
                  <a:pt x="475" y="165"/>
                </a:cubicBezTo>
                <a:cubicBezTo>
                  <a:pt x="475" y="165"/>
                  <a:pt x="475" y="164"/>
                  <a:pt x="475" y="164"/>
                </a:cubicBezTo>
                <a:cubicBezTo>
                  <a:pt x="476" y="164"/>
                  <a:pt x="476" y="163"/>
                  <a:pt x="477" y="163"/>
                </a:cubicBezTo>
                <a:cubicBezTo>
                  <a:pt x="476" y="164"/>
                  <a:pt x="476" y="165"/>
                  <a:pt x="475" y="165"/>
                </a:cubicBezTo>
                <a:cubicBezTo>
                  <a:pt x="447" y="211"/>
                  <a:pt x="419" y="257"/>
                  <a:pt x="391" y="302"/>
                </a:cubicBezTo>
                <a:cubicBezTo>
                  <a:pt x="390" y="304"/>
                  <a:pt x="390" y="306"/>
                  <a:pt x="390" y="308"/>
                </a:cubicBezTo>
                <a:close/>
                <a:moveTo>
                  <a:pt x="441" y="312"/>
                </a:moveTo>
                <a:cubicBezTo>
                  <a:pt x="431" y="311"/>
                  <a:pt x="422" y="310"/>
                  <a:pt x="414" y="310"/>
                </a:cubicBezTo>
                <a:cubicBezTo>
                  <a:pt x="415" y="309"/>
                  <a:pt x="416" y="307"/>
                  <a:pt x="417" y="306"/>
                </a:cubicBezTo>
                <a:cubicBezTo>
                  <a:pt x="447" y="258"/>
                  <a:pt x="476" y="209"/>
                  <a:pt x="506" y="161"/>
                </a:cubicBezTo>
                <a:cubicBezTo>
                  <a:pt x="507" y="159"/>
                  <a:pt x="507" y="158"/>
                  <a:pt x="508" y="156"/>
                </a:cubicBezTo>
                <a:cubicBezTo>
                  <a:pt x="518" y="153"/>
                  <a:pt x="527" y="147"/>
                  <a:pt x="534" y="140"/>
                </a:cubicBezTo>
                <a:cubicBezTo>
                  <a:pt x="534" y="140"/>
                  <a:pt x="534" y="141"/>
                  <a:pt x="534" y="141"/>
                </a:cubicBezTo>
                <a:cubicBezTo>
                  <a:pt x="531" y="145"/>
                  <a:pt x="524" y="152"/>
                  <a:pt x="521" y="158"/>
                </a:cubicBezTo>
                <a:cubicBezTo>
                  <a:pt x="495" y="209"/>
                  <a:pt x="469" y="259"/>
                  <a:pt x="441" y="309"/>
                </a:cubicBezTo>
                <a:cubicBezTo>
                  <a:pt x="441" y="310"/>
                  <a:pt x="441" y="311"/>
                  <a:pt x="441" y="312"/>
                </a:cubicBezTo>
                <a:close/>
                <a:moveTo>
                  <a:pt x="505" y="299"/>
                </a:moveTo>
                <a:cubicBezTo>
                  <a:pt x="501" y="305"/>
                  <a:pt x="498" y="311"/>
                  <a:pt x="494" y="317"/>
                </a:cubicBezTo>
                <a:cubicBezTo>
                  <a:pt x="494" y="318"/>
                  <a:pt x="494" y="318"/>
                  <a:pt x="493" y="319"/>
                </a:cubicBezTo>
                <a:cubicBezTo>
                  <a:pt x="490" y="318"/>
                  <a:pt x="486" y="318"/>
                  <a:pt x="483" y="317"/>
                </a:cubicBezTo>
                <a:cubicBezTo>
                  <a:pt x="483" y="317"/>
                  <a:pt x="483" y="316"/>
                  <a:pt x="483" y="316"/>
                </a:cubicBezTo>
                <a:cubicBezTo>
                  <a:pt x="496" y="296"/>
                  <a:pt x="510" y="276"/>
                  <a:pt x="523" y="256"/>
                </a:cubicBezTo>
                <a:cubicBezTo>
                  <a:pt x="527" y="250"/>
                  <a:pt x="528" y="251"/>
                  <a:pt x="525" y="258"/>
                </a:cubicBezTo>
                <a:cubicBezTo>
                  <a:pt x="518" y="272"/>
                  <a:pt x="512" y="285"/>
                  <a:pt x="505" y="299"/>
                </a:cubicBezTo>
                <a:close/>
                <a:moveTo>
                  <a:pt x="572" y="403"/>
                </a:moveTo>
                <a:cubicBezTo>
                  <a:pt x="568" y="411"/>
                  <a:pt x="565" y="420"/>
                  <a:pt x="562" y="429"/>
                </a:cubicBezTo>
                <a:cubicBezTo>
                  <a:pt x="559" y="431"/>
                  <a:pt x="555" y="432"/>
                  <a:pt x="553" y="432"/>
                </a:cubicBezTo>
                <a:cubicBezTo>
                  <a:pt x="558" y="422"/>
                  <a:pt x="564" y="412"/>
                  <a:pt x="569" y="402"/>
                </a:cubicBezTo>
                <a:cubicBezTo>
                  <a:pt x="573" y="395"/>
                  <a:pt x="574" y="396"/>
                  <a:pt x="572" y="403"/>
                </a:cubicBezTo>
                <a:close/>
                <a:moveTo>
                  <a:pt x="543" y="391"/>
                </a:moveTo>
                <a:cubicBezTo>
                  <a:pt x="541" y="394"/>
                  <a:pt x="540" y="397"/>
                  <a:pt x="539" y="399"/>
                </a:cubicBezTo>
                <a:cubicBezTo>
                  <a:pt x="538" y="380"/>
                  <a:pt x="540" y="357"/>
                  <a:pt x="540" y="348"/>
                </a:cubicBezTo>
                <a:cubicBezTo>
                  <a:pt x="540" y="339"/>
                  <a:pt x="531" y="331"/>
                  <a:pt x="518" y="326"/>
                </a:cubicBezTo>
                <a:cubicBezTo>
                  <a:pt x="519" y="325"/>
                  <a:pt x="521" y="323"/>
                  <a:pt x="522" y="321"/>
                </a:cubicBezTo>
                <a:cubicBezTo>
                  <a:pt x="527" y="312"/>
                  <a:pt x="532" y="303"/>
                  <a:pt x="536" y="293"/>
                </a:cubicBezTo>
                <a:cubicBezTo>
                  <a:pt x="571" y="235"/>
                  <a:pt x="605" y="176"/>
                  <a:pt x="639" y="117"/>
                </a:cubicBezTo>
                <a:cubicBezTo>
                  <a:pt x="651" y="127"/>
                  <a:pt x="662" y="136"/>
                  <a:pt x="674" y="145"/>
                </a:cubicBezTo>
                <a:cubicBezTo>
                  <a:pt x="668" y="162"/>
                  <a:pt x="661" y="178"/>
                  <a:pt x="655" y="195"/>
                </a:cubicBezTo>
                <a:cubicBezTo>
                  <a:pt x="643" y="217"/>
                  <a:pt x="631" y="239"/>
                  <a:pt x="619" y="261"/>
                </a:cubicBezTo>
                <a:cubicBezTo>
                  <a:pt x="593" y="305"/>
                  <a:pt x="568" y="348"/>
                  <a:pt x="543" y="391"/>
                </a:cubicBezTo>
                <a:close/>
                <a:moveTo>
                  <a:pt x="628" y="377"/>
                </a:moveTo>
                <a:cubicBezTo>
                  <a:pt x="664" y="316"/>
                  <a:pt x="698" y="253"/>
                  <a:pt x="729" y="188"/>
                </a:cubicBezTo>
                <a:cubicBezTo>
                  <a:pt x="731" y="190"/>
                  <a:pt x="732" y="191"/>
                  <a:pt x="734" y="192"/>
                </a:cubicBezTo>
                <a:cubicBezTo>
                  <a:pt x="705" y="248"/>
                  <a:pt x="677" y="304"/>
                  <a:pt x="649" y="361"/>
                </a:cubicBezTo>
                <a:cubicBezTo>
                  <a:pt x="642" y="366"/>
                  <a:pt x="635" y="372"/>
                  <a:pt x="628" y="377"/>
                </a:cubicBezTo>
                <a:close/>
                <a:moveTo>
                  <a:pt x="764" y="270"/>
                </a:moveTo>
                <a:cubicBezTo>
                  <a:pt x="742" y="288"/>
                  <a:pt x="719" y="306"/>
                  <a:pt x="696" y="324"/>
                </a:cubicBezTo>
                <a:cubicBezTo>
                  <a:pt x="715" y="285"/>
                  <a:pt x="734" y="246"/>
                  <a:pt x="754" y="208"/>
                </a:cubicBezTo>
                <a:cubicBezTo>
                  <a:pt x="765" y="215"/>
                  <a:pt x="776" y="224"/>
                  <a:pt x="781" y="234"/>
                </a:cubicBezTo>
                <a:cubicBezTo>
                  <a:pt x="776" y="246"/>
                  <a:pt x="770" y="258"/>
                  <a:pt x="764" y="2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78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5851-2985-B16A-3FA2-AA8B3B80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9CCB0D38-8C0E-A822-FEAB-A1E2FD99E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13EBCCB-DC56-F2DD-F33F-5E7543EE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92EAD88-B433-5221-9F62-97B35B0EF1E6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4EA93FF-0432-EEA6-2FFF-3EB88FE79929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F78E540D-412E-4898-249C-55DF2CBC8BB0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4481C35-FBCC-B115-C0FF-6986BD81DFF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EFA4321-C699-0F57-40C1-85D842B3D81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2CC9582-6ABE-F734-76F9-C7C0EFC60DF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19C11DD-9746-3798-C6DA-D37B32E68204}"/>
              </a:ext>
            </a:extLst>
          </p:cNvPr>
          <p:cNvSpPr/>
          <p:nvPr/>
        </p:nvSpPr>
        <p:spPr>
          <a:xfrm>
            <a:off x="4726616" y="4460889"/>
            <a:ext cx="1702903" cy="2191703"/>
          </a:xfrm>
          <a:prstGeom prst="roundRect">
            <a:avLst>
              <a:gd name="adj" fmla="val 4752"/>
            </a:avLst>
          </a:prstGeom>
          <a:solidFill>
            <a:srgbClr val="A7E8FF"/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6D3F489-C123-1DBC-8A94-37BC7B246B21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2181152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F0B6B-FB1F-A190-D5E2-5F6C44D2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内容占位符 2">
            <a:extLst>
              <a:ext uri="{FF2B5EF4-FFF2-40B4-BE49-F238E27FC236}">
                <a16:creationId xmlns:a16="http://schemas.microsoft.com/office/drawing/2014/main" id="{D52DE386-184C-ED86-9FA9-F20AA95F2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5268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嵌套调用指的是在一个函数中，又调用了另外一个函数。</a:t>
            </a:r>
            <a:endParaRPr lang="en-US" altLang="zh-CN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函数调用遵循栈结构，最后被调用的函数最先返回</a:t>
            </a:r>
            <a:r>
              <a:rPr lang="en-US" altLang="zh-CN"/>
              <a:t>LIFO(Last In First Out</a:t>
            </a:r>
            <a:r>
              <a:rPr lang="zh-CN" altLang="en-US"/>
              <a:t>，后进先出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6580DD-0FEE-082D-1126-BEFB2E1B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函数的嵌套调用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ACB831E-AF68-1F99-7437-4539AA92FE9F}"/>
              </a:ext>
            </a:extLst>
          </p:cNvPr>
          <p:cNvGrpSpPr/>
          <p:nvPr/>
        </p:nvGrpSpPr>
        <p:grpSpPr>
          <a:xfrm>
            <a:off x="932848" y="1919938"/>
            <a:ext cx="4645219" cy="4503897"/>
            <a:chOff x="2297720" y="3660321"/>
            <a:chExt cx="5118167" cy="45041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9FCFDC8-0A72-0EA8-194B-CA09366A2207}"/>
                </a:ext>
              </a:extLst>
            </p:cNvPr>
            <p:cNvSpPr/>
            <p:nvPr/>
          </p:nvSpPr>
          <p:spPr>
            <a:xfrm>
              <a:off x="2297729" y="3660321"/>
              <a:ext cx="5118158" cy="4504164"/>
            </a:xfrm>
            <a:prstGeom prst="roundRect">
              <a:avLst>
                <a:gd name="adj" fmla="val 13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033B3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function_b()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function_b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before"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function_c()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"b ... after"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function_c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 ..."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function_a()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4445241-8C78-2D56-3B89-F80B2A5B67D7}"/>
                </a:ext>
              </a:extLst>
            </p:cNvPr>
            <p:cNvSpPr/>
            <p:nvPr/>
          </p:nvSpPr>
          <p:spPr>
            <a:xfrm>
              <a:off x="2297720" y="3660322"/>
              <a:ext cx="511815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8D1C4BA-7A56-3F75-B154-91422E1155B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25152F2-0121-0BBF-C9EF-087FBE33934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EC41336-31C9-FBC8-67FA-5FEEA52CD56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F0CACF1-EBA3-3F07-A622-6D41223EB398}"/>
              </a:ext>
            </a:extLst>
          </p:cNvPr>
          <p:cNvSpPr/>
          <p:nvPr/>
        </p:nvSpPr>
        <p:spPr>
          <a:xfrm>
            <a:off x="7578751" y="1919937"/>
            <a:ext cx="3586135" cy="4503897"/>
          </a:xfrm>
          <a:prstGeom prst="roundRect">
            <a:avLst>
              <a:gd name="adj" fmla="val 1369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开始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function_b()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before"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调用 </a:t>
            </a:r>
            <a:r>
              <a:rPr lang="en-US" altLang="zh-CN" sz="1200" b="0">
                <a:solidFill>
                  <a:srgbClr val="0F1115"/>
                </a:solidFill>
                <a:effectLst/>
              </a:rPr>
              <a:t>function_c()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   └─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"c ..."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├─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"b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   └─ function_b()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sz="1200" b="0">
                <a:solidFill>
                  <a:srgbClr val="0F1115"/>
                </a:solidFill>
                <a:effectLst/>
              </a:rPr>
              <a:t>  ├─ 打印 </a:t>
            </a:r>
            <a:r>
              <a:rPr lang="en-US" altLang="zh-CN" sz="1200" b="0">
                <a:solidFill>
                  <a:srgbClr val="067D17"/>
                </a:solidFill>
                <a:effectLst/>
              </a:rPr>
              <a:t>"a ... after"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│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200" b="0">
                <a:solidFill>
                  <a:srgbClr val="0F1115"/>
                </a:solidFill>
                <a:effectLst/>
              </a:rPr>
              <a:t>  └─ function_a() </a:t>
            </a:r>
            <a:r>
              <a:rPr lang="zh-CN" altLang="en-US" sz="1200" b="0">
                <a:solidFill>
                  <a:srgbClr val="0F1115"/>
                </a:solidFill>
                <a:effectLst/>
              </a:rPr>
              <a:t>返回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94A6A2E-07EB-A79B-DE76-0E675538F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272" y="3200399"/>
            <a:ext cx="1537955" cy="257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821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AC138-56B9-268D-72BA-D2D17E49B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2C47BA-023F-7930-058E-072F314B64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函数基础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7131D48-FE0B-3762-9476-A7DDFE7648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25907"/>
          </a:xfrm>
        </p:spPr>
        <p:txBody>
          <a:bodyPr/>
          <a:lstStyle/>
          <a:p>
            <a:r>
              <a:rPr lang="zh-CN" altLang="en-US"/>
              <a:t>函数定义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函数的参数与返回值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函数说明文档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9B5FAE8-BB23-9501-2706-9C83053B3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77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BB4D-6CA6-7663-7D53-5CAC8527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273D9-59E2-C1BF-0FE1-5A402705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3208E6-169C-D9F2-9350-BB4D67B266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197226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定义一个函数：根据传入的底和高计算三角形面积的函数（三角形面积 </a:t>
            </a:r>
            <a:r>
              <a:rPr lang="en-US" altLang="zh-CN"/>
              <a:t>= </a:t>
            </a:r>
            <a:r>
              <a:rPr lang="zh-CN" altLang="en-US"/>
              <a:t>底 </a:t>
            </a:r>
            <a:r>
              <a:rPr lang="en-US" altLang="zh-CN"/>
              <a:t>* </a:t>
            </a:r>
            <a:r>
              <a:rPr lang="zh-CN" altLang="en-US"/>
              <a:t>高 </a:t>
            </a:r>
            <a:r>
              <a:rPr lang="en-US" altLang="zh-CN"/>
              <a:t>/ 2</a:t>
            </a:r>
            <a:r>
              <a:rPr lang="zh-CN" altLang="en-US"/>
              <a:t>）。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定义一个函数：计算传入的字符串中元音字母的个数（元音字母为 </a:t>
            </a:r>
            <a:r>
              <a:rPr lang="en-US" altLang="zh-CN"/>
              <a:t>aeiouAEIOU</a:t>
            </a:r>
            <a:r>
              <a:rPr lang="zh-CN" altLang="en-US"/>
              <a:t>）。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定义一个函数：计算传入的班级学员高考成绩列表中成绩的最高分、最低分、平均分</a:t>
            </a:r>
            <a:r>
              <a:rPr lang="en-US" altLang="zh-CN"/>
              <a:t>(</a:t>
            </a:r>
            <a:r>
              <a:rPr lang="zh-CN" altLang="en-US"/>
              <a:t>保留</a:t>
            </a:r>
            <a:r>
              <a:rPr lang="en-US" altLang="zh-CN"/>
              <a:t>1</a:t>
            </a:r>
            <a:r>
              <a:rPr lang="zh-CN" altLang="en-US"/>
              <a:t>位小数</a:t>
            </a:r>
            <a:r>
              <a:rPr lang="en-US" altLang="zh-CN"/>
              <a:t>)</a:t>
            </a:r>
            <a:r>
              <a:rPr lang="zh-CN" altLang="en-US"/>
              <a:t>，并返回。</a:t>
            </a:r>
          </a:p>
        </p:txBody>
      </p:sp>
    </p:spTree>
    <p:extLst>
      <p:ext uri="{BB962C8B-B14F-4D97-AF65-F5344CB8AC3E}">
        <p14:creationId xmlns:p14="http://schemas.microsoft.com/office/powerpoint/2010/main" val="2759106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F042-BC35-EAB2-073E-0130A6F3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8CC0F-7AF2-21E2-0266-F46A2941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3B078F-3744-4ED0-6864-09E1B11FB1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10045201" cy="437891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定义一个函数，根据传入的分数，计算对应的分数等级并返回。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分数 </a:t>
            </a:r>
            <a:r>
              <a:rPr lang="en-US" altLang="zh-CN" sz="1400"/>
              <a:t>&gt;= 90</a:t>
            </a:r>
            <a:r>
              <a:rPr lang="zh-CN" altLang="en-US" sz="1400"/>
              <a:t>：</a:t>
            </a:r>
            <a:r>
              <a:rPr lang="en-US" altLang="zh-CN" sz="1400"/>
              <a:t>A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分数 </a:t>
            </a:r>
            <a:r>
              <a:rPr lang="en-US" altLang="zh-CN" sz="1400"/>
              <a:t>&gt;= 75</a:t>
            </a:r>
            <a:r>
              <a:rPr lang="zh-CN" altLang="en-US" sz="1400"/>
              <a:t>：</a:t>
            </a:r>
            <a:r>
              <a:rPr lang="en-US" altLang="zh-CN" sz="1400"/>
              <a:t>B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分数 </a:t>
            </a:r>
            <a:r>
              <a:rPr lang="en-US" altLang="zh-CN" sz="1400"/>
              <a:t>&gt;= 60</a:t>
            </a:r>
            <a:r>
              <a:rPr lang="zh-CN" altLang="en-US" sz="1400"/>
              <a:t>：</a:t>
            </a:r>
            <a:r>
              <a:rPr lang="en-US" altLang="zh-CN" sz="1400"/>
              <a:t>C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分数 </a:t>
            </a:r>
            <a:r>
              <a:rPr lang="en-US" altLang="zh-CN" sz="1400"/>
              <a:t>&lt; 60</a:t>
            </a:r>
            <a:r>
              <a:rPr lang="zh-CN" altLang="en-US" sz="1400"/>
              <a:t>：</a:t>
            </a:r>
            <a:r>
              <a:rPr lang="en-US" altLang="zh-CN" sz="1400"/>
              <a:t>D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定义一个函数，用于判断一个字符串是否是回文串，返回</a:t>
            </a:r>
            <a:r>
              <a:rPr lang="en-US" altLang="zh-CN"/>
              <a:t>bool</a:t>
            </a:r>
            <a:r>
              <a:rPr lang="zh-CN" altLang="en-US"/>
              <a:t>值。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把字符串反转，如果和原字符串相同，就是回文串。（如：</a:t>
            </a:r>
            <a:r>
              <a:rPr lang="en-US" altLang="zh-CN" sz="1400"/>
              <a:t>"level"</a:t>
            </a:r>
            <a:r>
              <a:rPr lang="zh-CN" altLang="en-US" sz="1400"/>
              <a:t>，</a:t>
            </a:r>
            <a:r>
              <a:rPr lang="en-US" altLang="zh-CN" sz="1400"/>
              <a:t>"radar"</a:t>
            </a:r>
            <a:r>
              <a:rPr lang="zh-CN" altLang="en-US" sz="1400"/>
              <a:t>，</a:t>
            </a:r>
            <a:r>
              <a:rPr lang="en-US" altLang="zh-CN" sz="1400"/>
              <a:t>"</a:t>
            </a:r>
            <a:r>
              <a:rPr lang="zh-CN" altLang="en-US" sz="1400"/>
              <a:t>黄山落叶松叶落山黄</a:t>
            </a:r>
            <a:r>
              <a:rPr lang="en-US" altLang="zh-CN" sz="1400"/>
              <a:t>"</a:t>
            </a:r>
            <a:r>
              <a:rPr lang="zh-CN" altLang="en-US" sz="1400"/>
              <a:t>）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定义一个函数：完成时间转换功能，将传入的秒转换为小时、分钟、秒。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定义一个函数：根据传入的三角形三个边的边长，判定三角形的类型（等边、等腰、普通，或者不能构成三角形）。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580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73378-BBF2-0F33-B89B-AD6F0019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3C9F8A-6A8C-F087-807B-62A8E78E0B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函数基础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函数进阶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056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367B-7302-AB6F-51E5-CEB3C6FA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59ED855-D947-1FA0-2CB7-896DBA437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8C1CDA-8E32-3CBC-0236-FA4C6AA231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193273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/>
          </a:p>
          <a:p>
            <a:r>
              <a:rPr lang="zh-CN" altLang="en-US"/>
              <a:t>函数参数详解</a:t>
            </a:r>
            <a:endParaRPr lang="en-US" altLang="zh-CN"/>
          </a:p>
          <a:p>
            <a:r>
              <a:rPr lang="zh-CN" altLang="en-US"/>
              <a:t>匿名函数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4AD35F4-1A86-174F-257F-6A489E65B7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73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3593CD-3FA9-B6C4-1CA4-C35AAB4A6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变量的作用域指的是变量的作用范围</a:t>
            </a:r>
            <a:r>
              <a:rPr lang="en-US" altLang="zh-CN"/>
              <a:t>(</a:t>
            </a:r>
            <a:r>
              <a:rPr lang="zh-CN" altLang="en-US"/>
              <a:t>标识这个变量在哪里可以使用，在哪儿不可以使用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1E3AA81-490D-83A7-F68A-75E76305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  <a:r>
              <a:rPr lang="en-US" altLang="zh-CN"/>
              <a:t>-</a:t>
            </a:r>
            <a:r>
              <a:rPr lang="zh-CN" altLang="en-US"/>
              <a:t>变量作用域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A7DABC8-7536-DF7B-9AEF-5A3CEB8FE350}"/>
              </a:ext>
            </a:extLst>
          </p:cNvPr>
          <p:cNvGrpSpPr/>
          <p:nvPr/>
        </p:nvGrpSpPr>
        <p:grpSpPr>
          <a:xfrm>
            <a:off x="968555" y="1551034"/>
            <a:ext cx="5438507" cy="3345057"/>
            <a:chOff x="2297720" y="3660321"/>
            <a:chExt cx="5992223" cy="334525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BC314350-2148-0A96-3089-27F991363891}"/>
                </a:ext>
              </a:extLst>
            </p:cNvPr>
            <p:cNvSpPr/>
            <p:nvPr/>
          </p:nvSpPr>
          <p:spPr>
            <a:xfrm>
              <a:off x="2297727" y="3660321"/>
              <a:ext cx="5992216" cy="3345256"/>
            </a:xfrm>
            <a:prstGeom prst="roundRect">
              <a:avLst>
                <a:gd name="adj" fmla="val 255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定义函数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num = 100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circle_area(r):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pi = 3.14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area = pi * r * r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</a:rPr>
                <a:t>return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area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count = 0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c_area = circle_area(10)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print(c_area)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A00E418D-E9C4-07B0-868A-E8893EC621AE}"/>
                </a:ext>
              </a:extLst>
            </p:cNvPr>
            <p:cNvSpPr/>
            <p:nvPr/>
          </p:nvSpPr>
          <p:spPr>
            <a:xfrm>
              <a:off x="2297720" y="3660322"/>
              <a:ext cx="599221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55836FA-78F3-1901-96E2-D291B5C60F2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6CF57FB-48B5-BF6C-4BE4-96CF37AD2AA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627801B-1233-C211-4048-DDC0A4DD403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F192E31-3427-50F9-A705-C95BF839E8F2}"/>
              </a:ext>
            </a:extLst>
          </p:cNvPr>
          <p:cNvSpPr/>
          <p:nvPr/>
        </p:nvSpPr>
        <p:spPr>
          <a:xfrm>
            <a:off x="968555" y="2129742"/>
            <a:ext cx="5438501" cy="270174"/>
          </a:xfrm>
          <a:prstGeom prst="roundRect">
            <a:avLst>
              <a:gd name="adj" fmla="val 8099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全局变量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2FAAD93-FCD1-6E7C-7878-42A5A9F3941B}"/>
              </a:ext>
            </a:extLst>
          </p:cNvPr>
          <p:cNvSpPr/>
          <p:nvPr/>
        </p:nvSpPr>
        <p:spPr>
          <a:xfrm>
            <a:off x="968554" y="3810000"/>
            <a:ext cx="5438501" cy="738850"/>
          </a:xfrm>
          <a:prstGeom prst="roundRect">
            <a:avLst>
              <a:gd name="adj" fmla="val 413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全局变量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1F4A03-F414-D6A7-A46F-5E25BFBC02B3}"/>
              </a:ext>
            </a:extLst>
          </p:cNvPr>
          <p:cNvSpPr/>
          <p:nvPr/>
        </p:nvSpPr>
        <p:spPr>
          <a:xfrm>
            <a:off x="1284093" y="2672897"/>
            <a:ext cx="5117175" cy="558396"/>
          </a:xfrm>
          <a:prstGeom prst="roundRect">
            <a:avLst>
              <a:gd name="adj" fmla="val 3815"/>
            </a:avLst>
          </a:prstGeom>
          <a:solidFill>
            <a:srgbClr val="92D050">
              <a:alpha val="20000"/>
            </a:srgbClr>
          </a:solidFill>
          <a:ln w="63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200">
                <a:solidFill>
                  <a:srgbClr val="92D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局部变量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40FE76-D6BF-F604-32B6-54A9F20A6F6B}"/>
              </a:ext>
            </a:extLst>
          </p:cNvPr>
          <p:cNvGrpSpPr/>
          <p:nvPr/>
        </p:nvGrpSpPr>
        <p:grpSpPr>
          <a:xfrm>
            <a:off x="945305" y="5883848"/>
            <a:ext cx="10480694" cy="348335"/>
            <a:chOff x="4685665" y="1834757"/>
            <a:chExt cx="10552693" cy="348335"/>
          </a:xfrm>
        </p:grpSpPr>
        <p:sp>
          <p:nvSpPr>
            <p:cNvPr id="8" name="ComponentBackground2">
              <a:extLst>
                <a:ext uri="{FF2B5EF4-FFF2-40B4-BE49-F238E27FC236}">
                  <a16:creationId xmlns:a16="http://schemas.microsoft.com/office/drawing/2014/main" id="{9ADA99C1-E012-1215-693B-EFF5F1A77686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全局变量：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在函数之外定义的变量，称之为全局变量，在整个文件中（包括函数内）都可以使用（通常定义在文件的顶部）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9" name="Shape2">
              <a:extLst>
                <a:ext uri="{FF2B5EF4-FFF2-40B4-BE49-F238E27FC236}">
                  <a16:creationId xmlns:a16="http://schemas.microsoft.com/office/drawing/2014/main" id="{2F597A55-81E1-CC14-397E-467F713F9E42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62B669A-F890-8334-6A9B-BAA72FB15FA1}"/>
              </a:ext>
            </a:extLst>
          </p:cNvPr>
          <p:cNvGrpSpPr/>
          <p:nvPr/>
        </p:nvGrpSpPr>
        <p:grpSpPr>
          <a:xfrm>
            <a:off x="945305" y="6322794"/>
            <a:ext cx="10480694" cy="348335"/>
            <a:chOff x="4685665" y="1834757"/>
            <a:chExt cx="10552693" cy="348335"/>
          </a:xfrm>
        </p:grpSpPr>
        <p:sp>
          <p:nvSpPr>
            <p:cNvPr id="17" name="ComponentBackground2">
              <a:extLst>
                <a:ext uri="{FF2B5EF4-FFF2-40B4-BE49-F238E27FC236}">
                  <a16:creationId xmlns:a16="http://schemas.microsoft.com/office/drawing/2014/main" id="{F48121B6-6170-1260-6A60-9B7E4D3D858A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局部变量：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在函数内部定义的变量，称之为局部变量，只能在该函数内部使用，外部无法访问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函数执行完毕后，会自动销毁其内部局部变量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8" name="Shape2">
              <a:extLst>
                <a:ext uri="{FF2B5EF4-FFF2-40B4-BE49-F238E27FC236}">
                  <a16:creationId xmlns:a16="http://schemas.microsoft.com/office/drawing/2014/main" id="{916A0B8B-423E-A310-6FF0-36EFFA0BB523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30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839581-1905-5274-13BB-56B68401B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global</a:t>
            </a:r>
            <a:r>
              <a:rPr lang="zh-CN" altLang="en-US"/>
              <a:t>关键字用于明确的告诉</a:t>
            </a:r>
            <a:r>
              <a:rPr lang="en-US" altLang="zh-CN"/>
              <a:t>Python</a:t>
            </a:r>
            <a:r>
              <a:rPr lang="zh-CN" altLang="en-US"/>
              <a:t>解释器，在函数中要使用全局变量，使得可以在函数内部修改全局变量的值。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A404E0A-C491-23CB-3F01-9264D6E9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global</a:t>
            </a:r>
            <a:r>
              <a:rPr lang="zh-CN" altLang="en-US"/>
              <a:t>关键字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9DC9533-F9DE-4B30-14C8-9542C6DD5E2A}"/>
              </a:ext>
            </a:extLst>
          </p:cNvPr>
          <p:cNvGrpSpPr/>
          <p:nvPr/>
        </p:nvGrpSpPr>
        <p:grpSpPr>
          <a:xfrm>
            <a:off x="737061" y="1585759"/>
            <a:ext cx="4870873" cy="3003605"/>
            <a:chOff x="2297720" y="3660320"/>
            <a:chExt cx="5366796" cy="300378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A550FED-258B-C8C4-4F6F-57CBA67660D2}"/>
                </a:ext>
              </a:extLst>
            </p:cNvPr>
            <p:cNvSpPr/>
            <p:nvPr/>
          </p:nvSpPr>
          <p:spPr>
            <a:xfrm>
              <a:off x="2297727" y="3660320"/>
              <a:ext cx="5366789" cy="3003784"/>
            </a:xfrm>
            <a:prstGeom prst="roundRect">
              <a:avLst>
                <a:gd name="adj" fmla="val 255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num1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全局变量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num1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 </a:t>
              </a: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局部变量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(num1)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fun1() </a:t>
              </a:r>
              <a:r>
                <a:rPr lang="en-US" altLang="zh-CN" sz="1100">
                  <a:solidFill>
                    <a:srgbClr val="9F9F9F"/>
                  </a:solidFill>
                  <a:effectLst/>
                  <a:latin typeface="Fira Code" panose="020B0809050000020004" pitchFamily="49" charset="0"/>
                </a:rPr>
                <a:t># 100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(num1) </a:t>
              </a:r>
              <a:r>
                <a:rPr lang="en-US" altLang="zh-CN" sz="1100">
                  <a:solidFill>
                    <a:srgbClr val="9F9F9F"/>
                  </a:solidFill>
                  <a:effectLst/>
                  <a:latin typeface="Fira Code" panose="020B0809050000020004" pitchFamily="49" charset="0"/>
                </a:rPr>
                <a:t># 1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5592A50C-6DA2-FF2D-7485-974CE8E32565}"/>
                </a:ext>
              </a:extLst>
            </p:cNvPr>
            <p:cNvSpPr/>
            <p:nvPr/>
          </p:nvSpPr>
          <p:spPr>
            <a:xfrm>
              <a:off x="2297720" y="3660322"/>
              <a:ext cx="536678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135C5DB-B736-862E-2811-94D2102695C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95E3BF0-FD17-FC13-AB28-B6C3B62D800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C076522-E6A9-D1AD-E43B-87361DC8227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5DFEAB5-F491-755C-ECCC-7A02EB537403}"/>
              </a:ext>
            </a:extLst>
          </p:cNvPr>
          <p:cNvGrpSpPr/>
          <p:nvPr/>
        </p:nvGrpSpPr>
        <p:grpSpPr>
          <a:xfrm>
            <a:off x="6221947" y="1585758"/>
            <a:ext cx="4930259" cy="3003605"/>
            <a:chOff x="2297721" y="3660320"/>
            <a:chExt cx="5432228" cy="300378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0A6D0317-4598-220E-1B85-FB9A4975D5E8}"/>
                </a:ext>
              </a:extLst>
            </p:cNvPr>
            <p:cNvSpPr/>
            <p:nvPr/>
          </p:nvSpPr>
          <p:spPr>
            <a:xfrm>
              <a:off x="2297727" y="3660320"/>
              <a:ext cx="5432222" cy="3003784"/>
            </a:xfrm>
            <a:prstGeom prst="roundRect">
              <a:avLst>
                <a:gd name="adj" fmla="val 255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num1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 </a:t>
              </a: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全局变量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fun1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 i="1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latin typeface="Fira Code" panose="020B0809050000020004" pitchFamily="49" charset="0"/>
                </a:rPr>
                <a:t>global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num1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num1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 </a:t>
              </a: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修改全局变量</a:t>
              </a: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num1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(num1)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fun1() </a:t>
              </a:r>
              <a:r>
                <a:rPr lang="en-US" altLang="zh-CN" sz="1100">
                  <a:solidFill>
                    <a:srgbClr val="9F9F9F"/>
                  </a:solidFill>
                  <a:effectLst/>
                  <a:latin typeface="Fira Code" panose="020B0809050000020004" pitchFamily="49" charset="0"/>
                </a:rPr>
                <a:t># 100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(num1) </a:t>
              </a:r>
              <a:r>
                <a:rPr lang="en-US" altLang="zh-CN" sz="1100">
                  <a:solidFill>
                    <a:srgbClr val="9F9F9F"/>
                  </a:solidFill>
                  <a:effectLst/>
                  <a:latin typeface="Fira Code" panose="020B0809050000020004" pitchFamily="49" charset="0"/>
                </a:rPr>
                <a:t># 1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C715A0BE-0900-6993-54FE-619B2189ACB2}"/>
                </a:ext>
              </a:extLst>
            </p:cNvPr>
            <p:cNvSpPr/>
            <p:nvPr/>
          </p:nvSpPr>
          <p:spPr>
            <a:xfrm>
              <a:off x="2297721" y="3660322"/>
              <a:ext cx="543222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EF4A25C-A89B-5A36-68F3-C33E96D05AE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5608F76-42B1-0D3E-E883-4AA44DD660F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BE0EBF9-6ACA-A7C4-958E-479A2B8EFCF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EF46D9-03D7-D2D9-F268-1EED4C3D909E}"/>
              </a:ext>
            </a:extLst>
          </p:cNvPr>
          <p:cNvSpPr/>
          <p:nvPr/>
        </p:nvSpPr>
        <p:spPr>
          <a:xfrm>
            <a:off x="6543271" y="2575371"/>
            <a:ext cx="4608930" cy="312516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E80DBA-5C84-F0AC-3A69-AD0916F90BCD}"/>
              </a:ext>
            </a:extLst>
          </p:cNvPr>
          <p:cNvSpPr txBox="1"/>
          <p:nvPr/>
        </p:nvSpPr>
        <p:spPr>
          <a:xfrm>
            <a:off x="7956150" y="2600824"/>
            <a:ext cx="32770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告诉</a:t>
            </a:r>
            <a:r>
              <a:rPr lang="en-US" altLang="zh-CN" sz="11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1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解释器，函数中使用全局变量</a:t>
            </a:r>
            <a:r>
              <a:rPr lang="en-US" altLang="zh-CN" sz="1100">
                <a:solidFill>
                  <a:srgbClr val="00B0F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num1</a:t>
            </a:r>
            <a:endParaRPr lang="zh-CN" altLang="en-US" sz="1100">
              <a:solidFill>
                <a:srgbClr val="00B0F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442367C-7350-9789-0425-34DB47064FB9}"/>
              </a:ext>
            </a:extLst>
          </p:cNvPr>
          <p:cNvGrpSpPr/>
          <p:nvPr/>
        </p:nvGrpSpPr>
        <p:grpSpPr>
          <a:xfrm>
            <a:off x="737061" y="6260025"/>
            <a:ext cx="10480694" cy="348335"/>
            <a:chOff x="4685665" y="1834757"/>
            <a:chExt cx="10552693" cy="348335"/>
          </a:xfrm>
        </p:grpSpPr>
        <p:sp>
          <p:nvSpPr>
            <p:cNvPr id="20" name="ComponentBackground2">
              <a:extLst>
                <a:ext uri="{FF2B5EF4-FFF2-40B4-BE49-F238E27FC236}">
                  <a16:creationId xmlns:a16="http://schemas.microsoft.com/office/drawing/2014/main" id="{3E6E5549-1512-5CAA-A470-D884761CF779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在基于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global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声明全局变量时，要先声明，再使用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1" name="Shape2">
              <a:extLst>
                <a:ext uri="{FF2B5EF4-FFF2-40B4-BE49-F238E27FC236}">
                  <a16:creationId xmlns:a16="http://schemas.microsoft.com/office/drawing/2014/main" id="{29F28568-7C21-BC38-655F-00C228B6975F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022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7BD95C-2C0D-646C-8E1F-D835BB36B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10882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什么是局部变量，全局变量？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在函数内部定义的变量就是局部变量，函数外声明的变量是全局变量。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global</a:t>
            </a:r>
            <a:r>
              <a:rPr lang="zh-CN" altLang="en-US"/>
              <a:t>关键字的作用？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在函数内部使用，声明接下来要使用的是全局变量，语法：</a:t>
            </a:r>
            <a:r>
              <a:rPr lang="en-US" altLang="zh-CN" sz="1400"/>
              <a:t>global xxx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注意事项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尽量避免在函数中使用全局变量，因为会使代码难以维护和调试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考虑使用函数参数和返回值来传递数据，而不是依赖全局变量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global</a:t>
            </a:r>
            <a:r>
              <a:rPr lang="zh-CN" altLang="en-US" sz="1400"/>
              <a:t>主要用在程序的状态、配置和计数器等场景中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7D849F-00D7-3B48-9A64-9445F869D6CE}"/>
              </a:ext>
            </a:extLst>
          </p:cNvPr>
          <p:cNvSpPr/>
          <p:nvPr/>
        </p:nvSpPr>
        <p:spPr>
          <a:xfrm>
            <a:off x="7988301" y="0"/>
            <a:ext cx="4203700" cy="6858000"/>
          </a:xfrm>
          <a:prstGeom prst="rect">
            <a:avLst/>
          </a:prstGeom>
          <a:solidFill>
            <a:srgbClr val="1B1E1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4774F3-F4A9-66F1-5F07-AD028B7A5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79" y="1351359"/>
            <a:ext cx="2743341" cy="4146763"/>
          </a:xfrm>
          <a:prstGeom prst="roundRect">
            <a:avLst>
              <a:gd name="adj" fmla="val 2084"/>
            </a:avLst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790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2981-F7B6-4643-D396-47DE70A5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B40C46E-3654-D1D3-1AD4-AFFB47C017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E9C172A-FA63-2D2E-78AA-45E57524C9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031473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函数参数详解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匿名函数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5A151FD-1EAA-3D03-E200-D621E0AB0E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7565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9F87-E862-151C-B79E-7C0643FF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CF563FD-FF4E-1F9F-FC6D-2B942315BB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07B415A-6280-044F-BD4C-E513266A9A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89225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函数参数详解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传参方式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默认参数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不定长参数</a:t>
            </a:r>
            <a:endParaRPr lang="en-US" altLang="zh-CN" sz="1600"/>
          </a:p>
          <a:p>
            <a:r>
              <a:rPr lang="zh-CN" altLang="en-US"/>
              <a:t>匿名函数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9C420526-4861-9434-3FF2-6AAB937366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78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D9F1-6DDA-C65C-2C6B-47353CA1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EF0BF8-9282-BC6C-6398-EF23DE47A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8977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传参方式指的是，在调用函数时，传递实参的方式。 </a:t>
            </a:r>
            <a:endParaRPr lang="en-US" altLang="zh-CN"/>
          </a:p>
          <a:p>
            <a:r>
              <a:rPr lang="en-US" altLang="zh-CN" b="1"/>
              <a:t>1. </a:t>
            </a:r>
            <a:r>
              <a:rPr lang="zh-CN" altLang="en-US" b="1"/>
              <a:t>位置参数：</a:t>
            </a:r>
            <a:r>
              <a:rPr lang="zh-CN" altLang="en-US"/>
              <a:t>调用函数时根据函数定义时的位置来传递参数。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E0458DC-A1FF-18E2-AAF8-BB96FDB32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  <a:r>
              <a:rPr lang="en-US" altLang="zh-CN"/>
              <a:t>-</a:t>
            </a:r>
            <a:r>
              <a:rPr lang="zh-CN" altLang="en-US"/>
              <a:t>传参方式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8BC079-B711-D77A-56FC-89A74B1A5C1B}"/>
              </a:ext>
            </a:extLst>
          </p:cNvPr>
          <p:cNvGrpSpPr/>
          <p:nvPr/>
        </p:nvGrpSpPr>
        <p:grpSpPr>
          <a:xfrm>
            <a:off x="8569571" y="810814"/>
            <a:ext cx="3304127" cy="2500479"/>
            <a:chOff x="2297720" y="3660321"/>
            <a:chExt cx="3640533" cy="250062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4583B1D2-B62C-330D-C78F-E851A105A825}"/>
                </a:ext>
              </a:extLst>
            </p:cNvPr>
            <p:cNvSpPr/>
            <p:nvPr/>
          </p:nvSpPr>
          <p:spPr>
            <a:xfrm>
              <a:off x="2297729" y="3660321"/>
              <a:ext cx="3640524" cy="2500628"/>
            </a:xfrm>
            <a:prstGeom prst="roundRect">
              <a:avLst>
                <a:gd name="adj" fmla="val 32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定义函数</a:t>
              </a:r>
              <a:endParaRPr lang="en-US" altLang="zh-CN" sz="1200">
                <a:solidFill>
                  <a:srgbClr val="8C8C8C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</a:rPr>
                <a:t>def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函数名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参数列表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):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函数体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   ......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</a:rPr>
                <a:t>return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返回值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函数名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(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参数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...)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BF300A10-68ED-D06C-1717-BBC7E78EA315}"/>
                </a:ext>
              </a:extLst>
            </p:cNvPr>
            <p:cNvSpPr/>
            <p:nvPr/>
          </p:nvSpPr>
          <p:spPr>
            <a:xfrm>
              <a:off x="2297720" y="3660322"/>
              <a:ext cx="3640524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9F8687A-AF07-D6C9-DA8B-9294C58C480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3FF8A4E-6BB4-ACD3-AC3E-91AFA5E4F03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7A7B194-20C1-FBA6-6434-1CCA3482ADA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6C03867-CFB1-0D79-C958-4C9A0831330B}"/>
              </a:ext>
            </a:extLst>
          </p:cNvPr>
          <p:cNvSpPr/>
          <p:nvPr/>
        </p:nvSpPr>
        <p:spPr>
          <a:xfrm>
            <a:off x="9156844" y="3041119"/>
            <a:ext cx="596756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5882EC7-762D-E260-B096-3A1B894C4004}"/>
              </a:ext>
            </a:extLst>
          </p:cNvPr>
          <p:cNvSpPr/>
          <p:nvPr/>
        </p:nvSpPr>
        <p:spPr>
          <a:xfrm>
            <a:off x="9531494" y="1391968"/>
            <a:ext cx="615806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A8C57CA3-768F-4774-3B3D-54FD0E6A0D3A}"/>
              </a:ext>
            </a:extLst>
          </p:cNvPr>
          <p:cNvCxnSpPr>
            <a:cxnSpLocks/>
            <a:stCxn id="10" idx="3"/>
            <a:endCxn id="11" idx="3"/>
          </p:cNvCxnSpPr>
          <p:nvPr/>
        </p:nvCxnSpPr>
        <p:spPr>
          <a:xfrm flipV="1">
            <a:off x="9753600" y="1527055"/>
            <a:ext cx="393700" cy="1649151"/>
          </a:xfrm>
          <a:prstGeom prst="curvedConnector3">
            <a:avLst>
              <a:gd name="adj1" fmla="val 262904"/>
            </a:avLst>
          </a:prstGeom>
          <a:ln w="12700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E79ADB7-10DC-6994-BA43-AA27E02DA281}"/>
              </a:ext>
            </a:extLst>
          </p:cNvPr>
          <p:cNvGrpSpPr/>
          <p:nvPr/>
        </p:nvGrpSpPr>
        <p:grpSpPr>
          <a:xfrm>
            <a:off x="1025772" y="2010964"/>
            <a:ext cx="7238450" cy="2668986"/>
            <a:chOff x="2297721" y="3660321"/>
            <a:chExt cx="7975425" cy="266914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236E0FD7-3293-320E-A6EC-4CB485AC8B4F}"/>
                </a:ext>
              </a:extLst>
            </p:cNvPr>
            <p:cNvSpPr/>
            <p:nvPr/>
          </p:nvSpPr>
          <p:spPr>
            <a:xfrm>
              <a:off x="2297730" y="3660321"/>
              <a:ext cx="7975416" cy="2669145"/>
            </a:xfrm>
            <a:prstGeom prst="roundRect">
              <a:avLst>
                <a:gd name="adj" fmla="val 252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reg_stu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注册成功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城市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"gender"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"city"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lang="en-US" altLang="zh-CN" sz="11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stu = reg_stu(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北京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(stu)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CC11F433-6D98-A374-3844-524D647D2C5E}"/>
                </a:ext>
              </a:extLst>
            </p:cNvPr>
            <p:cNvSpPr/>
            <p:nvPr/>
          </p:nvSpPr>
          <p:spPr>
            <a:xfrm>
              <a:off x="2297721" y="3660322"/>
              <a:ext cx="797541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42B34D1-A381-0346-9221-253E1181A5F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D9F6E4E-44EE-86A5-3133-88740FA2AA0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CECC5F7-F761-4607-3C66-40AD63F3469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AFE25F0-0E0E-27E0-4F3C-B8ABC8550BFF}"/>
              </a:ext>
            </a:extLst>
          </p:cNvPr>
          <p:cNvSpPr txBox="1"/>
          <p:nvPr/>
        </p:nvSpPr>
        <p:spPr>
          <a:xfrm>
            <a:off x="1002595" y="4970562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要求：调用函数时参数顺序与定义函数时参数顺序完全一致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80BAA8D-673D-B859-E70A-C2D8F3F176A1}"/>
              </a:ext>
            </a:extLst>
          </p:cNvPr>
          <p:cNvCxnSpPr>
            <a:cxnSpLocks/>
          </p:cNvCxnSpPr>
          <p:nvPr/>
        </p:nvCxnSpPr>
        <p:spPr>
          <a:xfrm>
            <a:off x="2260600" y="4368800"/>
            <a:ext cx="19177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AF3A3C2-580D-5965-848B-E404938D8107}"/>
              </a:ext>
            </a:extLst>
          </p:cNvPr>
          <p:cNvCxnSpPr>
            <a:cxnSpLocks/>
          </p:cNvCxnSpPr>
          <p:nvPr/>
        </p:nvCxnSpPr>
        <p:spPr>
          <a:xfrm>
            <a:off x="2095500" y="2882900"/>
            <a:ext cx="2000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52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animBg="1"/>
      <p:bldP spid="11" grpId="0" animBg="1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E598-DF3D-55F2-0A6C-478635FD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347892-8629-E54B-6E7E-9ABD5F07B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8977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传参方式指的是，在调用函数时，传递实参的方式。 </a:t>
            </a:r>
            <a:endParaRPr lang="en-US" altLang="zh-CN"/>
          </a:p>
          <a:p>
            <a:r>
              <a:rPr lang="en-US" altLang="zh-CN" b="1"/>
              <a:t>2. </a:t>
            </a:r>
            <a:r>
              <a:rPr lang="zh-CN" altLang="en-US" b="1"/>
              <a:t>关键字参数：</a:t>
            </a:r>
            <a:r>
              <a:rPr lang="zh-CN" altLang="en-US"/>
              <a:t>调用函数时以函数定义时形参名称作为关键字，以 </a:t>
            </a:r>
            <a:r>
              <a:rPr lang="en-US" altLang="zh-CN"/>
              <a:t>"</a:t>
            </a:r>
            <a:r>
              <a:rPr lang="zh-CN" altLang="en-US"/>
              <a:t>键</a:t>
            </a:r>
            <a:r>
              <a:rPr lang="en-US" altLang="zh-CN"/>
              <a:t>=</a:t>
            </a:r>
            <a:r>
              <a:rPr lang="zh-CN" altLang="en-US"/>
              <a:t>值</a:t>
            </a:r>
            <a:r>
              <a:rPr lang="en-US" altLang="zh-CN"/>
              <a:t>" </a:t>
            </a:r>
            <a:r>
              <a:rPr lang="zh-CN" altLang="en-US"/>
              <a:t>的形式来传递参数</a:t>
            </a:r>
            <a:r>
              <a:rPr lang="en-US" altLang="zh-CN"/>
              <a:t>(</a:t>
            </a:r>
            <a:r>
              <a:rPr lang="zh-CN" altLang="en-US"/>
              <a:t>不要求顺序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8FD97C0-9647-9C31-216F-8494705F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  <a:r>
              <a:rPr lang="en-US" altLang="zh-CN"/>
              <a:t>-</a:t>
            </a:r>
            <a:r>
              <a:rPr lang="zh-CN" altLang="en-US"/>
              <a:t>传参方式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44BC1F6-D187-B605-D03E-A6A9B212A27B}"/>
              </a:ext>
            </a:extLst>
          </p:cNvPr>
          <p:cNvGrpSpPr/>
          <p:nvPr/>
        </p:nvGrpSpPr>
        <p:grpSpPr>
          <a:xfrm>
            <a:off x="1025772" y="2010964"/>
            <a:ext cx="7238450" cy="3500836"/>
            <a:chOff x="2297721" y="3660321"/>
            <a:chExt cx="7975425" cy="350104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E2494E8-BD17-C367-2020-4D93AF4B35A0}"/>
                </a:ext>
              </a:extLst>
            </p:cNvPr>
            <p:cNvSpPr/>
            <p:nvPr/>
          </p:nvSpPr>
          <p:spPr>
            <a:xfrm>
              <a:off x="2297730" y="3660321"/>
              <a:ext cx="7975416" cy="3501045"/>
            </a:xfrm>
            <a:prstGeom prst="roundRect">
              <a:avLst>
                <a:gd name="adj" fmla="val 155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reg_stu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注册成功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,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城市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1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"gender"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"city"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lang="en-US" altLang="zh-CN" sz="11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1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stu = reg_stu(name=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age=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gender=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city=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北京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(stu)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stu2 = reg_stu(gender=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, name=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王武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, city=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上海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,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age=22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(stu2)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stu2 = reg_stu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Fira Code" panose="020B0809050000020004" pitchFamily="49" charset="0"/>
                </a:rPr>
                <a:t>赵四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, 28, gender=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男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, city=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latin typeface="Courier New" panose="02070309020205020404" pitchFamily="49" charset="0"/>
                </a:rPr>
                <a:t>上海</a:t>
              </a:r>
              <a:r>
                <a:rPr lang="en-US" altLang="zh-CN" sz="11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(stu2)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36FC8EA0-A0BE-0633-2FC8-15F006935F30}"/>
                </a:ext>
              </a:extLst>
            </p:cNvPr>
            <p:cNvSpPr/>
            <p:nvPr/>
          </p:nvSpPr>
          <p:spPr>
            <a:xfrm>
              <a:off x="2297721" y="3660322"/>
              <a:ext cx="797541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D20BD72-5410-F622-2161-7A4996B3CCE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9348F0F-ABB9-8D36-EBCE-9AE9E2083E0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BDB19EF-A320-E977-68C5-B863C1ECE53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79EA220-AC55-2787-9E09-C8619EB6B80F}"/>
              </a:ext>
            </a:extLst>
          </p:cNvPr>
          <p:cNvCxnSpPr>
            <a:cxnSpLocks/>
          </p:cNvCxnSpPr>
          <p:nvPr/>
        </p:nvCxnSpPr>
        <p:spPr>
          <a:xfrm>
            <a:off x="2279650" y="4045694"/>
            <a:ext cx="3683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229AD01-DA7F-2C04-7B59-01259DA4B249}"/>
              </a:ext>
            </a:extLst>
          </p:cNvPr>
          <p:cNvCxnSpPr>
            <a:cxnSpLocks/>
          </p:cNvCxnSpPr>
          <p:nvPr/>
        </p:nvCxnSpPr>
        <p:spPr>
          <a:xfrm>
            <a:off x="2368550" y="4648200"/>
            <a:ext cx="36766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1FD1101-EB12-685C-29F3-E805139895C3}"/>
              </a:ext>
            </a:extLst>
          </p:cNvPr>
          <p:cNvSpPr txBox="1"/>
          <p:nvPr/>
        </p:nvSpPr>
        <p:spPr>
          <a:xfrm>
            <a:off x="903769" y="6043424"/>
            <a:ext cx="1095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要求：如果位置参数与关键字参数混用</a:t>
            </a:r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 关键字参数必须在位置参数之后</a:t>
            </a:r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(</a:t>
            </a:r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关键字参数之间</a:t>
            </a:r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没有顺序要求</a:t>
            </a:r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)</a:t>
            </a:r>
            <a:endParaRPr lang="zh-CN" altLang="en-US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F3568B9-1498-FE25-821C-F7F4E98DDE88}"/>
              </a:ext>
            </a:extLst>
          </p:cNvPr>
          <p:cNvCxnSpPr>
            <a:cxnSpLocks/>
          </p:cNvCxnSpPr>
          <p:nvPr/>
        </p:nvCxnSpPr>
        <p:spPr>
          <a:xfrm>
            <a:off x="2089150" y="2870200"/>
            <a:ext cx="2000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4AC2517-1CA5-ECDB-8305-4375C949FD01}"/>
              </a:ext>
            </a:extLst>
          </p:cNvPr>
          <p:cNvCxnSpPr>
            <a:cxnSpLocks/>
          </p:cNvCxnSpPr>
          <p:nvPr/>
        </p:nvCxnSpPr>
        <p:spPr>
          <a:xfrm>
            <a:off x="2324100" y="5207000"/>
            <a:ext cx="29527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ED454378-0278-9DD5-3BDD-C97DB299AC45}"/>
              </a:ext>
            </a:extLst>
          </p:cNvPr>
          <p:cNvSpPr txBox="1"/>
          <p:nvPr/>
        </p:nvSpPr>
        <p:spPr>
          <a:xfrm>
            <a:off x="2368550" y="525070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位置参数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71750D5-5047-D403-5633-44E9F7F4B7E4}"/>
              </a:ext>
            </a:extLst>
          </p:cNvPr>
          <p:cNvSpPr txBox="1"/>
          <p:nvPr/>
        </p:nvSpPr>
        <p:spPr>
          <a:xfrm>
            <a:off x="3800475" y="5248701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>
                <a:solidFill>
                  <a:srgbClr val="C00000"/>
                </a:solidFill>
              </a:rPr>
              <a:t>关键字参数</a:t>
            </a:r>
          </a:p>
        </p:txBody>
      </p:sp>
    </p:spTree>
    <p:extLst>
      <p:ext uri="{BB962C8B-B14F-4D97-AF65-F5344CB8AC3E}">
        <p14:creationId xmlns:p14="http://schemas.microsoft.com/office/powerpoint/2010/main" val="271371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/>
      <p:bldP spid="5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D64DB-9C49-7B7E-88AD-ADC64A05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位置参数 </a:t>
            </a:r>
            <a:r>
              <a:rPr lang="en-US" altLang="zh-CN"/>
              <a:t>vs </a:t>
            </a:r>
            <a:r>
              <a:rPr lang="zh-CN" altLang="en-US"/>
              <a:t>关键字参数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1BDFFA2-2DBF-ED7C-258B-8D192AD239BB}"/>
              </a:ext>
            </a:extLst>
          </p:cNvPr>
          <p:cNvGrpSpPr/>
          <p:nvPr/>
        </p:nvGrpSpPr>
        <p:grpSpPr>
          <a:xfrm>
            <a:off x="724830" y="1021326"/>
            <a:ext cx="5004639" cy="2497374"/>
            <a:chOff x="2297721" y="3660321"/>
            <a:chExt cx="5514181" cy="249752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313A0FF-249F-8719-62F6-1A760611D0B1}"/>
                </a:ext>
              </a:extLst>
            </p:cNvPr>
            <p:cNvSpPr/>
            <p:nvPr/>
          </p:nvSpPr>
          <p:spPr>
            <a:xfrm>
              <a:off x="2297730" y="3660321"/>
              <a:ext cx="5514172" cy="2497523"/>
            </a:xfrm>
            <a:prstGeom prst="roundRect">
              <a:avLst>
                <a:gd name="adj" fmla="val 252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reg_stu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9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注册成功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,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城市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"gender"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"city"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lang="en-US" altLang="zh-CN" sz="9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9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9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stu = reg_stu(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北京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(stu)</a:t>
              </a:r>
            </a:p>
          </p:txBody>
        </p:sp>
        <p:sp>
          <p:nvSpPr>
            <p:cNvPr id="5" name="矩形: 圆顶角 4">
              <a:extLst>
                <a:ext uri="{FF2B5EF4-FFF2-40B4-BE49-F238E27FC236}">
                  <a16:creationId xmlns:a16="http://schemas.microsoft.com/office/drawing/2014/main" id="{2923789E-544B-5FDD-0747-0DEB0F17794E}"/>
                </a:ext>
              </a:extLst>
            </p:cNvPr>
            <p:cNvSpPr/>
            <p:nvPr/>
          </p:nvSpPr>
          <p:spPr>
            <a:xfrm>
              <a:off x="2297721" y="3660322"/>
              <a:ext cx="551417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位置参数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52418E5-6771-3807-8E98-0D1D428138E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93BFF38-786E-FBE5-FFB2-591C04913A2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06F961A-0A69-9BE7-4046-50E1E97AE91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EB5C8E-3281-9A57-2AC6-54355E049E04}"/>
              </a:ext>
            </a:extLst>
          </p:cNvPr>
          <p:cNvGrpSpPr/>
          <p:nvPr/>
        </p:nvGrpSpPr>
        <p:grpSpPr>
          <a:xfrm>
            <a:off x="6296121" y="1021326"/>
            <a:ext cx="5070228" cy="2497374"/>
            <a:chOff x="2297721" y="3660322"/>
            <a:chExt cx="5586448" cy="249752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8D53E72-58CC-F185-A101-DC3A6042FF81}"/>
                </a:ext>
              </a:extLst>
            </p:cNvPr>
            <p:cNvSpPr/>
            <p:nvPr/>
          </p:nvSpPr>
          <p:spPr>
            <a:xfrm>
              <a:off x="2297730" y="3660322"/>
              <a:ext cx="5586439" cy="2497523"/>
            </a:xfrm>
            <a:prstGeom prst="roundRect">
              <a:avLst>
                <a:gd name="adj" fmla="val 294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9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reg_stu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9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注册成功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,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城市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9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"gender"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"city"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9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lang="en-US" altLang="zh-CN" sz="9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9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stu = reg_stu(name=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age=</a:t>
              </a:r>
              <a:r>
                <a:rPr lang="en-US" altLang="zh-CN" sz="9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gender=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city=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北京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endParaRPr lang="en-US" altLang="zh-CN" sz="9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stu2 = reg_stu(gender=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latin typeface="Courier New" panose="02070309020205020404" pitchFamily="49" charset="0"/>
                </a:rPr>
                <a:t>男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, name=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latin typeface="Courier New" panose="02070309020205020404" pitchFamily="49" charset="0"/>
                </a:rPr>
                <a:t>王武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, city=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latin typeface="Courier New" panose="02070309020205020404" pitchFamily="49" charset="0"/>
                </a:rPr>
                <a:t>上海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,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9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age=22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1" name="矩形: 圆顶角 10">
              <a:extLst>
                <a:ext uri="{FF2B5EF4-FFF2-40B4-BE49-F238E27FC236}">
                  <a16:creationId xmlns:a16="http://schemas.microsoft.com/office/drawing/2014/main" id="{7BDB9F8B-CDC9-37DE-D944-5FF0AC92E63B}"/>
                </a:ext>
              </a:extLst>
            </p:cNvPr>
            <p:cNvSpPr/>
            <p:nvPr/>
          </p:nvSpPr>
          <p:spPr>
            <a:xfrm>
              <a:off x="2297721" y="3660322"/>
              <a:ext cx="558643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关键字参数</a:t>
              </a:r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EB17091-2F65-9A81-DDD1-3A1774CC908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FB10594-450A-8271-969E-2B2A4A0E8C7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E0D236C-A442-A25B-1F61-A3B933FC980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5920A8D-6783-50EC-C9F2-86ECFD24E942}"/>
              </a:ext>
            </a:extLst>
          </p:cNvPr>
          <p:cNvSpPr txBox="1"/>
          <p:nvPr/>
        </p:nvSpPr>
        <p:spPr>
          <a:xfrm>
            <a:off x="631993" y="3566755"/>
            <a:ext cx="4906493" cy="1184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00B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优点：简洁</a:t>
            </a:r>
            <a:endParaRPr lang="en-US" altLang="zh-CN" sz="1400">
              <a:solidFill>
                <a:srgbClr val="00B05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缺点：可读性差、易出错、维护难</a:t>
            </a:r>
            <a:endParaRPr lang="en-US" altLang="zh-CN" sz="14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场景：参数少（不超多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3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个），且顺序自然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2C97F26-9CF2-0603-B78F-6833A32D030F}"/>
              </a:ext>
            </a:extLst>
          </p:cNvPr>
          <p:cNvSpPr/>
          <p:nvPr/>
        </p:nvSpPr>
        <p:spPr>
          <a:xfrm>
            <a:off x="724838" y="5309503"/>
            <a:ext cx="5004631" cy="396814"/>
          </a:xfrm>
          <a:prstGeom prst="roundRect">
            <a:avLst>
              <a:gd name="adj" fmla="val 7742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s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= 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calc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87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6</a:t>
            </a:r>
            <a:r>
              <a:rPr lang="en-US" altLang="zh-CN" sz="10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8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92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85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E3DA278-C42B-AA81-00CA-088E3DF14EA9}"/>
              </a:ext>
            </a:extLst>
          </p:cNvPr>
          <p:cNvSpPr/>
          <p:nvPr/>
        </p:nvSpPr>
        <p:spPr>
          <a:xfrm>
            <a:off x="6328919" y="5309501"/>
            <a:ext cx="5004631" cy="396815"/>
          </a:xfrm>
          <a:prstGeom prst="roundRect">
            <a:avLst>
              <a:gd name="adj" fmla="val 7742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s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 = calc(math=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87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-US" altLang="zh-CN" sz="1000">
                <a:solidFill>
                  <a:srgbClr val="080808"/>
                </a:solidFill>
                <a:latin typeface="Fira Code" panose="020B0809050000020004" pitchFamily="49" charset="0"/>
              </a:rPr>
              <a:t>chinese=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6</a:t>
            </a:r>
            <a:r>
              <a:rPr lang="en-US" altLang="zh-CN" sz="1000">
                <a:solidFill>
                  <a:srgbClr val="1750EB"/>
                </a:solidFill>
                <a:effectLst/>
                <a:latin typeface="Fira Code" panose="020B0809050000020004" pitchFamily="49" charset="0"/>
              </a:rPr>
              <a:t>8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english=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92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, computer=</a:t>
            </a:r>
            <a:r>
              <a:rPr lang="en-US" altLang="zh-CN" sz="1000">
                <a:solidFill>
                  <a:srgbClr val="1750EB"/>
                </a:solidFill>
                <a:latin typeface="Fira Code" panose="020B0809050000020004" pitchFamily="49" charset="0"/>
              </a:rPr>
              <a:t>85</a:t>
            </a:r>
            <a:r>
              <a:rPr lang="en-US" altLang="zh-CN" sz="10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70CD1E4-84C0-3506-73D8-4FBA4BBFC362}"/>
              </a:ext>
            </a:extLst>
          </p:cNvPr>
          <p:cNvSpPr txBox="1"/>
          <p:nvPr/>
        </p:nvSpPr>
        <p:spPr>
          <a:xfrm>
            <a:off x="6183983" y="3566755"/>
            <a:ext cx="3731661" cy="1184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00B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优点：可读性强、易维护和扩展</a:t>
            </a:r>
            <a:endParaRPr lang="en-US" altLang="zh-CN" sz="1400">
              <a:solidFill>
                <a:srgbClr val="00B05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缺点：代码繁琐</a:t>
            </a:r>
            <a:endParaRPr lang="en-US" altLang="zh-CN" sz="1400">
              <a:solidFill>
                <a:srgbClr val="00B05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场景：参数较多，或易混淆的场景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8E6333-C0B3-8010-479E-BFB028CB82AB}"/>
              </a:ext>
            </a:extLst>
          </p:cNvPr>
          <p:cNvSpPr txBox="1"/>
          <p:nvPr/>
        </p:nvSpPr>
        <p:spPr>
          <a:xfrm>
            <a:off x="1286995" y="6353520"/>
            <a:ext cx="10018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B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黄金法则：半年后回头看你今天写的代码，能否一眼看出每个参数的含义，如果不能，就应该使用关键字参数。</a:t>
            </a:r>
          </a:p>
        </p:txBody>
      </p:sp>
    </p:spTree>
    <p:extLst>
      <p:ext uri="{BB962C8B-B14F-4D97-AF65-F5344CB8AC3E}">
        <p14:creationId xmlns:p14="http://schemas.microsoft.com/office/powerpoint/2010/main" val="171909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  <p:bldP spid="3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46BE-B223-A550-F00F-87E6286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DA9FECF-2674-71C1-4839-0CFCB56269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3232" y="2103197"/>
            <a:ext cx="717008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位置参数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调用函数时，传入的实参的顺序与定义函数时形参的顺序完全一致。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关键字参数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调用函数时，通过 </a:t>
            </a:r>
            <a:r>
              <a:rPr lang="en-US" altLang="zh-CN" sz="1400"/>
              <a:t>"</a:t>
            </a:r>
            <a:r>
              <a:rPr lang="zh-CN" altLang="en-US" sz="1400"/>
              <a:t>形参名</a:t>
            </a:r>
            <a:r>
              <a:rPr lang="en-US" altLang="zh-CN" sz="1400"/>
              <a:t>=</a:t>
            </a:r>
            <a:r>
              <a:rPr lang="zh-CN" altLang="en-US" sz="1400"/>
              <a:t>值</a:t>
            </a:r>
            <a:r>
              <a:rPr lang="en-US" altLang="zh-CN" sz="1400"/>
              <a:t>" </a:t>
            </a:r>
            <a:r>
              <a:rPr lang="zh-CN" altLang="en-US" sz="1400"/>
              <a:t>的形式传递参数，顺序没有要求。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如果同时存在位置参数与关键字参数，位置参数在前，关键字参数在后。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两种传参方式的适用场景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一切以代码结构清晰明了（可读性）、便于维护（维护性）为目标。</a:t>
            </a: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如果参数比较少（不超过</a:t>
            </a: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3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个），可直接使用位置参数。</a:t>
            </a: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如果参数数量较多，建议使用关键字参数。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E5ACD23-0E96-DF4C-179D-9E70FC37A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541" y="0"/>
            <a:ext cx="4939954" cy="2632699"/>
          </a:xfrm>
          <a:prstGeom prst="roundRect">
            <a:avLst>
              <a:gd name="adj" fmla="val 2326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340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3454-E898-CEA3-ECB9-7209FD03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DFBA7CA-6AC9-C5E5-8FD9-3DA3167356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6A2F023-0AF2-BB77-E2A4-7C5B7EF10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514073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函数参数详解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传参方式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默认参数</a:t>
            </a:r>
            <a:endParaRPr lang="en-US" altLang="zh-CN" sz="160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不定长参数</a:t>
            </a:r>
            <a:endParaRPr lang="en-US" altLang="zh-CN" sz="1600"/>
          </a:p>
          <a:p>
            <a:r>
              <a:rPr lang="zh-CN" altLang="en-US"/>
              <a:t>匿名函数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FEC816-C893-E6DF-FA86-FD73C35935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82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BF0CB-7E1A-EA7E-1B89-EEF62792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60AAD7-BD9C-A51B-904F-2719F3454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默认参数也称为缺省参数，用于在定义函数时，为参数提供默认值，调用函数时，可以不传递有默认值的参数。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E6B233E-4D0C-731E-2CEC-EB4E2F50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默认参数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4CBC1C-54B6-F161-D5A1-98CB07CAC7E6}"/>
              </a:ext>
            </a:extLst>
          </p:cNvPr>
          <p:cNvGrpSpPr/>
          <p:nvPr/>
        </p:nvGrpSpPr>
        <p:grpSpPr>
          <a:xfrm>
            <a:off x="945305" y="1576082"/>
            <a:ext cx="6815520" cy="3065366"/>
            <a:chOff x="2297721" y="3660320"/>
            <a:chExt cx="7509435" cy="3065549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D505754-4BC8-4764-5A7A-298C55B64D77}"/>
                </a:ext>
              </a:extLst>
            </p:cNvPr>
            <p:cNvSpPr/>
            <p:nvPr/>
          </p:nvSpPr>
          <p:spPr>
            <a:xfrm>
              <a:off x="2297730" y="3660320"/>
              <a:ext cx="7509426" cy="3065549"/>
            </a:xfrm>
            <a:prstGeom prst="roundRect">
              <a:avLst>
                <a:gd name="adj" fmla="val 176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0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0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reg_stu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city=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北京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注册成功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,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姓名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年龄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性别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}, 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城市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: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0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"name"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"age"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"gender"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gender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"city"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0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city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}</a:t>
              </a:r>
              <a:endParaRPr lang="en-US" altLang="zh-CN" sz="1000">
                <a:solidFill>
                  <a:schemeClr val="tx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0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000">
                  <a:solidFill>
                    <a:srgbClr val="8C8C8C"/>
                  </a:solidFill>
                  <a:effectLst/>
                </a:rPr>
                <a:t>调用函数</a:t>
              </a:r>
              <a:endParaRPr lang="en-US" altLang="zh-CN" sz="10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stu = reg_stu(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张三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18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0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男</a:t>
              </a:r>
              <a:r>
                <a:rPr lang="en-US" altLang="zh-CN" sz="10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(stu)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stu = reg_stu(</a:t>
              </a:r>
              <a:r>
                <a:rPr lang="en-US" altLang="zh-CN" sz="10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000">
                  <a:solidFill>
                    <a:srgbClr val="067D17"/>
                  </a:solidFill>
                  <a:latin typeface="Courier New" panose="02070309020205020404" pitchFamily="49" charset="0"/>
                </a:rPr>
                <a:t>赵四</a:t>
              </a:r>
              <a:r>
                <a:rPr lang="en-US" altLang="zh-CN" sz="10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1750EB"/>
                  </a:solidFill>
                  <a:latin typeface="Fira Code" panose="020B0809050000020004" pitchFamily="49" charset="0"/>
                </a:rPr>
                <a:t>22</a:t>
              </a: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000">
                  <a:solidFill>
                    <a:srgbClr val="067D17"/>
                  </a:solidFill>
                  <a:latin typeface="Courier New" panose="02070309020205020404" pitchFamily="49" charset="0"/>
                </a:rPr>
                <a:t>男</a:t>
              </a:r>
              <a:r>
                <a:rPr lang="en-US" altLang="zh-CN" sz="10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0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000">
                  <a:solidFill>
                    <a:srgbClr val="067D17"/>
                  </a:solidFill>
                  <a:latin typeface="Courier New" panose="02070309020205020404" pitchFamily="49" charset="0"/>
                </a:rPr>
                <a:t>深圳</a:t>
              </a:r>
              <a:r>
                <a:rPr lang="en-US" altLang="zh-CN" sz="10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1000">
                  <a:solidFill>
                    <a:srgbClr val="000080"/>
                  </a:solidFill>
                  <a:latin typeface="Fira Code" panose="020B0809050000020004" pitchFamily="49" charset="0"/>
                </a:rPr>
                <a:t>print</a:t>
              </a:r>
              <a:r>
                <a:rPr lang="en-US" altLang="zh-CN" sz="1000">
                  <a:solidFill>
                    <a:srgbClr val="080808"/>
                  </a:solidFill>
                  <a:latin typeface="Fira Code" panose="020B0809050000020004" pitchFamily="49" charset="0"/>
                </a:rPr>
                <a:t>(stu)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0A2D42D-2608-4D3F-015A-A9E44469AEB8}"/>
                </a:ext>
              </a:extLst>
            </p:cNvPr>
            <p:cNvSpPr/>
            <p:nvPr/>
          </p:nvSpPr>
          <p:spPr>
            <a:xfrm>
              <a:off x="2297721" y="3660322"/>
              <a:ext cx="750942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0B0EDF9-6FF9-2CB0-1691-164C04CE052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D050F41-B0A5-157E-7252-7045F86BD7DE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E74E1FB-8D73-D42C-053E-935D07F8712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8FC37F-1D1B-A140-ECF7-C17C42D79F92}"/>
              </a:ext>
            </a:extLst>
          </p:cNvPr>
          <p:cNvSpPr/>
          <p:nvPr/>
        </p:nvSpPr>
        <p:spPr>
          <a:xfrm>
            <a:off x="3368234" y="2170253"/>
            <a:ext cx="839164" cy="225706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202BA74-09BA-810F-828A-0F359BCAFAD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207398" y="2283106"/>
            <a:ext cx="891251" cy="0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4C931CC-BED9-E8D0-E004-1C2C83DC842C}"/>
              </a:ext>
            </a:extLst>
          </p:cNvPr>
          <p:cNvSpPr txBox="1"/>
          <p:nvPr/>
        </p:nvSpPr>
        <p:spPr>
          <a:xfrm>
            <a:off x="5098649" y="21292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  <a:latin typeface="+mn-ea"/>
              </a:rPr>
              <a:t>默认值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0F4A472-88AA-956C-B983-945A7A5D450F}"/>
              </a:ext>
            </a:extLst>
          </p:cNvPr>
          <p:cNvGrpSpPr/>
          <p:nvPr/>
        </p:nvGrpSpPr>
        <p:grpSpPr>
          <a:xfrm>
            <a:off x="945305" y="5883848"/>
            <a:ext cx="10480694" cy="348335"/>
            <a:chOff x="4685665" y="1834757"/>
            <a:chExt cx="10552693" cy="348335"/>
          </a:xfrm>
        </p:grpSpPr>
        <p:sp>
          <p:nvSpPr>
            <p:cNvPr id="16" name="ComponentBackground2">
              <a:extLst>
                <a:ext uri="{FF2B5EF4-FFF2-40B4-BE49-F238E27FC236}">
                  <a16:creationId xmlns:a16="http://schemas.microsoft.com/office/drawing/2014/main" id="{F3E1BB9A-BFB4-D49D-E117-C593839D48F1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默认参数必须放在没有默认值的参数列表的后面，一个函数在定义时是可以设置多个默认参数的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7" name="Shape2">
              <a:extLst>
                <a:ext uri="{FF2B5EF4-FFF2-40B4-BE49-F238E27FC236}">
                  <a16:creationId xmlns:a16="http://schemas.microsoft.com/office/drawing/2014/main" id="{A5BFB016-32F3-0D5B-3887-D867CFA86720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DE547E5-2DE4-0442-9282-46529E7EF4D0}"/>
              </a:ext>
            </a:extLst>
          </p:cNvPr>
          <p:cNvGrpSpPr/>
          <p:nvPr/>
        </p:nvGrpSpPr>
        <p:grpSpPr>
          <a:xfrm>
            <a:off x="945305" y="6296853"/>
            <a:ext cx="10480694" cy="348335"/>
            <a:chOff x="4685665" y="1834757"/>
            <a:chExt cx="10552693" cy="348335"/>
          </a:xfrm>
        </p:grpSpPr>
        <p:sp>
          <p:nvSpPr>
            <p:cNvPr id="19" name="ComponentBackground2">
              <a:extLst>
                <a:ext uri="{FF2B5EF4-FFF2-40B4-BE49-F238E27FC236}">
                  <a16:creationId xmlns:a16="http://schemas.microsoft.com/office/drawing/2014/main" id="{7D2110F6-D530-7528-80BB-D73D891A9E31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函数调用时，如果为默认参数传递了值，则会修改默认的参数值；如果没有传递该参数，则直接使用默认值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0" name="Shape2">
              <a:extLst>
                <a:ext uri="{FF2B5EF4-FFF2-40B4-BE49-F238E27FC236}">
                  <a16:creationId xmlns:a16="http://schemas.microsoft.com/office/drawing/2014/main" id="{67C08D86-F542-943D-8F62-C1835EA9098D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018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07453A-BDE2-A4B4-A61C-8FDC0B57B0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236" y="1735811"/>
            <a:ext cx="7669864" cy="21630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/>
              <a:t>需求：定义函数，根据传入的数据，计算这批数据中的最小值、最大值、平均值。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EAB9CC9-F29F-C030-BF5C-EA18317A9E57}"/>
              </a:ext>
            </a:extLst>
          </p:cNvPr>
          <p:cNvGrpSpPr/>
          <p:nvPr/>
        </p:nvGrpSpPr>
        <p:grpSpPr>
          <a:xfrm>
            <a:off x="4634655" y="3220731"/>
            <a:ext cx="3582246" cy="1249668"/>
            <a:chOff x="2297721" y="3660320"/>
            <a:chExt cx="3946968" cy="124974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A47E1C1-6AAF-7159-A620-857F1AEC549D}"/>
                </a:ext>
              </a:extLst>
            </p:cNvPr>
            <p:cNvSpPr/>
            <p:nvPr/>
          </p:nvSpPr>
          <p:spPr>
            <a:xfrm>
              <a:off x="2297730" y="3660320"/>
              <a:ext cx="3946959" cy="1249743"/>
            </a:xfrm>
            <a:prstGeom prst="roundRect">
              <a:avLst>
                <a:gd name="adj" fmla="val 430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latin typeface="Fira Code" panose="020B0809050000020004" pitchFamily="49" charset="0"/>
                </a:rPr>
                <a:t>calc_data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zh-CN" altLang="en-US" sz="1100">
                  <a:solidFill>
                    <a:srgbClr val="080808"/>
                  </a:solidFill>
                  <a:latin typeface="Fira Code" panose="020B0809050000020004" pitchFamily="49" charset="0"/>
                </a:rPr>
                <a:t>参数列表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......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38E270B2-5338-37F4-7707-B7FE7517F5C3}"/>
                </a:ext>
              </a:extLst>
            </p:cNvPr>
            <p:cNvSpPr/>
            <p:nvPr/>
          </p:nvSpPr>
          <p:spPr>
            <a:xfrm>
              <a:off x="2297721" y="3660322"/>
              <a:ext cx="394695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4552DAF-A1B7-F94A-2DEC-612A7937A27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248077B-E3E0-3166-F265-E16B407430B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62EE565-C506-EFC6-F554-1C1FDAD641F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C26DD7-2415-8D31-727A-BBC5A544B947}"/>
              </a:ext>
            </a:extLst>
          </p:cNvPr>
          <p:cNvCxnSpPr/>
          <p:nvPr/>
        </p:nvCxnSpPr>
        <p:spPr>
          <a:xfrm>
            <a:off x="5886450" y="4064000"/>
            <a:ext cx="5715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912C78E-ABD2-C725-9A8E-8EB809191DB7}"/>
              </a:ext>
            </a:extLst>
          </p:cNvPr>
          <p:cNvCxnSpPr/>
          <p:nvPr/>
        </p:nvCxnSpPr>
        <p:spPr>
          <a:xfrm>
            <a:off x="6451600" y="4064000"/>
            <a:ext cx="0" cy="730250"/>
          </a:xfrm>
          <a:prstGeom prst="straightConnector1">
            <a:avLst/>
          </a:prstGeom>
          <a:ln w="63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2AA37CC-73E9-A033-9791-6F6317725696}"/>
              </a:ext>
            </a:extLst>
          </p:cNvPr>
          <p:cNvSpPr txBox="1"/>
          <p:nvPr/>
        </p:nvSpPr>
        <p:spPr>
          <a:xfrm>
            <a:off x="6292850" y="483870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问题：有多少个参数呢？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39A82-032F-81CB-C273-93146F22AB0E}"/>
              </a:ext>
            </a:extLst>
          </p:cNvPr>
          <p:cNvSpPr txBox="1"/>
          <p:nvPr/>
        </p:nvSpPr>
        <p:spPr>
          <a:xfrm>
            <a:off x="9226550" y="48387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不确定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D37FDE4-FC00-F015-241C-7B45FE4B8DD4}"/>
              </a:ext>
            </a:extLst>
          </p:cNvPr>
          <p:cNvSpPr/>
          <p:nvPr/>
        </p:nvSpPr>
        <p:spPr>
          <a:xfrm>
            <a:off x="5088976" y="5336383"/>
            <a:ext cx="6128297" cy="1052617"/>
          </a:xfrm>
          <a:prstGeom prst="roundRect">
            <a:avLst>
              <a:gd name="adj" fmla="val 4307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ts val="2400"/>
              </a:lnSpc>
              <a:spcBef>
                <a:spcPts val="600"/>
              </a:spcBef>
            </a:pPr>
            <a:r>
              <a:rPr lang="en-US" altLang="zh-CN" sz="11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min_v, max_v, avg_v </a:t>
            </a:r>
            <a:r>
              <a:rPr lang="en-US" altLang="zh-CN" sz="1100">
                <a:solidFill>
                  <a:srgbClr val="00627A"/>
                </a:solidFill>
                <a:latin typeface="Fira Code" panose="020B0809050000020004" pitchFamily="49" charset="0"/>
              </a:rPr>
              <a:t>= calc_data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(389, 39, 29, 105)</a:t>
            </a:r>
            <a:endParaRPr lang="en-US" altLang="zh-CN" sz="1100">
              <a:solidFill>
                <a:srgbClr val="00627A"/>
              </a:solidFill>
              <a:latin typeface="Fira Code" panose="020B08090500000200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zh-CN" sz="11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min_v, max_v, avg_v = </a:t>
            </a:r>
            <a:r>
              <a:rPr lang="en-US" altLang="zh-CN" sz="1100">
                <a:solidFill>
                  <a:srgbClr val="00627A"/>
                </a:solidFill>
                <a:latin typeface="Fira Code" panose="020B0809050000020004" pitchFamily="49" charset="0"/>
              </a:rPr>
              <a:t>calc_data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(15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, 18, 3, 27, 89, 35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en-US" altLang="zh-CN" sz="1100" i="1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min_v, max_v, avg_v = </a:t>
            </a:r>
            <a:r>
              <a:rPr lang="en-US" altLang="zh-CN" sz="1100">
                <a:solidFill>
                  <a:srgbClr val="00627A"/>
                </a:solidFill>
                <a:latin typeface="Fira Code" panose="020B0809050000020004" pitchFamily="49" charset="0"/>
              </a:rPr>
              <a:t>calc_data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(100, 45, 78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，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15, 183, 96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，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27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，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89, 35)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FBB23E9-D1CA-36FA-F8FE-FB233DB00EDA}"/>
              </a:ext>
            </a:extLst>
          </p:cNvPr>
          <p:cNvGrpSpPr/>
          <p:nvPr/>
        </p:nvGrpSpPr>
        <p:grpSpPr>
          <a:xfrm>
            <a:off x="8312590" y="3220731"/>
            <a:ext cx="3582246" cy="1249668"/>
            <a:chOff x="2297721" y="3660320"/>
            <a:chExt cx="3946968" cy="1249743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67DAE70-49B9-E5F4-0B05-D7F0970D2F79}"/>
                </a:ext>
              </a:extLst>
            </p:cNvPr>
            <p:cNvSpPr/>
            <p:nvPr/>
          </p:nvSpPr>
          <p:spPr>
            <a:xfrm>
              <a:off x="2297730" y="3660320"/>
              <a:ext cx="3946959" cy="1249743"/>
            </a:xfrm>
            <a:prstGeom prst="roundRect">
              <a:avLst>
                <a:gd name="adj" fmla="val 430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latin typeface="Fira Code" panose="020B0809050000020004" pitchFamily="49" charset="0"/>
                </a:rPr>
                <a:t>calc_data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(a,</a:t>
              </a:r>
              <a:r>
                <a:rPr lang="zh-CN" altLang="en-US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b,</a:t>
              </a:r>
              <a:r>
                <a:rPr lang="zh-CN" altLang="en-US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c,</a:t>
              </a:r>
              <a:r>
                <a:rPr lang="zh-CN" altLang="en-US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......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1DB7E4DD-5B4B-7D5D-DB82-E6A3CF643B1E}"/>
                </a:ext>
              </a:extLst>
            </p:cNvPr>
            <p:cNvSpPr/>
            <p:nvPr/>
          </p:nvSpPr>
          <p:spPr>
            <a:xfrm>
              <a:off x="2297721" y="3660322"/>
              <a:ext cx="394695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52A22DC-6D57-1906-8F90-582D023C64E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51D3F4E-3974-7625-58FC-04F84F3E013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11DD376-1C8F-3630-68B2-FDF49AE5F81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701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D09DA-A0DA-7586-A661-12D57EE0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C89AA45-B244-C71F-28BC-7FCDD70759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23816C-C92C-92F4-BF5F-E353F37141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88673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函数参数详解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传参方式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默认参数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</a:rPr>
              <a:t>不定长参数</a:t>
            </a:r>
            <a:endParaRPr lang="en-US" altLang="zh-CN" sz="1600">
              <a:solidFill>
                <a:srgbClr val="C00000"/>
              </a:solidFill>
            </a:endParaRPr>
          </a:p>
          <a:p>
            <a:r>
              <a:rPr lang="zh-CN" altLang="en-US"/>
              <a:t>匿名函数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0FA582B-614C-2ED1-4886-3DFC4A9314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86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576F-67D8-3A85-33DE-BE546FF6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6170B1-5E6D-2E71-9466-8B38D89CF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8123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介绍：不定长参数也叫可变参数，用于函数定义及调用时参数个数不确定（</a:t>
            </a:r>
            <a:r>
              <a:rPr lang="en-US" altLang="zh-CN"/>
              <a:t>0</a:t>
            </a:r>
            <a:r>
              <a:rPr lang="zh-CN" altLang="en-US"/>
              <a:t>个或多个）的场景。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类型：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位置传递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关键字传递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B0D845-CA24-B0B2-A202-F5DC5268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不定长参数</a:t>
            </a:r>
          </a:p>
        </p:txBody>
      </p:sp>
    </p:spTree>
    <p:extLst>
      <p:ext uri="{BB962C8B-B14F-4D97-AF65-F5344CB8AC3E}">
        <p14:creationId xmlns:p14="http://schemas.microsoft.com/office/powerpoint/2010/main" val="315808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6583-F7E7-9288-6740-E4681ABC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C685206-F723-7A7E-DB8E-73CE9861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不定长参数</a:t>
            </a:r>
            <a:r>
              <a:rPr lang="en-US" altLang="zh-CN"/>
              <a:t>-</a:t>
            </a:r>
            <a:r>
              <a:rPr lang="zh-CN" altLang="en-US"/>
              <a:t>位置传递</a:t>
            </a:r>
            <a:r>
              <a:rPr lang="en-US" altLang="zh-CN"/>
              <a:t>(*args)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341E9BE-838F-7A53-4E8C-56DEB91B73FA}"/>
              </a:ext>
            </a:extLst>
          </p:cNvPr>
          <p:cNvGrpSpPr/>
          <p:nvPr/>
        </p:nvGrpSpPr>
        <p:grpSpPr>
          <a:xfrm>
            <a:off x="710354" y="953781"/>
            <a:ext cx="8217745" cy="3815069"/>
            <a:chOff x="2297720" y="3660320"/>
            <a:chExt cx="9054425" cy="381529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EF2098F-403F-C9A9-749F-CE2536EAB22C}"/>
                </a:ext>
              </a:extLst>
            </p:cNvPr>
            <p:cNvSpPr/>
            <p:nvPr/>
          </p:nvSpPr>
          <p:spPr>
            <a:xfrm>
              <a:off x="2297729" y="3660320"/>
              <a:ext cx="9054416" cy="3815298"/>
            </a:xfrm>
            <a:prstGeom prst="roundRect">
              <a:avLst>
                <a:gd name="adj" fmla="val 15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*args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min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max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sum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/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round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avg_data,1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919191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919191"/>
                  </a:solidFill>
                  <a:latin typeface="Fira Code" panose="020B0809050000020004" pitchFamily="49" charset="0"/>
                </a:rPr>
                <a:t>调用函数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data = calc_data(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80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90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(data)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data = calc_data(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(data)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7E32DC15-FF21-23D3-D1D8-27A9FC02D0D5}"/>
                </a:ext>
              </a:extLst>
            </p:cNvPr>
            <p:cNvSpPr/>
            <p:nvPr/>
          </p:nvSpPr>
          <p:spPr>
            <a:xfrm>
              <a:off x="2297720" y="3660322"/>
              <a:ext cx="905441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6A517C0-E301-854C-C150-C6A05030D1CC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946F839-3FA9-0D8C-17F7-9F7380E595B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ED55699-83C3-F7AB-2885-7C295C9D9DA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2CA9526-8420-6632-81C2-311FEBC9AAD8}"/>
              </a:ext>
            </a:extLst>
          </p:cNvPr>
          <p:cNvGrpSpPr/>
          <p:nvPr/>
        </p:nvGrpSpPr>
        <p:grpSpPr>
          <a:xfrm>
            <a:off x="709597" y="5858118"/>
            <a:ext cx="10480694" cy="348335"/>
            <a:chOff x="4685665" y="1834757"/>
            <a:chExt cx="10552693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E16BE27C-57AE-B3A2-AEC2-4A23F994B6B4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传递的所有匹配的位置参数都会被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args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变量收集，这些参数会合并封装为一个元组，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args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是元组类型（注意并不会封装关键字参数）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CC2F6819-CE38-FDF7-028A-05D1A29DA743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E115AAB-7B58-F535-6B7E-D6D598473DD0}"/>
              </a:ext>
            </a:extLst>
          </p:cNvPr>
          <p:cNvGrpSpPr/>
          <p:nvPr/>
        </p:nvGrpSpPr>
        <p:grpSpPr>
          <a:xfrm>
            <a:off x="709597" y="6304937"/>
            <a:ext cx="10480694" cy="348335"/>
            <a:chOff x="4685665" y="1834757"/>
            <a:chExt cx="10552693" cy="348335"/>
          </a:xfrm>
        </p:grpSpPr>
        <p:sp>
          <p:nvSpPr>
            <p:cNvPr id="14" name="ComponentBackground2">
              <a:extLst>
                <a:ext uri="{FF2B5EF4-FFF2-40B4-BE49-F238E27FC236}">
                  <a16:creationId xmlns:a16="http://schemas.microsoft.com/office/drawing/2014/main" id="{18204EB5-F220-EADE-2D46-88A5D0B5148B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args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只是约定俗成的变量名，并不是关键字，这里可以使用任何合法的变量名（如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*data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5" name="Shape2">
              <a:extLst>
                <a:ext uri="{FF2B5EF4-FFF2-40B4-BE49-F238E27FC236}">
                  <a16:creationId xmlns:a16="http://schemas.microsoft.com/office/drawing/2014/main" id="{BEA4FDA9-059F-DCCD-3FB9-74F095EA3C45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7FC0FCAD-3151-6473-BC5B-C37F2C00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74" y="1838912"/>
            <a:ext cx="4077034" cy="10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8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E875-6433-754F-8E33-6031AE26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0774625-6D83-0377-8AA5-10E645CB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不定长参数</a:t>
            </a:r>
            <a:r>
              <a:rPr lang="en-US" altLang="zh-CN"/>
              <a:t>-</a:t>
            </a:r>
            <a:r>
              <a:rPr lang="zh-CN" altLang="en-US"/>
              <a:t>关键字传递</a:t>
            </a:r>
            <a:r>
              <a:rPr lang="en-US" altLang="zh-CN"/>
              <a:t>(**kwargs)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B67C934-DF83-7ABB-4A9D-183B9C7A1114}"/>
              </a:ext>
            </a:extLst>
          </p:cNvPr>
          <p:cNvGrpSpPr/>
          <p:nvPr/>
        </p:nvGrpSpPr>
        <p:grpSpPr>
          <a:xfrm>
            <a:off x="710354" y="953781"/>
            <a:ext cx="8217745" cy="4424669"/>
            <a:chOff x="2297720" y="3660320"/>
            <a:chExt cx="9054425" cy="442493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2F674C0-8672-B89F-2A20-DD55E3B0F5F7}"/>
                </a:ext>
              </a:extLst>
            </p:cNvPr>
            <p:cNvSpPr/>
            <p:nvPr/>
          </p:nvSpPr>
          <p:spPr>
            <a:xfrm>
              <a:off x="2297729" y="3660320"/>
              <a:ext cx="9054416" cy="4424934"/>
            </a:xfrm>
            <a:prstGeom prst="roundRect">
              <a:avLst>
                <a:gd name="adj" fmla="val 15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*args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**kwargs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min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max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sum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/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kwargs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.get(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'round'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avg_data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round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kwargs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.get(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'round'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avg_data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data = calc_data(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round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660099"/>
                  </a:solidFill>
                  <a:effectLst/>
                  <a:latin typeface="Fira Code" panose="020B0809050000020004" pitchFamily="49" charset="0"/>
                </a:rPr>
                <a:t>count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=</a:t>
              </a:r>
              <a:r>
                <a:rPr lang="en-US" altLang="zh-CN" sz="1100">
                  <a:solidFill>
                    <a:srgbClr val="2D60EC"/>
                  </a:solidFill>
                  <a:effectLst/>
                  <a:latin typeface="Fira Code" panose="020B0809050000020004" pitchFamily="49" charset="0"/>
                </a:rPr>
                <a:t>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(data)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data = calc_data(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28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91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75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(data)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A839646-B309-0C98-606D-E539DA8B8654}"/>
                </a:ext>
              </a:extLst>
            </p:cNvPr>
            <p:cNvSpPr/>
            <p:nvPr/>
          </p:nvSpPr>
          <p:spPr>
            <a:xfrm>
              <a:off x="2297720" y="3660322"/>
              <a:ext cx="905441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E5DEAAB-254E-3CB6-F8C4-6632DF4CDA9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F9FE7EB-A0E9-7741-60CE-050DFEF501D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E4AA7F8-08D9-C70E-D4C8-BCEC7285C4F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2A7D135-B6AE-782B-809D-E906AADABDB5}"/>
              </a:ext>
            </a:extLst>
          </p:cNvPr>
          <p:cNvGrpSpPr/>
          <p:nvPr/>
        </p:nvGrpSpPr>
        <p:grpSpPr>
          <a:xfrm>
            <a:off x="709597" y="5858118"/>
            <a:ext cx="10480694" cy="348335"/>
            <a:chOff x="4685665" y="1834757"/>
            <a:chExt cx="10552693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615B0E4D-A3BE-43F6-3A21-DE46090AA6E2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参数是以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"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键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=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值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"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形式传递的关键字参数，这些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"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键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=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值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"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参数都会被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kwargs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接受，并合并封装为一个字典类型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C0078CD4-1217-E8A7-6061-9228FC94F74B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8FC7C98-8E3A-082F-5B15-CF9A302CF680}"/>
              </a:ext>
            </a:extLst>
          </p:cNvPr>
          <p:cNvGrpSpPr/>
          <p:nvPr/>
        </p:nvGrpSpPr>
        <p:grpSpPr>
          <a:xfrm>
            <a:off x="709597" y="6304937"/>
            <a:ext cx="10480694" cy="348335"/>
            <a:chOff x="4685665" y="1834757"/>
            <a:chExt cx="10552693" cy="348335"/>
          </a:xfrm>
        </p:grpSpPr>
        <p:sp>
          <p:nvSpPr>
            <p:cNvPr id="14" name="ComponentBackground2">
              <a:extLst>
                <a:ext uri="{FF2B5EF4-FFF2-40B4-BE49-F238E27FC236}">
                  <a16:creationId xmlns:a16="http://schemas.microsoft.com/office/drawing/2014/main" id="{BA4389AF-3D4E-3F13-9B00-95EBD76CBAEF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kwargs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只是约定俗成的变量名，并不是关键字，这里可以使用任何合法的变量名（如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**options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5" name="Shape2">
              <a:extLst>
                <a:ext uri="{FF2B5EF4-FFF2-40B4-BE49-F238E27FC236}">
                  <a16:creationId xmlns:a16="http://schemas.microsoft.com/office/drawing/2014/main" id="{41D1A54C-3A6A-383C-EF90-1A5B4CFC961A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221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6FF0-C734-FCEE-A781-A4E9A364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57C78F9-A1E7-9C12-58DF-07F32B07A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33847" y="1359878"/>
            <a:ext cx="8658154" cy="417961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什么是不定长参数？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参数个数不确定，此时就可以使用不定长参数解决这类问题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不定长参数的分类？</a:t>
            </a:r>
            <a:endParaRPr lang="en-US" altLang="zh-CN"/>
          </a:p>
          <a:p>
            <a:pPr marL="6480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*args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：不定长位置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参数，函数调用时，通过位置参数传递多个参数封装到一个元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组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(tuple)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中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**kwargs</a:t>
            </a:r>
            <a:r>
              <a:rPr lang="zh-CN" altLang="en-US" sz="1400">
                <a:solidFill>
                  <a:srgbClr val="363C3B"/>
                </a:solidFill>
              </a:rPr>
              <a:t>：不定长关键字参数，函数调用时，通过关键字参数传递多个参数封装到一个字典</a:t>
            </a:r>
            <a:r>
              <a:rPr lang="en-US" altLang="zh-CN" sz="1400">
                <a:solidFill>
                  <a:srgbClr val="363C3B"/>
                </a:solidFill>
              </a:rPr>
              <a:t>(dict)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*args</a:t>
            </a:r>
            <a:r>
              <a:rPr lang="zh-CN" altLang="en-US"/>
              <a:t>与</a:t>
            </a:r>
            <a:r>
              <a:rPr lang="en-US" altLang="zh-CN"/>
              <a:t>**kwargs</a:t>
            </a:r>
            <a:r>
              <a:rPr lang="zh-CN" altLang="en-US"/>
              <a:t>的应用场景</a:t>
            </a:r>
            <a:r>
              <a:rPr lang="en-US" altLang="zh-CN"/>
              <a:t>?</a:t>
            </a:r>
          </a:p>
          <a:p>
            <a:pPr marL="6480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*args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适用于处理数量不确定的数据</a:t>
            </a:r>
            <a:endParaRPr lang="en-US" altLang="zh-CN" sz="1400">
              <a:solidFill>
                <a:srgbClr val="363C3B"/>
              </a:solidFill>
              <a:latin typeface="Source Code Pro"/>
              <a:ea typeface="阿里巴巴普惠体"/>
            </a:endParaRPr>
          </a:p>
          <a:p>
            <a:pPr marL="6480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**kwargs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适用于处理数量不确定的选项（函数的配置参数，用来定制函数的行为）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11A377-A9C9-00DD-1401-32ACB5C91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764" y="5293565"/>
            <a:ext cx="5666164" cy="1166360"/>
          </a:xfrm>
          <a:prstGeom prst="roundRect">
            <a:avLst>
              <a:gd name="adj" fmla="val 5123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300A5F3-4B76-6FD5-1AB5-6F0F94870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888" y="4085738"/>
            <a:ext cx="3048157" cy="3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5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1F80-DB4E-C33B-1EA1-52013E19B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6FBEB00-BA45-C627-A11F-3C6C5BEE1A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E7A906E-8C9E-4E6A-FDAB-240CDFF7E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880164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函数参数详解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传参方式</a:t>
            </a:r>
            <a:endParaRPr lang="en-US" altLang="zh-CN" sz="160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默认参数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</a:rPr>
              <a:t>不定长参数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1600">
                <a:solidFill>
                  <a:srgbClr val="C00000"/>
                </a:solidFill>
              </a:rPr>
              <a:t>参数类型</a:t>
            </a:r>
            <a:endParaRPr lang="en-US" altLang="zh-CN" sz="1600">
              <a:solidFill>
                <a:srgbClr val="C00000"/>
              </a:solidFill>
            </a:endParaRPr>
          </a:p>
          <a:p>
            <a:r>
              <a:rPr lang="zh-CN" altLang="en-US"/>
              <a:t>匿名函数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5514AA5-A629-45DD-0A55-25DB0C365C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78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689A0E-F8E7-D057-9F72-A289B25B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7857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普通参数：数字、布尔、字符串、列表、元组、集合、字典等。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特殊参数：函数。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1A76C8F-BF02-0516-B7FD-114E889B8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函数的参数类型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8C4D3-8AE4-B2BD-4084-9FE60A8E63F8}"/>
              </a:ext>
            </a:extLst>
          </p:cNvPr>
          <p:cNvGrpSpPr/>
          <p:nvPr/>
        </p:nvGrpSpPr>
        <p:grpSpPr>
          <a:xfrm>
            <a:off x="942267" y="2020582"/>
            <a:ext cx="5200117" cy="1855679"/>
            <a:chOff x="2297720" y="3660321"/>
            <a:chExt cx="5729561" cy="185579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0E0A2C2-88D8-911A-B3FF-DAF7E4BC9C47}"/>
                </a:ext>
              </a:extLst>
            </p:cNvPr>
            <p:cNvSpPr/>
            <p:nvPr/>
          </p:nvSpPr>
          <p:spPr>
            <a:xfrm>
              <a:off x="2297730" y="3660321"/>
              <a:ext cx="5729551" cy="1855790"/>
            </a:xfrm>
            <a:prstGeom prst="roundRect">
              <a:avLst>
                <a:gd name="adj" fmla="val 275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circle_area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**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area = circle_area(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(area)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34B6E3B7-8FB6-0959-6ABF-0A28940C1B37}"/>
                </a:ext>
              </a:extLst>
            </p:cNvPr>
            <p:cNvSpPr/>
            <p:nvPr/>
          </p:nvSpPr>
          <p:spPr>
            <a:xfrm>
              <a:off x="2297720" y="3660322"/>
              <a:ext cx="572955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E192D71-9D39-8337-FF4D-71660934DA4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8667266-ED4C-C9C7-33FD-C5632F2D102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79A133D-3245-DCEB-A475-726596D9678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8A2FBF4-F171-3854-4B2F-CDA80C3F0442}"/>
              </a:ext>
            </a:extLst>
          </p:cNvPr>
          <p:cNvGrpSpPr/>
          <p:nvPr/>
        </p:nvGrpSpPr>
        <p:grpSpPr>
          <a:xfrm>
            <a:off x="942267" y="4094546"/>
            <a:ext cx="5200117" cy="2368265"/>
            <a:chOff x="2297720" y="3660321"/>
            <a:chExt cx="5729561" cy="2368407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B68F1CEE-887F-A7B7-63BD-C4B1ACCEE74D}"/>
                </a:ext>
              </a:extLst>
            </p:cNvPr>
            <p:cNvSpPr/>
            <p:nvPr/>
          </p:nvSpPr>
          <p:spPr>
            <a:xfrm>
              <a:off x="2297730" y="3660321"/>
              <a:ext cx="5729551" cy="2368407"/>
            </a:xfrm>
            <a:prstGeom prst="roundRect">
              <a:avLst>
                <a:gd name="adj" fmla="val 275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calc_score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score_list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 i="1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max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score_list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min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score_list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avg_s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round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sum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score_list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/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score_list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avg_s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s_list = [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589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609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605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643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677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455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477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489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503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max_score, min_score, avg_score = calc_score(s_list)</a:t>
              </a: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B2253DA3-9829-AAFC-41AB-3087BE926AC4}"/>
                </a:ext>
              </a:extLst>
            </p:cNvPr>
            <p:cNvSpPr/>
            <p:nvPr/>
          </p:nvSpPr>
          <p:spPr>
            <a:xfrm>
              <a:off x="2297720" y="3660322"/>
              <a:ext cx="572955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EBB49BC-C401-F9C8-1B96-AFC87D3C683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9CF56E3-1086-C1A6-04FB-8DBEF411E14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5913D88-1946-C2DF-0EC4-AA7891D8D08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FE39D9D-AB28-8F8C-E896-B89A8E30DC2F}"/>
              </a:ext>
            </a:extLst>
          </p:cNvPr>
          <p:cNvGrpSpPr/>
          <p:nvPr/>
        </p:nvGrpSpPr>
        <p:grpSpPr>
          <a:xfrm>
            <a:off x="6436561" y="2020582"/>
            <a:ext cx="5200117" cy="3167644"/>
            <a:chOff x="2297720" y="3660322"/>
            <a:chExt cx="5729561" cy="316783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B5A943A-9199-0054-D704-37599F71D191}"/>
                </a:ext>
              </a:extLst>
            </p:cNvPr>
            <p:cNvSpPr/>
            <p:nvPr/>
          </p:nvSpPr>
          <p:spPr>
            <a:xfrm>
              <a:off x="2297730" y="3660322"/>
              <a:ext cx="5729551" cy="3167834"/>
            </a:xfrm>
            <a:prstGeom prst="roundRect">
              <a:avLst>
                <a:gd name="adj" fmla="val 153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add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subtract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-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oper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oper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result = calc(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add)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(result)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8E1D11BF-26AE-CBDE-5F75-B4B075AF16A3}"/>
                </a:ext>
              </a:extLst>
            </p:cNvPr>
            <p:cNvSpPr/>
            <p:nvPr/>
          </p:nvSpPr>
          <p:spPr>
            <a:xfrm>
              <a:off x="2297720" y="3660322"/>
              <a:ext cx="572955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23804C2-48E1-A15B-2299-757D775D9F8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F52190F-422C-691D-A38B-3AD475B4D00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AE73E0C-7844-9012-4365-5771550FB54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4227899-43F5-CD5C-2A06-1D7B673E6B74}"/>
              </a:ext>
            </a:extLst>
          </p:cNvPr>
          <p:cNvSpPr/>
          <p:nvPr/>
        </p:nvSpPr>
        <p:spPr>
          <a:xfrm>
            <a:off x="7726017" y="3804494"/>
            <a:ext cx="410817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16B983A-D8ED-C550-9086-18BAA6EE2551}"/>
              </a:ext>
            </a:extLst>
          </p:cNvPr>
          <p:cNvCxnSpPr/>
          <p:nvPr/>
        </p:nvCxnSpPr>
        <p:spPr>
          <a:xfrm>
            <a:off x="7414592" y="4318386"/>
            <a:ext cx="848139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9567404-B9CB-E288-75ED-89D59E8AE77E}"/>
              </a:ext>
            </a:extLst>
          </p:cNvPr>
          <p:cNvSpPr/>
          <p:nvPr/>
        </p:nvSpPr>
        <p:spPr>
          <a:xfrm>
            <a:off x="8348869" y="4551419"/>
            <a:ext cx="298174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3CF6DC7-74DC-335A-DB06-FF275036F607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8647043" y="4686506"/>
            <a:ext cx="762000" cy="0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CB697D8-B050-14D4-15E4-344E93E7EAF1}"/>
              </a:ext>
            </a:extLst>
          </p:cNvPr>
          <p:cNvSpPr/>
          <p:nvPr/>
        </p:nvSpPr>
        <p:spPr>
          <a:xfrm>
            <a:off x="7673007" y="4551419"/>
            <a:ext cx="523462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687006C-DC25-399B-AA13-020C84CC36FA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7934738" y="4821593"/>
            <a:ext cx="0" cy="644929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81EEE60-A5A5-0ABD-C52F-2116549A985E}"/>
              </a:ext>
            </a:extLst>
          </p:cNvPr>
          <p:cNvSpPr txBox="1"/>
          <p:nvPr/>
        </p:nvSpPr>
        <p:spPr>
          <a:xfrm>
            <a:off x="7001537" y="5484646"/>
            <a:ext cx="1992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传递的是实际要计算的数据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AE8D8BD-8338-18E2-8826-B3E84A67C463}"/>
              </a:ext>
            </a:extLst>
          </p:cNvPr>
          <p:cNvSpPr txBox="1"/>
          <p:nvPr/>
        </p:nvSpPr>
        <p:spPr>
          <a:xfrm>
            <a:off x="9409043" y="4567245"/>
            <a:ext cx="1992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传递的是函数中封装的逻辑</a:t>
            </a:r>
          </a:p>
        </p:txBody>
      </p:sp>
    </p:spTree>
    <p:extLst>
      <p:ext uri="{BB962C8B-B14F-4D97-AF65-F5344CB8AC3E}">
        <p14:creationId xmlns:p14="http://schemas.microsoft.com/office/powerpoint/2010/main" val="121018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9" grpId="0" animBg="1"/>
      <p:bldP spid="34" grpId="0" animBg="1"/>
      <p:bldP spid="38" grpId="0"/>
      <p:bldP spid="3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E877A-BE16-F08D-3F4E-C6463F44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73B469F-AB53-ECAD-8B6B-2E349BB555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B441927-8F59-7860-C584-6E7386548B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031473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函数参数详解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匿名函数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8EAD979-6BD4-1986-A801-D2A45B4162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52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ECA6-4A95-926A-8A74-2F1E352E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4F23A0-8059-17D1-DA8F-7E366CC1C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匿名函数指的是没有名称的函数，需要通过</a:t>
            </a:r>
            <a:r>
              <a:rPr lang="en-US" altLang="zh-CN"/>
              <a:t>lambda</a:t>
            </a:r>
            <a:r>
              <a:rPr lang="zh-CN" altLang="en-US"/>
              <a:t>表达式来声明函数，可以简化简单函数的编写（单行表达式）。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F455D77-36A1-4960-29EC-0772DCF7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匿名函数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BE8FEE2-D956-21CD-6D21-396EE7D41AF4}"/>
              </a:ext>
            </a:extLst>
          </p:cNvPr>
          <p:cNvGrpSpPr/>
          <p:nvPr/>
        </p:nvGrpSpPr>
        <p:grpSpPr>
          <a:xfrm>
            <a:off x="983404" y="1576083"/>
            <a:ext cx="4903045" cy="3651398"/>
            <a:chOff x="2297720" y="3660320"/>
            <a:chExt cx="5402242" cy="365161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84C531C-912D-148F-DDA9-3BAB3D0FFEDE}"/>
                </a:ext>
              </a:extLst>
            </p:cNvPr>
            <p:cNvSpPr/>
            <p:nvPr/>
          </p:nvSpPr>
          <p:spPr>
            <a:xfrm>
              <a:off x="2297721" y="3660320"/>
              <a:ext cx="5402241" cy="3651617"/>
            </a:xfrm>
            <a:prstGeom prst="roundRect">
              <a:avLst>
                <a:gd name="adj" fmla="val 15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定义命名函数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latin typeface="Fira Code" panose="020B0809050000020004" pitchFamily="49" charset="0"/>
                </a:rPr>
                <a:t>def</a:t>
              </a:r>
              <a:r>
                <a:rPr lang="en-US" altLang="zh-CN" sz="1100">
                  <a:solidFill>
                    <a:srgbClr val="8C8C8C"/>
                  </a:solidFill>
                  <a:latin typeface="Fira Code" panose="020B0809050000020004" pitchFamily="49" charset="0"/>
                </a:rPr>
                <a:t> </a:t>
              </a:r>
              <a:r>
                <a:rPr lang="zh-CN" altLang="en-US" sz="1100">
                  <a:solidFill>
                    <a:srgbClr val="1B1E1D"/>
                  </a:solidFill>
                  <a:latin typeface="Fira Code" panose="020B0809050000020004" pitchFamily="49" charset="0"/>
                </a:rPr>
                <a:t>函数名</a:t>
              </a:r>
              <a:r>
                <a:rPr lang="en-US" altLang="zh-CN" sz="1100">
                  <a:solidFill>
                    <a:srgbClr val="1B1E1D"/>
                  </a:solidFill>
                  <a:latin typeface="Fira Code" panose="020B0809050000020004" pitchFamily="49" charset="0"/>
                </a:rPr>
                <a:t>(</a:t>
              </a:r>
              <a:r>
                <a:rPr lang="zh-CN" altLang="en-US" sz="1100">
                  <a:solidFill>
                    <a:srgbClr val="1B1E1D"/>
                  </a:solidFill>
                  <a:latin typeface="Fira Code" panose="020B0809050000020004" pitchFamily="49" charset="0"/>
                </a:rPr>
                <a:t>参数列表</a:t>
              </a:r>
              <a:r>
                <a:rPr lang="en-US" altLang="zh-CN" sz="1100">
                  <a:solidFill>
                    <a:srgbClr val="1B1E1D"/>
                  </a:solidFill>
                  <a:latin typeface="Fira Code" panose="020B0809050000020004" pitchFamily="49" charset="0"/>
                </a:rPr>
                <a:t>):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1B1E1D"/>
                  </a:solidFill>
                  <a:latin typeface="Fira Code" panose="020B0809050000020004" pitchFamily="49" charset="0"/>
                </a:rPr>
                <a:t>    </a:t>
              </a:r>
              <a:r>
                <a:rPr lang="zh-CN" altLang="en-US" sz="1100">
                  <a:solidFill>
                    <a:srgbClr val="1B1E1D"/>
                  </a:solidFill>
                  <a:latin typeface="Fira Code" panose="020B0809050000020004" pitchFamily="49" charset="0"/>
                </a:rPr>
                <a:t>函数体</a:t>
              </a:r>
              <a:r>
                <a:rPr lang="en-US" altLang="zh-CN" sz="1100">
                  <a:solidFill>
                    <a:srgbClr val="1B1E1D"/>
                  </a:solidFill>
                  <a:latin typeface="Fira Code" panose="020B0809050000020004" pitchFamily="49" charset="0"/>
                </a:rPr>
                <a:t>...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out_line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'-------------------------'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add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x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y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endParaRPr lang="en-US" altLang="zh-CN" sz="1100">
                <a:solidFill>
                  <a:srgbClr val="000000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out_line()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(add(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EFFF0C01-43C4-B89B-46FD-78F577007213}"/>
                </a:ext>
              </a:extLst>
            </p:cNvPr>
            <p:cNvSpPr/>
            <p:nvPr/>
          </p:nvSpPr>
          <p:spPr>
            <a:xfrm>
              <a:off x="2297720" y="3660322"/>
              <a:ext cx="540224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F03DC26-CD2F-2DB0-8E3D-08915BC1170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03868C7-72CD-E5A3-C989-F53DE2D453A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CBE6582-EC85-9461-0CC4-9AD9F7246F0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16B3D8-57F1-E88D-9CE4-E658654E0821}"/>
              </a:ext>
            </a:extLst>
          </p:cNvPr>
          <p:cNvGrpSpPr/>
          <p:nvPr/>
        </p:nvGrpSpPr>
        <p:grpSpPr>
          <a:xfrm>
            <a:off x="6526954" y="1577659"/>
            <a:ext cx="4903045" cy="3649822"/>
            <a:chOff x="2297720" y="3660320"/>
            <a:chExt cx="5402243" cy="365004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EE86754-48AC-D2DB-74F1-6E880D50A7D3}"/>
                </a:ext>
              </a:extLst>
            </p:cNvPr>
            <p:cNvSpPr/>
            <p:nvPr/>
          </p:nvSpPr>
          <p:spPr>
            <a:xfrm>
              <a:off x="2297720" y="3660320"/>
              <a:ext cx="5402243" cy="3650041"/>
            </a:xfrm>
            <a:prstGeom prst="roundRect">
              <a:avLst>
                <a:gd name="adj" fmla="val 152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定义匿名函数</a:t>
              </a: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lambda</a:t>
              </a:r>
              <a:r>
                <a:rPr lang="en-US" altLang="zh-CN" sz="1100">
                  <a:solidFill>
                    <a:srgbClr val="1B1E1D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zh-CN" altLang="en-US" sz="1100">
                  <a:solidFill>
                    <a:srgbClr val="1B1E1D"/>
                  </a:solidFill>
                  <a:effectLst/>
                  <a:latin typeface="Fira Code" panose="020B0809050000020004" pitchFamily="49" charset="0"/>
                </a:rPr>
                <a:t>参数列表</a:t>
              </a:r>
              <a:r>
                <a:rPr lang="en-US" altLang="zh-CN" sz="1100">
                  <a:solidFill>
                    <a:srgbClr val="1B1E1D"/>
                  </a:solidFill>
                  <a:latin typeface="Fira Code" panose="020B0809050000020004" pitchFamily="49" charset="0"/>
                </a:rPr>
                <a:t> : </a:t>
              </a:r>
              <a:r>
                <a:rPr lang="zh-CN" altLang="en-US" sz="1100">
                  <a:solidFill>
                    <a:srgbClr val="1B1E1D"/>
                  </a:solidFill>
                  <a:latin typeface="Fira Code" panose="020B0809050000020004" pitchFamily="49" charset="0"/>
                </a:rPr>
                <a:t>函数体</a:t>
              </a:r>
              <a:endParaRPr lang="en-US" altLang="zh-CN" sz="1100">
                <a:solidFill>
                  <a:srgbClr val="1B1E1D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spcBef>
                  <a:spcPts val="600"/>
                </a:spcBef>
                <a:buNone/>
              </a:pPr>
              <a:endPara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out_line =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lambda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'-------------------------'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add =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lambda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x, y: x + y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out_line()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(add(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200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074660A9-2414-6B4D-E58F-92E92F5B0A78}"/>
                </a:ext>
              </a:extLst>
            </p:cNvPr>
            <p:cNvSpPr/>
            <p:nvPr/>
          </p:nvSpPr>
          <p:spPr>
            <a:xfrm>
              <a:off x="2297720" y="3660322"/>
              <a:ext cx="540224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632DB88-EF71-E497-BCF8-7D0D926CB1C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4E100C0-F27C-3ED3-DD65-6510CCCCA8E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538450A-FFA9-1570-44AE-82E8736B7EB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A1440E7-43B6-E6AE-75FC-FCEE4765B0A4}"/>
              </a:ext>
            </a:extLst>
          </p:cNvPr>
          <p:cNvGrpSpPr/>
          <p:nvPr/>
        </p:nvGrpSpPr>
        <p:grpSpPr>
          <a:xfrm>
            <a:off x="949305" y="5901759"/>
            <a:ext cx="10480694" cy="348335"/>
            <a:chOff x="4685665" y="1834757"/>
            <a:chExt cx="10552693" cy="348335"/>
          </a:xfrm>
        </p:grpSpPr>
        <p:sp>
          <p:nvSpPr>
            <p:cNvPr id="17" name="ComponentBackground2">
              <a:extLst>
                <a:ext uri="{FF2B5EF4-FFF2-40B4-BE49-F238E27FC236}">
                  <a16:creationId xmlns:a16="http://schemas.microsoft.com/office/drawing/2014/main" id="{1F426EC3-21F6-ED97-87A2-0C5F06771176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函数逻辑比较简单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单行表达式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且只在一个地方使用时，可以考虑使用匿名函数，简化书写（通常作为高阶函数的参数使用）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8" name="Shape2">
              <a:extLst>
                <a:ext uri="{FF2B5EF4-FFF2-40B4-BE49-F238E27FC236}">
                  <a16:creationId xmlns:a16="http://schemas.microsoft.com/office/drawing/2014/main" id="{A5BCBB3A-95A9-1500-0A41-D4F776FC4421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CC09FEF9-8147-AA29-0408-BEB0DCD3D3A4}"/>
              </a:ext>
            </a:extLst>
          </p:cNvPr>
          <p:cNvSpPr txBox="1"/>
          <p:nvPr/>
        </p:nvSpPr>
        <p:spPr>
          <a:xfrm>
            <a:off x="4778452" y="48270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命名函数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8BCA7BB-7724-39F7-0135-D760E82F872F}"/>
              </a:ext>
            </a:extLst>
          </p:cNvPr>
          <p:cNvGrpSpPr/>
          <p:nvPr/>
        </p:nvGrpSpPr>
        <p:grpSpPr>
          <a:xfrm>
            <a:off x="949305" y="6347433"/>
            <a:ext cx="10480694" cy="348335"/>
            <a:chOff x="4685665" y="1834757"/>
            <a:chExt cx="10552693" cy="348335"/>
          </a:xfrm>
        </p:grpSpPr>
        <p:sp>
          <p:nvSpPr>
            <p:cNvPr id="22" name="ComponentBackground2">
              <a:extLst>
                <a:ext uri="{FF2B5EF4-FFF2-40B4-BE49-F238E27FC236}">
                  <a16:creationId xmlns:a16="http://schemas.microsoft.com/office/drawing/2014/main" id="{862E6EDC-FF57-63B0-64AB-414BB7830DBC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匿名函数中可以返回结果，也可以不返回结果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。返回结果时，不需要写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return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，表达式的运行结果就是要返回的结果。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3" name="Shape2">
              <a:extLst>
                <a:ext uri="{FF2B5EF4-FFF2-40B4-BE49-F238E27FC236}">
                  <a16:creationId xmlns:a16="http://schemas.microsoft.com/office/drawing/2014/main" id="{B667E8BB-C400-88EF-1EA0-AFF8C2C0B6CC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76D8EEA-4430-F6B0-D55A-60380EC4BAA9}"/>
              </a:ext>
            </a:extLst>
          </p:cNvPr>
          <p:cNvSpPr/>
          <p:nvPr/>
        </p:nvSpPr>
        <p:spPr>
          <a:xfrm>
            <a:off x="6540206" y="2758970"/>
            <a:ext cx="4796739" cy="2285497"/>
          </a:xfrm>
          <a:prstGeom prst="roundRect">
            <a:avLst>
              <a:gd name="adj" fmla="val 1528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252000" rIns="36000" bIns="0" rtlCol="0" anchor="t"/>
          <a:lstStyle/>
          <a:p>
            <a:pPr>
              <a:lnSpc>
                <a:spcPct val="200000"/>
              </a:lnSpc>
              <a:buNone/>
            </a:pP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lambda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altLang="zh-CN" sz="1100">
                <a:solidFill>
                  <a:srgbClr val="000080"/>
                </a:solidFill>
                <a:effectLst/>
                <a:latin typeface="Fira Code" panose="020B0809050000020004" pitchFamily="49" charset="0"/>
              </a:rPr>
              <a:t>print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altLang="zh-CN" sz="1100">
                <a:solidFill>
                  <a:srgbClr val="067D17"/>
                </a:solidFill>
                <a:effectLst/>
                <a:latin typeface="Fira Code" panose="020B0809050000020004" pitchFamily="49" charset="0"/>
              </a:rPr>
              <a:t>'-------------------------'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)</a:t>
            </a:r>
            <a:b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lambda </a:t>
            </a:r>
            <a:r>
              <a: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rPr>
              <a:t>x, y: x + y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3DEB3F-CDFE-EE6A-C77D-ACC576D91B60}"/>
              </a:ext>
            </a:extLst>
          </p:cNvPr>
          <p:cNvSpPr txBox="1"/>
          <p:nvPr/>
        </p:nvSpPr>
        <p:spPr>
          <a:xfrm>
            <a:off x="10392426" y="48270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匿名函数</a:t>
            </a:r>
          </a:p>
        </p:txBody>
      </p:sp>
    </p:spTree>
    <p:extLst>
      <p:ext uri="{BB962C8B-B14F-4D97-AF65-F5344CB8AC3E}">
        <p14:creationId xmlns:p14="http://schemas.microsoft.com/office/powerpoint/2010/main" val="387417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9" grpId="0"/>
      <p:bldP spid="24" grpId="0" animBg="1"/>
      <p:bldP spid="24" grpId="1" animBg="1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AB70-F4C1-0A79-AC9A-F56AAF1A1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CEA0915-10C2-9C7D-342D-BE39E9BD4A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86711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匿名函数的定义方式</a:t>
            </a:r>
            <a:endParaRPr lang="en-US" altLang="zh-CN"/>
          </a:p>
          <a:p>
            <a:pPr lvl="1" indent="0">
              <a:buNone/>
            </a:pPr>
            <a:endParaRPr lang="en-US" altLang="zh-CN"/>
          </a:p>
          <a:p>
            <a:pPr lvl="1" indent="0">
              <a:buNone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命名函数与匿名函数的选择？</a:t>
            </a:r>
            <a:endParaRPr lang="en-US" altLang="zh-CN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建议使用匿名函数的情况：函数逻辑简单，只在一个地方调用（常作为高阶函数的参数）</a:t>
            </a:r>
            <a:endParaRPr lang="en-US" altLang="zh-CN" sz="1400"/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建议使用命名函数的情况：函数逻辑复杂，需要多步操作，需要多个地方重复使用或需要加文档说明的场景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8427EF-20A1-E7E7-2150-5EB95064F05A}"/>
              </a:ext>
            </a:extLst>
          </p:cNvPr>
          <p:cNvSpPr txBox="1"/>
          <p:nvPr/>
        </p:nvSpPr>
        <p:spPr>
          <a:xfrm>
            <a:off x="5344330" y="5137611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代码的可读性和可维护性比简洁性更重要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10C33F-42AC-628F-4F15-F380EC232B49}"/>
              </a:ext>
            </a:extLst>
          </p:cNvPr>
          <p:cNvSpPr/>
          <p:nvPr/>
        </p:nvSpPr>
        <p:spPr>
          <a:xfrm>
            <a:off x="4405904" y="2354556"/>
            <a:ext cx="3380192" cy="801156"/>
          </a:xfrm>
          <a:prstGeom prst="roundRect">
            <a:avLst>
              <a:gd name="adj" fmla="val 7735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0" rtlCol="0" anchor="t"/>
          <a:lstStyle/>
          <a:p>
            <a:pPr>
              <a:lnSpc>
                <a:spcPct val="200000"/>
              </a:lnSpc>
              <a:buNone/>
            </a:pPr>
            <a:r>
              <a:rPr lang="en-US" altLang="zh-CN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CN" altLang="en-US" sz="1100">
                <a:solidFill>
                  <a:srgbClr val="8C8C8C"/>
                </a:solidFill>
                <a:effectLst/>
                <a:latin typeface="Fira Code" panose="020B0809050000020004" pitchFamily="49" charset="0"/>
              </a:rPr>
              <a:t>定义匿名函数</a:t>
            </a:r>
            <a:endParaRPr lang="en-US" altLang="zh-CN" sz="1100">
              <a:solidFill>
                <a:srgbClr val="8C8C8C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sz="1100">
                <a:solidFill>
                  <a:srgbClr val="0033B3"/>
                </a:solidFill>
                <a:effectLst/>
                <a:latin typeface="Fira Code" panose="020B0809050000020004" pitchFamily="49" charset="0"/>
              </a:rPr>
              <a:t>lambda</a:t>
            </a:r>
            <a:r>
              <a:rPr lang="en-US" altLang="zh-CN" sz="1100">
                <a:solidFill>
                  <a:srgbClr val="1B1E1D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zh-CN" altLang="en-US" sz="1100">
                <a:solidFill>
                  <a:srgbClr val="1B1E1D"/>
                </a:solidFill>
                <a:effectLst/>
                <a:latin typeface="Fira Code" panose="020B0809050000020004" pitchFamily="49" charset="0"/>
              </a:rPr>
              <a:t>参数列表</a:t>
            </a:r>
            <a:r>
              <a:rPr lang="en-US" altLang="zh-CN" sz="1100">
                <a:solidFill>
                  <a:srgbClr val="1B1E1D"/>
                </a:solidFill>
                <a:latin typeface="Fira Code" panose="020B0809050000020004" pitchFamily="49" charset="0"/>
              </a:rPr>
              <a:t> : </a:t>
            </a:r>
            <a:r>
              <a:rPr lang="zh-CN" altLang="en-US" sz="1100">
                <a:solidFill>
                  <a:srgbClr val="1B1E1D"/>
                </a:solidFill>
                <a:latin typeface="Fira Code" panose="020B0809050000020004" pitchFamily="49" charset="0"/>
              </a:rPr>
              <a:t>函数体</a:t>
            </a:r>
            <a:endParaRPr lang="en-US" altLang="zh-CN" sz="1100">
              <a:solidFill>
                <a:srgbClr val="080808"/>
              </a:solidFill>
              <a:effectLst/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52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9BD0-637D-9FF5-1C41-96BCE27E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A29EE86-F046-53C9-EA2F-0AFE537A25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函数进阶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53FF319-6574-8E2F-AB08-E186E4A2F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031473"/>
          </a:xfrm>
        </p:spPr>
        <p:txBody>
          <a:bodyPr/>
          <a:lstStyle/>
          <a:p>
            <a:r>
              <a:rPr lang="zh-CN" altLang="en-US"/>
              <a:t>函数变量的作用域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函数参数详解</a:t>
            </a:r>
            <a:endParaRPr lang="en-US" altLang="zh-CN" sz="160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匿名函数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FD9EA06-3C0B-5C8C-DF1B-6CADD18C20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5E3F-19E5-B008-9367-61CDB488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396A4-13FF-A470-B899-F6E14278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</a:t>
            </a:r>
            <a:r>
              <a:rPr lang="zh-CN" altLang="en-US"/>
              <a:t>的阶乘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78900A-FF15-92FA-FC60-42C85BA9B2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9584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定义一个函数，根据传入的数字，计算该数字阶乘的结果。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分析：</a:t>
            </a:r>
            <a:endParaRPr lang="en-US" altLang="zh-CN"/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8</a:t>
            </a:r>
            <a:r>
              <a:rPr lang="zh-CN" altLang="en-US" sz="1400"/>
              <a:t>的阶乘：</a:t>
            </a:r>
            <a:r>
              <a:rPr lang="en-US" altLang="zh-CN" sz="1400"/>
              <a:t>8 * 7 * 6 * 5 * 4 * 3 * 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7</a:t>
            </a:r>
            <a:r>
              <a:rPr lang="zh-CN" altLang="en-US" sz="1400"/>
              <a:t>的阶乘：</a:t>
            </a:r>
            <a:r>
              <a:rPr lang="en-US" altLang="zh-CN" sz="1400"/>
              <a:t>7 * 6 * 5 * 4 * 3 * 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6</a:t>
            </a:r>
            <a:r>
              <a:rPr lang="zh-CN" altLang="en-US" sz="1400"/>
              <a:t>的阶乘：</a:t>
            </a:r>
            <a:r>
              <a:rPr lang="en-US" altLang="zh-CN" sz="1400"/>
              <a:t>6 * 5 * 4 * 3 * 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5</a:t>
            </a:r>
            <a:r>
              <a:rPr lang="zh-CN" altLang="en-US" sz="1400"/>
              <a:t>的阶乘：</a:t>
            </a:r>
            <a:r>
              <a:rPr lang="en-US" altLang="zh-CN" sz="1400"/>
              <a:t>5 * 4 * 3 * 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4</a:t>
            </a:r>
            <a:r>
              <a:rPr lang="zh-CN" altLang="en-US" sz="1400"/>
              <a:t>的阶乘：</a:t>
            </a:r>
            <a:r>
              <a:rPr lang="en-US" altLang="zh-CN" sz="1400"/>
              <a:t>4 * 3 * 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3</a:t>
            </a:r>
            <a:r>
              <a:rPr lang="zh-CN" altLang="en-US" sz="1400"/>
              <a:t>的阶乘：</a:t>
            </a:r>
            <a:r>
              <a:rPr lang="en-US" altLang="zh-CN" sz="1400"/>
              <a:t>3 * 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2</a:t>
            </a:r>
            <a:r>
              <a:rPr lang="zh-CN" altLang="en-US" sz="1400"/>
              <a:t>的阶乘：</a:t>
            </a:r>
            <a:r>
              <a:rPr lang="en-US" altLang="zh-CN" sz="1400"/>
              <a:t>2 * 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1</a:t>
            </a:r>
            <a:r>
              <a:rPr lang="zh-CN" altLang="en-US" sz="1400"/>
              <a:t>的阶乘：</a:t>
            </a:r>
            <a:r>
              <a:rPr lang="en-US" altLang="zh-CN" sz="1400"/>
              <a:t>1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endParaRPr lang="en-US" altLang="zh-CN" sz="1400"/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n</a:t>
            </a:r>
            <a:r>
              <a:rPr lang="zh-CN" altLang="en-US" sz="1400"/>
              <a:t>的阶乘公式：</a:t>
            </a:r>
            <a:r>
              <a:rPr lang="en-US" altLang="zh-CN" sz="1400"/>
              <a:t>f(n) = n * f(n-1)</a:t>
            </a:r>
            <a:endParaRPr lang="zh-CN" altLang="en-US" sz="1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7FEB4F-F37A-7607-2023-D2B1C65FE754}"/>
              </a:ext>
            </a:extLst>
          </p:cNvPr>
          <p:cNvSpPr txBox="1"/>
          <p:nvPr/>
        </p:nvSpPr>
        <p:spPr>
          <a:xfrm>
            <a:off x="7381461" y="2016155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f(8) = 8 * f(7)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779951-B1D2-FC69-7731-167372D85C44}"/>
              </a:ext>
            </a:extLst>
          </p:cNvPr>
          <p:cNvSpPr txBox="1"/>
          <p:nvPr/>
        </p:nvSpPr>
        <p:spPr>
          <a:xfrm>
            <a:off x="7381461" y="2413292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f(7) = 7 * f(6)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B74239-60D8-91CF-1966-498997727325}"/>
              </a:ext>
            </a:extLst>
          </p:cNvPr>
          <p:cNvSpPr txBox="1"/>
          <p:nvPr/>
        </p:nvSpPr>
        <p:spPr>
          <a:xfrm>
            <a:off x="7381461" y="2810429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f(6) = 6 * f(5)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476583-9ECD-6C2E-87BF-ACE9D9FA843E}"/>
              </a:ext>
            </a:extLst>
          </p:cNvPr>
          <p:cNvSpPr txBox="1"/>
          <p:nvPr/>
        </p:nvSpPr>
        <p:spPr>
          <a:xfrm>
            <a:off x="7381461" y="3207566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f(5) = 5 * f(4)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70C99A-C850-A4F8-A86F-633DE9C9E486}"/>
              </a:ext>
            </a:extLst>
          </p:cNvPr>
          <p:cNvSpPr txBox="1"/>
          <p:nvPr/>
        </p:nvSpPr>
        <p:spPr>
          <a:xfrm>
            <a:off x="7381461" y="3604703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f(4) = 4 * f(3)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342511-073E-A195-8615-15A72B81EA0C}"/>
              </a:ext>
            </a:extLst>
          </p:cNvPr>
          <p:cNvSpPr txBox="1"/>
          <p:nvPr/>
        </p:nvSpPr>
        <p:spPr>
          <a:xfrm>
            <a:off x="7381461" y="4001840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f(3) = 3 * f(2)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08000D-6D8E-EFE5-1109-0237E274EF8B}"/>
              </a:ext>
            </a:extLst>
          </p:cNvPr>
          <p:cNvSpPr txBox="1"/>
          <p:nvPr/>
        </p:nvSpPr>
        <p:spPr>
          <a:xfrm>
            <a:off x="7381461" y="4398977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f(2) = 2 * f(1)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A3AFC4-7C36-64C1-8714-05B4DC944C02}"/>
              </a:ext>
            </a:extLst>
          </p:cNvPr>
          <p:cNvSpPr txBox="1"/>
          <p:nvPr/>
        </p:nvSpPr>
        <p:spPr>
          <a:xfrm>
            <a:off x="7381461" y="4796116"/>
            <a:ext cx="1868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f(1) = 1</a:t>
            </a:r>
            <a:endParaRPr lang="zh-CN" altLang="en-US" sz="1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57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14E3C-C722-E976-D2F4-1CFEA2E3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79326-5373-17B5-E2C7-A16CF739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62AADD-EAE9-91F2-14CF-5F49D50178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92451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根据输入的班级名称，以及班级中各个学员的考试总分，统计班级的平均分，以及高于平局分的人数，低于平均分的人数。</a:t>
            </a:r>
          </a:p>
        </p:txBody>
      </p:sp>
    </p:spTree>
    <p:extLst>
      <p:ext uri="{BB962C8B-B14F-4D97-AF65-F5344CB8AC3E}">
        <p14:creationId xmlns:p14="http://schemas.microsoft.com/office/powerpoint/2010/main" val="3244599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E2AB3-5F55-7DF3-0FF1-AF5BDACA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DDC3E-941C-EED4-E06C-1DF081246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电商订单计算器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722C05-1393-CED9-CBB6-E5C8EED8B8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10246745" cy="224531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定义一个函数，用于根据传入的一批商品信息（商品名、价格、数量）、优惠（优惠券、积分抵扣）、运费信息计算订单的总金额。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具体规则如下：</a:t>
            </a:r>
            <a:endParaRPr lang="en-US" altLang="zh-CN"/>
          </a:p>
          <a:p>
            <a:pPr marL="612000" lvl="3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优惠券需要商品金额满</a:t>
            </a:r>
            <a:r>
              <a:rPr lang="en-US" altLang="zh-CN" sz="1400"/>
              <a:t>5000</a:t>
            </a:r>
            <a:r>
              <a:rPr lang="zh-CN" altLang="en-US" sz="1400"/>
              <a:t>才可以使用，且优惠券金额不能超过商品总价。</a:t>
            </a:r>
            <a:endParaRPr lang="en-US" altLang="zh-CN" sz="1400"/>
          </a:p>
          <a:p>
            <a:pPr marL="612000" lvl="3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积分抵扣需要商品总金额满</a:t>
            </a:r>
            <a:r>
              <a:rPr lang="en-US" altLang="zh-CN" sz="1400"/>
              <a:t>5000</a:t>
            </a:r>
            <a:r>
              <a:rPr lang="zh-CN" altLang="en-US" sz="1400"/>
              <a:t>才可以使用，</a:t>
            </a:r>
            <a:r>
              <a:rPr lang="en-US" altLang="zh-CN" sz="1400"/>
              <a:t>100</a:t>
            </a:r>
            <a:r>
              <a:rPr lang="zh-CN" altLang="en-US" sz="1400"/>
              <a:t>积分抵扣</a:t>
            </a:r>
            <a:r>
              <a:rPr lang="en-US" altLang="zh-CN" sz="1400"/>
              <a:t>1</a:t>
            </a:r>
            <a:r>
              <a:rPr lang="zh-CN" altLang="en-US" sz="1400"/>
              <a:t>元（且抵扣金额不能超过商品总价，积分只能整百抵扣）。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975377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A5FC2C-F104-BE61-FA18-A710E4F0C6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0108" y="1359878"/>
            <a:ext cx="7913341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列表推导式与生成器表达式对比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列表推导式：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[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要插入的值 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for i in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数据集 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if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条件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1069200" lvl="2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特点：</a:t>
            </a:r>
            <a:r>
              <a:rPr lang="zh-CN" altLang="en-US" sz="1200" i="0">
                <a:solidFill>
                  <a:schemeClr val="tx1">
                    <a:lumMod val="50000"/>
                  </a:schemeClr>
                </a:solidFill>
                <a:effectLst/>
                <a:latin typeface="quote-cjk-patch"/>
              </a:rPr>
              <a:t>立即求值，一次性生成整个列表并存入内存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，占用内存空间大</a:t>
            </a:r>
            <a:endParaRPr lang="en-US" altLang="zh-CN" sz="1200">
              <a:solidFill>
                <a:schemeClr val="tx1">
                  <a:lumMod val="50000"/>
                </a:schemeClr>
              </a:solidFill>
            </a:endParaRPr>
          </a:p>
          <a:p>
            <a:pPr marL="1069200" lvl="2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场景：数据量不大，需要全部立即生成的场景； 需要重复使用，多次访问的场景；</a:t>
            </a:r>
            <a:endParaRPr lang="en-US" altLang="zh-CN" sz="1200">
              <a:solidFill>
                <a:schemeClr val="tx1">
                  <a:lumMod val="50000"/>
                </a:schemeClr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生成器表达式：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要插入的值 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for i in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数据集 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if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条件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</a:p>
          <a:p>
            <a:pPr marL="1069200" lvl="2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特点：惰性求值，按需逐个生成元素，无需同时存储所有元素，节省内存</a:t>
            </a:r>
            <a:endParaRPr lang="en-US" altLang="zh-CN" sz="120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1069200" lvl="2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场景：处理大数据集、避免一次性加载所有数据到内存；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sum()/max()/min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等函数的参数</a:t>
            </a:r>
            <a:endParaRPr lang="en-US" altLang="zh-CN" sz="120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527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CB46-8025-C1A1-DF19-B5A87730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5E22437-016E-BA92-5A98-C6A7AE7B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644" y="854768"/>
            <a:ext cx="7243975" cy="4637982"/>
          </a:xfrm>
          <a:prstGeom prst="roundRect">
            <a:avLst>
              <a:gd name="adj" fmla="val 1288"/>
            </a:avLst>
          </a:prstGeom>
          <a:ln w="6350">
            <a:solidFill>
              <a:schemeClr val="bg1">
                <a:lumMod val="65000"/>
              </a:schemeClr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7551F9C-FABD-0CA3-95E1-F1144C866ED3}"/>
              </a:ext>
            </a:extLst>
          </p:cNvPr>
          <p:cNvSpPr txBox="1"/>
          <p:nvPr/>
        </p:nvSpPr>
        <p:spPr>
          <a:xfrm>
            <a:off x="5954405" y="5633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参数类型不清楚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A062C7-8904-EBC1-3D41-7FC3E6D16C4E}"/>
              </a:ext>
            </a:extLst>
          </p:cNvPr>
          <p:cNvSpPr txBox="1"/>
          <p:nvPr/>
        </p:nvSpPr>
        <p:spPr>
          <a:xfrm>
            <a:off x="8113405" y="563390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代码补全没有任何提示</a:t>
            </a:r>
          </a:p>
        </p:txBody>
      </p:sp>
    </p:spTree>
    <p:extLst>
      <p:ext uri="{BB962C8B-B14F-4D97-AF65-F5344CB8AC3E}">
        <p14:creationId xmlns:p14="http://schemas.microsoft.com/office/powerpoint/2010/main" val="227957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058F-0732-0F3F-9F37-A36AFA19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BCEFD7-0353-3554-D8A3-9808CA32B1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类型注解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1F905A9-F5AA-6CFE-CD06-962008E0D4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基本介绍</a:t>
            </a:r>
            <a:endParaRPr lang="en-US" altLang="zh-CN"/>
          </a:p>
          <a:p>
            <a:r>
              <a:rPr lang="zh-CN" altLang="en-US"/>
              <a:t>函数类型注解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E97427-979C-8770-70E2-798065B79B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54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ABF7-7676-3734-5EBE-27468001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B14AF6-0123-FE93-C904-A9E2D509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7255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类型注解是</a:t>
            </a:r>
            <a:r>
              <a:rPr lang="en-US" altLang="zh-CN"/>
              <a:t>Python</a:t>
            </a:r>
            <a:r>
              <a:rPr lang="zh-CN" altLang="en-US"/>
              <a:t>中的一种语法特性，用于明确标识变量、函数参数和返回值的数据类型，从而使代码更清晰、更安全、更易维护。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B9D57B6-9C37-279B-3E50-93E36BE1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类型注解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5A53DAA2-ED45-F463-F0F8-94EDB1BD2DD1}"/>
              </a:ext>
            </a:extLst>
          </p:cNvPr>
          <p:cNvGrpSpPr/>
          <p:nvPr/>
        </p:nvGrpSpPr>
        <p:grpSpPr>
          <a:xfrm>
            <a:off x="1042441" y="1880956"/>
            <a:ext cx="3974059" cy="4183294"/>
            <a:chOff x="2297719" y="3660322"/>
            <a:chExt cx="4378674" cy="418354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29A2167-615F-E679-0C29-394FC0E06065}"/>
                </a:ext>
              </a:extLst>
            </p:cNvPr>
            <p:cNvSpPr/>
            <p:nvPr/>
          </p:nvSpPr>
          <p:spPr>
            <a:xfrm>
              <a:off x="2297720" y="3660322"/>
              <a:ext cx="4378673" cy="4183541"/>
            </a:xfrm>
            <a:prstGeom prst="roundRect">
              <a:avLst>
                <a:gd name="adj" fmla="val 15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98.5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hobby =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"Python"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flag = True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pic = None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names = [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A"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C"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phones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13309091111"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15209109121"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options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"count"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0,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"total"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0}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goods = (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手机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5999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1CBA332F-2C3D-0D2D-6E29-9B39592C7041}"/>
                </a:ext>
              </a:extLst>
            </p:cNvPr>
            <p:cNvSpPr/>
            <p:nvPr/>
          </p:nvSpPr>
          <p:spPr>
            <a:xfrm>
              <a:off x="2297719" y="3660322"/>
              <a:ext cx="437867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C644EF2-1E81-D2CC-C889-D8378E1FDFC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48F24B4-2486-B8EF-B55C-8FDCFA4C5B7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F9A92A7-894A-6165-76B5-A68F9D3F3AD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">
            <a:extLst>
              <a:ext uri="{FF2B5EF4-FFF2-40B4-BE49-F238E27FC236}">
                <a16:creationId xmlns:a16="http://schemas.microsoft.com/office/drawing/2014/main" id="{C14B1DF7-8E07-BAAD-D418-50DAA573FC34}"/>
              </a:ext>
            </a:extLst>
          </p:cNvPr>
          <p:cNvGrpSpPr/>
          <p:nvPr/>
        </p:nvGrpSpPr>
        <p:grpSpPr>
          <a:xfrm>
            <a:off x="5949944" y="1880956"/>
            <a:ext cx="5549905" cy="4183294"/>
            <a:chOff x="2297719" y="3660322"/>
            <a:chExt cx="6114963" cy="418354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4E8CE14-3981-1E12-5968-BD67F1F99E44}"/>
                </a:ext>
              </a:extLst>
            </p:cNvPr>
            <p:cNvSpPr/>
            <p:nvPr/>
          </p:nvSpPr>
          <p:spPr>
            <a:xfrm>
              <a:off x="2297719" y="3660322"/>
              <a:ext cx="6114963" cy="4183541"/>
            </a:xfrm>
            <a:prstGeom prst="roundRect">
              <a:avLst>
                <a:gd name="adj" fmla="val 166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a: int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score: float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98.5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hobby: str =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"Python"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flag: bool = True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pic: None = None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names: list[str] = [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"A"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"C"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]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phones: set[str]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"13309091111"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"15209109121"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options: dict[str, int]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"count"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0,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"total"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0}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goods: tuple[str,int,int] = (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latin typeface="Fira Code" panose="020B0809050000020004" pitchFamily="49" charset="0"/>
                </a:rPr>
                <a:t>手机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5999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1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42078000-D2A6-03F5-4DE1-0A7284AA00CB}"/>
                </a:ext>
              </a:extLst>
            </p:cNvPr>
            <p:cNvSpPr/>
            <p:nvPr/>
          </p:nvSpPr>
          <p:spPr>
            <a:xfrm>
              <a:off x="2297719" y="3660322"/>
              <a:ext cx="611496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B2AB48E-1BA7-E45B-55AB-9340ECBF054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3492398-BC47-70E5-1410-9CD0864B4EB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043D736-5764-CB09-A476-85C62011F53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D39F176-97B9-9D11-5068-54199E704B91}"/>
              </a:ext>
            </a:extLst>
          </p:cNvPr>
          <p:cNvSpPr/>
          <p:nvPr/>
        </p:nvSpPr>
        <p:spPr>
          <a:xfrm>
            <a:off x="6101002" y="2456224"/>
            <a:ext cx="483948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A75741B-314B-9FC0-4340-F6D96A507C99}"/>
              </a:ext>
            </a:extLst>
          </p:cNvPr>
          <p:cNvSpPr/>
          <p:nvPr/>
        </p:nvSpPr>
        <p:spPr>
          <a:xfrm>
            <a:off x="6483176" y="2794130"/>
            <a:ext cx="679624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B0A5BA-7A18-F3AE-1E1D-9456C127B881}"/>
              </a:ext>
            </a:extLst>
          </p:cNvPr>
          <p:cNvSpPr/>
          <p:nvPr/>
        </p:nvSpPr>
        <p:spPr>
          <a:xfrm>
            <a:off x="6483176" y="3157154"/>
            <a:ext cx="520874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BC5A239-8E2B-D9F8-4785-A2B851551925}"/>
              </a:ext>
            </a:extLst>
          </p:cNvPr>
          <p:cNvSpPr/>
          <p:nvPr/>
        </p:nvSpPr>
        <p:spPr>
          <a:xfrm>
            <a:off x="6385222" y="3501410"/>
            <a:ext cx="599778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F204283-EEC1-C48E-4717-6B4038A0DF1F}"/>
              </a:ext>
            </a:extLst>
          </p:cNvPr>
          <p:cNvSpPr/>
          <p:nvPr/>
        </p:nvSpPr>
        <p:spPr>
          <a:xfrm>
            <a:off x="6285061" y="3851734"/>
            <a:ext cx="599778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2B683B5-91BF-B0D9-EE59-75EB797764FB}"/>
              </a:ext>
            </a:extLst>
          </p:cNvPr>
          <p:cNvSpPr/>
          <p:nvPr/>
        </p:nvSpPr>
        <p:spPr>
          <a:xfrm>
            <a:off x="6470476" y="4546596"/>
            <a:ext cx="1066974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E2D039E-9853-4A81-98A2-A6BC15F37B0C}"/>
              </a:ext>
            </a:extLst>
          </p:cNvPr>
          <p:cNvSpPr/>
          <p:nvPr/>
        </p:nvSpPr>
        <p:spPr>
          <a:xfrm>
            <a:off x="6573898" y="4903270"/>
            <a:ext cx="963551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4E46445-DE3B-F192-CF0E-7B2FEB8112F3}"/>
              </a:ext>
            </a:extLst>
          </p:cNvPr>
          <p:cNvSpPr/>
          <p:nvPr/>
        </p:nvSpPr>
        <p:spPr>
          <a:xfrm>
            <a:off x="6666884" y="5241176"/>
            <a:ext cx="1518266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D221E1E-D49A-4E83-D544-B0CF7C86EB8A}"/>
              </a:ext>
            </a:extLst>
          </p:cNvPr>
          <p:cNvSpPr/>
          <p:nvPr/>
        </p:nvSpPr>
        <p:spPr>
          <a:xfrm>
            <a:off x="6472294" y="5591500"/>
            <a:ext cx="1884306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3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A22A-C803-AD2F-5510-04F00575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28A942-9EBF-7BAE-566D-02735C58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类型推断是指</a:t>
            </a:r>
            <a:r>
              <a:rPr lang="en-US" altLang="zh-CN"/>
              <a:t>Python</a:t>
            </a:r>
            <a:r>
              <a:rPr lang="zh-CN" altLang="en-US"/>
              <a:t>解释器自动推断出变量、表达式或函数返回值的数据类型的能力，而无需开发者显式声明。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4AA4313-128D-5967-E36A-B7E5043A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类型推断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31EAA023-F81E-D0F6-4512-DDCF1366B2D9}"/>
              </a:ext>
            </a:extLst>
          </p:cNvPr>
          <p:cNvGrpSpPr/>
          <p:nvPr/>
        </p:nvGrpSpPr>
        <p:grpSpPr>
          <a:xfrm>
            <a:off x="966241" y="1626956"/>
            <a:ext cx="3974059" cy="4183294"/>
            <a:chOff x="2297719" y="3660322"/>
            <a:chExt cx="4378674" cy="418354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60EA7446-FC3B-5916-384A-3DCE2D831FBA}"/>
                </a:ext>
              </a:extLst>
            </p:cNvPr>
            <p:cNvSpPr/>
            <p:nvPr/>
          </p:nvSpPr>
          <p:spPr>
            <a:xfrm>
              <a:off x="2297720" y="3660322"/>
              <a:ext cx="4378673" cy="4183541"/>
            </a:xfrm>
            <a:prstGeom prst="roundRect">
              <a:avLst>
                <a:gd name="adj" fmla="val 15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score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98.5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hobby =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"Python"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flag = True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pic = None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names = [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A"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C"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E"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]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phones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13309091111"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15209109121"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options = {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"count"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0, 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"total"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: 0}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goods = (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0B050"/>
                  </a:solidFill>
                  <a:effectLst/>
                  <a:latin typeface="Fira Code" panose="020B0809050000020004" pitchFamily="49" charset="0"/>
                </a:rPr>
                <a:t>手机</a:t>
              </a:r>
              <a:r>
                <a:rPr lang="en-US" altLang="zh-CN" sz="1200">
                  <a:solidFill>
                    <a:srgbClr val="00B050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5999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0FEA34F7-52AB-38CC-8EE1-1E41069774C6}"/>
                </a:ext>
              </a:extLst>
            </p:cNvPr>
            <p:cNvSpPr/>
            <p:nvPr/>
          </p:nvSpPr>
          <p:spPr>
            <a:xfrm>
              <a:off x="2297719" y="3660322"/>
              <a:ext cx="437867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5CC81D6-DE55-1FD2-3847-7124FA378B5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8DBED64-FC30-0CA7-0DA6-0594C4C2DD6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4F33CEF-4BB4-2343-ECC7-B93F97EDE6C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A18D5D7-3ABF-F0D8-A4D2-F01D0100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51" y="2007190"/>
            <a:ext cx="4832598" cy="3422826"/>
          </a:xfrm>
          <a:prstGeom prst="roundRect">
            <a:avLst>
              <a:gd name="adj" fmla="val 1825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736944F2-81EB-68EB-0E61-1ED1C2EB13E6}"/>
              </a:ext>
            </a:extLst>
          </p:cNvPr>
          <p:cNvSpPr/>
          <p:nvPr/>
        </p:nvSpPr>
        <p:spPr>
          <a:xfrm>
            <a:off x="6239787" y="4038600"/>
            <a:ext cx="554713" cy="319148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8F2B031-F28F-14B4-4C8C-277C7C2308C7}"/>
              </a:ext>
            </a:extLst>
          </p:cNvPr>
          <p:cNvCxnSpPr/>
          <p:nvPr/>
        </p:nvCxnSpPr>
        <p:spPr>
          <a:xfrm>
            <a:off x="6517143" y="4965700"/>
            <a:ext cx="1217157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142A659-D529-57D6-3A5E-F00A860C1E19}"/>
              </a:ext>
            </a:extLst>
          </p:cNvPr>
          <p:cNvGrpSpPr/>
          <p:nvPr/>
        </p:nvGrpSpPr>
        <p:grpSpPr>
          <a:xfrm>
            <a:off x="966241" y="6347433"/>
            <a:ext cx="10480694" cy="348335"/>
            <a:chOff x="4685665" y="1834757"/>
            <a:chExt cx="10552693" cy="348335"/>
          </a:xfrm>
        </p:grpSpPr>
        <p:sp>
          <p:nvSpPr>
            <p:cNvPr id="16" name="ComponentBackground2">
              <a:extLst>
                <a:ext uri="{FF2B5EF4-FFF2-40B4-BE49-F238E27FC236}">
                  <a16:creationId xmlns:a16="http://schemas.microsoft.com/office/drawing/2014/main" id="{2BC02DC1-92F0-7DDD-DC11-B8C7EF3C9630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在对变量进行直接赋值，或者涉及到变量的运算、容器的推导等场景时，解释器会自动推导出变量的类型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7" name="Shape2">
              <a:extLst>
                <a:ext uri="{FF2B5EF4-FFF2-40B4-BE49-F238E27FC236}">
                  <a16:creationId xmlns:a16="http://schemas.microsoft.com/office/drawing/2014/main" id="{62D32199-DE24-FD09-11EE-7518649BE372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011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62FA-3C6B-ABB1-E7BD-9EA56FA3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F48DF76-F7F7-6721-6C46-028B8E5381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384077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类型注解的写法？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变量</a:t>
            </a:r>
            <a:r>
              <a:rPr lang="en-US" altLang="zh-CN" sz="1400"/>
              <a:t>: </a:t>
            </a:r>
            <a:r>
              <a:rPr lang="zh-CN" altLang="en-US" sz="1400"/>
              <a:t>数据类型 </a:t>
            </a:r>
            <a:r>
              <a:rPr lang="en-US" altLang="zh-CN" sz="1400"/>
              <a:t>(</a:t>
            </a:r>
            <a:r>
              <a:rPr lang="zh-CN" altLang="en-US" sz="1400"/>
              <a:t>如 </a:t>
            </a:r>
            <a:r>
              <a:rPr lang="en-US" altLang="zh-CN" sz="1400">
                <a:solidFill>
                  <a:srgbClr val="C00000"/>
                </a:solidFill>
              </a:rPr>
              <a:t>a: int</a:t>
            </a:r>
            <a:r>
              <a:rPr lang="en-US" altLang="zh-CN" sz="140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常见类型的写法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int</a:t>
            </a:r>
            <a:r>
              <a:rPr lang="zh-CN" altLang="en-US" sz="1400"/>
              <a:t>、</a:t>
            </a:r>
            <a:r>
              <a:rPr lang="en-US" altLang="zh-CN" sz="1400"/>
              <a:t>float</a:t>
            </a:r>
            <a:r>
              <a:rPr lang="zh-CN" altLang="en-US" sz="1400"/>
              <a:t>、</a:t>
            </a:r>
            <a:r>
              <a:rPr lang="en-US" altLang="zh-CN" sz="1400"/>
              <a:t>bool</a:t>
            </a:r>
            <a:r>
              <a:rPr lang="zh-CN" altLang="en-US" sz="1400"/>
              <a:t>、</a:t>
            </a:r>
            <a:r>
              <a:rPr lang="en-US" altLang="zh-CN" sz="1400"/>
              <a:t>str</a:t>
            </a:r>
            <a:r>
              <a:rPr lang="zh-CN" altLang="en-US" sz="1400"/>
              <a:t>、</a:t>
            </a:r>
            <a:r>
              <a:rPr lang="en-US" altLang="zh-CN" sz="1400"/>
              <a:t>None</a:t>
            </a:r>
            <a:r>
              <a:rPr lang="zh-CN" altLang="en-US" sz="1400"/>
              <a:t>、</a:t>
            </a:r>
            <a:r>
              <a:rPr lang="en-US" altLang="zh-CN" sz="1400"/>
              <a:t>list</a:t>
            </a:r>
            <a:r>
              <a:rPr lang="zh-CN" altLang="en-US" sz="1400"/>
              <a:t>、</a:t>
            </a:r>
            <a:r>
              <a:rPr lang="en-US" altLang="zh-CN" sz="1400"/>
              <a:t>set</a:t>
            </a:r>
            <a:r>
              <a:rPr lang="zh-CN" altLang="en-US" sz="1400"/>
              <a:t>、</a:t>
            </a:r>
            <a:r>
              <a:rPr lang="en-US" altLang="zh-CN" sz="1400"/>
              <a:t>tuple</a:t>
            </a:r>
            <a:r>
              <a:rPr lang="zh-CN" altLang="en-US" sz="1400"/>
              <a:t>、</a:t>
            </a:r>
            <a:r>
              <a:rPr lang="en-US" altLang="zh-CN" sz="1400"/>
              <a:t>dict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str | int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为什么要使用类型注解，有什么好处呢？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代码结构更清晰、代码逻辑更安全、易维护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更准确的代码自动提示</a:t>
            </a:r>
            <a:endParaRPr lang="en-US" altLang="zh-CN" sz="14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提前发现代码潜在问题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BE9495-01A8-28C9-BBF7-628E4E90B09E}"/>
              </a:ext>
            </a:extLst>
          </p:cNvPr>
          <p:cNvSpPr txBox="1"/>
          <p:nvPr/>
        </p:nvSpPr>
        <p:spPr>
          <a:xfrm>
            <a:off x="4173799" y="5498121"/>
            <a:ext cx="68499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是动态类型语言</a:t>
            </a:r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添加的类型注解只是提示</a:t>
            </a:r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,</a:t>
            </a:r>
            <a:r>
              <a:rPr lang="zh-CN" altLang="en-US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并不是强制约束</a:t>
            </a:r>
            <a:r>
              <a:rPr lang="en-US" altLang="zh-CN" sz="16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!!!</a:t>
            </a:r>
            <a:endParaRPr lang="zh-CN" altLang="en-US" sz="1600">
              <a:solidFill>
                <a:srgbClr val="C00000"/>
              </a:solidFill>
              <a:latin typeface="荆南波波黑" panose="02000800000000000000" pitchFamily="2" charset="-122"/>
              <a:ea typeface="荆南波波黑" panose="020008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00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3116-D422-F16C-AAF1-C2307515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B96C72-61B7-BF4A-ADFB-176ED706F7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类型注解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A68558-27BD-48B9-DE4E-2606C95CD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基本介绍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函数类型注解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743814-0B38-34A8-4164-1C620019AC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6269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BC5B-D709-A342-37E3-855232E9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B771DD-5DE3-5328-A870-0F9790B7B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为函数添加类型注解，其实主要就是为函数的参数和返回值添加类型注解，具体语法如下：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8A11F8D-581F-5BC3-1767-31C17195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</a:t>
            </a:r>
            <a:r>
              <a:rPr lang="en-US" altLang="zh-CN"/>
              <a:t>-</a:t>
            </a:r>
            <a:r>
              <a:rPr lang="zh-CN" altLang="en-US"/>
              <a:t>类型注解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33B88E11-C200-131E-A071-70DC5451BC93}"/>
              </a:ext>
            </a:extLst>
          </p:cNvPr>
          <p:cNvGrpSpPr/>
          <p:nvPr/>
        </p:nvGrpSpPr>
        <p:grpSpPr>
          <a:xfrm>
            <a:off x="966240" y="1576706"/>
            <a:ext cx="8463510" cy="3281044"/>
            <a:chOff x="2297718" y="3660322"/>
            <a:chExt cx="9325214" cy="328123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9206C9F-C3BA-6387-41F1-FE2ACB7C7DE5}"/>
                </a:ext>
              </a:extLst>
            </p:cNvPr>
            <p:cNvSpPr/>
            <p:nvPr/>
          </p:nvSpPr>
          <p:spPr>
            <a:xfrm>
              <a:off x="2297720" y="3660322"/>
              <a:ext cx="9325212" cy="3281238"/>
            </a:xfrm>
            <a:prstGeom prst="roundRect">
              <a:avLst>
                <a:gd name="adj" fmla="val 156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[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]) -&gt;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float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sum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/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len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2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calc_data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[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]) -&gt;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tuple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[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float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max_v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max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min_v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min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avg_v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sum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/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len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max_v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min_v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avg_v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81999020-F9BC-B031-97B3-ABB3A66A76F8}"/>
                </a:ext>
              </a:extLst>
            </p:cNvPr>
            <p:cNvSpPr/>
            <p:nvPr/>
          </p:nvSpPr>
          <p:spPr>
            <a:xfrm>
              <a:off x="2297718" y="3660322"/>
              <a:ext cx="9325211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D389066-8A4A-6C97-B5F1-9810A878D15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681D81E-C3DF-6DE8-1C2F-31D254CBACA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670B6A9-94E2-8590-F61D-5A8A656A21F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73618C-68F3-EA61-699F-D95A6BBE43A3}"/>
              </a:ext>
            </a:extLst>
          </p:cNvPr>
          <p:cNvSpPr/>
          <p:nvPr/>
        </p:nvSpPr>
        <p:spPr>
          <a:xfrm>
            <a:off x="2425526" y="1922549"/>
            <a:ext cx="1035224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5681FD-1949-0D33-07A0-0CAD663899C2}"/>
              </a:ext>
            </a:extLst>
          </p:cNvPr>
          <p:cNvSpPr/>
          <p:nvPr/>
        </p:nvSpPr>
        <p:spPr>
          <a:xfrm>
            <a:off x="2889076" y="3028730"/>
            <a:ext cx="1035224" cy="266700"/>
          </a:xfrm>
          <a:prstGeom prst="roundRect">
            <a:avLst/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9EEBA62-258B-1CE4-2AC3-9F22F5F89468}"/>
              </a:ext>
            </a:extLst>
          </p:cNvPr>
          <p:cNvSpPr/>
          <p:nvPr/>
        </p:nvSpPr>
        <p:spPr>
          <a:xfrm>
            <a:off x="3568526" y="1916199"/>
            <a:ext cx="832024" cy="266700"/>
          </a:xfrm>
          <a:prstGeom prst="roundRect">
            <a:avLst/>
          </a:prstGeom>
          <a:solidFill>
            <a:srgbClr val="92D050">
              <a:alpha val="20000"/>
            </a:srgbClr>
          </a:solidFill>
          <a:ln w="952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9642EF-A6DB-D849-EC54-4B05B7FBF698}"/>
              </a:ext>
            </a:extLst>
          </p:cNvPr>
          <p:cNvSpPr/>
          <p:nvPr/>
        </p:nvSpPr>
        <p:spPr>
          <a:xfrm>
            <a:off x="4025726" y="3027229"/>
            <a:ext cx="2438574" cy="266700"/>
          </a:xfrm>
          <a:prstGeom prst="roundRect">
            <a:avLst/>
          </a:prstGeom>
          <a:solidFill>
            <a:srgbClr val="92D050">
              <a:alpha val="20000"/>
            </a:srgbClr>
          </a:solidFill>
          <a:ln w="952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22F854C-B474-6F04-7E2D-129AFF379735}"/>
              </a:ext>
            </a:extLst>
          </p:cNvPr>
          <p:cNvCxnSpPr>
            <a:cxnSpLocks/>
          </p:cNvCxnSpPr>
          <p:nvPr/>
        </p:nvCxnSpPr>
        <p:spPr>
          <a:xfrm>
            <a:off x="2660650" y="2182899"/>
            <a:ext cx="0" cy="3227301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6D452D4-9432-7BBB-65EF-A0E1DA49D9B2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2966884" y="2989196"/>
            <a:ext cx="133570" cy="746038"/>
          </a:xfrm>
          <a:prstGeom prst="bentConnector2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6617A8B3-2EBF-6E21-86AE-89A7CB1043F6}"/>
              </a:ext>
            </a:extLst>
          </p:cNvPr>
          <p:cNvSpPr txBox="1"/>
          <p:nvPr/>
        </p:nvSpPr>
        <p:spPr>
          <a:xfrm>
            <a:off x="2425526" y="541823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参数的类型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30588A6-BB9C-C3ED-5B9F-98FA1A5D37D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400550" y="2049549"/>
            <a:ext cx="5556250" cy="6350"/>
          </a:xfrm>
          <a:prstGeom prst="straightConnector1">
            <a:avLst/>
          </a:prstGeom>
          <a:ln w="12700"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3376590-8A40-9DD2-AF5F-B7359DD0146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464300" y="2049549"/>
            <a:ext cx="260350" cy="1111030"/>
          </a:xfrm>
          <a:prstGeom prst="bentConnector2">
            <a:avLst/>
          </a:prstGeom>
          <a:ln w="127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58A4EEB-0016-A307-66F5-68C93F0BF8F7}"/>
              </a:ext>
            </a:extLst>
          </p:cNvPr>
          <p:cNvSpPr txBox="1"/>
          <p:nvPr/>
        </p:nvSpPr>
        <p:spPr>
          <a:xfrm>
            <a:off x="10089976" y="192254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荆南波波黑" panose="02000800000000000000" pitchFamily="2" charset="-122"/>
                <a:ea typeface="荆南波波黑" panose="02000800000000000000" pitchFamily="2" charset="-122"/>
              </a:rPr>
              <a:t>返回值的类型</a:t>
            </a:r>
          </a:p>
        </p:txBody>
      </p:sp>
    </p:spTree>
    <p:extLst>
      <p:ext uri="{BB962C8B-B14F-4D97-AF65-F5344CB8AC3E}">
        <p14:creationId xmlns:p14="http://schemas.microsoft.com/office/powerpoint/2010/main" val="367819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21" grpId="0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7EE72-8F68-F740-579D-586F9126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983F0-0C07-EE9E-FD74-E1CD126F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为函数添加合理的类型注解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169AF0-1CD9-9412-4E0B-D621D915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2262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定义一个用于根据输入的商品信息（商品名、价格、数量）、优惠（优惠券、积分抵扣）、运费信息计算购物车总金额的函数。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/>
              <a:t>具体规则如下：</a:t>
            </a:r>
            <a:endParaRPr lang="en-US" altLang="zh-CN"/>
          </a:p>
          <a:p>
            <a:pPr marL="612000" lvl="3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优惠券需要商品金额满</a:t>
            </a:r>
            <a:r>
              <a:rPr lang="en-US" altLang="zh-CN" sz="1400"/>
              <a:t>5000</a:t>
            </a:r>
            <a:r>
              <a:rPr lang="zh-CN" altLang="en-US" sz="1400"/>
              <a:t>才可以使用，且优惠券金额不能超过商品总价。</a:t>
            </a:r>
            <a:endParaRPr lang="en-US" altLang="zh-CN" sz="1400"/>
          </a:p>
          <a:p>
            <a:pPr marL="612000" lvl="3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积分抵扣需要商品总金额满</a:t>
            </a:r>
            <a:r>
              <a:rPr lang="en-US" altLang="zh-CN" sz="1400"/>
              <a:t>5000</a:t>
            </a:r>
            <a:r>
              <a:rPr lang="zh-CN" altLang="en-US" sz="1400"/>
              <a:t>才可以使用，</a:t>
            </a:r>
            <a:r>
              <a:rPr lang="en-US" altLang="zh-CN" sz="1400"/>
              <a:t>100</a:t>
            </a:r>
            <a:r>
              <a:rPr lang="zh-CN" altLang="en-US" sz="1400"/>
              <a:t>积分抵扣</a:t>
            </a:r>
            <a:r>
              <a:rPr lang="en-US" altLang="zh-CN" sz="1400"/>
              <a:t>1</a:t>
            </a:r>
            <a:r>
              <a:rPr lang="zh-CN" altLang="en-US" sz="1400"/>
              <a:t>元（且抵扣金额不能超过商品总价）。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1983027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4275-8678-3AE4-89EF-B152AAF2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B471722-E394-E4E0-8338-950FDC07DC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213804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函数中类型注解的语法</a:t>
            </a:r>
            <a:r>
              <a:rPr lang="en-US" altLang="zh-CN"/>
              <a:t>?</a:t>
            </a:r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52F7B3F-B003-A17F-7B8F-6447B6BEE2A5}"/>
              </a:ext>
            </a:extLst>
          </p:cNvPr>
          <p:cNvGrpSpPr/>
          <p:nvPr/>
        </p:nvGrpSpPr>
        <p:grpSpPr>
          <a:xfrm>
            <a:off x="4449608" y="2730949"/>
            <a:ext cx="6323559" cy="2138044"/>
            <a:chOff x="2297719" y="3660322"/>
            <a:chExt cx="6967386" cy="213817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0503528-9643-BDDD-A7C1-14B7654B4208}"/>
                </a:ext>
              </a:extLst>
            </p:cNvPr>
            <p:cNvSpPr/>
            <p:nvPr/>
          </p:nvSpPr>
          <p:spPr>
            <a:xfrm>
              <a:off x="2297720" y="3660322"/>
              <a:ext cx="6967385" cy="2138170"/>
            </a:xfrm>
            <a:prstGeom prst="roundRect">
              <a:avLst>
                <a:gd name="adj" fmla="val 275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calc_data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list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[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]) -&gt;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tuple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[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float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max_v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max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min_v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min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avg_v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sum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 /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len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scores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max_v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min_v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avg_v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0E327760-D38C-810F-3A87-D13060F7E347}"/>
                </a:ext>
              </a:extLst>
            </p:cNvPr>
            <p:cNvSpPr/>
            <p:nvPr/>
          </p:nvSpPr>
          <p:spPr>
            <a:xfrm>
              <a:off x="2297719" y="3660322"/>
              <a:ext cx="696738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FC5733D-83CC-6AB6-04EC-EBF9752FCE0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3A34A8F-F2BB-CBDE-C0D9-6F0ABFFFC2E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4F6F3BF-0BC4-2302-8999-4FACE83A471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6CB8AB0-DC17-59A5-2889-A7BFE23411A6}"/>
              </a:ext>
            </a:extLst>
          </p:cNvPr>
          <p:cNvCxnSpPr>
            <a:cxnSpLocks/>
          </p:cNvCxnSpPr>
          <p:nvPr/>
        </p:nvCxnSpPr>
        <p:spPr>
          <a:xfrm>
            <a:off x="6216563" y="3298320"/>
            <a:ext cx="99695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2DE3EE2-A963-AD06-1505-6CA21996A82F}"/>
              </a:ext>
            </a:extLst>
          </p:cNvPr>
          <p:cNvCxnSpPr>
            <a:cxnSpLocks/>
          </p:cNvCxnSpPr>
          <p:nvPr/>
        </p:nvCxnSpPr>
        <p:spPr>
          <a:xfrm>
            <a:off x="7556413" y="3298320"/>
            <a:ext cx="193040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EDE10339-9F7A-4B25-339D-FD73C5B72578}"/>
              </a:ext>
            </a:extLst>
          </p:cNvPr>
          <p:cNvSpPr txBox="1"/>
          <p:nvPr/>
        </p:nvSpPr>
        <p:spPr>
          <a:xfrm>
            <a:off x="6421612" y="33250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参数类型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815724-49A9-CD0F-2373-8D136CBAE937}"/>
              </a:ext>
            </a:extLst>
          </p:cNvPr>
          <p:cNvSpPr txBox="1"/>
          <p:nvPr/>
        </p:nvSpPr>
        <p:spPr>
          <a:xfrm>
            <a:off x="8597389" y="332500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返回值类型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4B36D3-4E15-C579-0018-BC3FD02795D9}"/>
              </a:ext>
            </a:extLst>
          </p:cNvPr>
          <p:cNvSpPr txBox="1"/>
          <p:nvPr/>
        </p:nvSpPr>
        <p:spPr>
          <a:xfrm>
            <a:off x="4548479" y="5313455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对于需要团队协作开发和长期维护的项目，推荐使用类型注解</a:t>
            </a:r>
          </a:p>
        </p:txBody>
      </p:sp>
    </p:spTree>
    <p:extLst>
      <p:ext uri="{BB962C8B-B14F-4D97-AF65-F5344CB8AC3E}">
        <p14:creationId xmlns:p14="http://schemas.microsoft.com/office/powerpoint/2010/main" val="245899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F6F6"/>
        </a:solidFill>
        <a:ln w="3175">
          <a:noFill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a:spPr>
      <a:bodyPr lIns="36000" tIns="252000" rIns="36000" bIns="0" rtlCol="0" anchor="t"/>
      <a:lstStyle>
        <a:defPPr algn="l">
          <a:lnSpc>
            <a:spcPct val="200000"/>
          </a:lnSpc>
          <a:buNone/>
          <a:defRPr sz="1100">
            <a:solidFill>
              <a:srgbClr val="8C8C8C"/>
            </a:solidFill>
            <a:effectLst/>
            <a:latin typeface="Fira Code" panose="020B08090500000200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16233</TotalTime>
  <Words>8406</Words>
  <Application>Microsoft Office PowerPoint</Application>
  <PresentationFormat>宽屏</PresentationFormat>
  <Paragraphs>686</Paragraphs>
  <Slides>63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63</vt:i4>
      </vt:variant>
    </vt:vector>
  </HeadingPairs>
  <TitlesOfParts>
    <vt:vector size="83" baseType="lpstr">
      <vt:lpstr>Alibaba PuHuiTi B</vt:lpstr>
      <vt:lpstr>quote-cjk-patch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Lato Black</vt:lpstr>
      <vt:lpstr>Source Code Pro</vt:lpstr>
      <vt:lpstr>Source Code Pro Black</vt:lpstr>
      <vt:lpstr>Wingdings</vt:lpstr>
      <vt:lpstr>内容模板</vt:lpstr>
      <vt:lpstr>封面</vt:lpstr>
      <vt:lpstr>章节目录模板</vt:lpstr>
      <vt:lpstr>小结思考模板2</vt:lpstr>
      <vt:lpstr>Python核心语法</vt:lpstr>
      <vt:lpstr>Python核心语法</vt:lpstr>
      <vt:lpstr>Python核心语法</vt:lpstr>
      <vt:lpstr>什么是函数?</vt:lpstr>
      <vt:lpstr>PowerPoint 演示文稿</vt:lpstr>
      <vt:lpstr>PowerPoint 演示文稿</vt:lpstr>
      <vt:lpstr>函数</vt:lpstr>
      <vt:lpstr>PowerPoint 演示文稿</vt:lpstr>
      <vt:lpstr>PowerPoint 演示文稿</vt:lpstr>
      <vt:lpstr>函数的参数与返回值</vt:lpstr>
      <vt:lpstr>PowerPoint 演示文稿</vt:lpstr>
      <vt:lpstr>PowerPoint 演示文稿</vt:lpstr>
      <vt:lpstr>PowerPoint 演示文稿</vt:lpstr>
      <vt:lpstr>函数的说明文档</vt:lpstr>
      <vt:lpstr>函数的嵌套调用</vt:lpstr>
      <vt:lpstr>函数的嵌套调用</vt:lpstr>
      <vt:lpstr>函数的嵌套调用</vt:lpstr>
      <vt:lpstr>函数的嵌套调用</vt:lpstr>
      <vt:lpstr>函数的嵌套调用</vt:lpstr>
      <vt:lpstr>函数的嵌套调用</vt:lpstr>
      <vt:lpstr>函数的嵌套调用</vt:lpstr>
      <vt:lpstr>PowerPoint 演示文稿</vt:lpstr>
      <vt:lpstr>完成如下需求</vt:lpstr>
      <vt:lpstr>完成如下需求</vt:lpstr>
      <vt:lpstr>PowerPoint 演示文稿</vt:lpstr>
      <vt:lpstr>PowerPoint 演示文稿</vt:lpstr>
      <vt:lpstr>函数-变量作用域</vt:lpstr>
      <vt:lpstr>global关键字</vt:lpstr>
      <vt:lpstr>PowerPoint 演示文稿</vt:lpstr>
      <vt:lpstr>PowerPoint 演示文稿</vt:lpstr>
      <vt:lpstr>PowerPoint 演示文稿</vt:lpstr>
      <vt:lpstr>函数-传参方式</vt:lpstr>
      <vt:lpstr>函数-传参方式</vt:lpstr>
      <vt:lpstr>位置参数 vs 关键字参数</vt:lpstr>
      <vt:lpstr>PowerPoint 演示文稿</vt:lpstr>
      <vt:lpstr>PowerPoint 演示文稿</vt:lpstr>
      <vt:lpstr>默认参数</vt:lpstr>
      <vt:lpstr>PowerPoint 演示文稿</vt:lpstr>
      <vt:lpstr>PowerPoint 演示文稿</vt:lpstr>
      <vt:lpstr>不定长参数</vt:lpstr>
      <vt:lpstr>不定长参数-位置传递(*args)</vt:lpstr>
      <vt:lpstr>不定长参数-关键字传递(**kwargs)</vt:lpstr>
      <vt:lpstr>PowerPoint 演示文稿</vt:lpstr>
      <vt:lpstr>PowerPoint 演示文稿</vt:lpstr>
      <vt:lpstr>函数的参数类型</vt:lpstr>
      <vt:lpstr>PowerPoint 演示文稿</vt:lpstr>
      <vt:lpstr>匿名函数</vt:lpstr>
      <vt:lpstr>PowerPoint 演示文稿</vt:lpstr>
      <vt:lpstr>PowerPoint 演示文稿</vt:lpstr>
      <vt:lpstr>N的阶乘</vt:lpstr>
      <vt:lpstr>完成如下需求</vt:lpstr>
      <vt:lpstr>电商订单计算器</vt:lpstr>
      <vt:lpstr>PowerPoint 演示文稿</vt:lpstr>
      <vt:lpstr>PowerPoint 演示文稿</vt:lpstr>
      <vt:lpstr>PowerPoint 演示文稿</vt:lpstr>
      <vt:lpstr>类型注解</vt:lpstr>
      <vt:lpstr>类型推断</vt:lpstr>
      <vt:lpstr>PowerPoint 演示文稿</vt:lpstr>
      <vt:lpstr>PowerPoint 演示文稿</vt:lpstr>
      <vt:lpstr>函数-类型注解</vt:lpstr>
      <vt:lpstr>为函数添加合理的类型注解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1835</cp:revision>
  <cp:lastPrinted>2022-05-29T16:00:00Z</cp:lastPrinted>
  <dcterms:created xsi:type="dcterms:W3CDTF">2022-05-29T16:00:00Z</dcterms:created>
  <dcterms:modified xsi:type="dcterms:W3CDTF">2025-11-23T14:20:18Z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