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41"/>
  </p:notesMasterIdLst>
  <p:handoutMasterIdLst>
    <p:handoutMasterId r:id="rId42"/>
  </p:handoutMasterIdLst>
  <p:sldIdLst>
    <p:sldId id="754" r:id="rId5"/>
    <p:sldId id="341" r:id="rId6"/>
    <p:sldId id="686" r:id="rId7"/>
    <p:sldId id="729" r:id="rId8"/>
    <p:sldId id="755" r:id="rId9"/>
    <p:sldId id="730" r:id="rId10"/>
    <p:sldId id="756" r:id="rId11"/>
    <p:sldId id="731" r:id="rId12"/>
    <p:sldId id="757" r:id="rId13"/>
    <p:sldId id="732" r:id="rId14"/>
    <p:sldId id="733" r:id="rId15"/>
    <p:sldId id="734" r:id="rId16"/>
    <p:sldId id="758" r:id="rId17"/>
    <p:sldId id="735" r:id="rId18"/>
    <p:sldId id="759" r:id="rId19"/>
    <p:sldId id="760" r:id="rId20"/>
    <p:sldId id="736" r:id="rId21"/>
    <p:sldId id="761" r:id="rId22"/>
    <p:sldId id="762" r:id="rId23"/>
    <p:sldId id="737" r:id="rId24"/>
    <p:sldId id="738" r:id="rId25"/>
    <p:sldId id="763" r:id="rId26"/>
    <p:sldId id="739" r:id="rId27"/>
    <p:sldId id="764" r:id="rId28"/>
    <p:sldId id="740" r:id="rId29"/>
    <p:sldId id="741" r:id="rId30"/>
    <p:sldId id="765" r:id="rId31"/>
    <p:sldId id="743" r:id="rId32"/>
    <p:sldId id="744" r:id="rId33"/>
    <p:sldId id="745" r:id="rId34"/>
    <p:sldId id="766" r:id="rId35"/>
    <p:sldId id="767" r:id="rId36"/>
    <p:sldId id="768" r:id="rId37"/>
    <p:sldId id="769" r:id="rId38"/>
    <p:sldId id="770" r:id="rId39"/>
    <p:sldId id="288" r:id="rId40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54"/>
            <p14:sldId id="341"/>
            <p14:sldId id="686"/>
            <p14:sldId id="729"/>
            <p14:sldId id="755"/>
            <p14:sldId id="730"/>
            <p14:sldId id="756"/>
            <p14:sldId id="731"/>
            <p14:sldId id="757"/>
            <p14:sldId id="732"/>
            <p14:sldId id="733"/>
            <p14:sldId id="734"/>
            <p14:sldId id="758"/>
            <p14:sldId id="735"/>
            <p14:sldId id="759"/>
            <p14:sldId id="760"/>
            <p14:sldId id="736"/>
            <p14:sldId id="761"/>
            <p14:sldId id="762"/>
            <p14:sldId id="737"/>
            <p14:sldId id="738"/>
            <p14:sldId id="763"/>
            <p14:sldId id="739"/>
            <p14:sldId id="764"/>
            <p14:sldId id="740"/>
            <p14:sldId id="741"/>
            <p14:sldId id="765"/>
            <p14:sldId id="743"/>
            <p14:sldId id="744"/>
            <p14:sldId id="745"/>
            <p14:sldId id="766"/>
            <p14:sldId id="767"/>
            <p14:sldId id="768"/>
            <p14:sldId id="769"/>
            <p14:sldId id="770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  <a:srgbClr val="067D17"/>
    <a:srgbClr val="F6F6F6"/>
    <a:srgbClr val="00B0F0"/>
    <a:srgbClr val="B200B2"/>
    <a:srgbClr val="2D60EC"/>
    <a:srgbClr val="919191"/>
    <a:srgbClr val="BFBFBF"/>
    <a:srgbClr val="1750EB"/>
    <a:srgbClr val="1B1E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1" autoAdjust="0"/>
    <p:restoredTop sz="93214" autoAdjust="0"/>
  </p:normalViewPr>
  <p:slideViewPr>
    <p:cSldViewPr snapToGrid="0" showGuides="1">
      <p:cViewPr>
        <p:scale>
          <a:sx n="75" d="100"/>
          <a:sy n="75" d="100"/>
        </p:scale>
        <p:origin x="936" y="5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简单来说，面向过程编程就像你亲自动手做一个手工，需要自己指挥每一个动作。 而面向对象就像你管理一个团队，分配任务给不同的对象。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47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545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13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E8CD7-7660-1A36-F5AC-DF5453DB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Python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核心语法</a:t>
            </a:r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F5794D4-FA2F-5D70-8C82-C77264384343}"/>
              </a:ext>
            </a:extLst>
          </p:cNvPr>
          <p:cNvSpPr/>
          <p:nvPr/>
        </p:nvSpPr>
        <p:spPr>
          <a:xfrm>
            <a:off x="50888" y="2103257"/>
            <a:ext cx="12192000" cy="1390935"/>
          </a:xfrm>
          <a:custGeom>
            <a:avLst/>
            <a:gdLst>
              <a:gd name="connsiteX0" fmla="*/ 3269730 w 6539459"/>
              <a:gd name="connsiteY0" fmla="*/ 2024556 h 2024556"/>
              <a:gd name="connsiteX1" fmla="*/ 6473799 w 6539459"/>
              <a:gd name="connsiteY1" fmla="*/ 130650 h 2024556"/>
              <a:gd name="connsiteX2" fmla="*/ 6539459 w 6539459"/>
              <a:gd name="connsiteY2" fmla="*/ 0 h 2024556"/>
              <a:gd name="connsiteX3" fmla="*/ 0 w 6539459"/>
              <a:gd name="connsiteY3" fmla="*/ 0 h 2024556"/>
              <a:gd name="connsiteX4" fmla="*/ 65661 w 6539459"/>
              <a:gd name="connsiteY4" fmla="*/ 130650 h 2024556"/>
              <a:gd name="connsiteX5" fmla="*/ 3269730 w 6539459"/>
              <a:gd name="connsiteY5" fmla="*/ 2024556 h 202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9459" h="2024556">
                <a:moveTo>
                  <a:pt x="3269730" y="2024556"/>
                </a:moveTo>
                <a:cubicBezTo>
                  <a:pt x="4649984" y="2024556"/>
                  <a:pt x="5851589" y="1259672"/>
                  <a:pt x="6473799" y="130650"/>
                </a:cubicBezTo>
                <a:lnTo>
                  <a:pt x="6539459" y="0"/>
                </a:lnTo>
                <a:lnTo>
                  <a:pt x="0" y="0"/>
                </a:lnTo>
                <a:lnTo>
                  <a:pt x="65661" y="130650"/>
                </a:lnTo>
                <a:cubicBezTo>
                  <a:pt x="687871" y="1259672"/>
                  <a:pt x="1889476" y="2024556"/>
                  <a:pt x="3269730" y="2024556"/>
                </a:cubicBezTo>
                <a:close/>
              </a:path>
            </a:pathLst>
          </a:custGeom>
          <a:noFill/>
          <a:ln w="6350" cap="flat" cmpd="sng" algn="ctr">
            <a:gradFill>
              <a:gsLst>
                <a:gs pos="0">
                  <a:srgbClr val="4381DD">
                    <a:alpha val="0"/>
                  </a:srgbClr>
                </a:gs>
                <a:gs pos="100000">
                  <a:srgbClr val="4381DD">
                    <a:alpha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A6D718-B2F5-011A-6A8E-C77F8EB2F6BA}"/>
              </a:ext>
            </a:extLst>
          </p:cNvPr>
          <p:cNvGrpSpPr/>
          <p:nvPr/>
        </p:nvGrpSpPr>
        <p:grpSpPr>
          <a:xfrm>
            <a:off x="654395" y="2016492"/>
            <a:ext cx="1564466" cy="1564466"/>
            <a:chOff x="654395" y="2016492"/>
            <a:chExt cx="1564466" cy="156446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AA4E47F-7AF1-471D-77F4-E0F4B87D856F}"/>
                </a:ext>
              </a:extLst>
            </p:cNvPr>
            <p:cNvSpPr/>
            <p:nvPr/>
          </p:nvSpPr>
          <p:spPr>
            <a:xfrm>
              <a:off x="654395" y="2016492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4381DD">
                    <a:lumMod val="60000"/>
                    <a:lumOff val="40000"/>
                  </a:srgbClr>
                </a:gs>
                <a:gs pos="50000">
                  <a:srgbClr val="4381DD"/>
                </a:gs>
              </a:gsLst>
              <a:lin ang="2700000" scaled="1"/>
              <a:tileRect/>
            </a:gradFill>
            <a:effectLst>
              <a:reflection blurRad="6350" stA="15000" endPos="35000" dir="5400000" sy="-100000" algn="bl" rotWithShape="0"/>
            </a:effectLst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形状1">
              <a:extLst>
                <a:ext uri="{FF2B5EF4-FFF2-40B4-BE49-F238E27FC236}">
                  <a16:creationId xmlns:a16="http://schemas.microsoft.com/office/drawing/2014/main" id="{848053D3-BF1A-843E-ACC1-C4F1B93856DF}"/>
                </a:ext>
              </a:extLst>
            </p:cNvPr>
            <p:cNvSpPr txBox="1">
              <a:spLocks/>
            </p:cNvSpPr>
            <p:nvPr/>
          </p:nvSpPr>
          <p:spPr>
            <a:xfrm>
              <a:off x="715456" y="274904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数据存储与运算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14508D8-A3A3-1D89-14A6-DE23CD7390D9}"/>
                </a:ext>
              </a:extLst>
            </p:cNvPr>
            <p:cNvSpPr txBox="1"/>
            <p:nvPr/>
          </p:nvSpPr>
          <p:spPr>
            <a:xfrm>
              <a:off x="1159439" y="2161555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V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FF2EE05-CEF0-7E33-51A1-6B0DE4571879}"/>
              </a:ext>
            </a:extLst>
          </p:cNvPr>
          <p:cNvGrpSpPr/>
          <p:nvPr/>
        </p:nvGrpSpPr>
        <p:grpSpPr>
          <a:xfrm>
            <a:off x="2883600" y="2488467"/>
            <a:ext cx="1564466" cy="1564466"/>
            <a:chOff x="2883600" y="2488467"/>
            <a:chExt cx="1564466" cy="1564466"/>
          </a:xfrm>
        </p:grpSpPr>
        <p:sp>
          <p:nvSpPr>
            <p:cNvPr id="40" name="IconBackground1">
              <a:extLst>
                <a:ext uri="{FF2B5EF4-FFF2-40B4-BE49-F238E27FC236}">
                  <a16:creationId xmlns:a16="http://schemas.microsoft.com/office/drawing/2014/main" id="{CCE7E541-D9BB-B1BC-DB0A-1C54325CE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600" y="2488467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AEDAF8"/>
                </a:gs>
                <a:gs pos="60000">
                  <a:srgbClr val="72BEF2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形状1">
              <a:extLst>
                <a:ext uri="{FF2B5EF4-FFF2-40B4-BE49-F238E27FC236}">
                  <a16:creationId xmlns:a16="http://schemas.microsoft.com/office/drawing/2014/main" id="{7257DE16-877D-4B2C-17E7-EFC442FDEB5E}"/>
                </a:ext>
              </a:extLst>
            </p:cNvPr>
            <p:cNvSpPr txBox="1">
              <a:spLocks/>
            </p:cNvSpPr>
            <p:nvPr/>
          </p:nvSpPr>
          <p:spPr>
            <a:xfrm>
              <a:off x="2934403" y="3190222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数据的逻辑处理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686F182-486D-AD5A-C17A-285EEECAB314}"/>
                </a:ext>
              </a:extLst>
            </p:cNvPr>
            <p:cNvSpPr txBox="1"/>
            <p:nvPr/>
          </p:nvSpPr>
          <p:spPr>
            <a:xfrm>
              <a:off x="3467898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L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C989A5C-0847-F99A-4EC2-357164960CA5}"/>
              </a:ext>
            </a:extLst>
          </p:cNvPr>
          <p:cNvGrpSpPr/>
          <p:nvPr/>
        </p:nvGrpSpPr>
        <p:grpSpPr>
          <a:xfrm>
            <a:off x="5313767" y="2693955"/>
            <a:ext cx="1564466" cy="1564466"/>
            <a:chOff x="5313767" y="2693955"/>
            <a:chExt cx="1564466" cy="156446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59A2720-5447-01A7-1012-EA306D120594}"/>
                </a:ext>
              </a:extLst>
            </p:cNvPr>
            <p:cNvGrpSpPr/>
            <p:nvPr/>
          </p:nvGrpSpPr>
          <p:grpSpPr>
            <a:xfrm>
              <a:off x="5313767" y="2693955"/>
              <a:ext cx="1564466" cy="1564466"/>
              <a:chOff x="1174224" y="1867691"/>
              <a:chExt cx="2386018" cy="238601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6AB6814-505A-F055-61BF-7597DF909C50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62CB78">
                      <a:lumMod val="60000"/>
                      <a:lumOff val="40000"/>
                    </a:srgbClr>
                  </a:gs>
                  <a:gs pos="50000">
                    <a:srgbClr val="62CB7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形状2">
                <a:extLst>
                  <a:ext uri="{FF2B5EF4-FFF2-40B4-BE49-F238E27FC236}">
                    <a16:creationId xmlns:a16="http://schemas.microsoft.com/office/drawing/2014/main" id="{D82B4AB2-EBEA-DEB1-BFCB-FA5476AEC2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043852"/>
                <a:ext cx="2079526" cy="8619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数据存储容器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0E729E-B709-9F89-82B6-3EF7948A3144}"/>
                </a:ext>
              </a:extLst>
            </p:cNvPr>
            <p:cNvSpPr txBox="1"/>
            <p:nvPr/>
          </p:nvSpPr>
          <p:spPr>
            <a:xfrm>
              <a:off x="5846310" y="2844937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C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EDE311D-D316-CB83-15A8-67AD284BFB69}"/>
              </a:ext>
            </a:extLst>
          </p:cNvPr>
          <p:cNvGrpSpPr/>
          <p:nvPr/>
        </p:nvGrpSpPr>
        <p:grpSpPr>
          <a:xfrm>
            <a:off x="7743934" y="2488467"/>
            <a:ext cx="1564466" cy="1564466"/>
            <a:chOff x="7743934" y="2488467"/>
            <a:chExt cx="1564466" cy="156446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282EDF7-431D-EE04-67F8-405C5B296158}"/>
                </a:ext>
              </a:extLst>
            </p:cNvPr>
            <p:cNvGrpSpPr/>
            <p:nvPr/>
          </p:nvGrpSpPr>
          <p:grpSpPr>
            <a:xfrm>
              <a:off x="7743934" y="2488467"/>
              <a:ext cx="1564466" cy="1564466"/>
              <a:chOff x="1174224" y="1867691"/>
              <a:chExt cx="2386018" cy="238601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F5643EB-9BC4-46A9-0C3B-60E7A8ED5E11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44B4CF">
                      <a:lumMod val="60000"/>
                      <a:lumOff val="40000"/>
                    </a:srgbClr>
                  </a:gs>
                  <a:gs pos="50000">
                    <a:srgbClr val="44B4CF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形状3">
                <a:extLst>
                  <a:ext uri="{FF2B5EF4-FFF2-40B4-BE49-F238E27FC236}">
                    <a16:creationId xmlns:a16="http://schemas.microsoft.com/office/drawing/2014/main" id="{A5364520-2746-8A8B-7E0D-A337E0BFFC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27026"/>
                <a:ext cx="2079526" cy="719928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函数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F7D29A8-D2E3-8380-AE42-953F7BCBECFE}"/>
                </a:ext>
              </a:extLst>
            </p:cNvPr>
            <p:cNvSpPr txBox="1"/>
            <p:nvPr/>
          </p:nvSpPr>
          <p:spPr>
            <a:xfrm>
              <a:off x="8276477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F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AE127DF-6A86-1244-A06D-782065C66685}"/>
              </a:ext>
            </a:extLst>
          </p:cNvPr>
          <p:cNvGrpSpPr/>
          <p:nvPr/>
        </p:nvGrpSpPr>
        <p:grpSpPr>
          <a:xfrm>
            <a:off x="9973139" y="1961339"/>
            <a:ext cx="1564466" cy="1564466"/>
            <a:chOff x="9973139" y="1961339"/>
            <a:chExt cx="1564466" cy="156446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0683EE4-9B02-F80E-8CBC-CEA4C8E3A0E7}"/>
                </a:ext>
              </a:extLst>
            </p:cNvPr>
            <p:cNvGrpSpPr/>
            <p:nvPr/>
          </p:nvGrpSpPr>
          <p:grpSpPr>
            <a:xfrm>
              <a:off x="9973139" y="1961339"/>
              <a:ext cx="1564466" cy="1564466"/>
              <a:chOff x="1174224" y="1867691"/>
              <a:chExt cx="2386018" cy="238601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CF98E2A-A331-123A-9438-7C0E15F6260F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7995D8">
                      <a:lumMod val="60000"/>
                      <a:lumOff val="40000"/>
                    </a:srgbClr>
                  </a:gs>
                  <a:gs pos="50000">
                    <a:srgbClr val="7995D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形状4">
                <a:extLst>
                  <a:ext uri="{FF2B5EF4-FFF2-40B4-BE49-F238E27FC236}">
                    <a16:creationId xmlns:a16="http://schemas.microsoft.com/office/drawing/2014/main" id="{705FBF11-224F-BB09-A452-43802F4878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76178"/>
                <a:ext cx="2079526" cy="67077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面向对象基础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E09CE27-0AC9-B230-0E7D-B8C5E3FF1211}"/>
                </a:ext>
              </a:extLst>
            </p:cNvPr>
            <p:cNvSpPr txBox="1"/>
            <p:nvPr/>
          </p:nvSpPr>
          <p:spPr>
            <a:xfrm>
              <a:off x="10442733" y="2134524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O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31FEEC-114E-4D58-783B-CCD1C80F31E6}"/>
              </a:ext>
            </a:extLst>
          </p:cNvPr>
          <p:cNvSpPr/>
          <p:nvPr/>
        </p:nvSpPr>
        <p:spPr>
          <a:xfrm>
            <a:off x="786827" y="45021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字面量与变量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B0B81F-5EC7-D8C5-595D-6F1B676DAC42}"/>
              </a:ext>
            </a:extLst>
          </p:cNvPr>
          <p:cNvSpPr/>
          <p:nvPr/>
        </p:nvSpPr>
        <p:spPr>
          <a:xfrm>
            <a:off x="786827" y="49276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数据类型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A5A5E5-2CF7-2010-A7C6-8CE7F29E3CDB}"/>
              </a:ext>
            </a:extLst>
          </p:cNvPr>
          <p:cNvSpPr/>
          <p:nvPr/>
        </p:nvSpPr>
        <p:spPr>
          <a:xfrm>
            <a:off x="786827" y="53530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输入与输出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71669C9-D9BE-84B1-43AC-26DA799A67C6}"/>
              </a:ext>
            </a:extLst>
          </p:cNvPr>
          <p:cNvSpPr/>
          <p:nvPr/>
        </p:nvSpPr>
        <p:spPr>
          <a:xfrm>
            <a:off x="786827" y="57785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运算符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D120CF-E703-AAD4-43C3-113ABC8C2278}"/>
              </a:ext>
            </a:extLst>
          </p:cNvPr>
          <p:cNvSpPr/>
          <p:nvPr/>
        </p:nvSpPr>
        <p:spPr>
          <a:xfrm>
            <a:off x="3052949" y="48641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条件判断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43B57C-4CEB-F5B0-055A-9F61F19E125F}"/>
              </a:ext>
            </a:extLst>
          </p:cNvPr>
          <p:cNvSpPr/>
          <p:nvPr/>
        </p:nvSpPr>
        <p:spPr>
          <a:xfrm>
            <a:off x="3052949" y="52895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结构模式匹配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2CF6B5-A27F-F311-7807-AF13EF4EB44B}"/>
              </a:ext>
            </a:extLst>
          </p:cNvPr>
          <p:cNvSpPr/>
          <p:nvPr/>
        </p:nvSpPr>
        <p:spPr>
          <a:xfrm>
            <a:off x="3052949" y="57150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循环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D5A9607-5A38-3483-99EE-F2073A363D8E}"/>
              </a:ext>
            </a:extLst>
          </p:cNvPr>
          <p:cNvSpPr/>
          <p:nvPr/>
        </p:nvSpPr>
        <p:spPr>
          <a:xfrm>
            <a:off x="5473698" y="46976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列表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list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E6CE142-F2A8-50DF-5CB7-47C9DD9845F8}"/>
              </a:ext>
            </a:extLst>
          </p:cNvPr>
          <p:cNvSpPr/>
          <p:nvPr/>
        </p:nvSpPr>
        <p:spPr>
          <a:xfrm>
            <a:off x="5473698" y="513218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字符串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str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CA44222-F1C7-E1E1-EC89-10B8620C4910}"/>
              </a:ext>
            </a:extLst>
          </p:cNvPr>
          <p:cNvSpPr/>
          <p:nvPr/>
        </p:nvSpPr>
        <p:spPr>
          <a:xfrm>
            <a:off x="5473698" y="556671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元组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tuple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872F5B-3254-ABCA-7E68-40807539EA70}"/>
              </a:ext>
            </a:extLst>
          </p:cNvPr>
          <p:cNvSpPr/>
          <p:nvPr/>
        </p:nvSpPr>
        <p:spPr>
          <a:xfrm>
            <a:off x="5473698" y="600124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集合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set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9EAD50-E42F-A483-C343-1A2926C5D25D}"/>
              </a:ext>
            </a:extLst>
          </p:cNvPr>
          <p:cNvSpPr/>
          <p:nvPr/>
        </p:nvSpPr>
        <p:spPr>
          <a:xfrm>
            <a:off x="5473698" y="643577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字典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dict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51CF3B7-695A-3F53-DF61-BFD49481F9B0}"/>
              </a:ext>
            </a:extLst>
          </p:cNvPr>
          <p:cNvSpPr/>
          <p:nvPr/>
        </p:nvSpPr>
        <p:spPr>
          <a:xfrm>
            <a:off x="7918251" y="4592385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函数基础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E40EF35-DC26-F2D4-E0F0-932C5DDB63C8}"/>
              </a:ext>
            </a:extLst>
          </p:cNvPr>
          <p:cNvSpPr/>
          <p:nvPr/>
        </p:nvSpPr>
        <p:spPr>
          <a:xfrm>
            <a:off x="7918251" y="5026915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函数进阶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63AEDB-E8E5-89B9-622E-5D56E20EFFEF}"/>
              </a:ext>
            </a:extLst>
          </p:cNvPr>
          <p:cNvSpPr/>
          <p:nvPr/>
        </p:nvSpPr>
        <p:spPr>
          <a:xfrm>
            <a:off x="7918251" y="5461445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类型注解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8733019-3139-2EF3-7F06-8A211DB13BEC}"/>
              </a:ext>
            </a:extLst>
          </p:cNvPr>
          <p:cNvSpPr/>
          <p:nvPr/>
        </p:nvSpPr>
        <p:spPr>
          <a:xfrm>
            <a:off x="7918251" y="5895975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模块</a:t>
            </a:r>
          </a:p>
        </p:txBody>
      </p:sp>
    </p:spTree>
    <p:extLst>
      <p:ext uri="{BB962C8B-B14F-4D97-AF65-F5344CB8AC3E}">
        <p14:creationId xmlns:p14="http://schemas.microsoft.com/office/powerpoint/2010/main" val="29428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78C8-14F8-8038-F9F0-1E8D4198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BBFA3-8F1C-DCF5-C348-5FDC2F73C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8983A-4E1B-22A7-0709-C301834FC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3156483" cy="454164"/>
          </a:xfrm>
        </p:spPr>
        <p:txBody>
          <a:bodyPr/>
          <a:lstStyle/>
          <a:p>
            <a:r>
              <a:rPr lang="en-US" altLang="zh-CN"/>
              <a:t>—— </a:t>
            </a:r>
            <a:r>
              <a:rPr lang="zh-CN" altLang="en-US"/>
              <a:t>面向对象基础 </a:t>
            </a:r>
            <a:r>
              <a:rPr lang="en-US" altLang="zh-CN"/>
              <a:t>——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12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6FBAF18B-11A2-B687-18DA-DB39109B8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79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2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464F-9211-B3C2-A671-C838E397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AAA11DF2-FC25-3355-7B8C-7509A082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934048"/>
            <a:ext cx="12192000" cy="31792048"/>
          </a:xfrm>
          <a:prstGeom prst="rect">
            <a:avLst/>
          </a:prstGeom>
        </p:spPr>
      </p:pic>
      <p:sp>
        <p:nvSpPr>
          <p:cNvPr id="3" name="!!标题 1">
            <a:extLst>
              <a:ext uri="{FF2B5EF4-FFF2-40B4-BE49-F238E27FC236}">
                <a16:creationId xmlns:a16="http://schemas.microsoft.com/office/drawing/2014/main" id="{5E92D9D7-89BB-9086-D5D2-FF0B0ED57802}"/>
              </a:ext>
            </a:extLst>
          </p:cNvPr>
          <p:cNvSpPr txBox="1"/>
          <p:nvPr/>
        </p:nvSpPr>
        <p:spPr>
          <a:xfrm>
            <a:off x="9505950" y="589280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面向过程编程</a:t>
            </a:r>
          </a:p>
        </p:txBody>
      </p:sp>
    </p:spTree>
    <p:extLst>
      <p:ext uri="{BB962C8B-B14F-4D97-AF65-F5344CB8AC3E}">
        <p14:creationId xmlns:p14="http://schemas.microsoft.com/office/powerpoint/2010/main" val="2161612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57BD-4E94-CBAF-F456-5F063A98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标题 1">
            <a:extLst>
              <a:ext uri="{FF2B5EF4-FFF2-40B4-BE49-F238E27FC236}">
                <a16:creationId xmlns:a16="http://schemas.microsoft.com/office/drawing/2014/main" id="{FBB863F2-A05B-AEA7-57D2-50D6CBC4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2206761" cy="474415"/>
          </a:xfrm>
        </p:spPr>
        <p:txBody>
          <a:bodyPr/>
          <a:lstStyle/>
          <a:p>
            <a:r>
              <a:rPr lang="zh-CN" altLang="en-US"/>
              <a:t>面向过程编程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9D80D-57A8-7211-6F88-D3B0BC7C3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342753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核心思想：把一个需求分解成一系列要执行的步骤，然后按照步骤依次执行这些任务</a:t>
            </a:r>
            <a:r>
              <a:rPr lang="en-US" altLang="zh-CN"/>
              <a:t>(</a:t>
            </a:r>
            <a:r>
              <a:rPr lang="zh-CN" altLang="en-US"/>
              <a:t>关注的是流程、步骤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en-US" altLang="zh-CN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568B3D7E-0652-D653-1913-9A87A5FC1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399" y="2164646"/>
            <a:ext cx="4982817" cy="37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0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438D-03D7-9C77-9320-F2B4A298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标题 1">
            <a:extLst>
              <a:ext uri="{FF2B5EF4-FFF2-40B4-BE49-F238E27FC236}">
                <a16:creationId xmlns:a16="http://schemas.microsoft.com/office/drawing/2014/main" id="{EE981837-02A5-AA09-5788-66C54570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2206761" cy="474415"/>
          </a:xfrm>
        </p:spPr>
        <p:txBody>
          <a:bodyPr/>
          <a:lstStyle/>
          <a:p>
            <a:r>
              <a:rPr lang="zh-CN" altLang="en-US"/>
              <a:t>面向过程编程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231E3A-FF44-2535-32CD-94413EA5D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342753" cy="93882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核心思想：把一个需求分解成一系列要执行的步骤，然后按照步骤依次执行这些任务</a:t>
            </a:r>
            <a:r>
              <a:rPr lang="en-US" altLang="zh-CN"/>
              <a:t>(</a:t>
            </a:r>
            <a:r>
              <a:rPr lang="zh-CN" altLang="en-US"/>
              <a:t>关注的是流程、步骤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适用场景：面向过程编程非常直接，适合简单、线性的任务。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04D0D90-2526-F26F-6861-E8FAD1FE481D}"/>
              </a:ext>
            </a:extLst>
          </p:cNvPr>
          <p:cNvGrpSpPr/>
          <p:nvPr/>
        </p:nvGrpSpPr>
        <p:grpSpPr>
          <a:xfrm>
            <a:off x="951602" y="2196092"/>
            <a:ext cx="2035814" cy="1853021"/>
            <a:chOff x="772700" y="1957556"/>
            <a:chExt cx="2035814" cy="185302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1783492-F83F-DEEC-5A0B-3F637177A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700" y="1957556"/>
              <a:ext cx="2035814" cy="1526861"/>
            </a:xfrm>
            <a:prstGeom prst="roundRect">
              <a:avLst>
                <a:gd name="adj" fmla="val 3560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CA9A8C8-A588-A7C2-F135-56C308352C14}"/>
                </a:ext>
              </a:extLst>
            </p:cNvPr>
            <p:cNvSpPr txBox="1"/>
            <p:nvPr/>
          </p:nvSpPr>
          <p:spPr>
            <a:xfrm>
              <a:off x="1380996" y="3533578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平整地基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0FAFA29-F2CF-D945-34EB-032318EBF14F}"/>
              </a:ext>
            </a:extLst>
          </p:cNvPr>
          <p:cNvGrpSpPr/>
          <p:nvPr/>
        </p:nvGrpSpPr>
        <p:grpSpPr>
          <a:xfrm>
            <a:off x="3766907" y="2196092"/>
            <a:ext cx="2035814" cy="1853020"/>
            <a:chOff x="3588005" y="1957556"/>
            <a:chExt cx="2035814" cy="185302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E1CE2F6-3455-3680-4051-C8F4C03A7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8005" y="1957556"/>
              <a:ext cx="2035814" cy="1526861"/>
            </a:xfrm>
            <a:prstGeom prst="roundRect">
              <a:avLst>
                <a:gd name="adj" fmla="val 4184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EA6EFC5-4C97-CB46-C5A1-4A1626A5D7D3}"/>
                </a:ext>
              </a:extLst>
            </p:cNvPr>
            <p:cNvSpPr txBox="1"/>
            <p:nvPr/>
          </p:nvSpPr>
          <p:spPr>
            <a:xfrm>
              <a:off x="4208509" y="353357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地基打桩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46E6B5A-A8CA-F19D-2735-607B1393A4B1}"/>
              </a:ext>
            </a:extLst>
          </p:cNvPr>
          <p:cNvGrpSpPr/>
          <p:nvPr/>
        </p:nvGrpSpPr>
        <p:grpSpPr>
          <a:xfrm>
            <a:off x="6582212" y="2196092"/>
            <a:ext cx="2035814" cy="1853019"/>
            <a:chOff x="6403310" y="1957556"/>
            <a:chExt cx="2035814" cy="185301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6B06DBF-DD98-0180-46F5-51AF23A70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3310" y="1957556"/>
              <a:ext cx="2035814" cy="1526861"/>
            </a:xfrm>
            <a:prstGeom prst="roundRect">
              <a:avLst>
                <a:gd name="adj" fmla="val 4184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75530F2-9FC2-7FB0-2F65-643FECEFFE88}"/>
                </a:ext>
              </a:extLst>
            </p:cNvPr>
            <p:cNvSpPr txBox="1"/>
            <p:nvPr/>
          </p:nvSpPr>
          <p:spPr>
            <a:xfrm>
              <a:off x="7029047" y="353357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地基浇筑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A83D6D7-1B6F-58E9-BADD-56562AF78562}"/>
              </a:ext>
            </a:extLst>
          </p:cNvPr>
          <p:cNvGrpSpPr/>
          <p:nvPr/>
        </p:nvGrpSpPr>
        <p:grpSpPr>
          <a:xfrm>
            <a:off x="9397517" y="2196092"/>
            <a:ext cx="2035814" cy="1853019"/>
            <a:chOff x="9218615" y="1957556"/>
            <a:chExt cx="2035814" cy="1853019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B8FB32C9-FC5E-CE43-7A1D-92182569D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8615" y="1957556"/>
              <a:ext cx="2035814" cy="1526861"/>
            </a:xfrm>
            <a:prstGeom prst="roundRect">
              <a:avLst>
                <a:gd name="adj" fmla="val 3872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EB180AC-0FCD-F755-DDD2-9B1A01CF8383}"/>
                </a:ext>
              </a:extLst>
            </p:cNvPr>
            <p:cNvSpPr txBox="1"/>
            <p:nvPr/>
          </p:nvSpPr>
          <p:spPr>
            <a:xfrm>
              <a:off x="9733810" y="353357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主体施工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8EDE0C3C-6595-AE34-092B-C85A71AA0438}"/>
              </a:ext>
            </a:extLst>
          </p:cNvPr>
          <p:cNvGrpSpPr/>
          <p:nvPr/>
        </p:nvGrpSpPr>
        <p:grpSpPr>
          <a:xfrm>
            <a:off x="9397512" y="4677157"/>
            <a:ext cx="2035815" cy="1914614"/>
            <a:chOff x="772699" y="4438621"/>
            <a:chExt cx="2035815" cy="1914614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5E7FFC27-3D31-9148-7652-475B882E9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699" y="4438621"/>
              <a:ext cx="2035815" cy="1526861"/>
            </a:xfrm>
            <a:prstGeom prst="roundRect">
              <a:avLst>
                <a:gd name="adj" fmla="val 3560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C7AA973-34F0-236A-EBF2-341BAEE1BEF8}"/>
                </a:ext>
              </a:extLst>
            </p:cNvPr>
            <p:cNvSpPr txBox="1"/>
            <p:nvPr/>
          </p:nvSpPr>
          <p:spPr>
            <a:xfrm>
              <a:off x="1390496" y="607623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砌墙施工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4F15C70-D46B-45B0-1340-CC1B65C49A90}"/>
              </a:ext>
            </a:extLst>
          </p:cNvPr>
          <p:cNvGrpSpPr/>
          <p:nvPr/>
        </p:nvGrpSpPr>
        <p:grpSpPr>
          <a:xfrm>
            <a:off x="6582211" y="4677157"/>
            <a:ext cx="2035815" cy="1914614"/>
            <a:chOff x="3588004" y="4438621"/>
            <a:chExt cx="2035815" cy="1914614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14687D0E-C77A-B424-A49A-A9530EBBD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8004" y="4438621"/>
              <a:ext cx="2035815" cy="1526861"/>
            </a:xfrm>
            <a:prstGeom prst="roundRect">
              <a:avLst>
                <a:gd name="adj" fmla="val 3560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ADBA334-0A30-C821-547C-66BE7899F1A9}"/>
                </a:ext>
              </a:extLst>
            </p:cNvPr>
            <p:cNvSpPr txBox="1"/>
            <p:nvPr/>
          </p:nvSpPr>
          <p:spPr>
            <a:xfrm>
              <a:off x="4100566" y="607623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外墙施工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BD7E2544-7210-073A-268D-BD9104B3E6B7}"/>
              </a:ext>
            </a:extLst>
          </p:cNvPr>
          <p:cNvGrpSpPr/>
          <p:nvPr/>
        </p:nvGrpSpPr>
        <p:grpSpPr>
          <a:xfrm>
            <a:off x="3771436" y="4678339"/>
            <a:ext cx="2035814" cy="1913432"/>
            <a:chOff x="6403309" y="4438621"/>
            <a:chExt cx="2035814" cy="1913432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D0AD76D1-9E1E-CF1C-97A3-519D7AB81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3309" y="4438621"/>
              <a:ext cx="2035814" cy="1526861"/>
            </a:xfrm>
            <a:prstGeom prst="roundRect">
              <a:avLst>
                <a:gd name="adj" fmla="val 4808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3B40CF3-4876-1E4E-B371-E7E29FBD511E}"/>
                </a:ext>
              </a:extLst>
            </p:cNvPr>
            <p:cNvSpPr txBox="1"/>
            <p:nvPr/>
          </p:nvSpPr>
          <p:spPr>
            <a:xfrm>
              <a:off x="7021105" y="607505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室内硬装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9CB09CF-68E4-92F7-AF6D-84214D053011}"/>
              </a:ext>
            </a:extLst>
          </p:cNvPr>
          <p:cNvGrpSpPr/>
          <p:nvPr/>
        </p:nvGrpSpPr>
        <p:grpSpPr>
          <a:xfrm>
            <a:off x="956136" y="4678339"/>
            <a:ext cx="2035814" cy="1913432"/>
            <a:chOff x="9218613" y="4438621"/>
            <a:chExt cx="2035814" cy="1913432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0BA1BDF7-CDB2-6CA3-BAEE-89A8A3CE5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8613" y="4438621"/>
              <a:ext cx="2035814" cy="1526861"/>
            </a:xfrm>
            <a:prstGeom prst="roundRect">
              <a:avLst>
                <a:gd name="adj" fmla="val 5120"/>
              </a:avLst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C0ECCA0-A2AF-55C7-FF77-D6F2893C8E85}"/>
                </a:ext>
              </a:extLst>
            </p:cNvPr>
            <p:cNvSpPr txBox="1"/>
            <p:nvPr/>
          </p:nvSpPr>
          <p:spPr>
            <a:xfrm>
              <a:off x="9836410" y="607505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荆南波波黑" panose="02000800000000000000" pitchFamily="2" charset="-122"/>
                  <a:ea typeface="荆南波波黑" panose="02000800000000000000" pitchFamily="2" charset="-122"/>
                </a:rPr>
                <a:t>室内软装</a:t>
              </a:r>
            </a:p>
          </p:txBody>
        </p:sp>
      </p:grpSp>
      <p:sp>
        <p:nvSpPr>
          <p:cNvPr id="46" name="箭头: 右 45">
            <a:extLst>
              <a:ext uri="{FF2B5EF4-FFF2-40B4-BE49-F238E27FC236}">
                <a16:creationId xmlns:a16="http://schemas.microsoft.com/office/drawing/2014/main" id="{F807A96C-33DE-E13D-B344-4136ADFDF0D6}"/>
              </a:ext>
            </a:extLst>
          </p:cNvPr>
          <p:cNvSpPr/>
          <p:nvPr/>
        </p:nvSpPr>
        <p:spPr>
          <a:xfrm>
            <a:off x="3140763" y="2829336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6AC10DFB-3F07-C018-E2FD-30B44C39BE84}"/>
              </a:ext>
            </a:extLst>
          </p:cNvPr>
          <p:cNvSpPr/>
          <p:nvPr/>
        </p:nvSpPr>
        <p:spPr>
          <a:xfrm>
            <a:off x="5949397" y="2829336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D4D48717-44F6-ADC4-B6AA-A232F5F1D41D}"/>
              </a:ext>
            </a:extLst>
          </p:cNvPr>
          <p:cNvSpPr/>
          <p:nvPr/>
        </p:nvSpPr>
        <p:spPr>
          <a:xfrm>
            <a:off x="8769232" y="2828617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6C3304B6-C580-3D43-BDC0-4B73EB4C590C}"/>
              </a:ext>
            </a:extLst>
          </p:cNvPr>
          <p:cNvSpPr/>
          <p:nvPr/>
        </p:nvSpPr>
        <p:spPr>
          <a:xfrm rot="10800000">
            <a:off x="3138622" y="5268308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3477C79A-0398-1B06-01A8-E299EA9EC7A4}"/>
              </a:ext>
            </a:extLst>
          </p:cNvPr>
          <p:cNvSpPr/>
          <p:nvPr/>
        </p:nvSpPr>
        <p:spPr>
          <a:xfrm rot="10800000">
            <a:off x="5949397" y="5268308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3B3C28D7-14F9-D0F5-3652-38AA3C0D6B2A}"/>
              </a:ext>
            </a:extLst>
          </p:cNvPr>
          <p:cNvSpPr/>
          <p:nvPr/>
        </p:nvSpPr>
        <p:spPr>
          <a:xfrm rot="10800000">
            <a:off x="8769232" y="5268307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DC5CD60C-6C1A-BEEA-2913-76C37C21DFD4}"/>
              </a:ext>
            </a:extLst>
          </p:cNvPr>
          <p:cNvSpPr/>
          <p:nvPr/>
        </p:nvSpPr>
        <p:spPr>
          <a:xfrm rot="5400000">
            <a:off x="10176881" y="4178721"/>
            <a:ext cx="477078" cy="344557"/>
          </a:xfrm>
          <a:prstGeom prst="rightArrow">
            <a:avLst>
              <a:gd name="adj1" fmla="val 50000"/>
              <a:gd name="adj2" fmla="val 69231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34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ECF8-5DB8-213B-3FD5-7D00AD80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A3D7A-00D0-C773-86A3-C8562CC2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面向对象编程</a:t>
            </a:r>
          </a:p>
        </p:txBody>
      </p:sp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6C542B75-38A6-C195-0A19-4859E556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0044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对象可以理解为现实中具体的人</a:t>
            </a:r>
            <a:r>
              <a:rPr lang="en-US" altLang="zh-CN"/>
              <a:t>/</a:t>
            </a:r>
            <a:r>
              <a:rPr lang="zh-CN" altLang="en-US"/>
              <a:t>物在程序中的数字化身（</a:t>
            </a:r>
            <a:r>
              <a:rPr lang="zh-CN" altLang="en-US" b="1"/>
              <a:t>万物皆对象</a:t>
            </a:r>
            <a:r>
              <a:rPr lang="zh-CN" altLang="en-US"/>
              <a:t>）。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它把一个人</a:t>
            </a:r>
            <a:r>
              <a:rPr lang="en-US" altLang="zh-CN"/>
              <a:t>/</a:t>
            </a:r>
            <a:r>
              <a:rPr lang="zh-CN" altLang="en-US"/>
              <a:t>物的特征和功能打包到一起，是面向对象编程的基本单元。</a:t>
            </a:r>
            <a:r>
              <a:rPr lang="en-US" altLang="zh-CN"/>
              <a:t>(</a:t>
            </a:r>
            <a:r>
              <a:rPr lang="zh-CN" altLang="en-US"/>
              <a:t>关注的是谁来帮我做这件事儿</a:t>
            </a:r>
            <a:r>
              <a:rPr lang="en-US" altLang="zh-CN"/>
              <a:t>)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0E5335-4819-2993-820D-B3F92287D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43" y="4934868"/>
            <a:ext cx="2448024" cy="13764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8F66018-CCE0-43C4-15AC-9EDA5E203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431" y="5174379"/>
            <a:ext cx="2186790" cy="1229569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B913-34D9-D3C7-9213-9DB4F22C48E3}"/>
              </a:ext>
            </a:extLst>
          </p:cNvPr>
          <p:cNvCxnSpPr>
            <a:cxnSpLocks/>
          </p:cNvCxnSpPr>
          <p:nvPr/>
        </p:nvCxnSpPr>
        <p:spPr>
          <a:xfrm>
            <a:off x="2458278" y="1881809"/>
            <a:ext cx="417444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04D6995-A737-F766-AFFD-08A3BEA107A7}"/>
              </a:ext>
            </a:extLst>
          </p:cNvPr>
          <p:cNvCxnSpPr>
            <a:cxnSpLocks/>
          </p:cNvCxnSpPr>
          <p:nvPr/>
        </p:nvCxnSpPr>
        <p:spPr>
          <a:xfrm>
            <a:off x="3067878" y="1881809"/>
            <a:ext cx="447532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933450A-28A0-16CF-B70D-C9701447C859}"/>
              </a:ext>
            </a:extLst>
          </p:cNvPr>
          <p:cNvSpPr txBox="1"/>
          <p:nvPr/>
        </p:nvSpPr>
        <p:spPr>
          <a:xfrm>
            <a:off x="2390584" y="192976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属性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7AED79-39CD-5D01-2DC9-1C7A355004E5}"/>
              </a:ext>
            </a:extLst>
          </p:cNvPr>
          <p:cNvSpPr txBox="1"/>
          <p:nvPr/>
        </p:nvSpPr>
        <p:spPr>
          <a:xfrm>
            <a:off x="3019774" y="192355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方法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5A4FFD7-0878-A44D-7BAC-EF3E6116BA2D}"/>
              </a:ext>
            </a:extLst>
          </p:cNvPr>
          <p:cNvGrpSpPr/>
          <p:nvPr/>
        </p:nvGrpSpPr>
        <p:grpSpPr>
          <a:xfrm>
            <a:off x="2547731" y="3348035"/>
            <a:ext cx="2776331" cy="291533"/>
            <a:chOff x="9375912" y="2398650"/>
            <a:chExt cx="2776331" cy="291533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B54FFDC-EAF8-FE7F-E427-6BDC4DF2FAAE}"/>
                </a:ext>
              </a:extLst>
            </p:cNvPr>
            <p:cNvCxnSpPr>
              <a:cxnSpLocks/>
            </p:cNvCxnSpPr>
            <p:nvPr/>
          </p:nvCxnSpPr>
          <p:spPr>
            <a:xfrm>
              <a:off x="9375912" y="2544417"/>
              <a:ext cx="556592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26830FB6-81FC-A9DB-F17D-793AAFEFB251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属性：颜色、油耗、马力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7D2FEBE-DD6F-39EF-469C-2EBD902F7508}"/>
              </a:ext>
            </a:extLst>
          </p:cNvPr>
          <p:cNvGrpSpPr/>
          <p:nvPr/>
        </p:nvGrpSpPr>
        <p:grpSpPr>
          <a:xfrm>
            <a:off x="2547731" y="3773037"/>
            <a:ext cx="2776331" cy="291533"/>
            <a:chOff x="9375912" y="2398650"/>
            <a:chExt cx="2776331" cy="291533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967724A0-180D-75AF-0655-8C9CCDC2C570}"/>
                </a:ext>
              </a:extLst>
            </p:cNvPr>
            <p:cNvCxnSpPr>
              <a:cxnSpLocks/>
            </p:cNvCxnSpPr>
            <p:nvPr/>
          </p:nvCxnSpPr>
          <p:spPr>
            <a:xfrm>
              <a:off x="9375912" y="2544416"/>
              <a:ext cx="556592" cy="1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75420C3-9464-13A5-D7A4-E9205B1694B8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方法：推平、挖掘</a:t>
              </a: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850C6F3-BBC5-1645-D182-3F98F640A17D}"/>
              </a:ext>
            </a:extLst>
          </p:cNvPr>
          <p:cNvGrpSpPr/>
          <p:nvPr/>
        </p:nvGrpSpPr>
        <p:grpSpPr>
          <a:xfrm>
            <a:off x="3104323" y="5343288"/>
            <a:ext cx="2789760" cy="291533"/>
            <a:chOff x="9548881" y="2398650"/>
            <a:chExt cx="2603362" cy="291533"/>
          </a:xfrm>
        </p:grpSpPr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6B309EEF-3E41-D30B-8CA6-1544FBD8D360}"/>
                </a:ext>
              </a:extLst>
            </p:cNvPr>
            <p:cNvCxnSpPr>
              <a:cxnSpLocks/>
            </p:cNvCxnSpPr>
            <p:nvPr/>
          </p:nvCxnSpPr>
          <p:spPr>
            <a:xfrm>
              <a:off x="9548881" y="2544417"/>
              <a:ext cx="383623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1B68217D-49A6-D33F-4410-C89134C8D0B0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属性：工种、年龄、工服颜色、技能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DD8E13E-4E74-4274-2334-5FF126C45674}"/>
              </a:ext>
            </a:extLst>
          </p:cNvPr>
          <p:cNvGrpSpPr/>
          <p:nvPr/>
        </p:nvGrpSpPr>
        <p:grpSpPr>
          <a:xfrm>
            <a:off x="3104323" y="5768290"/>
            <a:ext cx="2789756" cy="291533"/>
            <a:chOff x="9561267" y="2398650"/>
            <a:chExt cx="2789756" cy="291533"/>
          </a:xfrm>
        </p:grpSpPr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0DAB6B2-6A58-E95D-E2A6-D155F418E47A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9561267" y="2544417"/>
              <a:ext cx="411087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FF0BA94-C72F-6372-4D29-8A074F196F35}"/>
                </a:ext>
              </a:extLst>
            </p:cNvPr>
            <p:cNvSpPr/>
            <p:nvPr/>
          </p:nvSpPr>
          <p:spPr>
            <a:xfrm>
              <a:off x="9972354" y="2398650"/>
              <a:ext cx="237866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方法：打桩、砌墙、浇筑、装修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3C71557-B844-DF3A-4E9F-1AC83AD89A1F}"/>
              </a:ext>
            </a:extLst>
          </p:cNvPr>
          <p:cNvGrpSpPr/>
          <p:nvPr/>
        </p:nvGrpSpPr>
        <p:grpSpPr>
          <a:xfrm>
            <a:off x="8824292" y="5476757"/>
            <a:ext cx="2598530" cy="291533"/>
            <a:chOff x="9548274" y="2398650"/>
            <a:chExt cx="2424910" cy="291533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95B2897D-F5CF-270A-1AF6-FE0349B45877}"/>
                </a:ext>
              </a:extLst>
            </p:cNvPr>
            <p:cNvCxnSpPr>
              <a:cxnSpLocks/>
            </p:cNvCxnSpPr>
            <p:nvPr/>
          </p:nvCxnSpPr>
          <p:spPr>
            <a:xfrm>
              <a:off x="9548274" y="2544417"/>
              <a:ext cx="384230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03E829C2-DED2-9C23-C61F-4457BE8AE0ED}"/>
                </a:ext>
              </a:extLst>
            </p:cNvPr>
            <p:cNvSpPr/>
            <p:nvPr/>
          </p:nvSpPr>
          <p:spPr>
            <a:xfrm>
              <a:off x="9932504" y="2398650"/>
              <a:ext cx="2040680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属性：类型、数量、价格、材质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CC55C73-4013-3BF6-F3B1-9F76C9775868}"/>
              </a:ext>
            </a:extLst>
          </p:cNvPr>
          <p:cNvGrpSpPr/>
          <p:nvPr/>
        </p:nvGrpSpPr>
        <p:grpSpPr>
          <a:xfrm>
            <a:off x="8824292" y="5901759"/>
            <a:ext cx="2598532" cy="291533"/>
            <a:chOff x="9560612" y="2398650"/>
            <a:chExt cx="2598532" cy="291533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D81E9A6F-8241-4C00-D9A5-48213C9F58CA}"/>
                </a:ext>
              </a:extLst>
            </p:cNvPr>
            <p:cNvCxnSpPr>
              <a:cxnSpLocks/>
              <a:endCxn id="56" idx="1"/>
            </p:cNvCxnSpPr>
            <p:nvPr/>
          </p:nvCxnSpPr>
          <p:spPr>
            <a:xfrm>
              <a:off x="9560612" y="2544417"/>
              <a:ext cx="411742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1572072-2231-C692-E5E6-EFD509CAD35B}"/>
                </a:ext>
              </a:extLst>
            </p:cNvPr>
            <p:cNvSpPr/>
            <p:nvPr/>
          </p:nvSpPr>
          <p:spPr>
            <a:xfrm>
              <a:off x="9972354" y="2398650"/>
              <a:ext cx="2186790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方法：存储、运输、焊接、铺贴</a:t>
              </a:r>
            </a:p>
          </p:txBody>
        </p:sp>
      </p:grpSp>
      <p:pic>
        <p:nvPicPr>
          <p:cNvPr id="61" name="图片 60">
            <a:extLst>
              <a:ext uri="{FF2B5EF4-FFF2-40B4-BE49-F238E27FC236}">
                <a16:creationId xmlns:a16="http://schemas.microsoft.com/office/drawing/2014/main" id="{EF7457E1-EE7E-801F-8BEE-FFC9BC4F3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029" y="3013339"/>
            <a:ext cx="1639425" cy="1229569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71F16897-C5D1-F48F-7A05-64B265B00C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570" y="3041000"/>
            <a:ext cx="1887725" cy="1415794"/>
          </a:xfrm>
          <a:prstGeom prst="rect">
            <a:avLst/>
          </a:prstGeom>
        </p:spPr>
      </p:pic>
      <p:grpSp>
        <p:nvGrpSpPr>
          <p:cNvPr id="64" name="组合 63">
            <a:extLst>
              <a:ext uri="{FF2B5EF4-FFF2-40B4-BE49-F238E27FC236}">
                <a16:creationId xmlns:a16="http://schemas.microsoft.com/office/drawing/2014/main" id="{F6C26A7E-FEAB-834D-C776-23B0F48C6941}"/>
              </a:ext>
            </a:extLst>
          </p:cNvPr>
          <p:cNvGrpSpPr/>
          <p:nvPr/>
        </p:nvGrpSpPr>
        <p:grpSpPr>
          <a:xfrm>
            <a:off x="8646493" y="3271151"/>
            <a:ext cx="2776331" cy="291533"/>
            <a:chOff x="9375912" y="2398650"/>
            <a:chExt cx="2776331" cy="291533"/>
          </a:xfrm>
        </p:grpSpPr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9B093CA3-AACF-CD61-F508-F2D2AB43C064}"/>
                </a:ext>
              </a:extLst>
            </p:cNvPr>
            <p:cNvCxnSpPr>
              <a:cxnSpLocks/>
            </p:cNvCxnSpPr>
            <p:nvPr/>
          </p:nvCxnSpPr>
          <p:spPr>
            <a:xfrm>
              <a:off x="9375912" y="2544417"/>
              <a:ext cx="556592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2425D096-D244-E8D9-8835-AA0BB947923B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属性：容量、颜色、臂长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2B060D9-2D77-BA25-4C1A-AA37A5743D5B}"/>
              </a:ext>
            </a:extLst>
          </p:cNvPr>
          <p:cNvGrpSpPr/>
          <p:nvPr/>
        </p:nvGrpSpPr>
        <p:grpSpPr>
          <a:xfrm>
            <a:off x="8646493" y="3696153"/>
            <a:ext cx="2776331" cy="291533"/>
            <a:chOff x="9375912" y="2398650"/>
            <a:chExt cx="2776331" cy="291533"/>
          </a:xfrm>
        </p:grpSpPr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91E2057B-CF03-27FD-E49B-252014EAEEE2}"/>
                </a:ext>
              </a:extLst>
            </p:cNvPr>
            <p:cNvCxnSpPr>
              <a:cxnSpLocks/>
            </p:cNvCxnSpPr>
            <p:nvPr/>
          </p:nvCxnSpPr>
          <p:spPr>
            <a:xfrm>
              <a:off x="9375912" y="2544416"/>
              <a:ext cx="556592" cy="1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40FD8DCC-C40B-7562-DB74-8B19CDE5944A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方法：搅拌、运输、浇筑</a:t>
              </a:r>
            </a:p>
          </p:txBody>
        </p:sp>
      </p:grpSp>
      <p:pic>
        <p:nvPicPr>
          <p:cNvPr id="75" name="图片 74">
            <a:extLst>
              <a:ext uri="{FF2B5EF4-FFF2-40B4-BE49-F238E27FC236}">
                <a16:creationId xmlns:a16="http://schemas.microsoft.com/office/drawing/2014/main" id="{33A27F33-033C-A709-1895-97A7F85E3E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8421" y="1516956"/>
            <a:ext cx="3543482" cy="3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1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2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11A63-114B-6B0D-BA60-FFBFFFAB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2"/>
            <a:ext cx="9422568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类：描述的是一组具有相同属性（特征）和方法（功能</a:t>
            </a:r>
            <a:r>
              <a:rPr lang="en-US" altLang="zh-CN"/>
              <a:t>/</a:t>
            </a:r>
            <a:r>
              <a:rPr lang="zh-CN" altLang="en-US"/>
              <a:t>行为）的模板。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26647B-4C58-BFA6-3B9A-31CCC295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面向对象编程</a:t>
            </a:r>
            <a:r>
              <a:rPr lang="en-US" altLang="zh-CN"/>
              <a:t>-</a:t>
            </a:r>
            <a:r>
              <a:rPr lang="zh-CN" altLang="en-US"/>
              <a:t>类与对象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D4C59F-BE5A-977E-F13E-54308923C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7" t="34492" r="152" b="5990"/>
          <a:stretch>
            <a:fillRect/>
          </a:stretch>
        </p:blipFill>
        <p:spPr>
          <a:xfrm>
            <a:off x="1172818" y="1485149"/>
            <a:ext cx="2335676" cy="15959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B5805C3-00C3-98BC-6BAA-05FBD6AC8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" t="3575" r="3333" b="3189"/>
          <a:stretch>
            <a:fillRect/>
          </a:stretch>
        </p:blipFill>
        <p:spPr>
          <a:xfrm>
            <a:off x="1172818" y="4014918"/>
            <a:ext cx="1136930" cy="1136930"/>
          </a:xfrm>
          <a:prstGeom prst="roundRect">
            <a:avLst>
              <a:gd name="adj" fmla="val 30439"/>
            </a:avLst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5BCFBF-051A-4D3C-7924-49FCDBCF2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4" t="7536" r="7681" b="7439"/>
          <a:stretch>
            <a:fillRect/>
          </a:stretch>
        </p:blipFill>
        <p:spPr>
          <a:xfrm>
            <a:off x="3889514" y="4014918"/>
            <a:ext cx="1136932" cy="1133070"/>
          </a:xfrm>
          <a:prstGeom prst="round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93EB94-82D5-12BA-2E43-4393774FA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" t="2899" r="3526" b="2995"/>
          <a:stretch>
            <a:fillRect/>
          </a:stretch>
        </p:blipFill>
        <p:spPr>
          <a:xfrm>
            <a:off x="6606585" y="4014922"/>
            <a:ext cx="1117942" cy="1133066"/>
          </a:xfrm>
          <a:prstGeom prst="roundRect">
            <a:avLst>
              <a:gd name="adj" fmla="val 41305"/>
            </a:avLst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2D2FBB4-1AAE-BF18-1E52-F9F0A0F2AE43}"/>
              </a:ext>
            </a:extLst>
          </p:cNvPr>
          <p:cNvGrpSpPr/>
          <p:nvPr/>
        </p:nvGrpSpPr>
        <p:grpSpPr>
          <a:xfrm>
            <a:off x="3319669" y="1751765"/>
            <a:ext cx="2776331" cy="291533"/>
            <a:chOff x="9375912" y="2398650"/>
            <a:chExt cx="2776331" cy="291533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A5FB8FFA-6AF7-33B9-B67F-C7514B37CCD0}"/>
                </a:ext>
              </a:extLst>
            </p:cNvPr>
            <p:cNvCxnSpPr>
              <a:cxnSpLocks/>
            </p:cNvCxnSpPr>
            <p:nvPr/>
          </p:nvCxnSpPr>
          <p:spPr>
            <a:xfrm>
              <a:off x="9375912" y="2544417"/>
              <a:ext cx="556592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1427DB8-2615-82B2-1D44-43AAA0805968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属性：颜色、形状、大小、厚度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4ECDA88-E659-B2AC-0A4A-DA7EEE699A2E}"/>
              </a:ext>
            </a:extLst>
          </p:cNvPr>
          <p:cNvGrpSpPr/>
          <p:nvPr/>
        </p:nvGrpSpPr>
        <p:grpSpPr>
          <a:xfrm>
            <a:off x="3319669" y="2176767"/>
            <a:ext cx="2776331" cy="291533"/>
            <a:chOff x="9375912" y="2398650"/>
            <a:chExt cx="2776331" cy="291533"/>
          </a:xfrm>
        </p:grpSpPr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A17D422-6FC6-9850-316C-64C32AF92D73}"/>
                </a:ext>
              </a:extLst>
            </p:cNvPr>
            <p:cNvCxnSpPr>
              <a:cxnSpLocks/>
            </p:cNvCxnSpPr>
            <p:nvPr/>
          </p:nvCxnSpPr>
          <p:spPr>
            <a:xfrm>
              <a:off x="9375912" y="2544416"/>
              <a:ext cx="556592" cy="1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48B98CB5-5F70-B5ED-7F72-A19580BCDBF8}"/>
                </a:ext>
              </a:extLst>
            </p:cNvPr>
            <p:cNvSpPr/>
            <p:nvPr/>
          </p:nvSpPr>
          <p:spPr>
            <a:xfrm>
              <a:off x="9932504" y="2398650"/>
              <a:ext cx="2219739" cy="291533"/>
            </a:xfrm>
            <a:prstGeom prst="roundRect">
              <a:avLst/>
            </a:prstGeom>
            <a:solidFill>
              <a:srgbClr val="BFBFBF">
                <a:alpha val="30196"/>
              </a:srgb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 功能：提供能量、文化传承</a:t>
              </a:r>
            </a:p>
          </p:txBody>
        </p:sp>
      </p:grp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C0EC247D-ABE6-B47E-46C7-1AAF6F1ADA97}"/>
              </a:ext>
            </a:extLst>
          </p:cNvPr>
          <p:cNvSpPr txBox="1">
            <a:spLocks/>
          </p:cNvSpPr>
          <p:nvPr/>
        </p:nvSpPr>
        <p:spPr>
          <a:xfrm>
            <a:off x="576196" y="3360365"/>
            <a:ext cx="10111682" cy="4744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对象：对象是类的实例，是基于类创建出来的 （实例对象）。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3D2EC06-DC63-B27F-0111-9F657F392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" t="3575" r="3333" b="3189"/>
          <a:stretch>
            <a:fillRect/>
          </a:stretch>
        </p:blipFill>
        <p:spPr>
          <a:xfrm>
            <a:off x="2531166" y="4014918"/>
            <a:ext cx="1136930" cy="1136930"/>
          </a:xfrm>
          <a:prstGeom prst="roundRect">
            <a:avLst>
              <a:gd name="adj" fmla="val 30439"/>
            </a:avLst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76FCF19-A363-7D2C-20D7-CF015B9AA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4" t="7536" r="7681" b="7439"/>
          <a:stretch>
            <a:fillRect/>
          </a:stretch>
        </p:blipFill>
        <p:spPr>
          <a:xfrm>
            <a:off x="5247166" y="4014918"/>
            <a:ext cx="1136932" cy="1133070"/>
          </a:xfrm>
          <a:prstGeom prst="round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5BEC6562-F6C3-42B9-83DB-379212077B02}"/>
              </a:ext>
            </a:extLst>
          </p:cNvPr>
          <p:cNvGrpSpPr/>
          <p:nvPr/>
        </p:nvGrpSpPr>
        <p:grpSpPr>
          <a:xfrm>
            <a:off x="744284" y="6210164"/>
            <a:ext cx="10825504" cy="348335"/>
            <a:chOff x="4685665" y="1834757"/>
            <a:chExt cx="10899872" cy="348335"/>
          </a:xfrm>
        </p:grpSpPr>
        <p:sp>
          <p:nvSpPr>
            <p:cNvPr id="26" name="ComponentBackground2">
              <a:extLst>
                <a:ext uri="{FF2B5EF4-FFF2-40B4-BE49-F238E27FC236}">
                  <a16:creationId xmlns:a16="http://schemas.microsoft.com/office/drawing/2014/main" id="{14A51656-E7A6-8C64-6494-C017F8BDF4E4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87701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提示：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对象是由类创建出来的，创建对象的过程，也称为对象的实例化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。一个类可以创建无数个对象。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7" name="Shape2">
              <a:extLst>
                <a:ext uri="{FF2B5EF4-FFF2-40B4-BE49-F238E27FC236}">
                  <a16:creationId xmlns:a16="http://schemas.microsoft.com/office/drawing/2014/main" id="{C02B4313-4C96-FD05-CC28-F2FA0AD3CECD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47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D7E4-5D85-C4FE-6337-AC8A5F83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E04DE6-CC7A-A84E-E211-7A9293916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3852" y="1642533"/>
            <a:ext cx="3692525" cy="2631150"/>
          </a:xfrm>
        </p:spPr>
        <p:txBody>
          <a:bodyPr/>
          <a:lstStyle/>
          <a:p>
            <a:r>
              <a:rPr lang="zh-CN" altLang="en-US"/>
              <a:t>类与对象</a:t>
            </a:r>
            <a:endParaRPr lang="en-US" altLang="zh-CN"/>
          </a:p>
          <a:p>
            <a:r>
              <a:rPr lang="zh-CN" altLang="en-US"/>
              <a:t>实例方法</a:t>
            </a:r>
            <a:endParaRPr lang="en-US" altLang="zh-CN"/>
          </a:p>
          <a:p>
            <a:r>
              <a:rPr lang="zh-CN" altLang="en-US"/>
              <a:t>魔法方法</a:t>
            </a:r>
            <a:endParaRPr lang="en-US" altLang="zh-CN"/>
          </a:p>
          <a:p>
            <a:r>
              <a:rPr lang="zh-CN" altLang="en-US"/>
              <a:t>实例属性与类属性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248666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CBB5-A653-B224-91BE-9373EBD7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36693-4810-9118-9640-8F07356199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类与对象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96EB98-D3DD-B866-F129-7506D22505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40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C2A8-DC73-8F90-D606-E28BA72F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4B5BB-373F-22CD-A410-F0C8FF68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359AD5-F4DA-6378-CE4D-F732FFF04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定义类的语法如下：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CE94A91-C48E-CA10-25B5-347C4D738999}"/>
              </a:ext>
            </a:extLst>
          </p:cNvPr>
          <p:cNvGrpSpPr/>
          <p:nvPr/>
        </p:nvGrpSpPr>
        <p:grpSpPr>
          <a:xfrm>
            <a:off x="961544" y="1549929"/>
            <a:ext cx="4225603" cy="2619708"/>
            <a:chOff x="2297720" y="3660322"/>
            <a:chExt cx="4655830" cy="261986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119CCAC-8716-D871-1A51-FEA226A4AC14}"/>
                </a:ext>
              </a:extLst>
            </p:cNvPr>
            <p:cNvSpPr/>
            <p:nvPr/>
          </p:nvSpPr>
          <p:spPr>
            <a:xfrm>
              <a:off x="2305028" y="3660322"/>
              <a:ext cx="4648521" cy="2619863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定义类</a:t>
              </a:r>
              <a:endParaRPr lang="en-US" altLang="zh-CN" sz="11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2D60EC"/>
                  </a:solidFill>
                </a:rPr>
                <a:t>class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类名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2D60EC"/>
                  </a:solidFill>
                </a:rPr>
                <a:t>pass</a:t>
              </a:r>
              <a:endParaRPr lang="en-US" altLang="zh-CN" sz="1100">
                <a:solidFill>
                  <a:srgbClr val="2D60E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创建对象</a:t>
              </a: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对象名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=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类名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()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对象名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.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属性名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1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=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属性值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1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对象名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.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属性名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=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属性值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  <a:endParaRPr lang="en-US" altLang="zh-CN" sz="11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05EBB755-15A5-B752-50E6-C919F3061D42}"/>
                </a:ext>
              </a:extLst>
            </p:cNvPr>
            <p:cNvSpPr/>
            <p:nvPr/>
          </p:nvSpPr>
          <p:spPr>
            <a:xfrm>
              <a:off x="2297720" y="3660322"/>
              <a:ext cx="4655830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动态添加属性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C5C1DC5-4AEE-A0EA-E11D-DB79ECED8AF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42891BC-D019-D856-8D9C-7E1C8CE9631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F62CC73-C2B5-FFBC-8775-E57BC8C8F24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70B6936-2A83-EA9C-27D3-9FE6A3C4353C}"/>
              </a:ext>
            </a:extLst>
          </p:cNvPr>
          <p:cNvGrpSpPr/>
          <p:nvPr/>
        </p:nvGrpSpPr>
        <p:grpSpPr>
          <a:xfrm>
            <a:off x="6106437" y="1549926"/>
            <a:ext cx="4225611" cy="2619710"/>
            <a:chOff x="2297719" y="3660321"/>
            <a:chExt cx="4655838" cy="261986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BB44E26-4810-0D6F-886C-920382A1BF16}"/>
                </a:ext>
              </a:extLst>
            </p:cNvPr>
            <p:cNvSpPr/>
            <p:nvPr/>
          </p:nvSpPr>
          <p:spPr>
            <a:xfrm>
              <a:off x="2297728" y="3660321"/>
              <a:ext cx="4655829" cy="2619866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定义类</a:t>
              </a:r>
              <a:endParaRPr lang="en-US" altLang="zh-CN" sz="11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2D60EC"/>
                  </a:solidFill>
                </a:rPr>
                <a:t>class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Car: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2D60EC"/>
                  </a:solidFill>
                </a:rPr>
                <a:t>pass</a:t>
              </a:r>
              <a:endParaRPr lang="en-US" altLang="zh-CN" sz="11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创建对象</a:t>
              </a: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c1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=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Car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()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c1.brand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= </a:t>
              </a:r>
              <a:r>
                <a:rPr lang="en-US" altLang="zh-CN" sz="1100">
                  <a:solidFill>
                    <a:srgbClr val="067D17"/>
                  </a:solidFill>
                </a:rPr>
                <a:t>"BMW"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c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1.name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=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"X5"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c1.price = 500000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p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rint(c1</a:t>
              </a:r>
              <a:r>
                <a:rPr lang="en-US" altLang="zh-CN" sz="1100">
                  <a:solidFill>
                    <a:srgbClr val="080808"/>
                  </a:solidFill>
                </a:rPr>
                <a:t>.</a:t>
              </a:r>
              <a:r>
                <a:rPr lang="en-US" altLang="zh-CN" sz="1100">
                  <a:solidFill>
                    <a:srgbClr val="B200B2"/>
                  </a:solidFill>
                </a:rPr>
                <a:t>__dict__</a:t>
              </a:r>
              <a:r>
                <a:rPr lang="en-US" altLang="zh-CN" sz="1100">
                  <a:solidFill>
                    <a:srgbClr val="080808"/>
                  </a:solidFill>
                </a:rPr>
                <a:t>)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effectLst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DD961CD9-5DC5-763E-2DCD-FAA182F697AF}"/>
                </a:ext>
              </a:extLst>
            </p:cNvPr>
            <p:cNvSpPr/>
            <p:nvPr/>
          </p:nvSpPr>
          <p:spPr>
            <a:xfrm>
              <a:off x="2297719" y="3660322"/>
              <a:ext cx="465582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A647119-509B-9531-92A7-49F1E10B347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25E5718-3216-AE25-D8F1-19A1D82BD1D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1C9E387-6231-DBA1-49AC-405FDCB18A7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F508FD-8E9A-9B87-EBA9-898E7E672D5B}"/>
              </a:ext>
            </a:extLst>
          </p:cNvPr>
          <p:cNvGrpSpPr/>
          <p:nvPr/>
        </p:nvGrpSpPr>
        <p:grpSpPr>
          <a:xfrm>
            <a:off x="913995" y="5885102"/>
            <a:ext cx="10364010" cy="348335"/>
            <a:chOff x="4685665" y="1834757"/>
            <a:chExt cx="10435208" cy="348335"/>
          </a:xfrm>
        </p:grpSpPr>
        <p:sp>
          <p:nvSpPr>
            <p:cNvPr id="30" name="ComponentBackground2">
              <a:extLst>
                <a:ext uri="{FF2B5EF4-FFF2-40B4-BE49-F238E27FC236}">
                  <a16:creationId xmlns:a16="http://schemas.microsoft.com/office/drawing/2014/main" id="{B4C706DC-BED3-D2D7-39CE-3CA80EB32C07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41234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类名的命名规范，遵循大驼峰命名法，每个单词的首字母都是大写，单词之间没有分隔符，比如：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UserInfo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UserAccount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1" name="Shape2">
              <a:extLst>
                <a:ext uri="{FF2B5EF4-FFF2-40B4-BE49-F238E27FC236}">
                  <a16:creationId xmlns:a16="http://schemas.microsoft.com/office/drawing/2014/main" id="{A8920751-55D3-D676-EF9B-A57FDD8130D5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E94F5FC-25F4-C1F3-4D13-8A8EEB3B526B}"/>
              </a:ext>
            </a:extLst>
          </p:cNvPr>
          <p:cNvGrpSpPr/>
          <p:nvPr/>
        </p:nvGrpSpPr>
        <p:grpSpPr>
          <a:xfrm>
            <a:off x="913995" y="6347433"/>
            <a:ext cx="10364010" cy="348335"/>
            <a:chOff x="4685665" y="1834757"/>
            <a:chExt cx="10435208" cy="348335"/>
          </a:xfrm>
        </p:grpSpPr>
        <p:sp>
          <p:nvSpPr>
            <p:cNvPr id="33" name="ComponentBackground2">
              <a:extLst>
                <a:ext uri="{FF2B5EF4-FFF2-40B4-BE49-F238E27FC236}">
                  <a16:creationId xmlns:a16="http://schemas.microsoft.com/office/drawing/2014/main" id="{831265A1-5C3F-65C8-8177-62EF9A774BF1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41234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说明：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__dict__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是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中用户自定义类实例的一个特殊属性，用于以字典形式存储对象的属性 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4" name="Shape2">
              <a:extLst>
                <a:ext uri="{FF2B5EF4-FFF2-40B4-BE49-F238E27FC236}">
                  <a16:creationId xmlns:a16="http://schemas.microsoft.com/office/drawing/2014/main" id="{95699101-F1FC-F13C-1A47-7658FF09018A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pic>
        <p:nvPicPr>
          <p:cNvPr id="17" name="图片 16" descr="骆驼站在一起&#10;&#10;AI 生成的内容可能不正确。">
            <a:extLst>
              <a:ext uri="{FF2B5EF4-FFF2-40B4-BE49-F238E27FC236}">
                <a16:creationId xmlns:a16="http://schemas.microsoft.com/office/drawing/2014/main" id="{3230396B-2AA6-C29E-F03A-F5F28F998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879" y="4204950"/>
            <a:ext cx="2011154" cy="16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9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91F8-B9FD-D7F4-1F98-B6E678C0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1E7FF-11EF-DCF4-0BE7-5D472EB5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23AFE-3600-77D8-2032-5B65EA3F5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定义类的语法如下：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6DCA346-1CE5-884F-5D32-16B534F982D8}"/>
              </a:ext>
            </a:extLst>
          </p:cNvPr>
          <p:cNvGrpSpPr/>
          <p:nvPr/>
        </p:nvGrpSpPr>
        <p:grpSpPr>
          <a:xfrm>
            <a:off x="968169" y="1541112"/>
            <a:ext cx="4225614" cy="2619710"/>
            <a:chOff x="2297719" y="3660322"/>
            <a:chExt cx="4655841" cy="261986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E18C1F0-BCDC-A5BB-B59E-B614EFA39B76}"/>
                </a:ext>
              </a:extLst>
            </p:cNvPr>
            <p:cNvSpPr/>
            <p:nvPr/>
          </p:nvSpPr>
          <p:spPr>
            <a:xfrm>
              <a:off x="2297728" y="3660322"/>
              <a:ext cx="4655832" cy="2619865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定义类</a:t>
              </a:r>
              <a:endParaRPr lang="en-US" altLang="zh-CN" sz="11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2D60EC"/>
                  </a:solidFill>
                </a:rPr>
                <a:t>class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类名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2D60EC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__init__(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参数列表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2D60EC"/>
                  </a:solidFill>
                </a:rPr>
                <a:t>       </a:t>
              </a:r>
              <a:r>
                <a:rPr lang="en-US" altLang="zh-CN" sz="1100">
                  <a:solidFill>
                    <a:srgbClr val="B200B2"/>
                  </a:solidFill>
                </a:rPr>
                <a:t>self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.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属性名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=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参数值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       </a:t>
              </a:r>
              <a:r>
                <a:rPr lang="en-US" altLang="zh-CN" sz="1100">
                  <a:solidFill>
                    <a:srgbClr val="B200B2"/>
                  </a:solidFill>
                </a:rPr>
                <a:t>self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.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属性名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=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参数值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创建对象</a:t>
              </a: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对象名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=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类名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参数列表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017FCE9E-7F1D-375E-86A2-7D75580A6D10}"/>
                </a:ext>
              </a:extLst>
            </p:cNvPr>
            <p:cNvSpPr/>
            <p:nvPr/>
          </p:nvSpPr>
          <p:spPr>
            <a:xfrm>
              <a:off x="2297719" y="3660322"/>
              <a:ext cx="465583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定义类时指定实例属性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C284465-CE70-3163-B297-BD30868B0D2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B6B6228-1966-0359-3CCF-6F742269CD1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8D8B5C1-7581-2DB3-AF1D-A472AE195A6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4B0C50A-DCFC-BA71-C9EE-1B80D2010694}"/>
              </a:ext>
            </a:extLst>
          </p:cNvPr>
          <p:cNvGrpSpPr/>
          <p:nvPr/>
        </p:nvGrpSpPr>
        <p:grpSpPr>
          <a:xfrm>
            <a:off x="6103380" y="1547737"/>
            <a:ext cx="4225611" cy="2619710"/>
            <a:chOff x="2297719" y="3660321"/>
            <a:chExt cx="4655838" cy="261986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FE0F34C-6B9B-83D6-501D-4DB3394D3E1C}"/>
                </a:ext>
              </a:extLst>
            </p:cNvPr>
            <p:cNvSpPr/>
            <p:nvPr/>
          </p:nvSpPr>
          <p:spPr>
            <a:xfrm>
              <a:off x="2297728" y="3660321"/>
              <a:ext cx="4655829" cy="2619866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919191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919191"/>
                  </a:solidFill>
                  <a:effectLst/>
                </a:rPr>
                <a:t>定义类</a:t>
              </a:r>
              <a:endParaRPr lang="en-US" altLang="zh-CN" sz="1100">
                <a:solidFill>
                  <a:srgbClr val="919191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919191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919191"/>
                  </a:solidFill>
                  <a:effectLst/>
                </a:rPr>
                <a:t>创建对象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c1 = Car(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"BMW"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"X5"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500000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(c1.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__dict__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11FE79D7-52FD-C35C-CED8-1C3602DD0569}"/>
                </a:ext>
              </a:extLst>
            </p:cNvPr>
            <p:cNvSpPr/>
            <p:nvPr/>
          </p:nvSpPr>
          <p:spPr>
            <a:xfrm>
              <a:off x="2297719" y="3660322"/>
              <a:ext cx="465582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8CBC15A-65C5-9933-D5AC-F3F2236F207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27D83F5-250B-CDEB-402F-F19C39731D2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1554890-2419-2D58-4E2B-4D068C627D3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979E60FD-D01E-081F-A2D0-ADF503FE8DEA}"/>
              </a:ext>
            </a:extLst>
          </p:cNvPr>
          <p:cNvSpPr txBox="1"/>
          <p:nvPr/>
        </p:nvSpPr>
        <p:spPr>
          <a:xfrm>
            <a:off x="10323498" y="2674459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>
                <a:solidFill>
                  <a:srgbClr val="067D17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推荐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9FB24EA-C825-5B42-9480-E74592403F98}"/>
              </a:ext>
            </a:extLst>
          </p:cNvPr>
          <p:cNvSpPr/>
          <p:nvPr/>
        </p:nvSpPr>
        <p:spPr>
          <a:xfrm>
            <a:off x="1676401" y="2360069"/>
            <a:ext cx="708990" cy="20422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BEAD9F3-85B8-D53A-B853-68391B0E2EE9}"/>
              </a:ext>
            </a:extLst>
          </p:cNvPr>
          <p:cNvSpPr/>
          <p:nvPr/>
        </p:nvSpPr>
        <p:spPr>
          <a:xfrm>
            <a:off x="2458280" y="2360068"/>
            <a:ext cx="371060" cy="20422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8998A8E-BADD-9CAD-0B73-9EB922D50DCD}"/>
              </a:ext>
            </a:extLst>
          </p:cNvPr>
          <p:cNvGrpSpPr/>
          <p:nvPr/>
        </p:nvGrpSpPr>
        <p:grpSpPr>
          <a:xfrm>
            <a:off x="913995" y="6136044"/>
            <a:ext cx="10364010" cy="348335"/>
            <a:chOff x="4685665" y="1834757"/>
            <a:chExt cx="10435208" cy="348335"/>
          </a:xfrm>
        </p:grpSpPr>
        <p:sp>
          <p:nvSpPr>
            <p:cNvPr id="44" name="ComponentBackground2">
              <a:extLst>
                <a:ext uri="{FF2B5EF4-FFF2-40B4-BE49-F238E27FC236}">
                  <a16:creationId xmlns:a16="http://schemas.microsoft.com/office/drawing/2014/main" id="{A573E7BB-2CE5-9207-A1B8-3F6C9DD293B8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41234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定义在类的外面的称之为函数，定义在类中的函数称之为方法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45" name="Shape2">
              <a:extLst>
                <a:ext uri="{FF2B5EF4-FFF2-40B4-BE49-F238E27FC236}">
                  <a16:creationId xmlns:a16="http://schemas.microsoft.com/office/drawing/2014/main" id="{8487DE2B-8B22-B8A1-FB5C-5D2B46C0A9F7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0C4B92E-CD44-F650-2322-3AAA2FFE3DB2}"/>
              </a:ext>
            </a:extLst>
          </p:cNvPr>
          <p:cNvCxnSpPr>
            <a:cxnSpLocks/>
          </p:cNvCxnSpPr>
          <p:nvPr/>
        </p:nvCxnSpPr>
        <p:spPr>
          <a:xfrm>
            <a:off x="1676401" y="2462181"/>
            <a:ext cx="0" cy="2547141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CF75E2D-F051-1AF6-82F6-1732301F17C4}"/>
              </a:ext>
            </a:extLst>
          </p:cNvPr>
          <p:cNvCxnSpPr>
            <a:cxnSpLocks/>
          </p:cNvCxnSpPr>
          <p:nvPr/>
        </p:nvCxnSpPr>
        <p:spPr>
          <a:xfrm>
            <a:off x="2643810" y="2564295"/>
            <a:ext cx="0" cy="1981201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A1529DB0-A387-43A7-DE42-FC443E13203A}"/>
              </a:ext>
            </a:extLst>
          </p:cNvPr>
          <p:cNvSpPr txBox="1"/>
          <p:nvPr/>
        </p:nvSpPr>
        <p:spPr>
          <a:xfrm>
            <a:off x="1533146" y="5082381"/>
            <a:ext cx="6676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__init__</a:t>
            </a:r>
            <a:r>
              <a:rPr lang="zh-CN" altLang="en-US" sz="1200"/>
              <a:t>：初始化方法，对象创建后自动调用，主要用于设置对象的初始状态（设置对象属性）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1DB0904-6328-9DCD-C6A2-708D65E14991}"/>
              </a:ext>
            </a:extLst>
          </p:cNvPr>
          <p:cNvSpPr txBox="1"/>
          <p:nvPr/>
        </p:nvSpPr>
        <p:spPr>
          <a:xfrm>
            <a:off x="2520433" y="4577729"/>
            <a:ext cx="395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self</a:t>
            </a:r>
            <a:r>
              <a:rPr lang="zh-CN" altLang="en-US" sz="1200"/>
              <a:t>：方法的第一个参数，表示当前创建的实例对象</a:t>
            </a:r>
          </a:p>
        </p:txBody>
      </p:sp>
    </p:spTree>
    <p:extLst>
      <p:ext uri="{BB962C8B-B14F-4D97-AF65-F5344CB8AC3E}">
        <p14:creationId xmlns:p14="http://schemas.microsoft.com/office/powerpoint/2010/main" val="426990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1" grpId="0" animBg="1"/>
      <p:bldP spid="42" grpId="0" animBg="1"/>
      <p:bldP spid="52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7C4A-4405-8EDC-90D9-80EB1FB3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2A38EC-7118-4C88-8D17-035C31232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2605" y="1359878"/>
            <a:ext cx="836939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定义类时，类名的命名规范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大驼峰命名法，</a:t>
            </a:r>
            <a:r>
              <a:rPr lang="en-US" altLang="zh-CN" sz="1400"/>
              <a:t>UserInfo</a:t>
            </a:r>
            <a:r>
              <a:rPr lang="zh-CN" altLang="en-US" sz="1400"/>
              <a:t>、</a:t>
            </a:r>
            <a:r>
              <a:rPr lang="en-US" altLang="zh-CN" sz="1400"/>
              <a:t>UserAccount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定义类时，</a:t>
            </a:r>
            <a:r>
              <a:rPr lang="en-US" altLang="zh-CN"/>
              <a:t>__init__</a:t>
            </a:r>
            <a:r>
              <a:rPr lang="zh-CN" altLang="en-US"/>
              <a:t>方法的作用</a:t>
            </a:r>
            <a:r>
              <a:rPr lang="en-US" altLang="zh-CN"/>
              <a:t>? self</a:t>
            </a:r>
            <a:r>
              <a:rPr lang="zh-CN" altLang="en-US"/>
              <a:t>参数的作用</a:t>
            </a:r>
            <a:r>
              <a:rPr lang="en-US" altLang="zh-CN"/>
              <a:t>?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__init__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是初始化方式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，对象创建时自动调用，主要用于设置对象的初始状态（设置对象属性）</a:t>
            </a:r>
            <a:endParaRPr lang="en-US" altLang="zh-CN" sz="1400">
              <a:solidFill>
                <a:srgbClr val="363C3B"/>
              </a:solidFill>
              <a:latin typeface="Source Code Pro"/>
              <a:ea typeface="阿里巴巴普惠体"/>
            </a:endParaRP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self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是类中定义的方法的第一个参数，表示当前创建的实例对象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C7BF-89EB-3713-F98A-4C7B432C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4E21B7-CF11-E8B7-C171-59C845D36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3852" y="1642533"/>
            <a:ext cx="3692525" cy="2631150"/>
          </a:xfrm>
        </p:spPr>
        <p:txBody>
          <a:bodyPr/>
          <a:lstStyle/>
          <a:p>
            <a:r>
              <a:rPr lang="zh-CN" altLang="en-US"/>
              <a:t>类与对象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实例方法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魔法方法</a:t>
            </a:r>
            <a:endParaRPr lang="en-US" altLang="zh-CN"/>
          </a:p>
          <a:p>
            <a:r>
              <a:rPr lang="zh-CN" altLang="en-US"/>
              <a:t>实例属性与类属性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174056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C4A3-99FA-3159-EF61-F4F1F25D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0C7A88-A726-A291-2F18-816F0D487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实例方法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54286-E43E-A615-7B63-3D174C64BF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60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F6B9-D96F-5F48-B15C-EBE438BC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AF56C-FECA-B705-9FA8-C6DA933A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D3FF93-0739-C04F-275C-CB0E4C261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在类中定义实例方法时，定义语法与之前学习的函数定义的方式是一致的。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7401153-48FA-0ED6-CBE9-81548ADDF228}"/>
              </a:ext>
            </a:extLst>
          </p:cNvPr>
          <p:cNvGrpSpPr/>
          <p:nvPr/>
        </p:nvGrpSpPr>
        <p:grpSpPr>
          <a:xfrm>
            <a:off x="941385" y="1507982"/>
            <a:ext cx="4225614" cy="4382611"/>
            <a:chOff x="2297719" y="3660321"/>
            <a:chExt cx="4655841" cy="438287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BB52A93-794A-38A5-1114-D62A99065503}"/>
                </a:ext>
              </a:extLst>
            </p:cNvPr>
            <p:cNvSpPr/>
            <p:nvPr/>
          </p:nvSpPr>
          <p:spPr>
            <a:xfrm>
              <a:off x="2297728" y="3660321"/>
              <a:ext cx="4655832" cy="4382871"/>
            </a:xfrm>
            <a:prstGeom prst="roundRect">
              <a:avLst>
                <a:gd name="adj" fmla="val 184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定义类</a:t>
              </a:r>
              <a:endParaRPr lang="en-US" altLang="zh-CN" sz="11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2D60EC"/>
                  </a:solidFill>
                </a:rPr>
                <a:t>class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类名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2D60EC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__init__(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,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形参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列表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2D60EC"/>
                  </a:solidFill>
                </a:rPr>
                <a:t>       </a:t>
              </a:r>
              <a:r>
                <a:rPr lang="en-US" altLang="zh-CN" sz="1100">
                  <a:solidFill>
                    <a:srgbClr val="B200B2"/>
                  </a:solidFill>
                </a:rPr>
                <a:t>self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.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属性名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=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参数值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       </a:t>
              </a:r>
              <a:r>
                <a:rPr lang="en-US" altLang="zh-CN" sz="1100">
                  <a:solidFill>
                    <a:srgbClr val="B200B2"/>
                  </a:solidFill>
                </a:rPr>
                <a:t>self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.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属性名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</a:rPr>
                <a:t>=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参数值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en-US" altLang="zh-CN" sz="1100">
                  <a:solidFill>
                    <a:srgbClr val="2D60EC"/>
                  </a:solidFill>
                </a:rPr>
                <a:t>def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方法名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(</a:t>
              </a:r>
              <a:r>
                <a:rPr lang="en-US" altLang="zh-CN" sz="1100">
                  <a:solidFill>
                    <a:srgbClr val="B200B2"/>
                  </a:solidFill>
                </a:rPr>
                <a:t>self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,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形参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列表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      ...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en-US" altLang="zh-CN" sz="1100">
                  <a:solidFill>
                    <a:srgbClr val="2D60EC"/>
                  </a:solidFill>
                </a:rPr>
                <a:t>def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方法名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(</a:t>
              </a:r>
              <a:r>
                <a:rPr lang="en-US" altLang="zh-CN" sz="1100">
                  <a:solidFill>
                    <a:srgbClr val="B200B2"/>
                  </a:solidFill>
                </a:rPr>
                <a:t>self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, </a:t>
              </a:r>
              <a:r>
                <a:rPr lang="zh-CN" altLang="en-US" sz="1100">
                  <a:solidFill>
                    <a:schemeClr val="tx1">
                      <a:lumMod val="50000"/>
                    </a:schemeClr>
                  </a:solidFill>
                </a:rPr>
                <a:t>形参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</a:rPr>
                <a:t>列表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      ...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</a:rPr>
                <a:t>创建对象</a:t>
              </a: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对象名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= 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类名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参数列表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对象名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.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方法名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实参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effectLst/>
                </a:rPr>
                <a:t>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C7E7FDAB-075B-4478-8815-F725888DF745}"/>
                </a:ext>
              </a:extLst>
            </p:cNvPr>
            <p:cNvSpPr/>
            <p:nvPr/>
          </p:nvSpPr>
          <p:spPr>
            <a:xfrm>
              <a:off x="2297719" y="3660322"/>
              <a:ext cx="465583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A4F5111-E2E0-4390-FFF3-42F17B18ED2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E55E8C2-83A7-F6FC-7A71-73C4D774BA4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7AE2E90-46D6-3FEB-2F88-32CCF99EB5B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96DA98E-0CEF-6B9B-8410-C26A5C16FD24}"/>
              </a:ext>
            </a:extLst>
          </p:cNvPr>
          <p:cNvGrpSpPr/>
          <p:nvPr/>
        </p:nvGrpSpPr>
        <p:grpSpPr>
          <a:xfrm>
            <a:off x="5904597" y="1507982"/>
            <a:ext cx="5339873" cy="4382611"/>
            <a:chOff x="2297719" y="3660320"/>
            <a:chExt cx="5883548" cy="438287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157338C-DB4D-F1D2-FEBD-3032383DE637}"/>
                </a:ext>
              </a:extLst>
            </p:cNvPr>
            <p:cNvSpPr/>
            <p:nvPr/>
          </p:nvSpPr>
          <p:spPr>
            <a:xfrm>
              <a:off x="2297728" y="3660320"/>
              <a:ext cx="5883539" cy="4382872"/>
            </a:xfrm>
            <a:prstGeom prst="roundRect">
              <a:avLst>
                <a:gd name="adj" fmla="val 116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</a:t>
              </a:r>
              <a:br>
                <a:rPr lang="en-US" altLang="zh-CN" sz="1100">
                  <a:solidFill>
                    <a:srgbClr val="1750EB"/>
                  </a:solidFill>
                  <a:effectLst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running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正在高速行驶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..."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</a:rPr>
                <a:t>total_cost</a:t>
              </a:r>
              <a:r>
                <a:rPr lang="en-US" altLang="zh-CN" sz="1100">
                  <a:solidFill>
                    <a:srgbClr val="080808"/>
                  </a:solidFill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</a:rPr>
                <a:t>self, discount, rate</a:t>
              </a:r>
              <a:r>
                <a:rPr lang="en-US" altLang="zh-CN" sz="1100">
                  <a:solidFill>
                    <a:srgbClr val="080808"/>
                  </a:solidFill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</a:rPr>
              </a:br>
              <a:r>
                <a:rPr lang="en-US" altLang="zh-CN" sz="1100" i="1">
                  <a:solidFill>
                    <a:srgbClr val="8C8C8C"/>
                  </a:solidFill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</a:rPr>
                <a:t>return </a:t>
              </a:r>
              <a:r>
                <a:rPr lang="en-US" altLang="zh-CN" sz="1100">
                  <a:solidFill>
                    <a:srgbClr val="94558D"/>
                  </a:solidFill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</a:rPr>
                <a:t>.price * </a:t>
              </a:r>
              <a:r>
                <a:rPr lang="en-US" altLang="zh-CN" sz="1100">
                  <a:solidFill>
                    <a:srgbClr val="94558D"/>
                  </a:solidFill>
                </a:rPr>
                <a:t>discount</a:t>
              </a:r>
              <a:r>
                <a:rPr lang="en-US" altLang="zh-CN" sz="1100">
                  <a:solidFill>
                    <a:srgbClr val="1750EB"/>
                  </a:solidFill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</a:rPr>
                <a:t>+ </a:t>
              </a:r>
              <a:r>
                <a:rPr lang="en-US" altLang="zh-CN" sz="1100">
                  <a:solidFill>
                    <a:srgbClr val="94558D"/>
                  </a:solidFill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</a:rPr>
                <a:t>.price</a:t>
              </a:r>
              <a:r>
                <a:rPr lang="en-US" altLang="zh-CN" sz="1100">
                  <a:solidFill>
                    <a:srgbClr val="1750EB"/>
                  </a:solidFill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</a:rPr>
                <a:t>* </a:t>
              </a:r>
              <a:r>
                <a:rPr lang="en-US" altLang="zh-CN" sz="1100">
                  <a:solidFill>
                    <a:srgbClr val="94558D"/>
                  </a:solidFill>
                </a:rPr>
                <a:t>rate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c1 = Car(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"BMW"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"X5"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500000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total_</a:t>
              </a:r>
              <a:r>
                <a:rPr lang="en-US" altLang="zh-CN" sz="1100">
                  <a:solidFill>
                    <a:srgbClr val="080808"/>
                  </a:solidFill>
                </a:rPr>
                <a:t>cost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= c1.</a:t>
              </a:r>
              <a:r>
                <a:rPr lang="en-US" altLang="zh-CN" sz="1100">
                  <a:solidFill>
                    <a:srgbClr val="080808"/>
                  </a:solidFill>
                </a:rPr>
                <a:t>total_cost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(0.9, 0.1)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提车总价为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: 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total_price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: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.0f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c1.running()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D7DFFFA4-11BF-A545-FF63-3BFAFCB88BF7}"/>
                </a:ext>
              </a:extLst>
            </p:cNvPr>
            <p:cNvSpPr/>
            <p:nvPr/>
          </p:nvSpPr>
          <p:spPr>
            <a:xfrm>
              <a:off x="2297719" y="3660322"/>
              <a:ext cx="588353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4E11F47-0B3C-572E-8D79-81DEBBD6DD0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D8D7213-498A-D5E9-C21F-87B427AE18A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AED06F2-B958-A258-ADE2-0050E7DCFC6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B1BBB6-79D1-18BD-1E5C-CEFA3FDD4256}"/>
              </a:ext>
            </a:extLst>
          </p:cNvPr>
          <p:cNvSpPr/>
          <p:nvPr/>
        </p:nvSpPr>
        <p:spPr>
          <a:xfrm>
            <a:off x="7285793" y="3323574"/>
            <a:ext cx="361535" cy="210852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28392F-587A-5C9B-6A41-B20A24D390BD}"/>
              </a:ext>
            </a:extLst>
          </p:cNvPr>
          <p:cNvSpPr/>
          <p:nvPr/>
        </p:nvSpPr>
        <p:spPr>
          <a:xfrm>
            <a:off x="7546312" y="3831062"/>
            <a:ext cx="357529" cy="210852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DDF59C3-09B5-8569-6E93-4910693247C8}"/>
              </a:ext>
            </a:extLst>
          </p:cNvPr>
          <p:cNvSpPr/>
          <p:nvPr/>
        </p:nvSpPr>
        <p:spPr>
          <a:xfrm>
            <a:off x="6985000" y="4833221"/>
            <a:ext cx="2013226" cy="189339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FFA864-59AA-4377-666C-1DB9330FDD0F}"/>
              </a:ext>
            </a:extLst>
          </p:cNvPr>
          <p:cNvSpPr/>
          <p:nvPr/>
        </p:nvSpPr>
        <p:spPr>
          <a:xfrm>
            <a:off x="5949944" y="5585722"/>
            <a:ext cx="1035056" cy="210852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2455ABD-C237-FC67-1AA2-93A40C8F3C2D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998226" y="4927891"/>
            <a:ext cx="185392" cy="1218911"/>
          </a:xfrm>
          <a:prstGeom prst="bentConnector2">
            <a:avLst/>
          </a:prstGeom>
          <a:ln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8367F10-DD26-8805-F2DE-571D1B0E1CA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6985000" y="5691148"/>
            <a:ext cx="2198618" cy="0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08A1BBE-D557-AAE4-EC12-43D586C5E38A}"/>
              </a:ext>
            </a:extLst>
          </p:cNvPr>
          <p:cNvSpPr txBox="1"/>
          <p:nvPr/>
        </p:nvSpPr>
        <p:spPr>
          <a:xfrm>
            <a:off x="8059945" y="6142383"/>
            <a:ext cx="3788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self</a:t>
            </a:r>
            <a:r>
              <a:rPr lang="zh-CN" altLang="en-US" sz="1400"/>
              <a:t>表示当前实例对象，方法调用时无需传递</a:t>
            </a:r>
          </a:p>
        </p:txBody>
      </p:sp>
    </p:spTree>
    <p:extLst>
      <p:ext uri="{BB962C8B-B14F-4D97-AF65-F5344CB8AC3E}">
        <p14:creationId xmlns:p14="http://schemas.microsoft.com/office/powerpoint/2010/main" val="375466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0" grpId="0" animBg="1"/>
      <p:bldP spid="21" grpId="0" animBg="1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0D27-5B34-1AFE-04ED-71CD3F8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BB9956-38FF-5F3B-0CBE-A303EC5DB2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3852" y="1642533"/>
            <a:ext cx="3692525" cy="2631150"/>
          </a:xfrm>
        </p:spPr>
        <p:txBody>
          <a:bodyPr/>
          <a:lstStyle/>
          <a:p>
            <a:r>
              <a:rPr lang="zh-CN" altLang="en-US"/>
              <a:t>类与对象</a:t>
            </a:r>
            <a:endParaRPr lang="en-US" altLang="zh-CN"/>
          </a:p>
          <a:p>
            <a:r>
              <a:rPr lang="zh-CN" altLang="en-US"/>
              <a:t>实例方法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魔法方法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实例属性与类属性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428719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60AD-9011-9828-F7F1-915FFDE4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471992-D27F-9A1F-FC51-0B98D9CB57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魔法方法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EC04B-2D43-1533-8DB6-74E5D2C22A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773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A003-C3D0-4EF2-CBEB-ABE1464D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7A363-96AB-2401-D339-77B6E4AA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魔法方法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69E23-1809-8AF7-CB7F-E4DAD2E62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9182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魔法方法是指</a:t>
            </a:r>
            <a:r>
              <a:rPr lang="en-US" altLang="zh-CN"/>
              <a:t>Python</a:t>
            </a:r>
            <a:r>
              <a:rPr lang="zh-CN" altLang="en-US"/>
              <a:t>中提供的以双下划线开头和结尾的特殊方法，用于定义类的特殊行为，比如：</a:t>
            </a:r>
            <a:r>
              <a:rPr lang="en-US" altLang="zh-CN"/>
              <a:t>__init__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魔法方法是不需要我们手动调用的，</a:t>
            </a:r>
            <a:r>
              <a:rPr lang="en-US" altLang="zh-CN"/>
              <a:t>Python</a:t>
            </a:r>
            <a:r>
              <a:rPr lang="zh-CN" altLang="en-US"/>
              <a:t>会在合适的时机自动调用。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7EBEF2-BD06-372F-587F-B3FDE3BD2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77392"/>
              </p:ext>
            </p:extLst>
          </p:nvPr>
        </p:nvGraphicFramePr>
        <p:xfrm>
          <a:off x="933318" y="2020956"/>
          <a:ext cx="10703359" cy="265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386">
                  <a:extLst>
                    <a:ext uri="{9D8B030D-6E8A-4147-A177-3AD203B41FA5}">
                      <a16:colId xmlns:a16="http://schemas.microsoft.com/office/drawing/2014/main" val="2669930531"/>
                    </a:ext>
                  </a:extLst>
                </a:gridCol>
                <a:gridCol w="7342973">
                  <a:extLst>
                    <a:ext uri="{9D8B030D-6E8A-4147-A177-3AD203B41FA5}">
                      <a16:colId xmlns:a16="http://schemas.microsoft.com/office/drawing/2014/main" val="47741886"/>
                    </a:ext>
                  </a:extLst>
                </a:gridCol>
              </a:tblGrid>
              <a:tr h="5260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魔法方法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描述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11152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__init__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初始化方法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930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__str__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字符串表示的方法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0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__eq__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比较两个对象是否相等 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(equal)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67208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__lt__ , __le__ , __gt__ , __ge__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支持比较两个对象的大小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(</a:t>
                      </a: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小于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(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l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ess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t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han), </a:t>
                      </a: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小于等于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(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l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ess than or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e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qual), </a:t>
                      </a: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大于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(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g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reater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t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han), </a:t>
                      </a: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大于等于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(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g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reater than or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e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qual))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688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15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EA8ED-3098-91E8-8B64-87C3E1119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0F301-B5E7-6F29-C0EE-D386E322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魔法方法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B5F5E54-DA3C-89F8-98BD-585F8E3FD24B}"/>
              </a:ext>
            </a:extLst>
          </p:cNvPr>
          <p:cNvGrpSpPr/>
          <p:nvPr/>
        </p:nvGrpSpPr>
        <p:grpSpPr>
          <a:xfrm>
            <a:off x="693735" y="1006332"/>
            <a:ext cx="8443916" cy="5648468"/>
            <a:chOff x="2297719" y="3660321"/>
            <a:chExt cx="9303626" cy="564880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6667AEE-486F-7776-1F6D-EF70052E5241}"/>
                </a:ext>
              </a:extLst>
            </p:cNvPr>
            <p:cNvSpPr/>
            <p:nvPr/>
          </p:nvSpPr>
          <p:spPr>
            <a:xfrm>
              <a:off x="2297728" y="3660321"/>
              <a:ext cx="9303617" cy="5648804"/>
            </a:xfrm>
            <a:prstGeom prst="roundRect">
              <a:avLst>
                <a:gd name="adj" fmla="val 113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running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正在高速行驶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..."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__str__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br>
                <a:rPr lang="en-US" altLang="zh-CN" sz="1100">
                  <a:solidFill>
                    <a:srgbClr val="067D17"/>
                  </a:solidFill>
                  <a:effectLst/>
                </a:rPr>
              </a:br>
              <a:r>
                <a:rPr lang="en-US" altLang="zh-CN" sz="1100">
                  <a:solidFill>
                    <a:srgbClr val="067D17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__eq__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and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and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__lt__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&lt;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endParaRPr lang="en-US" altLang="zh-CN" sz="1100">
                <a:solidFill>
                  <a:srgbClr val="080808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fr-FR" altLang="zh-CN" sz="1100">
                  <a:solidFill>
                    <a:srgbClr val="080808"/>
                  </a:solidFill>
                  <a:effectLst/>
                </a:rPr>
                <a:t>c1 = Car(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"BMW"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"X5"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1750EB"/>
                  </a:solidFill>
                  <a:effectLst/>
                </a:rPr>
                <a:t>500000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(c1)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80808"/>
                  </a:solidFill>
                  <a:effectLst/>
                </a:rPr>
                <a:t>c2 = Car(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"BMW"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"X5"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1750EB"/>
                  </a:solidFill>
                  <a:effectLst/>
                </a:rPr>
                <a:t>500000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(c2)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(c1 == c2)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(c1 &lt; c2)</a:t>
              </a:r>
              <a:endParaRPr lang="en-US" altLang="zh-CN" sz="11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D2FD7165-9D7E-7D6D-AD1A-A9BA18A1A224}"/>
                </a:ext>
              </a:extLst>
            </p:cNvPr>
            <p:cNvSpPr/>
            <p:nvPr/>
          </p:nvSpPr>
          <p:spPr>
            <a:xfrm>
              <a:off x="2297719" y="3660322"/>
              <a:ext cx="930361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44BD223-841D-1BA6-A8B9-804EEFC37CD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93A7043-3F8E-1543-6BD7-2CECCC4C215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6DA2D3D-B758-EFB5-AA9F-32E4C9F8A99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FCF8EB5C-7E3F-9233-A634-1E6E57F12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35" y="3086100"/>
            <a:ext cx="8443908" cy="15367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1CE1A64-9502-F7E5-02B3-3D9F9295AF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49999"/>
          <a:stretch>
            <a:fillRect/>
          </a:stretch>
        </p:blipFill>
        <p:spPr>
          <a:xfrm>
            <a:off x="1778009" y="5111750"/>
            <a:ext cx="2755888" cy="179558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CCEA8D8-3EBC-674A-1235-BDE104F739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1777999" y="5611301"/>
            <a:ext cx="2755898" cy="179558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A28FF71-AC31-E60C-BF02-CBE659CB31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35735" b="-1"/>
          <a:stretch>
            <a:fillRect/>
          </a:stretch>
        </p:blipFill>
        <p:spPr>
          <a:xfrm>
            <a:off x="2305663" y="6110852"/>
            <a:ext cx="2228234" cy="18319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86631D1-3ACE-B316-D42C-C06E839D6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663" y="6394434"/>
            <a:ext cx="3635133" cy="179558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2DD0F3B-6CAC-A25B-8140-512863B52A0C}"/>
              </a:ext>
            </a:extLst>
          </p:cNvPr>
          <p:cNvSpPr txBox="1"/>
          <p:nvPr/>
        </p:nvSpPr>
        <p:spPr>
          <a:xfrm>
            <a:off x="4724400" y="5063029"/>
            <a:ext cx="3179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默认输出出来的是对象的内存地址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(16</a:t>
            </a:r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进制</a:t>
            </a:r>
            <a:r>
              <a:rPr lang="en-US" altLang="zh-CN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  <a:endParaRPr lang="zh-CN" altLang="en-US" sz="12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5AFCB7E-2A29-ED1A-248A-9FA2DE072514}"/>
              </a:ext>
            </a:extLst>
          </p:cNvPr>
          <p:cNvSpPr txBox="1"/>
          <p:nvPr/>
        </p:nvSpPr>
        <p:spPr>
          <a:xfrm>
            <a:off x="4724400" y="6063948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默认是基于对象的内存地址进行比较的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4E65-BF3F-5E0A-B12E-993596BF5A14}"/>
              </a:ext>
            </a:extLst>
          </p:cNvPr>
          <p:cNvSpPr txBox="1"/>
          <p:nvPr/>
        </p:nvSpPr>
        <p:spPr>
          <a:xfrm>
            <a:off x="6007100" y="6348160"/>
            <a:ext cx="3108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默认自定义的对象之间不可以进行大小比较</a:t>
            </a:r>
          </a:p>
        </p:txBody>
      </p:sp>
    </p:spTree>
    <p:extLst>
      <p:ext uri="{BB962C8B-B14F-4D97-AF65-F5344CB8AC3E}">
        <p14:creationId xmlns:p14="http://schemas.microsoft.com/office/powerpoint/2010/main" val="158428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7DA2B-C7E0-317B-20FA-E250C5B5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A987A-A7C8-4716-71EC-EFE8DAA0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魔法方法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9B72F63-2E58-D203-7D2A-12C63F5D19C9}"/>
              </a:ext>
            </a:extLst>
          </p:cNvPr>
          <p:cNvGrpSpPr/>
          <p:nvPr/>
        </p:nvGrpSpPr>
        <p:grpSpPr>
          <a:xfrm>
            <a:off x="693735" y="1006332"/>
            <a:ext cx="8443916" cy="5648468"/>
            <a:chOff x="2297719" y="3660321"/>
            <a:chExt cx="9303626" cy="564880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4CFCEBF-131E-FB6B-61A2-2A0CD6F7A364}"/>
                </a:ext>
              </a:extLst>
            </p:cNvPr>
            <p:cNvSpPr/>
            <p:nvPr/>
          </p:nvSpPr>
          <p:spPr>
            <a:xfrm>
              <a:off x="2297728" y="3660321"/>
              <a:ext cx="9303617" cy="5648804"/>
            </a:xfrm>
            <a:prstGeom prst="roundRect">
              <a:avLst>
                <a:gd name="adj" fmla="val 113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running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正在高速行驶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..."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__str__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br>
                <a:rPr lang="en-US" altLang="zh-CN" sz="1100">
                  <a:solidFill>
                    <a:srgbClr val="067D17"/>
                  </a:solidFill>
                  <a:effectLst/>
                </a:rPr>
              </a:br>
              <a:r>
                <a:rPr lang="en-US" altLang="zh-CN" sz="1100">
                  <a:solidFill>
                    <a:srgbClr val="067D17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__eq__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and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and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==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__lt__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return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&lt;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other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endParaRPr lang="en-US" altLang="zh-CN" sz="1100">
                <a:solidFill>
                  <a:srgbClr val="080808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fr-FR" altLang="zh-CN" sz="1100">
                  <a:solidFill>
                    <a:srgbClr val="080808"/>
                  </a:solidFill>
                  <a:effectLst/>
                </a:rPr>
                <a:t>c1 = Car(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"BMW"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"X5"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1750EB"/>
                  </a:solidFill>
                  <a:effectLst/>
                </a:rPr>
                <a:t>500000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(c1)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80808"/>
                  </a:solidFill>
                  <a:effectLst/>
                </a:rPr>
                <a:t>c2 = Car(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"BMW"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067D17"/>
                  </a:solidFill>
                  <a:effectLst/>
                </a:rPr>
                <a:t>"X5"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fr-FR" altLang="zh-CN" sz="1100">
                  <a:solidFill>
                    <a:srgbClr val="1750EB"/>
                  </a:solidFill>
                  <a:effectLst/>
                </a:rPr>
                <a:t>500000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(c2)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(c1 == c2)</a:t>
              </a:r>
              <a:br>
                <a:rPr lang="fr-FR" altLang="zh-CN" sz="1100">
                  <a:solidFill>
                    <a:srgbClr val="080808"/>
                  </a:solidFill>
                  <a:effectLst/>
                </a:rPr>
              </a:br>
              <a:r>
                <a:rPr lang="fr-FR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fr-FR" altLang="zh-CN" sz="1100">
                  <a:solidFill>
                    <a:srgbClr val="080808"/>
                  </a:solidFill>
                  <a:effectLst/>
                </a:rPr>
                <a:t>(c1 &lt; c2)</a:t>
              </a:r>
              <a:endParaRPr lang="en-US" altLang="zh-CN" sz="11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883FCA1-7984-3C2B-FC1B-40C14F616BDE}"/>
                </a:ext>
              </a:extLst>
            </p:cNvPr>
            <p:cNvSpPr/>
            <p:nvPr/>
          </p:nvSpPr>
          <p:spPr>
            <a:xfrm>
              <a:off x="2297719" y="3660322"/>
              <a:ext cx="9303617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D4CE884-0FC7-12D3-4F9C-C422A368010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7A99D2E-AE96-C16B-747C-B7476469AC9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377F343-0AA7-B866-BD74-F336787E3C4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13EFE6-7842-973C-A57F-CD402739D170}"/>
              </a:ext>
            </a:extLst>
          </p:cNvPr>
          <p:cNvSpPr/>
          <p:nvPr/>
        </p:nvSpPr>
        <p:spPr>
          <a:xfrm>
            <a:off x="1070388" y="3086100"/>
            <a:ext cx="8067255" cy="457200"/>
          </a:xfrm>
          <a:prstGeom prst="roundRect">
            <a:avLst>
              <a:gd name="adj" fmla="val 694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60AD2E4-B15D-F800-F3ED-FD1BC40D14D5}"/>
              </a:ext>
            </a:extLst>
          </p:cNvPr>
          <p:cNvSpPr/>
          <p:nvPr/>
        </p:nvSpPr>
        <p:spPr>
          <a:xfrm>
            <a:off x="1070388" y="3575050"/>
            <a:ext cx="8067255" cy="457200"/>
          </a:xfrm>
          <a:prstGeom prst="roundRect">
            <a:avLst>
              <a:gd name="adj" fmla="val 694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57C82EE-9E41-B5BE-87F3-429322814E3B}"/>
              </a:ext>
            </a:extLst>
          </p:cNvPr>
          <p:cNvSpPr/>
          <p:nvPr/>
        </p:nvSpPr>
        <p:spPr>
          <a:xfrm>
            <a:off x="1070388" y="4064000"/>
            <a:ext cx="8067255" cy="457200"/>
          </a:xfrm>
          <a:prstGeom prst="roundRect">
            <a:avLst>
              <a:gd name="adj" fmla="val 6945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52E143D-5427-9C26-BC13-6366441351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157"/>
          <a:stretch>
            <a:fillRect/>
          </a:stretch>
        </p:blipFill>
        <p:spPr>
          <a:xfrm>
            <a:off x="1847747" y="5059461"/>
            <a:ext cx="3455252" cy="25423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6461950-F4A1-6225-D8CB-AFA201E1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027" b="23130"/>
          <a:stretch>
            <a:fillRect/>
          </a:stretch>
        </p:blipFill>
        <p:spPr>
          <a:xfrm>
            <a:off x="2254147" y="6071466"/>
            <a:ext cx="3048852" cy="25423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7D98DA2-9165-35E0-36B7-EAC3AD957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157"/>
          <a:stretch>
            <a:fillRect/>
          </a:stretch>
        </p:blipFill>
        <p:spPr>
          <a:xfrm>
            <a:off x="2254147" y="6363133"/>
            <a:ext cx="3048852" cy="25423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9F0F90C-D22F-0F11-8E35-20005B74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157"/>
          <a:stretch>
            <a:fillRect/>
          </a:stretch>
        </p:blipFill>
        <p:spPr>
          <a:xfrm>
            <a:off x="1847747" y="5571147"/>
            <a:ext cx="3455252" cy="25423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740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F957-559D-0C75-69FA-128174A57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7CDB54-B61F-79B5-AFDD-F78E6B09E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什么是魔法方法</a:t>
            </a:r>
            <a:r>
              <a:rPr lang="en-US" altLang="zh-CN">
                <a:ea typeface="Fira Code" panose="020B0809050000020004" pitchFamily="49" charset="0"/>
              </a:rPr>
              <a:t>? 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ea typeface="Fira Code" panose="020B0809050000020004" pitchFamily="49" charset="0"/>
              </a:rPr>
              <a:t>Python</a:t>
            </a:r>
            <a:r>
              <a:rPr lang="zh-CN" altLang="en-US" sz="1400">
                <a:ea typeface="Fira Code" panose="020B0809050000020004" pitchFamily="49" charset="0"/>
              </a:rPr>
              <a:t>中提供的</a:t>
            </a:r>
            <a:r>
              <a:rPr lang="en-US" altLang="zh-CN" sz="1400">
                <a:ea typeface="Fira Code" panose="020B0809050000020004" pitchFamily="49" charset="0"/>
              </a:rPr>
              <a:t>__xxx__</a:t>
            </a:r>
            <a:r>
              <a:rPr lang="zh-CN" altLang="en-US" sz="1400">
                <a:ea typeface="Fira Code" panose="020B0809050000020004" pitchFamily="49" charset="0"/>
              </a:rPr>
              <a:t>形式的特殊方法</a:t>
            </a:r>
            <a:endParaRPr lang="en-US" altLang="zh-CN" sz="1400">
              <a:ea typeface="Fira Code" panose="020B0809050000020004" pitchFamily="49" charset="0"/>
            </a:endParaRP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ea typeface="Fira Code" panose="020B0809050000020004" pitchFamily="49" charset="0"/>
              </a:rPr>
              <a:t>魔法方法无需手动调用，</a:t>
            </a:r>
            <a:r>
              <a:rPr lang="en-US" altLang="zh-CN" sz="1400">
                <a:ea typeface="Fira Code" panose="020B0809050000020004" pitchFamily="49" charset="0"/>
              </a:rPr>
              <a:t>Python</a:t>
            </a:r>
            <a:r>
              <a:rPr lang="zh-CN" altLang="en-US" sz="1400">
                <a:ea typeface="Fira Code" panose="020B0809050000020004" pitchFamily="49" charset="0"/>
              </a:rPr>
              <a:t>会在合适的时机自动调用</a:t>
            </a:r>
            <a:endParaRPr lang="en-US" altLang="zh-CN" sz="1400"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常用的魔法方法有哪些，作用是什么？</a:t>
            </a:r>
            <a:endParaRPr lang="en-US" altLang="zh-CN"/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400">
                <a:solidFill>
                  <a:srgbClr val="363C3B"/>
                </a:solidFill>
                <a:latin typeface="Source Code Pro"/>
                <a:ea typeface="Fira Code" panose="020B0809050000020004" pitchFamily="49" charset="0"/>
              </a:rPr>
              <a:t>__init__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Fira Code" panose="020B0809050000020004" pitchFamily="49" charset="0"/>
                <a:cs typeface="+mn-cs"/>
              </a:rPr>
              <a:t>__str__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400">
                <a:solidFill>
                  <a:srgbClr val="363C3B"/>
                </a:solidFill>
                <a:latin typeface="Source Code Pro"/>
                <a:ea typeface="Fira Code" panose="020B0809050000020004" pitchFamily="49" charset="0"/>
              </a:rPr>
              <a:t>__eq__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Fira Code" panose="020B0809050000020004" pitchFamily="49" charset="0"/>
                <a:cs typeface="+mn-cs"/>
              </a:rPr>
              <a:t>__lt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Fira Code" panose="020B0809050000020004" pitchFamily="49" charset="0"/>
              </a:rPr>
              <a:t>__ , __le__ , __gt__ , __ge__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Fira Code" panose="020B0809050000020004" pitchFamily="49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95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1ADB-438B-752D-DF0E-07E7B175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7F7AA6-804E-E1C0-18B6-1EA8BE187E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3852" y="1642533"/>
            <a:ext cx="3692525" cy="2631150"/>
          </a:xfrm>
        </p:spPr>
        <p:txBody>
          <a:bodyPr/>
          <a:lstStyle/>
          <a:p>
            <a:r>
              <a:rPr lang="zh-CN" altLang="en-US"/>
              <a:t>类与对象</a:t>
            </a:r>
            <a:endParaRPr lang="en-US" altLang="zh-CN"/>
          </a:p>
          <a:p>
            <a:r>
              <a:rPr lang="zh-CN" altLang="en-US"/>
              <a:t>实例方法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魔法方法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实例属性与类属性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71080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0BD6-95E8-8BEE-7B3D-EC92D07D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07477E-EBBA-2AA5-6CEC-E1D14312BE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4" y="2469081"/>
            <a:ext cx="3995035" cy="901700"/>
          </a:xfrm>
        </p:spPr>
        <p:txBody>
          <a:bodyPr/>
          <a:lstStyle/>
          <a:p>
            <a:r>
              <a:rPr lang="zh-CN" altLang="en-US"/>
              <a:t>实例属性与类属性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65140A-B0FB-DC65-67B0-1F7BFE1D08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438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72E5-2BF6-B2D4-F1C5-3198DCC2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DA02B-D6F2-0FA5-3291-33FA03F7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1CE39-5D32-B95C-C6DF-CB27DAB29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32637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属性分为：</a:t>
            </a:r>
            <a:endParaRPr lang="en-US" altLang="zh-CN"/>
          </a:p>
          <a:p>
            <a:pPr marL="576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实例属性：实例属性属于每个具体对象的属性，每个对象都是独立的。（各个对象特有的数据）</a:t>
            </a:r>
            <a:endParaRPr lang="en-US" altLang="zh-CN" sz="1400"/>
          </a:p>
          <a:p>
            <a:pPr marL="576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类属性：类属性是属于类本身的属性，所有实例共享的。（所有对象共享的数据或配置）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DB4724A-3CBC-D18C-81C9-EC7AC97C1D0D}"/>
              </a:ext>
            </a:extLst>
          </p:cNvPr>
          <p:cNvGrpSpPr/>
          <p:nvPr/>
        </p:nvGrpSpPr>
        <p:grpSpPr>
          <a:xfrm>
            <a:off x="858702" y="2364864"/>
            <a:ext cx="6008754" cy="3910039"/>
            <a:chOff x="2297719" y="3660320"/>
            <a:chExt cx="6620530" cy="391027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159ED6B-D6B1-D359-520C-78720921F157}"/>
                </a:ext>
              </a:extLst>
            </p:cNvPr>
            <p:cNvSpPr/>
            <p:nvPr/>
          </p:nvSpPr>
          <p:spPr>
            <a:xfrm>
              <a:off x="2297728" y="3660320"/>
              <a:ext cx="6620521" cy="3910272"/>
            </a:xfrm>
            <a:prstGeom prst="roundRect">
              <a:avLst>
                <a:gd name="adj" fmla="val 126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</a:rPr>
                <a:t>class 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Car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</a:rPr>
                <a:t>    wheel = 4 </a:t>
              </a: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</a:rPr>
                <a:t># </a:t>
              </a:r>
              <a:r>
                <a:rPr lang="zh-CN" altLang="en-US" sz="1100">
                  <a:solidFill>
                    <a:schemeClr val="bg1">
                      <a:lumMod val="65000"/>
                    </a:schemeClr>
                  </a:solidFill>
                </a:rPr>
                <a:t>轮胎数量</a:t>
              </a:r>
              <a:endParaRPr lang="en-US" altLang="zh-CN" sz="1100">
                <a:solidFill>
                  <a:schemeClr val="bg1">
                    <a:lumMod val="6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tax_rate = 0.1 </a:t>
              </a: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chemeClr val="bg1">
                      <a:lumMod val="65000"/>
                    </a:schemeClr>
                  </a:solidFill>
                  <a:effectLst/>
                </a:rPr>
                <a:t>购置税</a:t>
              </a:r>
              <a:br>
                <a:rPr lang="en-US" altLang="zh-CN" sz="1100">
                  <a:solidFill>
                    <a:schemeClr val="bg1">
                      <a:lumMod val="65000"/>
                    </a:schemeClr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B200B2"/>
                  </a:solidFill>
                  <a:effectLst/>
                </a:rPr>
                <a:t>__init__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 =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brand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 =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name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.price = c_</a:t>
              </a:r>
              <a:r>
                <a:rPr lang="en-US" altLang="zh-CN" sz="1100">
                  <a:solidFill>
                    <a:srgbClr val="000000"/>
                  </a:solidFill>
                  <a:effectLst/>
                </a:rPr>
                <a:t>price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0000"/>
                  </a:solidFill>
                </a:rPr>
                <a:t>    </a:t>
              </a:r>
              <a:br>
                <a:rPr lang="en-US" altLang="zh-CN" sz="1100">
                  <a:solidFill>
                    <a:srgbClr val="000000"/>
                  </a:solidFill>
                  <a:effectLst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</a:rPr>
                <a:t>running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f"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.brand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{</a:t>
              </a:r>
              <a:r>
                <a:rPr lang="en-US" altLang="zh-CN" sz="1100">
                  <a:solidFill>
                    <a:srgbClr val="94558D"/>
                  </a:solidFill>
                  <a:effectLst/>
                </a:rPr>
                <a:t>self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.name</a:t>
              </a:r>
              <a:r>
                <a:rPr lang="en-US" altLang="zh-CN" sz="1100">
                  <a:solidFill>
                    <a:srgbClr val="0037A6"/>
                  </a:solidFill>
                  <a:effectLst/>
                </a:rPr>
                <a:t>} 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正在高速行驶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..."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100">
                <a:solidFill>
                  <a:srgbClr val="080808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</a:rPr>
                <a:t>c1 = Car(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"BYD"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汉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180000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c2 = Car(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"Tesla"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"Model Y"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</a:rPr>
                <a:t>260000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1CC3163A-DAA9-E17B-26FC-AD82F75804D5}"/>
                </a:ext>
              </a:extLst>
            </p:cNvPr>
            <p:cNvSpPr/>
            <p:nvPr/>
          </p:nvSpPr>
          <p:spPr>
            <a:xfrm>
              <a:off x="2297719" y="3660322"/>
              <a:ext cx="662052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F6D5DE4-3A8C-BF4D-5DC4-0A75065EB7C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BB3DACA-5AE0-195D-6C34-48E5E2BB05C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B6D1797-3CD2-4BC3-D917-4A6C0AA97BB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1FE5F8FF-EC69-1EC7-9712-2AF11766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28" y="2882870"/>
            <a:ext cx="3839578" cy="508000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B0DE4C1-7643-437D-FD37-96B057235829}"/>
              </a:ext>
            </a:extLst>
          </p:cNvPr>
          <p:cNvSpPr/>
          <p:nvPr/>
        </p:nvSpPr>
        <p:spPr>
          <a:xfrm>
            <a:off x="1423679" y="3638700"/>
            <a:ext cx="2992677" cy="793750"/>
          </a:xfrm>
          <a:prstGeom prst="roundRect">
            <a:avLst>
              <a:gd name="adj" fmla="val 8667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4012B04-C842-6E0D-8D09-207298BD1683}"/>
              </a:ext>
            </a:extLst>
          </p:cNvPr>
          <p:cNvSpPr/>
          <p:nvPr/>
        </p:nvSpPr>
        <p:spPr>
          <a:xfrm>
            <a:off x="1235355" y="2927320"/>
            <a:ext cx="3181001" cy="508000"/>
          </a:xfrm>
          <a:prstGeom prst="roundRect">
            <a:avLst>
              <a:gd name="adj" fmla="val 8667"/>
            </a:avLst>
          </a:prstGeom>
          <a:solidFill>
            <a:srgbClr val="00B050">
              <a:alpha val="20000"/>
            </a:srgb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5D1A5CB-B212-8650-69ED-5482FF51AB3F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4416356" y="4035575"/>
            <a:ext cx="2933700" cy="0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188858D-214E-B3A0-C9B2-0BA853B0A689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416356" y="3181320"/>
            <a:ext cx="2933700" cy="1"/>
          </a:xfrm>
          <a:prstGeom prst="straightConnector1">
            <a:avLst/>
          </a:prstGeom>
          <a:ln w="952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3D67BE2-AE36-FE64-8A1E-EAD4BABEA77F}"/>
              </a:ext>
            </a:extLst>
          </p:cNvPr>
          <p:cNvSpPr txBox="1"/>
          <p:nvPr/>
        </p:nvSpPr>
        <p:spPr>
          <a:xfrm>
            <a:off x="7432425" y="3897075"/>
            <a:ext cx="3304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实例属性 </a:t>
            </a:r>
            <a:r>
              <a:rPr lang="en-US" altLang="zh-CN" sz="1200"/>
              <a:t>(</a:t>
            </a:r>
            <a:r>
              <a:rPr lang="zh-CN" altLang="en-US" sz="1200"/>
              <a:t>通过 </a:t>
            </a:r>
            <a:r>
              <a:rPr lang="zh-CN" altLang="en-US" sz="1200">
                <a:solidFill>
                  <a:srgbClr val="C00000"/>
                </a:solidFill>
              </a:rPr>
              <a:t>实例对象</a:t>
            </a:r>
            <a:r>
              <a:rPr lang="en-US" altLang="zh-CN" sz="1200">
                <a:solidFill>
                  <a:srgbClr val="C00000"/>
                </a:solidFill>
              </a:rPr>
              <a:t>.</a:t>
            </a:r>
            <a:r>
              <a:rPr lang="zh-CN" altLang="en-US" sz="1200">
                <a:solidFill>
                  <a:srgbClr val="C00000"/>
                </a:solidFill>
              </a:rPr>
              <a:t>属性 </a:t>
            </a:r>
            <a:r>
              <a:rPr lang="zh-CN" altLang="en-US" sz="1200"/>
              <a:t>的方式操作</a:t>
            </a:r>
            <a:r>
              <a:rPr lang="en-US" altLang="zh-CN" sz="1200"/>
              <a:t>)</a:t>
            </a:r>
            <a:endParaRPr lang="zh-CN" altLang="en-US" sz="12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CF2453-24AB-1401-8A2F-9125EC149D5E}"/>
              </a:ext>
            </a:extLst>
          </p:cNvPr>
          <p:cNvSpPr txBox="1"/>
          <p:nvPr/>
        </p:nvSpPr>
        <p:spPr>
          <a:xfrm>
            <a:off x="7432425" y="3042820"/>
            <a:ext cx="2852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类属性 </a:t>
            </a:r>
            <a:r>
              <a:rPr lang="en-US" altLang="zh-CN" sz="1200"/>
              <a:t>(</a:t>
            </a:r>
            <a:r>
              <a:rPr lang="zh-CN" altLang="en-US" sz="1200"/>
              <a:t>通过 </a:t>
            </a:r>
            <a:r>
              <a:rPr lang="zh-CN" altLang="en-US" sz="1200">
                <a:solidFill>
                  <a:srgbClr val="C00000"/>
                </a:solidFill>
              </a:rPr>
              <a:t>类名</a:t>
            </a:r>
            <a:r>
              <a:rPr lang="en-US" altLang="zh-CN" sz="1200">
                <a:solidFill>
                  <a:srgbClr val="C00000"/>
                </a:solidFill>
              </a:rPr>
              <a:t>.</a:t>
            </a:r>
            <a:r>
              <a:rPr lang="zh-CN" altLang="en-US" sz="1200">
                <a:solidFill>
                  <a:srgbClr val="C00000"/>
                </a:solidFill>
              </a:rPr>
              <a:t>属性 </a:t>
            </a:r>
            <a:r>
              <a:rPr lang="zh-CN" altLang="en-US" sz="1200"/>
              <a:t>的方式操作</a:t>
            </a:r>
            <a:r>
              <a:rPr lang="en-US" altLang="zh-CN" sz="1200"/>
              <a:t>)</a:t>
            </a:r>
            <a:endParaRPr lang="zh-CN" altLang="en-US" sz="120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56D6228-7054-FFC6-5B9A-F48D6EF23DCA}"/>
              </a:ext>
            </a:extLst>
          </p:cNvPr>
          <p:cNvGrpSpPr/>
          <p:nvPr/>
        </p:nvGrpSpPr>
        <p:grpSpPr>
          <a:xfrm>
            <a:off x="858702" y="6347433"/>
            <a:ext cx="10364010" cy="348335"/>
            <a:chOff x="4685665" y="1834757"/>
            <a:chExt cx="10435208" cy="348335"/>
          </a:xfrm>
        </p:grpSpPr>
        <p:sp>
          <p:nvSpPr>
            <p:cNvPr id="29" name="ComponentBackground2">
              <a:extLst>
                <a:ext uri="{FF2B5EF4-FFF2-40B4-BE49-F238E27FC236}">
                  <a16:creationId xmlns:a16="http://schemas.microsoft.com/office/drawing/2014/main" id="{78BF062B-957C-1968-2FDB-0BA6939C9ECC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412348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通过实例查找属性时，会先查找实例属性，实例属性不存在时，再查找类属性 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0" name="Shape2">
              <a:extLst>
                <a:ext uri="{FF2B5EF4-FFF2-40B4-BE49-F238E27FC236}">
                  <a16:creationId xmlns:a16="http://schemas.microsoft.com/office/drawing/2014/main" id="{E3C6690C-34E8-C4BA-FD24-97BCCDB4BD3A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82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6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0B06-D91B-29AD-0087-A20B4880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1EE9FB-3D68-8C7E-5BA3-5E4994F665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3852" y="1642533"/>
            <a:ext cx="3692525" cy="2631150"/>
          </a:xfrm>
        </p:spPr>
        <p:txBody>
          <a:bodyPr/>
          <a:lstStyle/>
          <a:p>
            <a:r>
              <a:rPr lang="zh-CN" altLang="en-US"/>
              <a:t>类与对象</a:t>
            </a:r>
            <a:endParaRPr lang="en-US" altLang="zh-CN"/>
          </a:p>
          <a:p>
            <a:r>
              <a:rPr lang="zh-CN" altLang="en-US"/>
              <a:t>实例方法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魔法方法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/>
              <a:t>实例属性与类属性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</p:spTree>
    <p:extLst>
      <p:ext uri="{BB962C8B-B14F-4D97-AF65-F5344CB8AC3E}">
        <p14:creationId xmlns:p14="http://schemas.microsoft.com/office/powerpoint/2010/main" val="365676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188F-62D2-ADDE-13B8-DFCC5CB7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878428-2E49-DB6D-CEAF-F2E05E0FE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542339-B71A-19F4-FA09-8ADA616579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751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659D-3F75-5E35-DE1F-E1705E13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F29F500-EAC5-A6E9-C1BA-BF7A190E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采用面向对象编程思想完成如下需求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7B9DE-5AD3-B076-A842-440C8AD4B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3414546"/>
          </a:xfrm>
        </p:spPr>
        <p:txBody>
          <a:bodyPr/>
          <a:lstStyle/>
          <a:p>
            <a:r>
              <a:rPr lang="zh-CN" altLang="en-US"/>
              <a:t>采用面向对象的编程思想，完成教务管理系统的开发。教务管理系统可以管理在校学生的成绩信息，通过控制台菜单与用户交互，具体的功能如下：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添加学生成绩：根据输入的学生姓名、语文成绩、数学成绩、英语成绩，记录在系统中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修改学生成绩：根据输入的学生姓名，修改对应的学生成绩</a:t>
            </a:r>
            <a:endParaRPr lang="en-US" altLang="zh-CN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删除学生成绩：根据输入的学生姓名，删除对应的学生成绩</a:t>
            </a:r>
            <a:endParaRPr lang="en-US" altLang="zh-CN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zh-CN" altLang="en-US"/>
              <a:t>查询指定学生成绩：根据输入的学生姓名，查找对应的学生成绩，并输出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展示全部学生成绩：展示出系统中所有学生的成绩</a:t>
            </a:r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DA862B-EF61-3F4E-FF42-A55C60A4FE62}"/>
              </a:ext>
            </a:extLst>
          </p:cNvPr>
          <p:cNvSpPr txBox="1"/>
          <p:nvPr/>
        </p:nvSpPr>
        <p:spPr>
          <a:xfrm>
            <a:off x="3173896" y="50822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学生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7BA467-E19C-BE67-3C78-5C1EF8AAFE70}"/>
              </a:ext>
            </a:extLst>
          </p:cNvPr>
          <p:cNvSpPr txBox="1"/>
          <p:nvPr/>
        </p:nvSpPr>
        <p:spPr>
          <a:xfrm>
            <a:off x="7096540" y="508220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教务系统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37962D-2782-B644-9B4E-A3C969A116B4}"/>
              </a:ext>
            </a:extLst>
          </p:cNvPr>
          <p:cNvSpPr txBox="1"/>
          <p:nvPr/>
        </p:nvSpPr>
        <p:spPr>
          <a:xfrm>
            <a:off x="3024224" y="5833068"/>
            <a:ext cx="1375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Student</a:t>
            </a:r>
            <a:endParaRPr lang="zh-CN" altLang="en-US" sz="20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84C0A1-280E-046C-6645-53FC97997AF1}"/>
              </a:ext>
            </a:extLst>
          </p:cNvPr>
          <p:cNvSpPr txBox="1"/>
          <p:nvPr/>
        </p:nvSpPr>
        <p:spPr>
          <a:xfrm>
            <a:off x="6787961" y="5833068"/>
            <a:ext cx="2597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EduManagement</a:t>
            </a:r>
            <a:endParaRPr lang="zh-CN" altLang="en-US" sz="20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831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F625F-16ED-B62A-3366-93BF6F62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BD4D58E-E59F-4EF7-4CA7-C27FF11C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采用面向对象编程思想完成如下需求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329493-F9F9-415B-7B9A-826DDD352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20305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采用面向对象的编程思想，开发一个购物车管理系统，实现商品信息的添加、修改、删除、查询功能。系统使用自定义对象存储商品数据，通过控制台菜单与用户交互。具体功能如下：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添加购物车：用户根据提示录入商品名称、以及该商品的价格、数量，保存该商品信息到购物车。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修改购物车：要求用户输入要修改的购物车商品名称，然后再提示输入该商品的价格、数量，输入完成后修改该商品信息。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删除购物车：要求用户输入要删除的购物车名称，根据名称删除购物车中的商品。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查询购物车：将购物车中的商品信息展示出来，格式为：</a:t>
            </a:r>
            <a:r>
              <a:rPr lang="en-US" altLang="zh-CN"/>
              <a:t>"</a:t>
            </a:r>
            <a:r>
              <a:rPr lang="zh-CN" altLang="en-US"/>
              <a:t>商品名称</a:t>
            </a:r>
            <a:r>
              <a:rPr lang="en-US" altLang="zh-CN"/>
              <a:t>: xxx, </a:t>
            </a:r>
            <a:r>
              <a:rPr lang="zh-CN" altLang="en-US"/>
              <a:t>商品价格</a:t>
            </a:r>
            <a:r>
              <a:rPr lang="en-US" altLang="zh-CN"/>
              <a:t>: xxx, </a:t>
            </a:r>
            <a:r>
              <a:rPr lang="zh-CN" altLang="en-US"/>
              <a:t>商品数量</a:t>
            </a:r>
            <a:r>
              <a:rPr lang="en-US" altLang="zh-CN"/>
              <a:t>: xxx"</a:t>
            </a:r>
            <a:r>
              <a:rPr lang="zh-CN" altLang="en-US"/>
              <a:t>。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/>
              <a:t>退出购物车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72C96-14A9-58CD-BA65-EE9B0D8FF180}"/>
              </a:ext>
            </a:extLst>
          </p:cNvPr>
          <p:cNvSpPr txBox="1"/>
          <p:nvPr/>
        </p:nvSpPr>
        <p:spPr>
          <a:xfrm>
            <a:off x="3578087" y="532737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商品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E5EA88-7185-16FC-9A0F-ADCF2481A6F3}"/>
              </a:ext>
            </a:extLst>
          </p:cNvPr>
          <p:cNvSpPr txBox="1"/>
          <p:nvPr/>
        </p:nvSpPr>
        <p:spPr>
          <a:xfrm>
            <a:off x="7500731" y="532737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购物车系统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24BB5D-A15B-F579-E192-4309F61C9D0E}"/>
              </a:ext>
            </a:extLst>
          </p:cNvPr>
          <p:cNvSpPr txBox="1"/>
          <p:nvPr/>
        </p:nvSpPr>
        <p:spPr>
          <a:xfrm>
            <a:off x="3428415" y="6078233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Goods</a:t>
            </a:r>
            <a:endParaRPr lang="zh-CN" altLang="en-US" sz="20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CEBC5D-33AC-DF12-3329-41E6101FC358}"/>
              </a:ext>
            </a:extLst>
          </p:cNvPr>
          <p:cNvSpPr txBox="1"/>
          <p:nvPr/>
        </p:nvSpPr>
        <p:spPr>
          <a:xfrm>
            <a:off x="7500731" y="6078233"/>
            <a:ext cx="2170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ShoppingCart</a:t>
            </a:r>
            <a:endParaRPr lang="zh-CN" altLang="en-US" sz="20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229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1CCB-81FF-9BD9-8E0B-2CE8C876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ADF98B-2B81-C6FA-9563-6857CD9D6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异常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4ED3E9-63E1-2CD5-67BE-EBDBAE3E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6</a:t>
            </a:r>
            <a:endParaRPr lang="zh-CN" alt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4F2E957-C80F-E202-AED3-D9DEF922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670" y="4463797"/>
            <a:ext cx="6134330" cy="22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3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D1BEDD-2F10-7675-9D8A-988080618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80021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异常（也称为</a:t>
            </a:r>
            <a:r>
              <a:rPr lang="en-US" altLang="zh-CN"/>
              <a:t>Bug</a:t>
            </a:r>
            <a:r>
              <a:rPr lang="zh-CN" altLang="en-US"/>
              <a:t>）就是程序运行过程中出现的错误，它会中断程序的正常执行流程。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作用：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保证数据、逻辑的正确性，避免程序执行混乱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在开发阶段，尽量发现更多的问题，尽早解决问题，保障程序正常执行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09A5B9F-8E56-3255-32F4-48C329DD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什么是异常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A935A4-B9D6-DE5C-B707-3D96511F3D04}"/>
              </a:ext>
            </a:extLst>
          </p:cNvPr>
          <p:cNvSpPr txBox="1"/>
          <p:nvPr/>
        </p:nvSpPr>
        <p:spPr>
          <a:xfrm>
            <a:off x="1547937" y="5479776"/>
            <a:ext cx="88040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异常不是坏东西，而是编写健壮程序的重要工具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229610-F99D-4325-4B32-118EAD2C3003}"/>
              </a:ext>
            </a:extLst>
          </p:cNvPr>
          <p:cNvSpPr txBox="1"/>
          <p:nvPr/>
        </p:nvSpPr>
        <p:spPr>
          <a:xfrm>
            <a:off x="1000539" y="388043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NameError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721833-6120-5C08-7139-8AF93977E7EA}"/>
              </a:ext>
            </a:extLst>
          </p:cNvPr>
          <p:cNvSpPr txBox="1"/>
          <p:nvPr/>
        </p:nvSpPr>
        <p:spPr>
          <a:xfrm>
            <a:off x="2928730" y="388043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TypeError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10443E-7DE2-F59E-93DD-B7630D5128EF}"/>
              </a:ext>
            </a:extLst>
          </p:cNvPr>
          <p:cNvSpPr txBox="1"/>
          <p:nvPr/>
        </p:nvSpPr>
        <p:spPr>
          <a:xfrm>
            <a:off x="4856921" y="3880439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IndexError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AF6597-5D29-294D-008B-258419C48D30}"/>
              </a:ext>
            </a:extLst>
          </p:cNvPr>
          <p:cNvSpPr txBox="1"/>
          <p:nvPr/>
        </p:nvSpPr>
        <p:spPr>
          <a:xfrm>
            <a:off x="6922970" y="388043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KeyError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0F203A-8BBE-6E92-B2CB-4A00DCF2F600}"/>
              </a:ext>
            </a:extLst>
          </p:cNvPr>
          <p:cNvSpPr txBox="1"/>
          <p:nvPr/>
        </p:nvSpPr>
        <p:spPr>
          <a:xfrm>
            <a:off x="8713303" y="3880439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ValueError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97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9B4A-43EB-133E-DCE9-16FCAE35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0A82EB-6535-E918-0288-4D4C84006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58155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程序运行过程中出现异常，有两种处理方案：</a:t>
            </a:r>
            <a:endParaRPr lang="en-US" altLang="zh-CN"/>
          </a:p>
          <a:p>
            <a:pPr marL="648000" indent="-342900">
              <a:buFont typeface="+mj-lt"/>
              <a:buAutoNum type="arabicPeriod"/>
            </a:pPr>
            <a:r>
              <a:rPr lang="zh-CN" altLang="en-US"/>
              <a:t>不做处理：整个程序因为一个</a:t>
            </a:r>
            <a:r>
              <a:rPr lang="en-US" altLang="zh-CN"/>
              <a:t>Bug</a:t>
            </a:r>
            <a:r>
              <a:rPr lang="zh-CN" altLang="en-US"/>
              <a:t>，中断执行。</a:t>
            </a:r>
            <a:endParaRPr lang="en-US" altLang="zh-CN"/>
          </a:p>
          <a:p>
            <a:pPr marL="648000" indent="-342900">
              <a:buFont typeface="+mj-lt"/>
              <a:buAutoNum type="arabicPeriod"/>
            </a:pPr>
            <a:r>
              <a:rPr lang="zh-CN" altLang="en-US"/>
              <a:t>捕获异常：按照我们自己的处理方式，处理完异常，程序继续执行。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DCD9414-8142-9275-B613-78D63635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056DDD-F030-41F3-8039-B10669AD42C1}"/>
              </a:ext>
            </a:extLst>
          </p:cNvPr>
          <p:cNvSpPr txBox="1"/>
          <p:nvPr/>
        </p:nvSpPr>
        <p:spPr>
          <a:xfrm>
            <a:off x="4983315" y="1544742"/>
            <a:ext cx="22462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5100"/>
            <a:r>
              <a:rPr lang="zh-CN" altLang="en-US" sz="1600"/>
              <a:t>（之前编程的程序）</a:t>
            </a:r>
            <a:endParaRPr lang="en-US" altLang="zh-CN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0453F5-B219-4C9A-8805-C7596BB45B2D}"/>
              </a:ext>
            </a:extLst>
          </p:cNvPr>
          <p:cNvSpPr txBox="1"/>
          <p:nvPr/>
        </p:nvSpPr>
        <p:spPr>
          <a:xfrm>
            <a:off x="6858497" y="2041267"/>
            <a:ext cx="52539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5100"/>
            <a:r>
              <a:rPr lang="zh-CN" altLang="en-US" sz="1600"/>
              <a:t>（编写程序时，做好预案，出现异常，按预案处理）</a:t>
            </a:r>
            <a:endParaRPr lang="en-US" altLang="zh-CN" sz="160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D3A16B1-BA31-E1B4-F32F-FBCEB49D70EF}"/>
              </a:ext>
            </a:extLst>
          </p:cNvPr>
          <p:cNvGrpSpPr/>
          <p:nvPr/>
        </p:nvGrpSpPr>
        <p:grpSpPr>
          <a:xfrm>
            <a:off x="1309960" y="2537793"/>
            <a:ext cx="4037291" cy="3220278"/>
            <a:chOff x="2297719" y="3660322"/>
            <a:chExt cx="4448344" cy="3220469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94257B7-6D38-F393-FF3A-1C460375C65D}"/>
                </a:ext>
              </a:extLst>
            </p:cNvPr>
            <p:cNvSpPr/>
            <p:nvPr/>
          </p:nvSpPr>
          <p:spPr>
            <a:xfrm>
              <a:off x="2297728" y="3660322"/>
              <a:ext cx="4448335" cy="3220469"/>
            </a:xfrm>
            <a:prstGeom prst="roundRect">
              <a:avLst>
                <a:gd name="adj" fmla="val 17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7030A0"/>
                  </a:solidFill>
                  <a:effectLst/>
                </a:rPr>
                <a:t>try</a:t>
              </a:r>
              <a:r>
                <a:rPr lang="zh-CN" altLang="en-US" sz="1200">
                  <a:solidFill>
                    <a:srgbClr val="080808"/>
                  </a:solidFill>
                  <a:effectLst/>
                </a:rPr>
                <a:t>：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</a:rPr>
                <a:t>    </a:t>
              </a:r>
              <a:r>
                <a:rPr lang="zh-CN" altLang="en-US" sz="1200">
                  <a:solidFill>
                    <a:srgbClr val="080808"/>
                  </a:solidFill>
                </a:rPr>
                <a:t>可能出现异常的业务代码</a:t>
              </a:r>
              <a:r>
                <a:rPr lang="en-US" altLang="zh-CN" sz="1200">
                  <a:solidFill>
                    <a:srgbClr val="080808"/>
                  </a:solidFill>
                </a:rPr>
                <a:t>1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zh-CN" altLang="en-US" sz="1200">
                  <a:solidFill>
                    <a:srgbClr val="080808"/>
                  </a:solidFill>
                </a:rPr>
                <a:t>    可能出现异常的业务代码</a:t>
              </a:r>
              <a:r>
                <a:rPr lang="en-US" altLang="zh-CN" sz="1200">
                  <a:solidFill>
                    <a:srgbClr val="080808"/>
                  </a:solidFill>
                </a:rPr>
                <a:t>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80808"/>
                  </a:solidFill>
                </a:rPr>
                <a:t>...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7030A0"/>
                  </a:solidFill>
                </a:rPr>
                <a:t>except</a:t>
              </a:r>
              <a:r>
                <a:rPr lang="en-US" altLang="zh-CN" sz="1200">
                  <a:solidFill>
                    <a:srgbClr val="080808"/>
                  </a:solidFill>
                </a:rPr>
                <a:t> [</a:t>
              </a:r>
              <a:r>
                <a:rPr lang="zh-CN" altLang="en-US" sz="1200">
                  <a:solidFill>
                    <a:srgbClr val="080808"/>
                  </a:solidFill>
                </a:rPr>
                <a:t>异常类型 </a:t>
              </a:r>
              <a:r>
                <a:rPr lang="en-US" altLang="zh-CN" sz="1200">
                  <a:solidFill>
                    <a:srgbClr val="7030A0"/>
                  </a:solidFill>
                </a:rPr>
                <a:t>as</a:t>
              </a:r>
              <a:r>
                <a:rPr lang="en-US" altLang="zh-CN" sz="1200">
                  <a:solidFill>
                    <a:srgbClr val="080808"/>
                  </a:solidFill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</a:rPr>
                <a:t>变量名</a:t>
              </a:r>
              <a:r>
                <a:rPr lang="en-US" altLang="zh-CN" sz="1200">
                  <a:solidFill>
                    <a:srgbClr val="080808"/>
                  </a:solidFill>
                </a:rPr>
                <a:t>]: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</a:rPr>
                <a:t>    </a:t>
              </a:r>
              <a:r>
                <a:rPr lang="zh-CN" altLang="en-US" sz="1200">
                  <a:solidFill>
                    <a:srgbClr val="080808"/>
                  </a:solidFill>
                  <a:effectLst/>
                </a:rPr>
                <a:t>出现异常时的预案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[</a:t>
              </a:r>
              <a:r>
                <a:rPr lang="en-US" altLang="zh-CN" sz="1200">
                  <a:solidFill>
                    <a:srgbClr val="7030A0"/>
                  </a:solidFill>
                  <a:effectLst/>
                </a:rPr>
                <a:t>finally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</a:rPr>
                <a:t>    </a:t>
              </a:r>
              <a:r>
                <a:rPr lang="zh-CN" altLang="en-US" sz="1200">
                  <a:solidFill>
                    <a:srgbClr val="080808"/>
                  </a:solidFill>
                </a:rPr>
                <a:t>不管是否出现异常</a:t>
              </a:r>
              <a:r>
                <a:rPr lang="en-US" altLang="zh-CN" sz="1200">
                  <a:solidFill>
                    <a:srgbClr val="080808"/>
                  </a:solidFill>
                </a:rPr>
                <a:t>, </a:t>
              </a:r>
              <a:r>
                <a:rPr lang="zh-CN" altLang="en-US" sz="1200">
                  <a:solidFill>
                    <a:srgbClr val="080808"/>
                  </a:solidFill>
                </a:rPr>
                <a:t>都会执行的代码</a:t>
              </a:r>
              <a:r>
                <a:rPr lang="en-US" altLang="zh-CN" sz="1200">
                  <a:solidFill>
                    <a:srgbClr val="080808"/>
                  </a:solidFill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]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F16963B5-953A-2DB4-DADD-C50BDF1B246F}"/>
                </a:ext>
              </a:extLst>
            </p:cNvPr>
            <p:cNvSpPr/>
            <p:nvPr/>
          </p:nvSpPr>
          <p:spPr>
            <a:xfrm>
              <a:off x="2297719" y="3660322"/>
              <a:ext cx="444833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464960A-BA3F-67A7-066B-47C20A8912A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16FB1DB-50A1-6460-AA5E-F9F26EF67D0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19801FE-2D96-28A5-C180-CE7B8B8EC70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8A62A3B-FBB2-F10C-9D5F-08708B9B7D47}"/>
              </a:ext>
            </a:extLst>
          </p:cNvPr>
          <p:cNvGrpSpPr/>
          <p:nvPr/>
        </p:nvGrpSpPr>
        <p:grpSpPr>
          <a:xfrm>
            <a:off x="5901838" y="2537793"/>
            <a:ext cx="5253997" cy="3220279"/>
            <a:chOff x="2297719" y="3660321"/>
            <a:chExt cx="5788928" cy="3220469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8B58088-59FB-32FE-3468-FA85676AEC3E}"/>
                </a:ext>
              </a:extLst>
            </p:cNvPr>
            <p:cNvSpPr/>
            <p:nvPr/>
          </p:nvSpPr>
          <p:spPr>
            <a:xfrm>
              <a:off x="2297728" y="3660321"/>
              <a:ext cx="5788919" cy="3220469"/>
            </a:xfrm>
            <a:prstGeom prst="roundRect">
              <a:avLst>
                <a:gd name="adj" fmla="val 17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try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"= = = = = = = = = = = ="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(my_name)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"= = = = = = = = = = = ="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except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NameError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as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e: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程序运行报错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错误信息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e)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finally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释放资源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~"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781D5E5F-D595-6AE9-CF53-3211D6D01BB3}"/>
                </a:ext>
              </a:extLst>
            </p:cNvPr>
            <p:cNvSpPr/>
            <p:nvPr/>
          </p:nvSpPr>
          <p:spPr>
            <a:xfrm>
              <a:off x="2297719" y="3660322"/>
              <a:ext cx="578891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A738FE0-D9E8-8671-D92F-A69CEB76109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026E09F-16D7-8775-ABC5-EF35608CAB0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2667990-EF9F-E0F7-D44B-9B7DD7D4239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6606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8DBDDD-C352-58FD-E03A-5AE08AB7C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244210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为什么要捕获异常 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600"/>
              <a:t>当程序运行出现异常，提供预案，处理异常，而不是让其中止程序运行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如何捕获异常，具体的语法</a:t>
            </a:r>
            <a:r>
              <a:rPr lang="en-US" altLang="zh-CN"/>
              <a:t>?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C3FE683-3147-D91A-0F4E-5286B2EE0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874" y="3429000"/>
            <a:ext cx="3850106" cy="3050630"/>
          </a:xfrm>
          <a:prstGeom prst="roundRect">
            <a:avLst>
              <a:gd name="adj" fmla="val 1543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E82131-41DD-B802-51F4-557FB6EB4879}"/>
              </a:ext>
            </a:extLst>
          </p:cNvPr>
          <p:cNvSpPr/>
          <p:nvPr/>
        </p:nvSpPr>
        <p:spPr>
          <a:xfrm>
            <a:off x="4523874" y="5981414"/>
            <a:ext cx="3850106" cy="498216"/>
          </a:xfrm>
          <a:prstGeom prst="roundRect">
            <a:avLst>
              <a:gd name="adj" fmla="val 7007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1FD95B-D24D-45BD-EDB6-AAF39C9533F5}"/>
              </a:ext>
            </a:extLst>
          </p:cNvPr>
          <p:cNvSpPr txBox="1"/>
          <p:nvPr/>
        </p:nvSpPr>
        <p:spPr>
          <a:xfrm>
            <a:off x="8381417" y="606124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可有可无</a:t>
            </a:r>
          </a:p>
        </p:txBody>
      </p:sp>
    </p:spTree>
    <p:extLst>
      <p:ext uri="{BB962C8B-B14F-4D97-AF65-F5344CB8AC3E}">
        <p14:creationId xmlns:p14="http://schemas.microsoft.com/office/powerpoint/2010/main" val="883772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4A5D9C-9624-067E-0733-5D4D30211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i="0">
                <a:solidFill>
                  <a:srgbClr val="0F1115"/>
                </a:solidFill>
                <a:effectLst/>
                <a:latin typeface="quote-cjk-patch"/>
              </a:rPr>
              <a:t>异常传递就是异常在函数调用中层层上报的过程，直到有人处理它，或者程序崩溃。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428351-2073-CF41-74D2-23A87D22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异常的传递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FB8A445-7069-AC3D-D658-98AD4F35CC03}"/>
              </a:ext>
            </a:extLst>
          </p:cNvPr>
          <p:cNvGrpSpPr/>
          <p:nvPr/>
        </p:nvGrpSpPr>
        <p:grpSpPr>
          <a:xfrm>
            <a:off x="979951" y="1657768"/>
            <a:ext cx="4037291" cy="4243991"/>
            <a:chOff x="2297719" y="3660321"/>
            <a:chExt cx="4448344" cy="424424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8C267AF7-2635-071B-1A3B-1CD16541B12B}"/>
                </a:ext>
              </a:extLst>
            </p:cNvPr>
            <p:cNvSpPr/>
            <p:nvPr/>
          </p:nvSpPr>
          <p:spPr>
            <a:xfrm>
              <a:off x="2297728" y="3660321"/>
              <a:ext cx="4448335" cy="4244243"/>
            </a:xfrm>
            <a:prstGeom prst="roundRect">
              <a:avLst>
                <a:gd name="adj" fmla="val 17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fun1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"fun1 ... running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fun2()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fun2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"fun2 ... running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fun3()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fun3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"fun3 ... running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(my_color)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__name__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'__main__'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fun1()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1064E787-F7C1-C8AB-CE77-468CA7D494C7}"/>
                </a:ext>
              </a:extLst>
            </p:cNvPr>
            <p:cNvSpPr/>
            <p:nvPr/>
          </p:nvSpPr>
          <p:spPr>
            <a:xfrm>
              <a:off x="2297719" y="3660322"/>
              <a:ext cx="444833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1039F53-5BF2-B580-033C-98BF0837765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A91FE1A-1B7F-0ADC-192C-71C0EF0ED46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F73E33D-6DEE-2963-B1D4-C64DA5CA004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AE04244-A635-6B4B-2012-0C8D8C8D2062}"/>
              </a:ext>
            </a:extLst>
          </p:cNvPr>
          <p:cNvSpPr/>
          <p:nvPr/>
        </p:nvSpPr>
        <p:spPr>
          <a:xfrm>
            <a:off x="7033318" y="2777576"/>
            <a:ext cx="2523194" cy="426262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rgbClr val="000080"/>
                </a:solidFill>
                <a:ea typeface="荆南波波黑" panose="02000800000000000000" pitchFamily="2" charset="-122"/>
              </a:rPr>
              <a:t>fun1()</a:t>
            </a:r>
            <a:endParaRPr lang="zh-CN" altLang="en-US" sz="1200">
              <a:solidFill>
                <a:srgbClr val="000080"/>
              </a:solidFill>
              <a:ea typeface="荆南波波黑" panose="02000800000000000000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B13674E-D045-9E91-0664-B8A27727B831}"/>
              </a:ext>
            </a:extLst>
          </p:cNvPr>
          <p:cNvSpPr/>
          <p:nvPr/>
        </p:nvSpPr>
        <p:spPr>
          <a:xfrm>
            <a:off x="7033318" y="3814011"/>
            <a:ext cx="2523194" cy="426262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rgbClr val="000080"/>
                </a:solidFill>
                <a:ea typeface="荆南波波黑" panose="02000800000000000000" pitchFamily="2" charset="-122"/>
              </a:rPr>
              <a:t>fun2()</a:t>
            </a:r>
            <a:endParaRPr lang="zh-CN" altLang="en-US" sz="1200">
              <a:solidFill>
                <a:srgbClr val="000080"/>
              </a:solidFill>
              <a:ea typeface="荆南波波黑" panose="02000800000000000000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44C94B5-F15F-E24E-0689-857940DC139F}"/>
              </a:ext>
            </a:extLst>
          </p:cNvPr>
          <p:cNvSpPr/>
          <p:nvPr/>
        </p:nvSpPr>
        <p:spPr>
          <a:xfrm>
            <a:off x="7033318" y="4850446"/>
            <a:ext cx="2523194" cy="426262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rgbClr val="000080"/>
                </a:solidFill>
                <a:ea typeface="荆南波波黑" panose="02000800000000000000" pitchFamily="2" charset="-122"/>
              </a:rPr>
              <a:t>fun3()</a:t>
            </a:r>
            <a:endParaRPr lang="zh-CN" altLang="en-US" sz="1200">
              <a:solidFill>
                <a:srgbClr val="000080"/>
              </a:solidFill>
              <a:ea typeface="荆南波波黑" panose="02000800000000000000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7282AAF-34DD-C535-766E-8F6391BC72FC}"/>
              </a:ext>
            </a:extLst>
          </p:cNvPr>
          <p:cNvSpPr/>
          <p:nvPr/>
        </p:nvSpPr>
        <p:spPr>
          <a:xfrm>
            <a:off x="7033318" y="5886881"/>
            <a:ext cx="2523194" cy="426262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rgbClr val="000080"/>
                </a:solidFill>
                <a:ea typeface="荆南波波黑" panose="02000800000000000000" pitchFamily="2" charset="-122"/>
              </a:rPr>
              <a:t>print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a typeface="荆南波波黑" panose="02000800000000000000" pitchFamily="2" charset="-122"/>
              </a:rPr>
              <a:t>(my_color)</a:t>
            </a:r>
            <a:endParaRPr lang="zh-CN" altLang="en-US" sz="1200">
              <a:solidFill>
                <a:schemeClr val="tx1">
                  <a:lumMod val="50000"/>
                </a:schemeClr>
              </a:solidFill>
              <a:ea typeface="荆南波波黑" panose="02000800000000000000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ADBD49A-D24E-68E6-C5CF-F57550812E1B}"/>
              </a:ext>
            </a:extLst>
          </p:cNvPr>
          <p:cNvSpPr/>
          <p:nvPr/>
        </p:nvSpPr>
        <p:spPr>
          <a:xfrm>
            <a:off x="7033318" y="1741141"/>
            <a:ext cx="2523194" cy="426262"/>
          </a:xfrm>
          <a:prstGeom prst="roundRect">
            <a:avLst/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rgbClr val="000080"/>
                </a:solidFill>
                <a:ea typeface="荆南波波黑" panose="02000800000000000000" pitchFamily="2" charset="-122"/>
              </a:rPr>
              <a:t>if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a typeface="荆南波波黑" panose="02000800000000000000" pitchFamily="2" charset="-122"/>
              </a:rPr>
              <a:t> __name__ == </a:t>
            </a:r>
            <a:r>
              <a:rPr lang="en-US" altLang="zh-CN" sz="1200">
                <a:solidFill>
                  <a:srgbClr val="067D17"/>
                </a:solidFill>
                <a:ea typeface="荆南波波黑" panose="02000800000000000000" pitchFamily="2" charset="-122"/>
              </a:rPr>
              <a:t>'__main__'</a:t>
            </a:r>
            <a:endParaRPr lang="zh-CN" altLang="en-US" sz="1200">
              <a:solidFill>
                <a:srgbClr val="067D17"/>
              </a:solidFill>
              <a:ea typeface="荆南波波黑" panose="02000800000000000000" pitchFamily="2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F632FC3-4E1D-73F5-1BC3-BFBEA736E4E8}"/>
              </a:ext>
            </a:extLst>
          </p:cNvPr>
          <p:cNvCxnSpPr/>
          <p:nvPr/>
        </p:nvCxnSpPr>
        <p:spPr>
          <a:xfrm>
            <a:off x="7653130" y="2266122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843BE43-1FC0-AB30-E48D-0BAF981A8E70}"/>
              </a:ext>
            </a:extLst>
          </p:cNvPr>
          <p:cNvCxnSpPr/>
          <p:nvPr/>
        </p:nvCxnSpPr>
        <p:spPr>
          <a:xfrm>
            <a:off x="7653130" y="3306417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29EB4DF-CD5D-E1D9-208A-A98795D54ED8}"/>
              </a:ext>
            </a:extLst>
          </p:cNvPr>
          <p:cNvCxnSpPr/>
          <p:nvPr/>
        </p:nvCxnSpPr>
        <p:spPr>
          <a:xfrm>
            <a:off x="7653130" y="4353339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25B9AC4-3675-FC07-FC6F-A6C5C42568DE}"/>
              </a:ext>
            </a:extLst>
          </p:cNvPr>
          <p:cNvCxnSpPr/>
          <p:nvPr/>
        </p:nvCxnSpPr>
        <p:spPr>
          <a:xfrm>
            <a:off x="7653130" y="5387008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D012C49-88F4-2F0E-BF1E-16A17AF2BBEA}"/>
              </a:ext>
            </a:extLst>
          </p:cNvPr>
          <p:cNvCxnSpPr/>
          <p:nvPr/>
        </p:nvCxnSpPr>
        <p:spPr>
          <a:xfrm>
            <a:off x="8984974" y="5387007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7F5A1FA-1F83-79F9-121C-14E096DA3741}"/>
              </a:ext>
            </a:extLst>
          </p:cNvPr>
          <p:cNvSpPr txBox="1"/>
          <p:nvPr/>
        </p:nvSpPr>
        <p:spPr>
          <a:xfrm>
            <a:off x="9797364" y="5915346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Exception</a:t>
            </a:r>
            <a:endParaRPr lang="zh-CN" altLang="en-US" sz="16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419566F-60CB-8C8E-47AA-0B9B9559616F}"/>
              </a:ext>
            </a:extLst>
          </p:cNvPr>
          <p:cNvCxnSpPr/>
          <p:nvPr/>
        </p:nvCxnSpPr>
        <p:spPr>
          <a:xfrm>
            <a:off x="8984974" y="4353339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D43B18D-88E4-0DBF-BA68-B74B5056FE11}"/>
              </a:ext>
            </a:extLst>
          </p:cNvPr>
          <p:cNvCxnSpPr/>
          <p:nvPr/>
        </p:nvCxnSpPr>
        <p:spPr>
          <a:xfrm>
            <a:off x="8984974" y="3306417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615C4AF-D956-B155-C2B9-CB691C152E8B}"/>
              </a:ext>
            </a:extLst>
          </p:cNvPr>
          <p:cNvCxnSpPr/>
          <p:nvPr/>
        </p:nvCxnSpPr>
        <p:spPr>
          <a:xfrm>
            <a:off x="8965096" y="2266121"/>
            <a:ext cx="0" cy="424069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5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16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3" presetClass="entr" presetSubtype="16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3" presetClass="entr" presetSubtype="16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96296E-6 L 3.75E-6 -0.14607 " pathEditMode="relative" rAng="0" ptsTypes="AA">
                                      <p:cBhvr>
                                        <p:cTn id="9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14607 L 3.75E-6 -0.29861 " pathEditMode="relative" rAng="0" ptsTypes="AA">
                                      <p:cBhvr>
                                        <p:cTn id="10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29861 L 3.75E-6 -0.45139 " pathEditMode="relative" rAng="0" ptsTypes="AA">
                                      <p:cBhvr>
                                        <p:cTn id="104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45139 L 3.75E-6 -0.60602 " pathEditMode="relative" rAng="0" ptsTypes="AA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6" grpId="0"/>
      <p:bldP spid="26" grpId="1"/>
      <p:bldP spid="26" grpId="2"/>
      <p:bldP spid="26" grpId="3"/>
      <p:bldP spid="26" grpId="4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18097</TotalTime>
  <Words>2739</Words>
  <Application>Microsoft Office PowerPoint</Application>
  <PresentationFormat>宽屏</PresentationFormat>
  <Paragraphs>274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Alibaba PuHuiTi B</vt:lpstr>
      <vt:lpstr>quote-cjk-patch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Lato Black</vt:lpstr>
      <vt:lpstr>Source Code Pro</vt:lpstr>
      <vt:lpstr>Source Code Pro Black</vt:lpstr>
      <vt:lpstr>Wingdings</vt:lpstr>
      <vt:lpstr>内容模板</vt:lpstr>
      <vt:lpstr>封面</vt:lpstr>
      <vt:lpstr>章节目录模板</vt:lpstr>
      <vt:lpstr>小结思考模板2</vt:lpstr>
      <vt:lpstr>Python核心语法</vt:lpstr>
      <vt:lpstr>Python核心语法</vt:lpstr>
      <vt:lpstr>Python核心语法</vt:lpstr>
      <vt:lpstr>PowerPoint 演示文稿</vt:lpstr>
      <vt:lpstr>PowerPoint 演示文稿</vt:lpstr>
      <vt:lpstr>面向过程编程</vt:lpstr>
      <vt:lpstr>面向过程编程</vt:lpstr>
      <vt:lpstr>面向对象编程</vt:lpstr>
      <vt:lpstr>面向对象编程-类与对象</vt:lpstr>
      <vt:lpstr>PowerPoint 演示文稿</vt:lpstr>
      <vt:lpstr>PowerPoint 演示文稿</vt:lpstr>
      <vt:lpstr>类的定义</vt:lpstr>
      <vt:lpstr>类的定义</vt:lpstr>
      <vt:lpstr>PowerPoint 演示文稿</vt:lpstr>
      <vt:lpstr>PowerPoint 演示文稿</vt:lpstr>
      <vt:lpstr>PowerPoint 演示文稿</vt:lpstr>
      <vt:lpstr>实例方法</vt:lpstr>
      <vt:lpstr>PowerPoint 演示文稿</vt:lpstr>
      <vt:lpstr>PowerPoint 演示文稿</vt:lpstr>
      <vt:lpstr>魔法方法</vt:lpstr>
      <vt:lpstr>魔法方法</vt:lpstr>
      <vt:lpstr>魔法方法</vt:lpstr>
      <vt:lpstr>PowerPoint 演示文稿</vt:lpstr>
      <vt:lpstr>PowerPoint 演示文稿</vt:lpstr>
      <vt:lpstr>PowerPoint 演示文稿</vt:lpstr>
      <vt:lpstr>属性</vt:lpstr>
      <vt:lpstr>PowerPoint 演示文稿</vt:lpstr>
      <vt:lpstr>PowerPoint 演示文稿</vt:lpstr>
      <vt:lpstr>采用面向对象编程思想完成如下需求</vt:lpstr>
      <vt:lpstr>采用面向对象编程思想完成如下需求</vt:lpstr>
      <vt:lpstr>PowerPoint 演示文稿</vt:lpstr>
      <vt:lpstr>什么是异常</vt:lpstr>
      <vt:lpstr>异常处理</vt:lpstr>
      <vt:lpstr>PowerPoint 演示文稿</vt:lpstr>
      <vt:lpstr>异常的传递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1967</cp:revision>
  <cp:lastPrinted>2022-05-29T16:00:00Z</cp:lastPrinted>
  <dcterms:created xsi:type="dcterms:W3CDTF">2022-05-29T16:00:00Z</dcterms:created>
  <dcterms:modified xsi:type="dcterms:W3CDTF">2025-12-13T12:18:33Z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